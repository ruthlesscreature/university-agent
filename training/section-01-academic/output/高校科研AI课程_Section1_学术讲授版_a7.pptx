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6c4b0c4a8724507" /><Relationship Type="http://schemas.openxmlformats.org/officeDocument/2006/relationships/extended-properties" Target="/docProps/app.xml" Id="R73371751b5cd4cd6" /><Relationship Type="http://schemas.openxmlformats.org/officeDocument/2006/relationships/officeDocument" Target="/ppt/presentation.xml" Id="R4ce7b23785c24cb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811d17d992543da"/>
  </p:sldMasterIdLst>
  <p:notesMasterIdLst>
    <p:notesMasterId xmlns:r="http://schemas.openxmlformats.org/officeDocument/2006/relationships" r:id="Ra1d868aa9cd240b6"/>
  </p:notesMasterIdLst>
  <p:sldIdLst>
    <p:sldId xmlns:r="http://schemas.openxmlformats.org/officeDocument/2006/relationships" id="256" r:id="R82585adefa4240cb"/>
    <p:sldId xmlns:r="http://schemas.openxmlformats.org/officeDocument/2006/relationships" id="257" r:id="R3033004217644e3e"/>
    <p:sldId xmlns:r="http://schemas.openxmlformats.org/officeDocument/2006/relationships" id="258" r:id="Rf2d29abd6ff4464c"/>
    <p:sldId xmlns:r="http://schemas.openxmlformats.org/officeDocument/2006/relationships" id="259" r:id="Racdd10e7a1674ad2"/>
    <p:sldId xmlns:r="http://schemas.openxmlformats.org/officeDocument/2006/relationships" id="260" r:id="R6911c9904a8149c4"/>
    <p:sldId xmlns:r="http://schemas.openxmlformats.org/officeDocument/2006/relationships" id="261" r:id="R60c301a423be4713"/>
    <p:sldId xmlns:r="http://schemas.openxmlformats.org/officeDocument/2006/relationships" id="262" r:id="Rcda86977d1c34cc1"/>
    <p:sldId xmlns:r="http://schemas.openxmlformats.org/officeDocument/2006/relationships" id="263" r:id="R28b57982e831485b"/>
    <p:sldId xmlns:r="http://schemas.openxmlformats.org/officeDocument/2006/relationships" id="264" r:id="R03c73db8691342f3"/>
    <p:sldId xmlns:r="http://schemas.openxmlformats.org/officeDocument/2006/relationships" id="265" r:id="Rca671e68c6474bd9"/>
    <p:sldId xmlns:r="http://schemas.openxmlformats.org/officeDocument/2006/relationships" id="266" r:id="R5c55e0b8b11a49ea"/>
    <p:sldId xmlns:r="http://schemas.openxmlformats.org/officeDocument/2006/relationships" id="267" r:id="Rf6e8843c7b4a4f7c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6bbbd83663b4581" /><Relationship Type="http://schemas.openxmlformats.org/officeDocument/2006/relationships/slideMaster" Target="/ppt/slideMasters/slideMaster1.xml" Id="R5811d17d992543da" /><Relationship Type="http://schemas.openxmlformats.org/officeDocument/2006/relationships/notesMaster" Target="/ppt/notesMasters/notesMaster1.xml" Id="Ra1d868aa9cd240b6" /><Relationship Type="http://schemas.openxmlformats.org/officeDocument/2006/relationships/presProps" Target="/ppt/presProps.xml" Id="Re31bcd9d310846d3" /><Relationship Type="http://schemas.openxmlformats.org/officeDocument/2006/relationships/tableStyles" Target="/ppt/tableStyles.xml" Id="R6a8552101e5a47b3" /><Relationship Type="http://schemas.openxmlformats.org/officeDocument/2006/relationships/slide" Target="/ppt/slides/slide1.xml" Id="R82585adefa4240cb" /><Relationship Type="http://schemas.openxmlformats.org/officeDocument/2006/relationships/slide" Target="/ppt/slides/slide2.xml" Id="R3033004217644e3e" /><Relationship Type="http://schemas.openxmlformats.org/officeDocument/2006/relationships/slide" Target="/ppt/slides/slide3.xml" Id="Rf2d29abd6ff4464c" /><Relationship Type="http://schemas.openxmlformats.org/officeDocument/2006/relationships/slide" Target="/ppt/slides/slide4.xml" Id="Racdd10e7a1674ad2" /><Relationship Type="http://schemas.openxmlformats.org/officeDocument/2006/relationships/slide" Target="/ppt/slides/slide5.xml" Id="R6911c9904a8149c4" /><Relationship Type="http://schemas.openxmlformats.org/officeDocument/2006/relationships/slide" Target="/ppt/slides/slide6.xml" Id="R60c301a423be4713" /><Relationship Type="http://schemas.openxmlformats.org/officeDocument/2006/relationships/slide" Target="/ppt/slides/slide7.xml" Id="Rcda86977d1c34cc1" /><Relationship Type="http://schemas.openxmlformats.org/officeDocument/2006/relationships/slide" Target="/ppt/slides/slide8.xml" Id="R28b57982e831485b" /><Relationship Type="http://schemas.openxmlformats.org/officeDocument/2006/relationships/slide" Target="/ppt/slides/slide9.xml" Id="R03c73db8691342f3" /><Relationship Type="http://schemas.openxmlformats.org/officeDocument/2006/relationships/slide" Target="/ppt/slides/slide10.xml" Id="Rca671e68c6474bd9" /><Relationship Type="http://schemas.openxmlformats.org/officeDocument/2006/relationships/slide" Target="/ppt/slides/slide11.xml" Id="R5c55e0b8b11a49ea" /><Relationship Type="http://schemas.openxmlformats.org/officeDocument/2006/relationships/slide" Target="/ppt/slides/slide12.xml" Id="Rf6e8843c7b4a4f7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ab12be7891e4e5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0337e5fbe10466c" /><Relationship Type="http://schemas.openxmlformats.org/officeDocument/2006/relationships/notesMaster" Target="/ppt/notesMasters/notesMaster1.xml" Id="Rcc25c4f39b834d5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9de122e0080441a" /><Relationship Type="http://schemas.openxmlformats.org/officeDocument/2006/relationships/notesMaster" Target="/ppt/notesMasters/notesMaster1.xml" Id="Radd353dd32cb41b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d661aef9ddd4894" /><Relationship Type="http://schemas.openxmlformats.org/officeDocument/2006/relationships/notesMaster" Target="/ppt/notesMasters/notesMaster1.xml" Id="R23f7a64d96d5477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c93170b502d4e3e" /><Relationship Type="http://schemas.openxmlformats.org/officeDocument/2006/relationships/notesMaster" Target="/ppt/notesMasters/notesMaster1.xml" Id="R9cb0e6deaa3b42c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9b542ffad3a4a31" /><Relationship Type="http://schemas.openxmlformats.org/officeDocument/2006/relationships/notesMaster" Target="/ppt/notesMasters/notesMaster1.xml" Id="R7e928d35b7c0491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373b1386d784f77" /><Relationship Type="http://schemas.openxmlformats.org/officeDocument/2006/relationships/notesMaster" Target="/ppt/notesMasters/notesMaster1.xml" Id="Rd81c983c7b2840c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ceeb6fb397d411b" /><Relationship Type="http://schemas.openxmlformats.org/officeDocument/2006/relationships/notesMaster" Target="/ppt/notesMasters/notesMaster1.xml" Id="Reb9f216d3a154ea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3dd27e0352242fb" /><Relationship Type="http://schemas.openxmlformats.org/officeDocument/2006/relationships/notesMaster" Target="/ppt/notesMasters/notesMaster1.xml" Id="Rb9e1ddb0b3a14f4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6b85e75dd744115" /><Relationship Type="http://schemas.openxmlformats.org/officeDocument/2006/relationships/notesMaster" Target="/ppt/notesMasters/notesMaster1.xml" Id="R3c3fed493a934ad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43c354923f248e7" /><Relationship Type="http://schemas.openxmlformats.org/officeDocument/2006/relationships/notesMaster" Target="/ppt/notesMasters/notesMaster1.xml" Id="R7ce120a708d84e0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efa34f9a2c341a8" /><Relationship Type="http://schemas.openxmlformats.org/officeDocument/2006/relationships/notesMaster" Target="/ppt/notesMasters/notesMaster1.xml" Id="R9a63c164637f4f4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7ad784ba11f4084" /><Relationship Type="http://schemas.openxmlformats.org/officeDocument/2006/relationships/notesMaster" Target="/ppt/notesMasters/notesMaster1.xml" Id="R587224c773274cf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节介绍生成式AI在科研中的作用范围、基本原理、能力差异与规范。图中的工作环节是课程归纳，不能据此声称各类工具已能独立完成科研。科研还包括专用预测模型、实验设备与领域方法，后页区分其与通用生成式工具的关系。图中每个节点均为原生可编辑对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Džeroski, AI for Science, SLAIF/Jožef Stefan Institute, 2026</a:t>
            </a:r>
          </a:p>
          <a:p xmlns:a="http://schemas.openxmlformats.org/drawingml/2006/main">
            <a:r>
              <a:t>https://ai4science.ijs.si/2026course/</a:t>
            </a:r>
          </a:p>
          <a:p xmlns:a="http://schemas.openxmlformats.org/drawingml/2006/main">
            <a:r>
              <a:t>定位：Introduction及Foundation Models课件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Barba, MAE-6291, George Washington University, Spring 2026</a:t>
            </a:r>
          </a:p>
          <a:p xmlns:a="http://schemas.openxmlformats.org/drawingml/2006/main">
            <a:r>
              <a:t>https://barbagroup.github.io/mae6291-genai/2026/</a:t>
            </a:r>
          </a:p>
          <a:p xmlns:a="http://schemas.openxmlformats.org/drawingml/2006/main">
            <a:r>
              <a:t>定位：Class 1、2、10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左、右两类是为科研使用作的区分，并非互斥的技术分类：生成模型也可用于领域预测，多模态能力与语言模型也有交叉。生成式AI定义依据NIST AI 600-1第1节脚注。领域实例参考IJS Foundation Models课件，未复制其科研图片或数据。Agent系统的概念留至Section 2。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NIST AI 600-1, 2024</a:t>
            </a:r>
          </a:p>
          <a:p xmlns:a="http://schemas.openxmlformats.org/drawingml/2006/main">
            <a:r>
              <a:t>https://doi.org/10.6028/NIST.AI.600-1</a:t>
            </a:r>
          </a:p>
          <a:p xmlns:a="http://schemas.openxmlformats.org/drawingml/2006/main">
            <a:r>
              <a:t>定位：第1节定义；第2.2节Confabulation；MEASURE 2.5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Džeroski, AI for Science, SLAIF/Jožef Stefan Institute, 2026</a:t>
            </a:r>
          </a:p>
          <a:p xmlns:a="http://schemas.openxmlformats.org/drawingml/2006/main">
            <a:r>
              <a:t>https://ai4science.ijs.si/2026course/</a:t>
            </a:r>
          </a:p>
          <a:p xmlns:a="http://schemas.openxmlformats.org/drawingml/2006/main">
            <a:r>
              <a:t>定位：Introduction及Foundation Models课件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OpenAI Docs, Using tools</a:t>
            </a:r>
          </a:p>
          <a:p xmlns:a="http://schemas.openxmlformats.org/drawingml/2006/main">
            <a:r>
              <a:t>https://developers.openai.com/api/docs/guides/tools</a:t>
            </a:r>
          </a:p>
          <a:p xmlns:a="http://schemas.openxmlformats.org/drawingml/2006/main">
            <a:r>
              <a:t>定位：网页搜索、文件检索与工具调用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概念框架，省略优化器、网络层和底层接口。预训练、后训练并不是所有模型固定相同的生产流程，后训练常见方法包括监督微调与基于反馈的优化。推理可以包含多步计算，不等同于一次简单补字。上传文件是否进入服务后续训练受产品条款与设置影响；本页只解释当前任务提供上下文与专门微调之间的技术区别，不作数据保留承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OpenAI Docs, Key concepts</a:t>
            </a:r>
          </a:p>
          <a:p xmlns:a="http://schemas.openxmlformats.org/drawingml/2006/main">
            <a:r>
              <a:t>https://developers.openai.com/api/docs/concepts</a:t>
            </a:r>
          </a:p>
          <a:p xmlns:a="http://schemas.openxmlformats.org/drawingml/2006/main">
            <a:r>
              <a:t>定位：Text generation models; Tokens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OpenAI Docs, Model optimization</a:t>
            </a:r>
          </a:p>
          <a:p xmlns:a="http://schemas.openxmlformats.org/drawingml/2006/main">
            <a:r>
              <a:t>https://developers.openai.com/api/docs/guides/model-optimization</a:t>
            </a:r>
          </a:p>
          <a:p xmlns:a="http://schemas.openxmlformats.org/drawingml/2006/main">
            <a:r>
              <a:t>定位：Evaluation, prompt engineering and fine-tuning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Džeroski, AI for Science, SLAIF/Jožef Stefan Institute, 2026</a:t>
            </a:r>
          </a:p>
          <a:p xmlns:a="http://schemas.openxmlformats.org/drawingml/2006/main">
            <a:r>
              <a:t>https://ai4science.ijs.si/2026course/</a:t>
            </a:r>
          </a:p>
          <a:p xmlns:a="http://schemas.openxmlformats.org/drawingml/2006/main">
            <a:r>
              <a:t>定位：Introduction及Foundation Models课件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示意图是课程绘制的简化RAG框架，并非某产品执行截图。检索可能来自数据库、文件或搜索工具；不是所有聊天都自动执行检索。输入和输出受到上下文窗口等限制，具体额度随模型而异。本节不讲向量库、API、分词器的实现细节。RAG能提供外部材料，不保证检索召回、证据质量和引用归属全部正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OpenAI Docs, Conversation state</a:t>
            </a:r>
          </a:p>
          <a:p xmlns:a="http://schemas.openxmlformats.org/drawingml/2006/main">
            <a:r>
              <a:t>https://developers.openai.com/api/docs/guides/conversation-state</a:t>
            </a:r>
          </a:p>
          <a:p xmlns:a="http://schemas.openxmlformats.org/drawingml/2006/main">
            <a:r>
              <a:t>定位：Managing the context window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OpenAI Docs, Prompt engineering</a:t>
            </a:r>
          </a:p>
          <a:p xmlns:a="http://schemas.openxmlformats.org/drawingml/2006/main">
            <a:r>
              <a:t>https://developers.openai.com/api/docs/guides/prompt-engineering</a:t>
            </a:r>
          </a:p>
          <a:p xmlns:a="http://schemas.openxmlformats.org/drawingml/2006/main">
            <a:r>
              <a:t>定位：Prompt structure; Include relevant context information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OpenAI Docs, Using tools</a:t>
            </a:r>
          </a:p>
          <a:p xmlns:a="http://schemas.openxmlformats.org/drawingml/2006/main">
            <a:r>
              <a:t>https://developers.openai.com/api/docs/guides/tools</a:t>
            </a:r>
          </a:p>
          <a:p xmlns:a="http://schemas.openxmlformats.org/drawingml/2006/main">
            <a:r>
              <a:t>定位：网页搜索、文件检索与工具调用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Barba, MAE-6291, George Washington University, Spring 2026</a:t>
            </a:r>
          </a:p>
          <a:p xmlns:a="http://schemas.openxmlformats.org/drawingml/2006/main">
            <a:r>
              <a:t>https://barbagroup.github.io/mae6291-genai/2026/</a:t>
            </a:r>
          </a:p>
          <a:p xmlns:a="http://schemas.openxmlformats.org/drawingml/2006/main">
            <a:r>
              <a:t>定位：Class 1、2、10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真实公开研究，DOI 10.1038/s41598-023-41032-5。已读取原始PDF第1页摘要和第4页表3、表4；PDF共8页。表3：GPT-3.5全部引文n=222，55%虚构；GPT-4全部引文n=414，18%虚构。表4：实际存在文献中43%和24%含至少一种实质性著录错误；这两个百分比不能当作全部636条文献中的比例。图为原文报告值的可编辑重绘，不是本课程重新运行模型的结果，也不推断当前模型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Walters &amp; Wilder, Scientific Reports 13:14045, 2023</a:t>
            </a:r>
          </a:p>
          <a:p xmlns:a="http://schemas.openxmlformats.org/drawingml/2006/main">
            <a:r>
              <a:t>https://doi.org/10.1038/s41598-023-41032-5</a:t>
            </a:r>
          </a:p>
          <a:p xmlns:a="http://schemas.openxmlformats.org/drawingml/2006/main">
            <a:r>
              <a:t>定位：PDF第1页摘要、第4页表3和表4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NIST AI 600-1, 2024</a:t>
            </a:r>
          </a:p>
          <a:p xmlns:a="http://schemas.openxmlformats.org/drawingml/2006/main">
            <a:r>
              <a:t>https://doi.org/10.6028/NIST.AI.600-1</a:t>
            </a:r>
          </a:p>
          <a:p xmlns:a="http://schemas.openxmlformats.org/drawingml/2006/main">
            <a:r>
              <a:t>定位：第1节定义；第2.2节Confabulation；MEASURE 2.5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课程对科研任务的归纳，没有给工具打分，也没有宣称任意通用模型都具备同样能力。代码生成与代码执行分开；执行成功与方法适用分开。图表需来自实际数据或明确标识的示意，机制示意不能代替实验结果。NIST建议按具体任务验证能力，避免从狭窄或轶事测评作不当外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OpenAI Docs, Using tools</a:t>
            </a:r>
          </a:p>
          <a:p xmlns:a="http://schemas.openxmlformats.org/drawingml/2006/main">
            <a:r>
              <a:t>https://developers.openai.com/api/docs/guides/tools</a:t>
            </a:r>
          </a:p>
          <a:p xmlns:a="http://schemas.openxmlformats.org/drawingml/2006/main">
            <a:r>
              <a:t>定位：网页搜索、文件检索与工具调用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NIST AI 600-1, 2024</a:t>
            </a:r>
          </a:p>
          <a:p xmlns:a="http://schemas.openxmlformats.org/drawingml/2006/main">
            <a:r>
              <a:t>https://doi.org/10.6028/NIST.AI.600-1</a:t>
            </a:r>
          </a:p>
          <a:p xmlns:a="http://schemas.openxmlformats.org/drawingml/2006/main">
            <a:r>
              <a:t>定位：第1节定义；第2.2节Confabulation；MEASURE 2.5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用于解释任务分解原则，没有安排学员实操或课堂练习。综述作为科研工作例子，不能把模型生成的检索式或研究空白直接称作已验证结果。系统综述的正式检索与纳入报告要求在文献章节具体介绍，本页不冒称符合PRISMA。原文材料不足时保留缺口。后续Agent章节解释系统如何保存这些步骤的状态与输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Barba, MAE-6291, George Washington University, Spring 2026</a:t>
            </a:r>
          </a:p>
          <a:p xmlns:a="http://schemas.openxmlformats.org/drawingml/2006/main">
            <a:r>
              <a:t>https://barbagroup.github.io/mae6291-genai/2026/</a:t>
            </a:r>
          </a:p>
          <a:p xmlns:a="http://schemas.openxmlformats.org/drawingml/2006/main">
            <a:r>
              <a:t>定位：Class 1、2、10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OpenAI Docs, Prompt engineering</a:t>
            </a:r>
          </a:p>
          <a:p xmlns:a="http://schemas.openxmlformats.org/drawingml/2006/main">
            <a:r>
              <a:t>https://developers.openai.com/api/docs/guides/prompt-engineering</a:t>
            </a:r>
          </a:p>
          <a:p xmlns:a="http://schemas.openxmlformats.org/drawingml/2006/main">
            <a:r>
              <a:t>定位：Prompt structure; Include relevant context information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NIST AI 600-1, 2024</a:t>
            </a:r>
          </a:p>
          <a:p xmlns:a="http://schemas.openxmlformats.org/drawingml/2006/main">
            <a:r>
              <a:t>https://doi.org/10.6028/NIST.AI.600-1</a:t>
            </a:r>
          </a:p>
          <a:p xmlns:a="http://schemas.openxmlformats.org/drawingml/2006/main">
            <a:r>
              <a:t>定位：第1节定义；第2.2节Confabulation；MEASURE 2.5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是科研指令的结构分析，不是现场操作任务或模型执行记录。示例由课程编写，不指向某两篇真实论文，也不提供虚构比较结果。角色设定用于指定方法论视角，不代表模型具备真实研究者资格。指令可以约束输出，但不能保证引文准确，仍需回原文核对。提示设计原则来自官方说明，比较维度与文字由课程按科研场景组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OpenAI Docs, Prompt engineering</a:t>
            </a:r>
          </a:p>
          <a:p xmlns:a="http://schemas.openxmlformats.org/drawingml/2006/main">
            <a:r>
              <a:t>https://developers.openai.com/api/docs/guides/prompt-engineering</a:t>
            </a:r>
          </a:p>
          <a:p xmlns:a="http://schemas.openxmlformats.org/drawingml/2006/main">
            <a:r>
              <a:t>定位：Prompt structure; Include relevant context information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教师常问“哪个助手好用”。这一页把问题落到同一件事：用 Walters 与 Wilder（2023）的公开论文，写一页中文材料说明。先展示课程已经核对的论文和报告值表，再说明三种入口各需要什么。论文研究的是当时特定模型与任务；55%和18%不能推广为今天产品的错误率。三条路线是课程编写的选用示例，尚未分别在Claude、ChatGPT或DeepSeek上执行，也没有三方性能、速度或成本比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aude路线：官方文件说明支持执行代码、处理上传材料及生成Word等文件。若当前账户已开放文件工具，可直接提供论文PDF，让它先列原文定位、分母和限制，再整理成说明稿。若读不到表格，改用人工核对的摘录，不允许补猜。ChatGPT路线：这里具体指ChatGPT Work及官方说明中的文件处理能力；把论文和报告值表一并提供，要求可编辑图及说明文件，在预览中核对数字和图形，再下载文件。普通聊天入口是否有同样工具，需要现场查看。DeepSeek路线：这里具体指接入DeepSeek API的课程网页方案；提供已核对文本和数值，模型拟稿后由应用的文件工具导出。API响应、网页检索、计算、Word导出各有工具和记录，不能看到一段回答就说整个流程完成。官方API还公布了Search/Fetch和Agent集成入口，本页不把DeepSeek描述成天然不能联网或不能生成文件。当前没有为这个案例调用模型或导出三份品牌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共同核对一处容易出错的地方：55%与18%对应全部参考文献中的虚构比例；43%与24%对应真实参考文献中的实质性错误比例。两组分母不同，不能合并成“总错误率”。原文表3、4及正文对计数的描述应一起读。若需要逐条判定新文献是否真实，另用学术检索、DOI与原文回查；这不是用三个助手互相投票就能完成的事。Elicit、Consensus属于发现与整理研究的入口，Connected Papers用于探索文献关系；它们的覆盖范围与全文可用性另查官方说明，见Section5。本页换成品牌实例后，仍保留这些专业工具的分工。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可打开assistant-choice-packet/共同任务.md、三份入口任务和人工核对示例.md。任务文本属于教学材料，人工核对示例依据论文报告值编写，均不冒充产品回答。共同事实、输出检查项、产品边界和本节页码写入case.json；本地检查只确认这些材料的对应关系，不能证明三方模型已运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Claude Help Center, Create and edit files with Claude</a:t>
            </a:r>
          </a:p>
          <a:p xmlns:a="http://schemas.openxmlformats.org/drawingml/2006/main">
            <a:r>
              <a:t>https://support.claude.com/en/articles/12111783-create-and-edit-files-with-claude</a:t>
            </a:r>
          </a:p>
          <a:p xmlns:a="http://schemas.openxmlformats.org/drawingml/2006/main">
            <a:r>
              <a:t>定位：2026-08-06；How to get started、Supported file types、Advanced data analysis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OpenAI, Work with files</a:t>
            </a:r>
          </a:p>
          <a:p xmlns:a="http://schemas.openxmlformats.org/drawingml/2006/main">
            <a:r>
              <a:t>https://learn.chatgpt.com/docs/artifacts-viewer</a:t>
            </a:r>
          </a:p>
          <a:p xmlns:a="http://schemas.openxmlformats.org/drawingml/2006/main">
            <a:r>
              <a:t>定位：Work with files正文：ChatGPT桌面预览、ChatGPT Work网页附件与下载；Review and refine files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DeepSeek API Docs, Your First API Call</a:t>
            </a:r>
          </a:p>
          <a:p xmlns:a="http://schemas.openxmlformats.org/drawingml/2006/main">
            <a:r>
              <a:t>https://api-docs.deepseek.com/</a:t>
            </a:r>
          </a:p>
          <a:p xmlns:a="http://schemas.openxmlformats.org/drawingml/2006/main">
            <a:r>
              <a:t>定位：API兼容格式、Integrate with Agent Tools；顶部Search/Fetch说明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Walters &amp; Wilder, Scientific Reports 13:14045, 2023</a:t>
            </a:r>
          </a:p>
          <a:p xmlns:a="http://schemas.openxmlformats.org/drawingml/2006/main">
            <a:r>
              <a:t>https://doi.org/10.1038/s41598-023-41032-5</a:t>
            </a:r>
          </a:p>
          <a:p xmlns:a="http://schemas.openxmlformats.org/drawingml/2006/main">
            <a:r>
              <a:t>定位：PDF第1页摘要、第4页表3和表4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讲科研推断的层次，例子为方法说明，没有虚构具体实验或数值。预测可用于筛选候选材料，不自动建立机制与因果结论；因果判断也不只依赖随机实验一种方法，具体研究可有准实验、观察性识别及相应假设。不会因模型生成了详细解释就视作机制已被证明。技术方法细节在研究设计与数据分析章节展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Džeroski, AI for Science, SLAIF/Jožef Stefan Institute, 2026</a:t>
            </a:r>
          </a:p>
          <a:p xmlns:a="http://schemas.openxmlformats.org/drawingml/2006/main">
            <a:r>
              <a:t>https://ai4science.ijs.si/2026course/</a:t>
            </a:r>
          </a:p>
          <a:p xmlns:a="http://schemas.openxmlformats.org/drawingml/2006/main">
            <a:r>
              <a:t>定位：Introduction及Foundation Models课件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NIST AI 600-1, 2024</a:t>
            </a:r>
          </a:p>
          <a:p xmlns:a="http://schemas.openxmlformats.org/drawingml/2006/main">
            <a:r>
              <a:t>https://doi.org/10.6028/NIST.AI.600-1</a:t>
            </a:r>
          </a:p>
          <a:p xmlns:a="http://schemas.openxmlformats.org/drawingml/2006/main">
            <a:r>
              <a:t>定位：第1节定义；第2.2节Confabulation；MEASURE 2.5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按用途比较三家出版方。Nature当前网页将广泛写作支持列入需谨慎处理的用途，要求人工监督、核验与披露；不能据此断言所有语言编辑均免声明。Science官方细则第1页区分提高清晰度、起草或翻译正文、改代码功能及研究分析：前者免声明，起草和翻译在致谢注明模型与版本，后两类在方法说明。仅改代码格式且不改功能可免声明。示意插图原则上不允许，例外须与编辑讨论。第1—2页另限制审稿与返修材料输入，详见配套说明。PLOS FAQ免除单纯语言改进的披露，建议披露翻译；示意图可使用，但须在图注披露、核验且不冒充原始数据。三家都不把作者责任转给工具。本轮实际读取网页、查看Science两页原PDF；PDF元数据创建日为2026-09-01，正文未标独立政策生效日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Nature Portfolio, Artificial Intelligence policy</a:t>
            </a:r>
          </a:p>
          <a:p xmlns:a="http://schemas.openxmlformats.org/drawingml/2006/main">
            <a:r>
              <a:t>https://www.nature.com/nature-portfolio/editorial-policies/ai</a:t>
            </a:r>
          </a:p>
          <a:p xmlns:a="http://schemas.openxmlformats.org/drawingml/2006/main">
            <a:r>
              <a:t>定位：Risk assessment framework; Role-specific responsibilities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Science Journals: Editorial Policies / Science journals’ guidelines for AI usage</a:t>
            </a:r>
          </a:p>
          <a:p xmlns:a="http://schemas.openxmlformats.org/drawingml/2006/main">
            <a:r>
              <a:t>https://www.science.org/content/page/science-journals-editorial-policies</a:t>
            </a:r>
          </a:p>
          <a:p xmlns:a="http://schemas.openxmlformats.org/drawingml/2006/main">
            <a:r>
              <a:t>定位：Authorship；Image and Text Integrity / Artificial intelligence；官方AI细则PDF第1—2页</a:t>
            </a:r>
          </a:p>
          <a:p xmlns:a="http://schemas.openxmlformats.org/drawingml/2006/main">
            <a:r>
              <a:t>细则PDF：https://www.science.org/cms/asset/cea1081d-3aa4-42a2-96b7-72290067116a/sept26_science_journals_guidelines_ai_use.pdf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PLOS, Ethical Publishing Practice</a:t>
            </a:r>
          </a:p>
          <a:p xmlns:a="http://schemas.openxmlformats.org/drawingml/2006/main">
            <a:r>
              <a:t>https://journals.plos.org/plosone/s/ethical-publishing-practice</a:t>
            </a:r>
          </a:p>
          <a:p xmlns:a="http://schemas.openxmlformats.org/drawingml/2006/main">
            <a:r>
              <a:t>定位：AI use by authors；AI use disclosures；FAQ语言改进与翻译例外、代码与制图要求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是课程依据前述原理、实证研究与出版规范归纳的使用框架，没有课堂练习、操作打卡或让学员提交文件的要求。来源真实不保证结论有效，可复现也不保证方法合理，四项需要结合具体研究判断。后续Humanizer章节要展示怎样改善语言而不改变证据强度与使用事实；Agent与Harness章节则解释怎样保存执行状态、来源与文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NIST AI 600-1, 2024</a:t>
            </a:r>
          </a:p>
          <a:p xmlns:a="http://schemas.openxmlformats.org/drawingml/2006/main">
            <a:r>
              <a:t>https://doi.org/10.6028/NIST.AI.600-1</a:t>
            </a:r>
          </a:p>
          <a:p xmlns:a="http://schemas.openxmlformats.org/drawingml/2006/main">
            <a:r>
              <a:t>定位：第1节定义；第2.2节Confabulation；MEASURE 2.5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Walters &amp; Wilder, Scientific Reports 13:14045, 2023</a:t>
            </a:r>
          </a:p>
          <a:p xmlns:a="http://schemas.openxmlformats.org/drawingml/2006/main">
            <a:r>
              <a:t>https://doi.org/10.1038/s41598-023-41032-5</a:t>
            </a:r>
          </a:p>
          <a:p xmlns:a="http://schemas.openxmlformats.org/drawingml/2006/main">
            <a:r>
              <a:t>定位：PDF第1页摘要、第4页表3和表4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Nature Portfolio, Artificial Intelligence policy</a:t>
            </a:r>
          </a:p>
          <a:p xmlns:a="http://schemas.openxmlformats.org/drawingml/2006/main">
            <a:r>
              <a:t>https://www.nature.com/nature-portfolio/editorial-policies/ai</a:t>
            </a:r>
          </a:p>
          <a:p xmlns:a="http://schemas.openxmlformats.org/drawingml/2006/main">
            <a:r>
              <a:t>定位：Risk assessment framework; Role-specific responsibilities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PLOS, Ethical Publishing Practice</a:t>
            </a:r>
          </a:p>
          <a:p xmlns:a="http://schemas.openxmlformats.org/drawingml/2006/main">
            <a:r>
              <a:t>https://journals.plos.org/plosone/s/ethical-publishing-practice</a:t>
            </a:r>
          </a:p>
          <a:p xmlns:a="http://schemas.openxmlformats.org/drawingml/2006/main">
            <a:r>
              <a:t>定位：AI use by authors；AI use disclosures；FAQ语言改进与翻译例外、代码与制图要求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6c6eab31d24d9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9594d0d9af4a9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487f4ceaea4c9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3ed294641e46d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cbde3b5078404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e1920d7dc74d4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FB05FDE-13D6-425D-B91F-540B61FC7E5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2B4DEA0-A724-4BF1-92EF-7DC4943C5C3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4B1CA53-546A-4229-91F8-594E2F0F13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0E7E295-4436-4B31-8F43-E7FEBF7DC4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611BFE0-F896-463E-BF04-F78DA11DD80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A504151-D7C2-4EF6-AEDC-E9E5DFA339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25C8DA6-AC75-4045-81EC-23B7555AFCB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9E01EED-EA8B-4FC9-8D33-E01F416FEE1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6C1D858-D203-4C66-BF0C-F6489E9BCE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6BF3BD9-2372-4E34-9D4B-5DA5D90FE14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7f069a001c740c4" /><Relationship Type="http://schemas.openxmlformats.org/officeDocument/2006/relationships/slideLayout" Target="/ppt/slideLayouts/slideLayout1.xml" Id="Re7599995de72453b" /><Relationship Type="http://schemas.openxmlformats.org/officeDocument/2006/relationships/slideLayout" Target="/ppt/slideLayouts/slideLayout2.xml" Id="R9dee907258204a1a" /><Relationship Type="http://schemas.openxmlformats.org/officeDocument/2006/relationships/slideLayout" Target="/ppt/slideLayouts/slideLayout3.xml" Id="R1ac12d959c3a4384" /><Relationship Type="http://schemas.openxmlformats.org/officeDocument/2006/relationships/slideLayout" Target="/ppt/slideLayouts/slideLayout4.xml" Id="R60df4e8092a347e9" /><Relationship Type="http://schemas.openxmlformats.org/officeDocument/2006/relationships/slideLayout" Target="/ppt/slideLayouts/slideLayout5.xml" Id="R78ddd62677304525" /><Relationship Type="http://schemas.openxmlformats.org/officeDocument/2006/relationships/slideLayout" Target="/ppt/slideLayouts/slideLayout6.xml" Id="R39ba203f1bb14aa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7599995de72453b"/>
    <p:sldLayoutId xmlns:r="http://schemas.openxmlformats.org/officeDocument/2006/relationships" id="2147483650" r:id="R9dee907258204a1a"/>
    <p:sldLayoutId xmlns:r="http://schemas.openxmlformats.org/officeDocument/2006/relationships" id="2147483651" r:id="R1ac12d959c3a4384"/>
    <p:sldLayoutId xmlns:r="http://schemas.openxmlformats.org/officeDocument/2006/relationships" id="2147483652" r:id="R60df4e8092a347e9"/>
    <p:sldLayoutId xmlns:r="http://schemas.openxmlformats.org/officeDocument/2006/relationships" id="2147483653" r:id="R78ddd62677304525"/>
    <p:sldLayoutId xmlns:r="http://schemas.openxmlformats.org/officeDocument/2006/relationships" id="2147483654" r:id="R39ba203f1bb14aa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fbbefce6c645ad" /><Relationship Type="http://schemas.openxmlformats.org/officeDocument/2006/relationships/notesSlide" Target="/ppt/notesSlides/notesSlide1.xml" Id="Rd51e3566325c497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600a8b189d4c5e" /><Relationship Type="http://schemas.openxmlformats.org/officeDocument/2006/relationships/notesSlide" Target="/ppt/notesSlides/notesSlide2.xml" Id="R7103aa8539f740d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9d17d472b042c4" /><Relationship Type="http://schemas.openxmlformats.org/officeDocument/2006/relationships/notesSlide" Target="/ppt/notesSlides/notesSlide3.xml" Id="Rdac8ef12255a446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f9deb5862649ce" /><Relationship Type="http://schemas.openxmlformats.org/officeDocument/2006/relationships/notesSlide" Target="/ppt/notesSlides/notesSlide4.xml" Id="R7e9978c5811f4b0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eb300a4eeb4824" /><Relationship Type="http://schemas.openxmlformats.org/officeDocument/2006/relationships/chart" Target="/ppt/slides/charts/chart1.xml" Id="Rc1bf5c9cf69c4344" /><Relationship Type="http://schemas.openxmlformats.org/officeDocument/2006/relationships/notesSlide" Target="/ppt/notesSlides/notesSlide5.xml" Id="R5c9a274015784ad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a87b58f5c14e90" /><Relationship Type="http://schemas.openxmlformats.org/officeDocument/2006/relationships/notesSlide" Target="/ppt/notesSlides/notesSlide6.xml" Id="Rd708265d656e415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836102a8d54d46" /><Relationship Type="http://schemas.openxmlformats.org/officeDocument/2006/relationships/notesSlide" Target="/ppt/notesSlides/notesSlide7.xml" Id="R8382da49cad84f3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795919752848dc" /><Relationship Type="http://schemas.openxmlformats.org/officeDocument/2006/relationships/notesSlide" Target="/ppt/notesSlides/notesSlide8.xml" Id="R1a01d763b42a426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d584211f04431e" /><Relationship Type="http://schemas.openxmlformats.org/officeDocument/2006/relationships/notesSlide" Target="/ppt/notesSlides/notesSlide9.xml" Id="R39ac78a48123432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21cb39ec204ba0" /><Relationship Type="http://schemas.openxmlformats.org/officeDocument/2006/relationships/notesSlide" Target="/ppt/notesSlides/notesSlide10.xml" Id="R0413937d4cca463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d21e63d55a4987" /><Relationship Type="http://schemas.openxmlformats.org/officeDocument/2006/relationships/notesSlide" Target="/ppt/notesSlides/notesSlide11.xml" Id="R92fef783ad3d41a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099014d8f64363" /><Relationship Type="http://schemas.openxmlformats.org/officeDocument/2006/relationships/notesSlide" Target="/ppt/notesSlides/notesSlide12.xml" Id="Re43cc55ef2154b8e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25">
                <a:latin typeface="Microsoft YaHei"/>
                <a:ea typeface="Microsoft YaHei"/>
                <a:cs typeface="Microsoft YaHei"/>
              </a:rPr>
              <a:t>所引文献中虚构文献的比例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025">
              <a:latin typeface="Microsoft YaHei"/>
              <a:ea typeface="Microsoft YaHei"/>
              <a:cs typeface="Microsoft YaHe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虚构文献比例</c:v>
          </c:tx>
          <c:spPr>
            <a:solidFill xmlns:a="http://schemas.openxmlformats.org/drawingml/2006/main">
              <a:srgbClr val="245B77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245B77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2C6D68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GPT-3.5（n=222）</c:v>
                </c:pt>
                <c:pt idx="1">
                  <c:v>GPT-4（n=414）</c:v>
                </c:pt>
              </c:strCache>
            </c:strRef>
          </c:cat>
          <c:val>
            <c:numRef>
              <c:f>'Chart Data'!$B$2:$B$3</c:f>
              <c:numCache>
                <c:formatCode>0%</c:formatCode>
                <c:ptCount val="2"/>
                <c:pt idx="0">
                  <c:v>0.55</c:v>
                </c:pt>
                <c:pt idx="1">
                  <c:v>0.18</c:v>
                </c:pt>
              </c:numCache>
            </c:numRef>
          </c:val>
        </c:ser>
        <c:dLbls>
          <c:numFmt formatCode="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00"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AD6DC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5DFDFC6-C226-4A0F-A37D-366A1966A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295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01  科研 AI：能力、原理与学术边界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93DB9F-0C8F-4825-BADB-BE8A1C33C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科研流程中的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1C9963-A7D3-4FD6-B32E-E780E307D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E16898-17BF-4E1E-9E57-4D072A632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AI 可以参与科研的多个环节；每个环节需要的材料和证据并不相同。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D455B8-0346-4B80-8EAC-E7F68FAEA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19425"/>
            <a:ext cx="266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科研环节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E94FD1-D1A3-4CE4-9C5B-D8F4DB3E4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19425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AI 可以辅助的工作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AE33F1-DE3C-47CD-9F38-BEAD5A145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019425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需要保留的学术判断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117F2F-85A5-4F83-8AB1-C3E102B00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文献与选题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AF01E3-03D0-4F5E-B705-973721212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714750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检索线索、比较已有研究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23EBF4-C638-495A-B244-F665D95BB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71475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核对原文与研究空白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109F26-58DA-4DF7-A4AC-A3109CBB1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5767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162291-BEE6-4AE2-BCAF-BDA8E9D2D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3865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研究方案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3D847E-7176-4F25-AE26-3AF18C120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438650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提出备选设计与变量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E1B37C-A980-48C7-A896-9E6D4E8BD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43865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论证对照、测量和可行性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12853B-5BD5-4BDA-98F7-BD200FC2D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8157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6A04DA-8D6C-4E08-BF06-DB90704FA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6255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数据与分析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9262BF-DBCD-4027-9095-793620818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162550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生成代码、识别数据问题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D1FFB6-C43E-4FF5-8E93-9C2229A1C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16255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复算结果、检查假设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1497EC-0734-4C7E-82C5-E479C5A08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0547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CDF356-FADA-4BD2-B51A-B54945FCC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8645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论文与申报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4207A2-BA9E-415B-94A9-7B407F6B7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886450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组织材料、修改表达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D3D982-3B41-4A9A-B7BB-18828191C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88645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核对主张、引文与成果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53F42C-BE71-4530-BB64-EE10309D8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2937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6017FD-9626-46A7-B49C-06E0E191F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1035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评审与传播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998348-C6E9-455C-A67B-BF8DB82ED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10350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整理意见、准备汇报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D3CF8C-EA94-4FE6-9B07-DC8BCC278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61035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保留限制、回应质疑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0383868-ACB0-458E-9A71-C363B7B82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39050"/>
            <a:ext cx="13716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科研价值取决于问题、方法与证据。文字更快成稿，只是其中一个环节。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55A9233-29A0-41B8-A94C-3BCF3DC10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296275"/>
            <a:ext cx="1247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来源：IJS / SLAIF（2026）；GWU MAE-6291（2026）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2E94EC8-64E2-48CC-BCEF-6200CE939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2105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8964480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48B7B5-6328-47D3-BD95-E46072D9B2E0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7620000" y="3705225"/>
            <a:ext cx="3714750" cy="5238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91DCF5-B182-4BD2-8613-36F1AC124412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 flipH="1">
            <a:off x="3905250" y="3705225"/>
            <a:ext cx="3714750" cy="5238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245B77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A7B64A-2A04-48E2-AC02-97BD26158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295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01  科研 AI：能力、原理与学术边界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E4A136-E98F-42A0-9C5D-FD63C46A1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生成式 AI 与科研 AI 的范围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E6476B-DC76-48EB-BA0B-C12CA59CC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A9BD4D-D453-46E3-BB54-7298ACD83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科研中的 AI 既包括面向特定问题的模型，也包括处理语言、图像与代码的生成式模型。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3F7EB8-AE24-468F-A00C-A8F480E02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3847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5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面向科学研究的 AI 方法与系统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213BAA-BECE-4028-BCC4-2DBC1B9C6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9100"/>
            <a:ext cx="628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4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领域预测与识别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8181CB-33E8-4114-A42C-E86FDDEE8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29100"/>
            <a:ext cx="628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4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生成式模型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971907-94E2-43DF-942B-A6CDBDA5F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33975"/>
            <a:ext cx="628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以特定数据和目标建立模型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02431E-5730-4713-AF83-F22D375ED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24525"/>
            <a:ext cx="628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例如材料性质预测、显微图像分割。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评价时关注预测误差、泛化与测量条件。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AA0EF8-03F2-4336-B90D-77F05A661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133975"/>
            <a:ext cx="628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根据输入生成新的内容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15965D-CC41-4A60-B77F-3A8008BBE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724525"/>
            <a:ext cx="628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大语言模型主要处理语言与代码；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多模态模型还可处理图像、音频等内容。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3B0FEB-479C-4398-A09E-11B21AB53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38950"/>
            <a:ext cx="1371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模型之上还有应用系统：界面、检索、计算工具、文件与任务管理。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同一个模型接入不同材料和工具，能够完成的工作也会不同。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229D22-7CB3-41FE-AED8-40E5295FE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91450"/>
            <a:ext cx="13716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本课程重点讲通用生成式 AI 怎样辅助科研，再介绍可执行多步任务的 Agent 系统。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52175B-E90B-4975-8BE9-DEEC75CDD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296275"/>
            <a:ext cx="1247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来源：NIST AI 600-1（2024）；IJS / SLAIF（2026）；OpenAI：Using tools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B716BD-7B56-4CDB-8063-13727ECD1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2105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778414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74BC5B-16F6-4B07-B7E8-356C8CED4718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620250" y="3509963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FB20A5-295B-4BEA-9367-97594A1AE967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762500" y="3509963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3BE114-1438-4129-9603-65270FF70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295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01  科研 AI：能力、原理与学术边界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15B001-FD3D-482E-9A7B-D49F817C7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预训练、后训练与推理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8CFB3C-88C0-4581-87E6-6EE66AC9A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30E7D7-A832-4597-9601-ED166BB04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理解模型怎样获得能力，有助于区分“模型学过什么”和“本次提供了什么”。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FDD350-A5C1-411E-B05A-9A31471E6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40005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预训练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A42BDB-F283-4710-A2F3-E3ADCE917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143250"/>
            <a:ext cx="40005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后训练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E891B9-FD67-47C6-8EDB-5DFB17E77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143250"/>
            <a:ext cx="40005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推理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725296-DD87-45E0-9133-7F02F439A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38625"/>
            <a:ext cx="400050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从大规模材料中学习</a:t>
            </a:r>
          </a:p>
          <a:p xmlns:a="http://schemas.openxmlformats.org/drawingml/2006/main">
            <a: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语言与数据规律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91D5D7-04AB-4A2A-806E-EDC587100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0"/>
            <a:ext cx="4000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形成可迁移的基础能力。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训练材料会影响回答质量。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AA78ED-497C-41D6-BCB5-89D37F060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238625"/>
            <a:ext cx="400050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利用示例、反馈等方式</a:t>
            </a:r>
          </a:p>
          <a:p xmlns:a="http://schemas.openxmlformats.org/drawingml/2006/main">
            <a: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调整模型行为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5C4238-294D-402A-909C-27583BAC9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524500"/>
            <a:ext cx="4000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改善指令遵循与任务表现。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具体方法因模型而异。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16B612-5936-47C9-9303-82182298D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238625"/>
            <a:ext cx="400050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依据当前指令和上下文</a:t>
            </a:r>
          </a:p>
          <a:p xmlns:a="http://schemas.openxmlformats.org/drawingml/2006/main">
            <a: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产生回答或其他输出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6E2676-9F87-46C3-91AF-E315CD5A4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524500"/>
            <a:ext cx="4000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通常使用已有模型参数。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回答仍可能出现事实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或推理错误。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2761B7-7A5C-4FDD-A6F9-9039B5A1D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962775"/>
            <a:ext cx="13716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上传一篇论文，通常是在给当前任务补充材料。</a:t>
            </a:r>
          </a:p>
          <a:p xmlns:a="http://schemas.openxmlformats.org/drawingml/2006/main">
            <a: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微调则通过训练更新模型参数；检索增强生成通过查找相关材料补充回答依据。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11F8C6-3B65-4E56-BAE7-1ECE99992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91450"/>
            <a:ext cx="13716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三者解决的问题不同：基础能力、行为调整，以及当前任务的输入与输出。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E19FC6-CC10-4952-8462-46AFBEF88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296275"/>
            <a:ext cx="1247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来源：OpenAI：Key concepts；OpenAI：Model optimization；IJS / SLAIF（2026）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E54AF6-407C-4D29-8D03-6E9E3DB64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2105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1651162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E9D0B9-1BE3-4E8F-8143-5E6561229DC0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3509963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B42C5F-75FF-43BF-8667-2AD8E20917A9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3509963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F4F1AA-1AAC-49DB-B6DD-F9BB6898C059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3509963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5DFEDD-CB95-4AD0-A95A-CB37A6CA7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295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01  科研 AI：能力、原理与学术边界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0A5297-CB03-4D18-B367-649455DBA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上下文与检索增强生成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BFF1D4-597C-40A0-BA6B-ACA581EE2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9FB36B-D0E5-4284-9FB6-7F8CFDDB4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模型的既有知识、当前任务材料和外部检索结果，是不同的信息来源。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DA3145-4FDB-4288-93E2-D48B155ED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28575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研究问题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C706B2-23AD-4F2E-89DD-314E0FA30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143250"/>
            <a:ext cx="28575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检索原始材料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91C42D-8A5E-4E9A-94E6-0B5782006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43250"/>
            <a:ext cx="28575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组织相关片段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A56D76-2676-47D7-BDFB-C9D60E2FA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143250"/>
            <a:ext cx="28575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模型生成回答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914DDB-CE2E-43AC-B457-14D68D6A4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14800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要比较什么、回答什么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C92DC8-8F04-4EB0-A573-AF844D12D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114800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查论文、指南或项目文件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A44835-9C37-4213-BEEC-6D9C4BED1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114800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保留出处、条件与版本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F1FF1F-46E0-4CC0-BB51-2A56B6055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114800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依据指令和这些材料组织内容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D6E28A-D07E-4F7A-ACEC-651F63AC5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43500"/>
            <a:ext cx="33337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上下文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DD162F-B3B9-41B2-8CAC-06762A21D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143500"/>
            <a:ext cx="1000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本次回答可使用的指令、对话、材料和工具结果，容量有限。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1B8648-1DFA-4C13-A098-CFFA210C8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76925"/>
            <a:ext cx="33337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Token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E84CC6-7CE0-4099-A3E2-749CECDBA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876925"/>
            <a:ext cx="1000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模型处理文本时使用的片段；不能按固定汉字数换算。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F8367C-C501-4839-B205-F17162AC1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10350"/>
            <a:ext cx="33337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检索增强生成（RAG）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79AE06-5816-4A36-BD57-2B23F8CC7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10350"/>
            <a:ext cx="1000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先找相关材料，再交给模型生成回答；仍需核对检索是否完整、引用是否支持结论。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0F2487-29E9-47C1-8061-EA396B5B3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39050"/>
            <a:ext cx="13716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能放进上下文，不代表所有信息都会被正确使用。材料选择和证据核对仍然必要。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507E59-7E02-4B54-9105-80B254FBD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296275"/>
            <a:ext cx="1247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来源：OpenAI：Conversation state；OpenAI：Prompt engineering；OpenAI：Using tools；GWU MAE-6291（2026）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080C05-84EB-4BBA-BBF4-445F293DB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2105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1478562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A7C39C-6EBF-4022-B624-712A65C40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295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01  科研 AI：能力、原理与学术边界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8577BE-A8F2-4EB6-B870-3D1CDC1B2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语言流畅与文献真实性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4CC40D-5461-49AC-B939-BDBA274DB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F4C7CD-348C-4C86-9B2B-5C3936ADD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文献幻觉：生成的引文看起来完整，却可能没有对应的真实研究。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561EF5-04B6-4AB8-A09A-A390B2292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43225"/>
            <a:ext cx="1371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Walters 与 Wilder（2023）让两个模型围绕 42 个主题生成短综述，</a:t>
            </a:r>
          </a:p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核对 84 篇生成文本中的 636 条参考文献。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91AFF242-EF35-4CE6-8423-33B16F202674}"/>
              </a:ext>
            </a:extLst>
          </p:cNvPr>
          <p:cNvGraphicFramePr/>
          <p:nvPr/>
        </p:nvGraphicFramePr>
        <p:xfrm>
          <a:off xmlns:a="http://schemas.openxmlformats.org/drawingml/2006/main" x="762000" y="4000500"/>
          <a:ext xmlns:a="http://schemas.openxmlformats.org/drawingml/2006/main" cx="7429500" cy="32194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1bf5c9cf69c4344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22B4A9-C866-42BD-9BEC-D65E7D7E2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019550"/>
            <a:ext cx="552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图中比较什么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ECC367-8C25-43EE-A6CF-D869C711D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448175"/>
            <a:ext cx="5524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两个模型在该研究设定下生成的引文。</a:t>
            </a:r>
          </a:p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百分比按原文表 3 报告值重绘。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583578-4A2E-48C4-AE08-1A3BF91EB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086350"/>
            <a:ext cx="552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真实文献也会写错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76F10E-F579-42E1-9D2A-635A464AD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514975"/>
            <a:ext cx="5524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真实文献中的著录错误：43% 与 24%。</a:t>
            </a:r>
          </a:p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分母为真实文献，与图中比例不同。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A72E49-B345-4050-BFB0-5979A1010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153150"/>
            <a:ext cx="552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能推出什么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DB9D8A-C62C-4873-8B0C-EB9497647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581775"/>
            <a:ext cx="5524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AI 给出的题名、作者、年份与 DOI</a:t>
            </a:r>
          </a:p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需要回到出版页面或数据库核对。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430B57-AD94-4370-9AA2-5A25400F0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39050"/>
            <a:ext cx="13716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历史研究，非当前模型排名。结果限于 2023 年的模型、提示与任务，不能外推为今天的错误率。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24AD17-7FA6-4A2B-A9F7-A167A61B7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296275"/>
            <a:ext cx="1247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来源：Walters &amp; Wilder（2023），表3、4；NIST AI 600-1（2024）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78755E-2701-4D75-B9F9-E4E89F931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2105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4452095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F6F422-716D-445F-A2B4-A83D95DE1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295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01  科研 AI：能力、原理与学术边界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04E166-9403-4886-82B7-29CBDAC96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科研任务中的能力与限制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7C1A1D-6BB9-455B-B2C6-F65301D79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2D2A12-794A-4081-8B02-1FF0FCFCB903}"/>
              </a:ext>
            </a:extLst>
          </p:cNvPr>
          <p:cNvGraphicFramePr/>
          <p:nvPr/>
        </p:nvGraphicFramePr>
        <p:xfrm>
          <a:off xmlns:a="http://schemas.openxmlformats.org/drawingml/2006/main" x="762000" y="2143125"/>
          <a:ext xmlns:a="http://schemas.openxmlformats.org/drawingml/2006/main" cx="13716000" cy="4048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5476875"/>
                <a:gridCol w="5953125"/>
              </a:tblGrid>
              <a:tr h="809625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能力</a:t>
                      </a:r>
                    </a:p>
                  </a:txBody>
                  <a:tcPr marL="171450" marR="171450" marT="161925" marB="123825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可以提供的帮助</a:t>
                      </a:r>
                    </a:p>
                  </a:txBody>
                  <a:tcPr marL="171450" marR="171450" marT="161925" marB="123825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科研中仍需判断的部分</a:t>
                      </a:r>
                    </a:p>
                  </a:txBody>
                  <a:tcPr marL="171450" marR="171450" marT="161925" marB="123825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语言组织</a:t>
                      </a:r>
                    </a:p>
                  </a:txBody>
                  <a:tcPr marL="171450" marR="171450" marT="161925" marB="123825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翻译、归纳、调整段落与术语表达。</a:t>
                      </a:r>
                    </a:p>
                  </a:txBody>
                  <a:tcPr marL="171450" marR="171450" marT="161925" marB="1238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是否改变原意、限定条件或证据强度。</a:t>
                      </a:r>
                    </a:p>
                  </a:txBody>
                  <a:tcPr marL="171450" marR="171450" marT="161925" marB="1238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材料比较</a:t>
                      </a:r>
                    </a:p>
                  </a:txBody>
                  <a:tcPr marL="171450" marR="171450" marT="161925" marB="123825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整理多篇文献的方法、结果与分歧。</a:t>
                      </a:r>
                    </a:p>
                  </a:txBody>
                  <a:tcPr marL="171450" marR="171450" marT="161925" marB="1238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材料是否完整，比较对象是否可比。</a:t>
                      </a:r>
                    </a:p>
                  </a:txBody>
                  <a:tcPr marL="171450" marR="171450" marT="161925" marB="1238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代码生成</a:t>
                      </a:r>
                    </a:p>
                  </a:txBody>
                  <a:tcPr marL="171450" marR="171450" marT="161925" marB="123825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根据分析需求编写和修改代码。</a:t>
                      </a:r>
                    </a:p>
                  </a:txBody>
                  <a:tcPr marL="171450" marR="171450" marT="161925" marB="1238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代码是否实际运行，方法假设是否适用。</a:t>
                      </a:r>
                    </a:p>
                  </a:txBody>
                  <a:tcPr marL="171450" marR="171450" marT="161925" marB="1238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图表与解释</a:t>
                      </a:r>
                    </a:p>
                  </a:txBody>
                  <a:tcPr marL="171450" marR="171450" marT="161925" marB="123825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依据数据生成图表，说明统计结果。</a:t>
                      </a:r>
                    </a:p>
                  </a:txBody>
                  <a:tcPr marL="171450" marR="171450" marT="161925" marB="1238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数据来源、单位、样本与结论范围。</a:t>
                      </a:r>
                    </a:p>
                  </a:txBody>
                  <a:tcPr marL="171450" marR="171450" marT="161925" marB="1238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6AAF8D-91C8-4C07-8FBB-938AE3AEF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572250"/>
            <a:ext cx="1371600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同一段文字可能很通顺，却误解了方法；同一份代码也可能运行成功，却回答了错误的问题。</a:t>
            </a:r>
          </a:p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评价 AI 辅助成果时，需要同时看表达、执行与科学判断。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F3EECB-B1D0-41DC-9399-F264E1D51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39050"/>
            <a:ext cx="13716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输出形式正确、工具运行成功、研究结论成立，是三个需要分别检查的层次。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E1271B-D615-41A3-9DE2-FAEB149E0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296275"/>
            <a:ext cx="1247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来源：OpenAI：Using tools；NIST AI 600-1（2024）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8FE488-C19F-4EBF-93D6-3EB3FBB08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2105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77590785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094FEA3-7C1F-4ED7-AC9C-7FD8D3CC8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295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01  科研 AI：能力、原理与学术边界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81EF75-7D43-43DC-AAA9-9E1FF8CE3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复杂科研任务的组织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ABF1FE-D0AD-4092-9BDE-A48725533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8D42A4-48D9-4261-A3DB-949F4AAF6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把“帮我写一篇综述”拆成有输入、产物和核对依据的研究环节。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068436-ED5D-405C-B75D-D69FCDC3A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5752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5B68D0-7716-48B2-9D7C-6C786A38D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057525"/>
            <a:ext cx="219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界定问题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6BC9E2-6EA4-4824-ACA2-480E1D56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57525"/>
            <a:ext cx="5000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研究对象、时间范围、纳入标准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E6EAAB-69B4-41E7-ABAC-3D4D79774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057525"/>
            <a:ext cx="447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形成边界清楚的研究问题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10DE20-C3BF-448B-B92A-5BC8D4D09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686175"/>
            <a:ext cx="126682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EDB614-E3E8-4034-A37D-1CED65B48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F1729C-3E46-470A-9F9F-C71773919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886200"/>
            <a:ext cx="219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收集材料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759D71-D51D-4781-A364-982EB2D58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886200"/>
            <a:ext cx="5000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检索式、数据库与全文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A7FBE5-430D-4EFB-A1E9-F3E2455DD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886200"/>
            <a:ext cx="447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保存可回查的文献集合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2E7FD6-E3F5-40B7-95B9-D5BEA6B44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514850"/>
            <a:ext cx="126682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375FA2-6138-46C4-8C14-C598D9893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1487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3D8B7C-CC64-4B6B-B257-5855AF22C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714875"/>
            <a:ext cx="219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比较证据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1465AD-A816-4B10-A8CC-714938140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714875"/>
            <a:ext cx="5000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对象、设计、指标和主要结果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C2A8E2-3CA9-4136-9BE3-C562F19EF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714875"/>
            <a:ext cx="447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区分共识、分歧与证据缺口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B818A7-22AA-4FF7-AA8F-6C921CB01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343525"/>
            <a:ext cx="126682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0A5878-7663-426D-B84F-A5F6E6CBF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43550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A78DBD-FB34-4AF8-8551-5823B4767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543550"/>
            <a:ext cx="219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组织论述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4806DB-0061-44E1-9DB0-0734349C1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543550"/>
            <a:ext cx="5000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经过核对的证据与主张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F59E2C-25B7-41C5-9B6F-C2C084625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543550"/>
            <a:ext cx="447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形成段落，标明引文与限制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F09F1C-B6BC-4C83-BFE1-E11F57DBF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172200"/>
            <a:ext cx="126682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621B54-49A1-41D0-97D4-22F1163C2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7222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476B72-9A73-4491-A5F9-D76881B04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372225"/>
            <a:ext cx="219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检查与修订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EFD8086-1FCF-4BCF-9DED-A95538DCA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372225"/>
            <a:ext cx="5000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原文、引用清单与全文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5E061BD-CB4D-47A4-B6DD-AE31CEB0E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372225"/>
            <a:ext cx="447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核对遗漏、误引和推断越界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3C2F78F-1C40-4F19-98D2-DA5F31C3F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39050"/>
            <a:ext cx="13716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先确定每一步需要什么证据，再决定让模型生成、调用工具，还是由研究者作判断。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4330CA8-1109-4A83-A43F-E79D6796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296275"/>
            <a:ext cx="1247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来源：GWU MAE-6291（2026）；OpenAI：Prompt engineering；NIST AI 600-1（2024）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B89F9AC-DB41-487D-8A16-BB4C1F88F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2105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67717489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1A81AF-A88B-44CF-8FF9-05B3AFD33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295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01  科研 AI：能力、原理与学术边界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7CCCA2-C2E0-485D-976F-0056192D9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科研提示词的主要变量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E5A403-F39A-4318-8428-A991FB784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37F13F-49C1-46C3-B5D2-17616C5BB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1371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提示词是研究者向模型交代任务、材料和判断标准的指令。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77E699-6815-4C2C-9418-96511C241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9525000" cy="392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请从研究方法角度，比较我提供的两篇论文。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比较研究对象、样本来源、对照设置、测量指标和结论范围。只依据这两篇全文，给出每项判断对应的原文位置。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请区分作者报告的结果与你的解释。两篇论文没有报告的信息写明“未报告”，不要补入样本量、统计结果或其他文献。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按比较维度逐项列出共同点、差异及其对结论的影响。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C825E9-2988-4FDA-8DE5-4BADEC6F4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219450"/>
            <a:ext cx="323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分析角度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A1FF35-CCCF-4C52-8940-CD15331F6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667125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研究方法，面向具体问题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76A09D-C9E9-4661-9846-0976C6D5F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210050"/>
            <a:ext cx="323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任务与材料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C960CD-B94F-4376-9170-08A839857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657725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两篇指定全文，范围明确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CDA802-4118-4B87-A49D-B53B230FF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200650"/>
            <a:ext cx="323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约束条件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F00A90-1B08-4774-B58E-20F3F23D7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648325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依据可定位，缺项不补写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5A39A7-1FA7-4BC1-AACB-BFBD55AEE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323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输出结构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8A297F-1327-45FF-9255-E3328146D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638925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维度、比较、结论影响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5D6BD0-53E0-4E42-BFFF-28DC2EC4D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39050"/>
            <a:ext cx="13716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“专家”角色可帮助指定角度；材料、限制与核对标准决定这次任务怎样开展。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3CECFE-4FFD-4EF8-BEB4-5168739D4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296275"/>
            <a:ext cx="1247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来源：OpenAI：Prompt engineering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A42CF6-F319-43DA-8563-286DC5FFE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2105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00865624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07B02B-7816-4B2B-BDC0-4DBA150DAC45}"/>
              </a:ext>
            </a:extLst>
          </p:cNvPr>
          <p:cNvCxnSpPr>
            <a:stCxn xmlns:a="http://schemas.openxmlformats.org/drawingml/2006/main" id="21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9239250" y="6705600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D8937B-46B5-4EFA-9C56-B79990B5A71E}"/>
              </a:ext>
            </a:extLst>
          </p:cNvPr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3238500" y="6691313"/>
            <a:ext cx="952500" cy="1428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75CB70-A79F-434E-B760-275A6640311D}"/>
              </a:ext>
            </a:extLst>
          </p:cNvPr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9239250" y="5448300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A5E711-ADC0-4B68-A259-998F8F57071E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3238500" y="5434013"/>
            <a:ext cx="952500" cy="1428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64FF1F-23F0-4B6B-9303-800352F4FD90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9239250" y="4191000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DE34C0-2F43-40ED-88E8-08F34B8D6323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238500" y="4176713"/>
            <a:ext cx="952500" cy="1428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659E7FB-8165-4D9D-96D2-CFF52E578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295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01  科研 AI：能力、原理与学术边界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7C80B4-33AB-4136-9B18-745773CB6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Claude、ChatGPT、DeepSeek 怎样选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1D8F47-7210-4D0D-8B7A-6AB346072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672CC9-E14F-4FAA-8EE4-98919AAEF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同一任务：依据公开论文，解释“AI 编造文献”的证据，交付一页说明。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AD2B52-AA2F-4075-97FF-27A2DD487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76575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使用入口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CA7F94-7DEB-4FC4-8845-25439C9B2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076575"/>
            <a:ext cx="504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这一任务怎样处理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614D73-EEB8-4B74-A9DA-4F5263639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076575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选择依据与检查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3E456C-71ED-4F3C-943E-7D1E914BF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2476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Claude</a:t>
            </a:r>
          </a:p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已启用文件工具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A90AAD-5587-4488-BC43-483C7F27B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714750"/>
            <a:ext cx="5048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读论文 PDF，核对表3、4；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整理结果与限制，导出 Word。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511874-33BB-4E44-8847-92A9B428E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714750"/>
            <a:ext cx="428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适合：已有论文，要说明稿。</a:t>
            </a:r>
          </a:p>
          <a:p xmlns:a="http://schemas.openxmlformats.org/drawingml/2006/main">
            <a: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检查：原文定位、可编辑正文。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64B700-DE93-42D7-B7D2-99FC9566B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4345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E2FA29-0CB9-4A67-ABA7-B3FEC326C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72050"/>
            <a:ext cx="2476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ChatGPT Work</a:t>
            </a:r>
          </a:p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文件处理模式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874BCC-0554-4AB9-A574-5BB9E0B0E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972050"/>
            <a:ext cx="5048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附论文和报告值表；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制作可编辑图表及说明文件。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2E8DEA-E97D-47FA-878B-D2FD10FEA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972050"/>
            <a:ext cx="428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适合：要边看图、边改文件。</a:t>
            </a:r>
          </a:p>
          <a:p xmlns:a="http://schemas.openxmlformats.org/drawingml/2006/main">
            <a: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检查：数值、分母、图表编辑。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798EC0-423B-4194-B262-B59256D40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0075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E239DE-3828-4BAF-9E2B-501E5D8D6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29350"/>
            <a:ext cx="2476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DeepSeek</a:t>
            </a:r>
          </a:p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课程网页方案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92EDE0-3119-475C-9B7F-F071B3021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229350"/>
            <a:ext cx="5048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提供核对后的文本和数值；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模型拟稿，文件工具另行导出。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009E2B-3008-43D9-AA81-61A0A3F05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229350"/>
            <a:ext cx="428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适合：沿用课程网页流程。</a:t>
            </a:r>
          </a:p>
          <a:p xmlns:a="http://schemas.openxmlformats.org/drawingml/2006/main">
            <a: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检查：节点记录、实际导出文件。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6F1DB6-FB3C-48C4-970E-A4C9C18A9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39050"/>
            <a:ext cx="13716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三条路线是选用示例，未作三方实测。能否读文件、计算和导出，要核对当前入口及权限。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C4740D-86C5-436C-B2DE-1244F1EB4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296275"/>
            <a:ext cx="1247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来源：Claude：文件工具；OpenAI：Work with files；DeepSeek：API Docs；Walters &amp; Wilder（2023），表3、4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D37E82-09BD-4E98-87FC-D272954FE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2105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62282340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BC6C3B-3DAE-414E-B272-4D6031DA7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295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01  科研 AI：能力、原理与学术边界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A37FDD-2505-444F-9D89-6A5EBD9A3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预测、解释与因果判断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54A6D2-7AAA-41C4-B976-C5E7F109F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4B3C5E-C5A8-428B-9712-CA0DCD918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AI 生成解释或预测之后，还要明确：研究究竟支持哪一种判断。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BEF60F-E272-48B8-80BD-DDFFB996D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228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预测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0DBEEC-E736-40A4-95B9-EB2154726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95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用已有特征估计未知结果。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AC1049-3456-4E1D-B9F1-EE81E9F4C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5814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例如根据材料成分预测性质。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需要检查测试集、误差与适用范围。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7998A7-B90F-4192-84B3-52B025C9F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3862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74D979-ACD3-4582-B69B-B1067FB70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4825"/>
            <a:ext cx="228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解释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AEAEDC-F03B-42C2-B0EE-6BBE0E681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148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说明现象可能通过什么机制发生。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71A755-1CCA-48EF-9D63-C2402E33F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8006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需要理论、测量和支持机制的证据。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一个合理的故事不足以确立机制。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B6417C-41B4-4770-817F-0203F8DF1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5782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374D37-A0B7-43E6-8178-75B1C41CB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34025"/>
            <a:ext cx="228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因果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FC4209-B9E8-487B-812F-1236A11FE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5340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判断改变某个因素是否会改变结果。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AE90FA-FB4D-4D76-B61E-BB65A9D81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60198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需要合适的研究设计与识别假设。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相关关系或预测准确不能单独证明因果。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466EF4-3FBB-4307-931E-C74955D47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981825"/>
            <a:ext cx="1371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例如：AI 发现“某特征与结果同时变化”，可以形成待检验的线索。</a:t>
            </a:r>
          </a:p>
          <a:p xmlns:a="http://schemas.openxmlformats.org/drawingml/2006/main">
            <a: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要写成“改变该特征导致结果改变”，还需排查混杂、时间顺序与其他解释。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110405-7B51-413A-A68A-7FCE93B2F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91450"/>
            <a:ext cx="13716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模型输出应保留研究设计能够支持的结论强度。机制示意与自然语言推理也需证据。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D4DB6C-9D91-4CF3-BCCD-3819E4C92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296275"/>
            <a:ext cx="1247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来源：IJS / SLAIF（2026）；NIST AI 600-1（2024）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2C2B1F-1C7C-4BC2-AEC8-CB2DE518F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2105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83531721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2EAFA1-ED94-4D4C-8A16-744B9F6F0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295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01  科研 AI：能力、原理与学术边界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7D6B30-7F06-43C7-B3FF-3FA875D2C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AI 使用声明要看具体用途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D6A9F2-D8F2-43C3-8CEA-4D453C3D6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6A2377-8635-46F5-AB5E-E72E26DF6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13716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改语法、起草正文、分析数据和生成插图，适用的要求各不相同。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39410E-536E-4F21-8883-A8B214B8E0F2}"/>
              </a:ext>
            </a:extLst>
          </p:cNvPr>
          <p:cNvGraphicFramePr/>
          <p:nvPr/>
        </p:nvGraphicFramePr>
        <p:xfrm>
          <a:off xmlns:a="http://schemas.openxmlformats.org/drawingml/2006/main" x="762000" y="3000375"/>
          <a:ext xmlns:a="http://schemas.openxmlformats.org/drawingml/2006/main" cx="137160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5143500"/>
                <a:gridCol w="6191250"/>
              </a:tblGrid>
              <a:tr h="5334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出版方</a:t>
                      </a:r>
                    </a:p>
                  </a:txBody>
                  <a:tcPr marL="152400" marR="152400" marT="114300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写作与披露</a:t>
                      </a:r>
                    </a:p>
                  </a:txBody>
                  <a:tcPr marL="152400" marR="152400" marT="114300" marB="952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科研内容与图像</a:t>
                      </a:r>
                    </a:p>
                  </a:txBody>
                  <a:tcPr marL="152400" marR="152400" marT="114300" marB="952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Nature</a:t>
                      </a:r>
                    </a:p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Portfolio</a:t>
                      </a:r>
                    </a:p>
                  </a:txBody>
                  <a:tcPr marL="152400" marR="152400" marT="114300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按风险分级。广泛写作支持</a:t>
                      </a:r>
                    </a:p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需人工监督、核验与披露。</a:t>
                      </a:r>
                    </a:p>
                  </a:txBody>
                  <a:tcPr marL="152400" marR="152400" marT="114300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作者对准确性与原创性负责；</a:t>
                      </a:r>
                    </a:p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不能伪造数据或让AI代替判断。</a:t>
                      </a:r>
                    </a:p>
                  </a:txBody>
                  <a:tcPr marL="152400" marR="152400" marT="114300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Science</a:t>
                      </a:r>
                    </a:p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journals</a:t>
                      </a:r>
                    </a:p>
                  </a:txBody>
                  <a:tcPr marL="152400" marR="152400" marT="114300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语言清晰度修改：免声明。</a:t>
                      </a:r>
                    </a:p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起草正文、翻译：</a:t>
                      </a:r>
                    </a:p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致谢注明模型与版本。</a:t>
                      </a:r>
                    </a:p>
                  </a:txBody>
                  <a:tcPr marL="152400" marR="152400" marT="114300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改代码功能、数据分析：方法披露。</a:t>
                      </a:r>
                    </a:p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示意插图原则上禁用，例外先问编辑。</a:t>
                      </a:r>
                    </a:p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模型名称与版本按用途登记。</a:t>
                      </a:r>
                    </a:p>
                  </a:txBody>
                  <a:tcPr marL="152400" marR="152400" marT="114300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PLOS</a:t>
                      </a:r>
                    </a:p>
                  </a:txBody>
                  <a:tcPr marL="152400" marR="152400" marT="114300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纯语言改进：免披露。</a:t>
                      </a:r>
                    </a:p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生成正文等：按规定披露；</a:t>
                      </a:r>
                    </a:p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翻译建议披露。</a:t>
                      </a:r>
                    </a:p>
                  </a:txBody>
                  <a:tcPr marL="152400" marR="152400" marT="114300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AI示意图可用，但不得冒充研究数据；</a:t>
                      </a:r>
                    </a:p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图注披露，并核对准确性与版权。</a:t>
                      </a:r>
                    </a:p>
                  </a:txBody>
                  <a:tcPr marL="152400" marR="152400" marT="114300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CF2E17-CF07-49D2-A0F7-891446023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1517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AI 不能署名，作者仍需核对事实、引文与原创性。</a:t>
            </a:r>
          </a:p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审稿与返修材料的输入限制，见配套政策核对说明。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8EB6B7-F4A6-40EA-A797-62D3672E5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91450"/>
            <a:ext cx="13716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核对日期：2026-10-20。Science细则定位至官方PDF第1—2页；访问日不等于政策生效日。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65D69F-A746-4F30-962D-FA3370C73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296275"/>
            <a:ext cx="1247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来源：Nature Portfolio AI policy；Science journals 官方政策及AI细则；PLOS AI policy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4156E4-FC6C-4C64-BB18-C15791AF0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2105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05778927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E543A8-5C2E-4289-9ED7-FC83AACAB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295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01  科研 AI：能力、原理与学术边界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4D0F8D-AB6B-4D9B-A2BA-9A0E097B1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科研可信度的四个条件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EDBCD4-263D-4D46-B453-BFC218F9F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CC6CEA-C7D5-459F-879D-1BE6ACC4A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AI 辅助成果进入论文、申报或报告之前，需要经过证据与方法的检查。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239920-2BC7-456B-99C4-711584C1D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14675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来源真实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662F51-F82E-4FFE-957A-DB9473A43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114675"/>
            <a:ext cx="10382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论文、数据与指南有可定位原件。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93A851-3FE5-4DE4-932E-A99A55702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38550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有题名或 DOI 仍需确认实际对应的内容。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0816C4-656F-47F8-ACCA-8A94CE92A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B089E5-91DF-430F-BFC5-FB71835C4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过程可查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9FFD69-8FDD-4B4A-B93F-DA55A8326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171950"/>
            <a:ext cx="10382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保留输入、方法、代码与处理记录。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0CA1CA-DC1C-4208-9D0F-AAF717218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695825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计算能复现，修改有依据，版本能区分。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EF4437-BBE3-4619-B769-F65F80F91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5777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DDE28C-1A11-4526-9B9F-78678793E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29225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推断适当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0E52FF-FDE7-4E02-9A82-07EB96F3F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229225"/>
            <a:ext cx="10382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结论符合研究对象、条件与设计。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E6C5A0-CB51-41F4-AE08-BF8EFE621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753100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不把推测写成结果，不把相关直接写成因果。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1A92CD-35E0-42A5-99D3-23B80F108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1A93B4-92C5-4C25-8472-035975034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0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责任明确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CC5672-F71B-4BE6-B3F7-2B030D4D5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286500"/>
            <a:ext cx="10382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研究者核对内容并按要求披露使用。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477F87-A899-4401-A61E-CBC3C39DD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810375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语言修订保留事实、数字、引用与限制。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77955B-50FD-418E-AEDB-A6A72532D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39050"/>
            <a:ext cx="13716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后续章节据此展开：文献、数据、图表、论文与申报材料，各自有需要核对的证据。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8BE2D9-B945-4FBE-AE7B-5C29DC787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296275"/>
            <a:ext cx="1247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来源：NIST AI 600-1（2024）；Walters &amp; Wilder（2023），表3、4；Nature Portfolio AI policy；PLOS AI policy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83030B-388A-4403-B601-A458B8D81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2105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3463355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2026-10-20T01:17:04.5570000Z</dcterms:created>
  <dcterms:modified xsi:type="dcterms:W3CDTF">2026-10-20T01:17:04.5570000Z</dcterms:modified>
</coreProperties>
</file>