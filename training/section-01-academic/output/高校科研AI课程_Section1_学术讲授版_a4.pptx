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d34b7113a54bdc" /><Relationship Type="http://schemas.openxmlformats.org/officeDocument/2006/relationships/extended-properties" Target="/docProps/app.xml" Id="R643304b3b87146e0" /><Relationship Type="http://schemas.openxmlformats.org/officeDocument/2006/relationships/officeDocument" Target="/ppt/presentation.xml" Id="R51c5d9ceac954f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a88624faa1409b"/>
  </p:sldMasterIdLst>
  <p:notesMasterIdLst>
    <p:notesMasterId xmlns:r="http://schemas.openxmlformats.org/officeDocument/2006/relationships" r:id="R102b74cdfe9442f4"/>
  </p:notesMasterIdLst>
  <p:sldIdLst>
    <p:sldId xmlns:r="http://schemas.openxmlformats.org/officeDocument/2006/relationships" id="256" r:id="R80b5f3dc2e494e0a"/>
    <p:sldId xmlns:r="http://schemas.openxmlformats.org/officeDocument/2006/relationships" id="257" r:id="Rc429d243a6684f66"/>
    <p:sldId xmlns:r="http://schemas.openxmlformats.org/officeDocument/2006/relationships" id="258" r:id="Rfb24a0d98e18410f"/>
    <p:sldId xmlns:r="http://schemas.openxmlformats.org/officeDocument/2006/relationships" id="259" r:id="R3bc33eeccd924054"/>
    <p:sldId xmlns:r="http://schemas.openxmlformats.org/officeDocument/2006/relationships" id="260" r:id="Refc34948aafc4904"/>
    <p:sldId xmlns:r="http://schemas.openxmlformats.org/officeDocument/2006/relationships" id="261" r:id="R19c207a226894368"/>
    <p:sldId xmlns:r="http://schemas.openxmlformats.org/officeDocument/2006/relationships" id="262" r:id="R8f366c85f1d849dc"/>
    <p:sldId xmlns:r="http://schemas.openxmlformats.org/officeDocument/2006/relationships" id="263" r:id="Rd6ede35a43844d68"/>
    <p:sldId xmlns:r="http://schemas.openxmlformats.org/officeDocument/2006/relationships" id="264" r:id="R0edf4eafadb74945"/>
    <p:sldId xmlns:r="http://schemas.openxmlformats.org/officeDocument/2006/relationships" id="265" r:id="R228cc16f8add4a6b"/>
    <p:sldId xmlns:r="http://schemas.openxmlformats.org/officeDocument/2006/relationships" id="266" r:id="Rb462613f6b4640f4"/>
    <p:sldId xmlns:r="http://schemas.openxmlformats.org/officeDocument/2006/relationships" id="267" r:id="Re093e314d290436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547c6d5476438f" /><Relationship Type="http://schemas.openxmlformats.org/officeDocument/2006/relationships/slideMaster" Target="/ppt/slideMasters/slideMaster1.xml" Id="R2ca88624faa1409b" /><Relationship Type="http://schemas.openxmlformats.org/officeDocument/2006/relationships/notesMaster" Target="/ppt/notesMasters/notesMaster1.xml" Id="R102b74cdfe9442f4" /><Relationship Type="http://schemas.openxmlformats.org/officeDocument/2006/relationships/presProps" Target="/ppt/presProps.xml" Id="Rd8592bf6b64d4727" /><Relationship Type="http://schemas.openxmlformats.org/officeDocument/2006/relationships/tableStyles" Target="/ppt/tableStyles.xml" Id="R5a3b4b805c80468f" /><Relationship Type="http://schemas.openxmlformats.org/officeDocument/2006/relationships/slide" Target="/ppt/slides/slide1.xml" Id="R80b5f3dc2e494e0a" /><Relationship Type="http://schemas.openxmlformats.org/officeDocument/2006/relationships/slide" Target="/ppt/slides/slide2.xml" Id="Rc429d243a6684f66" /><Relationship Type="http://schemas.openxmlformats.org/officeDocument/2006/relationships/slide" Target="/ppt/slides/slide3.xml" Id="Rfb24a0d98e18410f" /><Relationship Type="http://schemas.openxmlformats.org/officeDocument/2006/relationships/slide" Target="/ppt/slides/slide4.xml" Id="R3bc33eeccd924054" /><Relationship Type="http://schemas.openxmlformats.org/officeDocument/2006/relationships/slide" Target="/ppt/slides/slide5.xml" Id="Refc34948aafc4904" /><Relationship Type="http://schemas.openxmlformats.org/officeDocument/2006/relationships/slide" Target="/ppt/slides/slide6.xml" Id="R19c207a226894368" /><Relationship Type="http://schemas.openxmlformats.org/officeDocument/2006/relationships/slide" Target="/ppt/slides/slide7.xml" Id="R8f366c85f1d849dc" /><Relationship Type="http://schemas.openxmlformats.org/officeDocument/2006/relationships/slide" Target="/ppt/slides/slide8.xml" Id="Rd6ede35a43844d68" /><Relationship Type="http://schemas.openxmlformats.org/officeDocument/2006/relationships/slide" Target="/ppt/slides/slide9.xml" Id="R0edf4eafadb74945" /><Relationship Type="http://schemas.openxmlformats.org/officeDocument/2006/relationships/slide" Target="/ppt/slides/slide10.xml" Id="R228cc16f8add4a6b" /><Relationship Type="http://schemas.openxmlformats.org/officeDocument/2006/relationships/slide" Target="/ppt/slides/slide11.xml" Id="Rb462613f6b4640f4" /><Relationship Type="http://schemas.openxmlformats.org/officeDocument/2006/relationships/slide" Target="/ppt/slides/slide12.xml" Id="Re093e314d29043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d44e2c8b0445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0480d03b2c4bd7" /><Relationship Type="http://schemas.openxmlformats.org/officeDocument/2006/relationships/notesMaster" Target="/ppt/notesMasters/notesMaster1.xml" Id="Rb8ccd2cc0f654a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5643b234614c10" /><Relationship Type="http://schemas.openxmlformats.org/officeDocument/2006/relationships/notesMaster" Target="/ppt/notesMasters/notesMaster1.xml" Id="R43c8587303014a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1e9079f98e4490" /><Relationship Type="http://schemas.openxmlformats.org/officeDocument/2006/relationships/notesMaster" Target="/ppt/notesMasters/notesMaster1.xml" Id="Re472e6c7fde847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3b85a6bd8d4ca7" /><Relationship Type="http://schemas.openxmlformats.org/officeDocument/2006/relationships/notesMaster" Target="/ppt/notesMasters/notesMaster1.xml" Id="R5a21f1d00f0a45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093e8980244cf9" /><Relationship Type="http://schemas.openxmlformats.org/officeDocument/2006/relationships/notesMaster" Target="/ppt/notesMasters/notesMaster1.xml" Id="R9af9adc2455749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8c27a900914fad" /><Relationship Type="http://schemas.openxmlformats.org/officeDocument/2006/relationships/notesMaster" Target="/ppt/notesMasters/notesMaster1.xml" Id="R26c49bd693da41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78d634b2184421" /><Relationship Type="http://schemas.openxmlformats.org/officeDocument/2006/relationships/notesMaster" Target="/ppt/notesMasters/notesMaster1.xml" Id="Ra51d37c173914a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ff002062ea485f" /><Relationship Type="http://schemas.openxmlformats.org/officeDocument/2006/relationships/notesMaster" Target="/ppt/notesMasters/notesMaster1.xml" Id="Rfbaeda776cf947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e74d4655d34960" /><Relationship Type="http://schemas.openxmlformats.org/officeDocument/2006/relationships/notesMaster" Target="/ppt/notesMasters/notesMaster1.xml" Id="Re7681f1f84e941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ee136c4b564a1f" /><Relationship Type="http://schemas.openxmlformats.org/officeDocument/2006/relationships/notesMaster" Target="/ppt/notesMasters/notesMaster1.xml" Id="R2c2e0eb6046d4a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699ae1a0e84750" /><Relationship Type="http://schemas.openxmlformats.org/officeDocument/2006/relationships/notesMaster" Target="/ppt/notesMasters/notesMaster1.xml" Id="Rd42635156ed042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b7c665de574aa5" /><Relationship Type="http://schemas.openxmlformats.org/officeDocument/2006/relationships/notesMaster" Target="/ppt/notesMasters/notesMaster1.xml" Id="R8183a1820a3d4f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介绍生成式AI在科研中的作用范围、基本原理、能力差异与规范。图中的工作环节是课程归纳，不能据此声称各类工具已能独立完成科研。科研还包括专用预测模型、实验设备与领域方法，后页区分其与通用生成式工具的关系。图中每个节点均为原生可编辑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左、右两类是为科研使用作的区分，并非互斥的技术分类：生成模型也可用于领域预测，多模态能力与语言模型也有交叉。生成式AI定义依据NIST AI 600-1第1节脚注。领域实例参考IJS Foundation Models课件，未复制其科研图片或数据。Agent系统的概念留至Section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概念框架，省略优化器、网络层和底层接口。预训练、后训练并不是所有模型固定相同的生产流程，后训练常见方法包括监督微调与基于反馈的优化。推理可以包含多步计算，不等同于一次简单补字。上传文件是否进入服务后续训练受产品条款与设置影响；本页只解释当前任务提供上下文与专门微调之间的技术区别，不作数据保留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Key concepts</a:t>
            </a:r>
          </a:p>
          <a:p xmlns:a="http://schemas.openxmlformats.org/drawingml/2006/main">
            <a:r>
              <a:t>https://developers.openai.com/api/docs/concepts</a:t>
            </a:r>
          </a:p>
          <a:p xmlns:a="http://schemas.openxmlformats.org/drawingml/2006/main">
            <a:r>
              <a:t>定位：Text generation models;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Model optimization</a:t>
            </a:r>
          </a:p>
          <a:p xmlns:a="http://schemas.openxmlformats.org/drawingml/2006/main">
            <a:r>
              <a:t>https://developers.openai.com/api/docs/guides/model-optimization</a:t>
            </a:r>
          </a:p>
          <a:p xmlns:a="http://schemas.openxmlformats.org/drawingml/2006/main">
            <a:r>
              <a:t>定位：Evaluation, prompt engineering and fine-tuning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图是课程绘制的简化RAG框架，并非某产品执行截图。检索可能来自数据库、文件或搜索工具；不是所有聊天都自动执行检索。输入和输出受到上下文窗口等限制，具体额度随模型而异。本节不讲向量库、API、分词器的实现细节。RAG能提供外部材料，不保证检索召回、证据质量和引用归属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Conversation state</a:t>
            </a:r>
          </a:p>
          <a:p xmlns:a="http://schemas.openxmlformats.org/drawingml/2006/main">
            <a:r>
              <a:t>https://developers.openai.com/api/docs/guides/conversation-state</a:t>
            </a:r>
          </a:p>
          <a:p xmlns:a="http://schemas.openxmlformats.org/drawingml/2006/main">
            <a:r>
              <a:t>定位：Managing the context window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真实公开研究，DOI 10.1038/s41598-023-41032-5。已读取原始PDF第1页摘要和第4页表3、表4；PDF共8页。表3：GPT-3.5全部引文n=222，55%虚构；GPT-4全部引文n=414，18%虚构。表4：实际存在文献中43%和24%含至少一种实质性著录错误；这两个百分比不能当作全部636条文献中的比例。图为原文报告值的可编辑重绘，不是本课程重新运行模型的结果，也不推断当前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对科研任务的归纳，没有给工具打分，也没有宣称任意通用模型都具备同样能力。代码生成与代码执行分开；执行成功与方法适用分开。图表需来自实际数据或明确标识的示意，机制示意不能代替实验结果。NIST建议按具体任务验证能力，避免从狭窄或轶事测评作不当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解释任务分解原则，没有安排学员实操或课堂练习。综述作为科研工作例子，不能把模型生成的检索式或研究空白直接称作已验证结果。系统综述的正式检索与纳入报告要求在文献章节具体介绍，本页不冒称符合PRISMA。原文材料不足时保留缺口。后续Agent章节解释系统如何保存这些步骤的状态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科研指令的结构分析，不是现场操作任务或模型执行记录。示例由课程编写，不指向某两篇真实论文，也不提供虚构比较结果。角色设定用于指定方法论视角，不代表模型具备真实研究者资格。指令可以约束输出，但不能保证引文准确，仍需回原文核对。提示设计原则来自官方说明，比较维度与文字由课程按科研场景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工具名称是类别示例，不构成产品排名或订阅建议。已访问Elicit、Consensus、Connected Papers官方首页核对其定位；功能、覆盖和访问条件以使用时版本为准。通用产品与模型、工具的关系按官方工具文档解释。Claude、ChatGPT、DeepSeek、Gemini等具体产品能力会在概念与工具章节结合实际版本介绍，不沿用“复杂任务必用某品牌”等固定口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</a:t>
            </a:r>
          </a:p>
          <a:p xmlns:a="http://schemas.openxmlformats.org/drawingml/2006/main">
            <a:r>
              <a:t>https://elicit.com/</a:t>
            </a:r>
          </a:p>
          <a:p xmlns:a="http://schemas.openxmlformats.org/drawingml/2006/main">
            <a:r>
              <a:t>定位：官方产品首页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Consensus</a:t>
            </a:r>
          </a:p>
          <a:p xmlns:a="http://schemas.openxmlformats.org/drawingml/2006/main">
            <a:r>
              <a:t>https://consensus.app/</a:t>
            </a:r>
          </a:p>
          <a:p xmlns:a="http://schemas.openxmlformats.org/drawingml/2006/main">
            <a:r>
              <a:t>定位：官方产品首页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Connected Papers</a:t>
            </a:r>
          </a:p>
          <a:p xmlns:a="http://schemas.openxmlformats.org/drawingml/2006/main">
            <a:r>
              <a:t>https://www.connectedpapers.com/</a:t>
            </a:r>
          </a:p>
          <a:p xmlns:a="http://schemas.openxmlformats.org/drawingml/2006/main">
            <a:r>
              <a:t>定位：官方产品首页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科研推断的层次，例子为方法说明，没有虚构具体实验或数值。预测可用于筛选候选材料，不自动建立机制与因果结论；因果判断也不只依赖随机实验一种方法，具体研究可有准实验、观察性识别及相应假设。不会因模型生成了详细解释就视作机制已被证明。技术方法细节在研究设计与数据分析章节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核对日期2026-10-17。Nature Portfolio当前政策采用风险框架，黄级用途包含建议方法、摘要、比较文献、写作支持等，需人工监督、核验与披露；红级不允许把学术责任交给AI、生成不可核验输出或破坏保密性。PLOS政策AI use by authors说明AI不能署名，生成或修订投稿内容以及支持所报告研究的使用需披露，作者承担可靠性责任。网页原文已读取并保存本地核对记录。本页不覆盖Science系列的具体规则，论文章节仍需单独核对；也不把仅用于课堂讲授的本页当作正式声明模板。 补充核对同日PLOS FAQ：拼写、语法、清晰度和简洁性改进无需披露；翻译建议披露而非强制；分析代码生成与制图另按相应规定披露。必须与政策正文一起解释。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程依据前述原理、实证研究与出版规范归纳的使用框架，没有课堂练习、操作打卡或让学员提交文件的要求。来源真实不保证结论有效，可复现也不保证方法合理，四项需要结合具体研究判断。后续Humanizer章节要展示怎样改善语言而不改变证据强度与使用事实；Agent与Harness章节则解释怎样保存执行状态、来源与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51ff5984f41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e8b6a576e4d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e02c935854e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90b84466d4b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9b7cd96564b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15012f76c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A205B5-5C69-4FD8-A162-00065CD28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1E5522-EBE2-4E25-AB48-0E727DF6BC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1A63B4-4363-4ECD-8CD5-BB0BB1548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1D04EB-4260-4093-AEE1-51D0520731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49E3B7-4DF2-496B-8EE4-944C8B215F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1E6B19-98AB-4CAF-A1E0-9FF37D03B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E3123A-BA64-4678-9C11-C2EF8A882F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EC505A-4371-4BDA-B3B8-EBBBB16D3E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B989C4-869A-44E4-8803-E9E686D9F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4165AB-46F4-41CF-AC2A-4E90F8BDB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070205843f4ffa" /><Relationship Type="http://schemas.openxmlformats.org/officeDocument/2006/relationships/slideLayout" Target="/ppt/slideLayouts/slideLayout1.xml" Id="Rf79a91fd5e914b2d" /><Relationship Type="http://schemas.openxmlformats.org/officeDocument/2006/relationships/slideLayout" Target="/ppt/slideLayouts/slideLayout2.xml" Id="Rfc4d7a3dea374d9a" /><Relationship Type="http://schemas.openxmlformats.org/officeDocument/2006/relationships/slideLayout" Target="/ppt/slideLayouts/slideLayout3.xml" Id="R33f06e24bd184aed" /><Relationship Type="http://schemas.openxmlformats.org/officeDocument/2006/relationships/slideLayout" Target="/ppt/slideLayouts/slideLayout4.xml" Id="R4528f2cf732d470b" /><Relationship Type="http://schemas.openxmlformats.org/officeDocument/2006/relationships/slideLayout" Target="/ppt/slideLayouts/slideLayout5.xml" Id="Rbf8699d769894e99" /><Relationship Type="http://schemas.openxmlformats.org/officeDocument/2006/relationships/slideLayout" Target="/ppt/slideLayouts/slideLayout6.xml" Id="R7d931ed1168e4d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9a91fd5e914b2d"/>
    <p:sldLayoutId xmlns:r="http://schemas.openxmlformats.org/officeDocument/2006/relationships" id="2147483650" r:id="Rfc4d7a3dea374d9a"/>
    <p:sldLayoutId xmlns:r="http://schemas.openxmlformats.org/officeDocument/2006/relationships" id="2147483651" r:id="R33f06e24bd184aed"/>
    <p:sldLayoutId xmlns:r="http://schemas.openxmlformats.org/officeDocument/2006/relationships" id="2147483652" r:id="R4528f2cf732d470b"/>
    <p:sldLayoutId xmlns:r="http://schemas.openxmlformats.org/officeDocument/2006/relationships" id="2147483653" r:id="Rbf8699d769894e99"/>
    <p:sldLayoutId xmlns:r="http://schemas.openxmlformats.org/officeDocument/2006/relationships" id="2147483654" r:id="R7d931ed1168e4d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5a4b63f2ad48b9" /><Relationship Type="http://schemas.openxmlformats.org/officeDocument/2006/relationships/notesSlide" Target="/ppt/notesSlides/notesSlide1.xml" Id="Re0e62b8b221742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07a96aa2fe48d9" /><Relationship Type="http://schemas.openxmlformats.org/officeDocument/2006/relationships/notesSlide" Target="/ppt/notesSlides/notesSlide2.xml" Id="R2b6a1c60deb048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97d03a39947aa" /><Relationship Type="http://schemas.openxmlformats.org/officeDocument/2006/relationships/notesSlide" Target="/ppt/notesSlides/notesSlide3.xml" Id="Ra24e04e7f19c49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c8b5285a243fc" /><Relationship Type="http://schemas.openxmlformats.org/officeDocument/2006/relationships/notesSlide" Target="/ppt/notesSlides/notesSlide4.xml" Id="Rb0d81a92728640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84e29bce5422a" /><Relationship Type="http://schemas.openxmlformats.org/officeDocument/2006/relationships/chart" Target="/ppt/slides/charts/chart1.xml" Id="R2d0e153596c24c25" /><Relationship Type="http://schemas.openxmlformats.org/officeDocument/2006/relationships/notesSlide" Target="/ppt/notesSlides/notesSlide5.xml" Id="R8bf284faa4e24d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b0d9806844c79" /><Relationship Type="http://schemas.openxmlformats.org/officeDocument/2006/relationships/notesSlide" Target="/ppt/notesSlides/notesSlide6.xml" Id="R65e2aa4a0a9848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e51e963654882" /><Relationship Type="http://schemas.openxmlformats.org/officeDocument/2006/relationships/notesSlide" Target="/ppt/notesSlides/notesSlide7.xml" Id="R9f1d1e1a71e04e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959ee695444e7" /><Relationship Type="http://schemas.openxmlformats.org/officeDocument/2006/relationships/notesSlide" Target="/ppt/notesSlides/notesSlide8.xml" Id="R9145dc73af7044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34607741940f2" /><Relationship Type="http://schemas.openxmlformats.org/officeDocument/2006/relationships/notesSlide" Target="/ppt/notesSlides/notesSlide9.xml" Id="Rd60f6d10e76842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ecc06d3514dd0" /><Relationship Type="http://schemas.openxmlformats.org/officeDocument/2006/relationships/notesSlide" Target="/ppt/notesSlides/notesSlide10.xml" Id="R2e5481d108bb46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b865822c24907" /><Relationship Type="http://schemas.openxmlformats.org/officeDocument/2006/relationships/notesSlide" Target="/ppt/notesSlides/notesSlide11.xml" Id="Rb5e4688e26874d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bdfea185b416d" /><Relationship Type="http://schemas.openxmlformats.org/officeDocument/2006/relationships/notesSlide" Target="/ppt/notesSlides/notesSlide12.xml" Id="Rf60ca6e68ff744b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所引文献中虚构文献的比例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虚构文献比例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4B161-F0C6-474F-BC78-6D95A4B5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877B1-78F6-4F7E-A926-88A08423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科研流程中的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D61F7-5480-4EA6-8BCD-8506290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923F3-1B76-4883-84B9-DB1737C4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可以参与科研的多个环节；每个环节需要的材料和证据并不相同。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E2E5D-6843-4155-B79E-90182CC1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科研环节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5DD3A-D2B3-4166-9EB8-12CE60F5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可以辅助的工作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9F9D9-9AEA-44A2-AACD-5C941FE8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194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需要保留的学术判断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B046F-CAE7-47B6-B00F-CC62AB25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13B7F-7FD6-4AC1-BA67-469CE6E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检索线索、比较已有研究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565F4-30A3-47E5-B4F8-D5CD0EF8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核对原文与研究空白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A2D72-52FC-417E-8171-A004DD86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BA123-C214-4D5D-86C7-B810DC01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BDF55-56A7-4A8C-9844-1A3C1000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提出备选设计与变量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D0909-3171-4FE4-A736-EA47D1A1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论证对照、测量和可行性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2B00A-02C1-4ABB-B34C-35ACCA0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D9489-AD58-4B36-825F-2FF6F974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31AAF-2FC0-40E9-A03E-1953D066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生成代码、识别数据问题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BD9C4-6341-44B0-97B6-76D14F4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62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复算结果、检查假设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4E838-B1AB-4F72-AB81-4337732E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A006D-E529-45CC-BFD0-AEE16502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论文与申报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B127F-6B48-4986-AB5C-9DA93532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组织材料、修改表达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90EE2-DE85-4C4F-A138-E5894144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86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核对主张、引文与成果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B3728-6AA1-442A-9802-A72A4A80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4049A-C101-4A04-B408-6CB10A0A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评审与传播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252750-4707-423A-A9A9-DE786DD5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10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整理意见、准备汇报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1ED95-4482-4F7F-9043-E41057C2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0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保留限制、回应质疑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59F5A9-EA3C-445A-A5DE-B10BEBDB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科研价值取决于问题、方法与证据。文字更快成稿，只是其中一个环节。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564B1-5530-4B10-A01D-B60649D0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SLAIF（2026）；GWU MAE-6291（2026）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41917-9365-4C46-9530-1A01430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7418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DCB07-8F84-4C15-99BD-08DB1ACD58C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4B1FC-7FE4-438C-AFFB-FC8D94A5DDB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90525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B76DE-EE3E-4E95-84DA-9BB04F0C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DF2BA-21E8-4A6E-A241-1F73F05A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 AI 与科研 AI 的范围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905F4-90AB-43C8-B4C5-142F4007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C8D5F-D718-4B34-A344-965AC67E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科研中的 AI 既包括面向特定问题的模型，也包括处理语言、图像与代码的生成式模型。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25633-43F6-4502-B0D3-729C7E72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面向科学研究的 AI 方法与系统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B7D6F-15A9-4A64-90B9-30B8706D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领域预测与识别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B3D6F-4701-4CB2-9DB8-71D3E098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A9D36-DBBE-4056-93F0-521B7F1B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以特定数据和目标建立模型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3A292-4EF5-43E9-8FD6-C07825AE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例如材料性质预测、显微图像分割。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评价时关注预测误差、泛化与测量条件。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41658-CA3E-4DCF-8F92-8FC9A078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根据输入生成新的内容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628D0-FA4E-48BC-A8C8-55988C2D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大语言模型主要处理语言与代码；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多模态模型还可处理图像、音频等内容。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5B62C-3A0A-4364-91CE-3DDAD0A5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模型之上还有应用系统：界面、检索、计算工具、文件与任务管理。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同一个模型接入不同材料和工具，能够完成的工作也会不同。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503E8-8EAE-4E74-95CE-CCD75597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本课程重点讲通用生成式 AI 怎样辅助科研，再介绍可执行多步任务的 Agent 系统。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C8476-CCBF-4A15-AB05-D2413F8C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600-1（2024）；IJS / SLAIF（2026）；OpenAI：Using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E1032-CAA8-403B-AE41-E5AFBE5F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7561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6467B-0729-400B-8CD8-DD6FB1F5990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603AE-B3E4-453E-9141-C01529F6149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626CE-E57D-4698-AAA2-DA2FADE8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C32D7-BD8F-44E9-9693-F24B6AF9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预训练、后训练与推理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6C7E9-18A1-4487-B371-A3009E5B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D9D77-19B3-45FA-8993-ABB26886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理解模型怎样获得能力，有助于区分“模型学过什么”和“本次提供了什么”。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F4892-CB25-493B-8795-7280C518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F4DA8-DD2E-421A-BF48-CCEE856D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9AEBA-C3D0-4A24-98BE-50754FA8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FD6E3-83BC-441A-8DA7-562B0AF6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从大规模材料中学习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语言与数据规律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755B8-499C-4525-BE8E-812463D1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形成可迁移的基础能力。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训练材料会影响回答质量。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7D785-2CDF-4E8D-BD21-EAFCFE26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利用示例、反馈等方式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调整模型行为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B744B-A4AE-4E62-825B-167474F3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改善指令遵循与任务表现。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具体方法因模型而异。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E0120-2451-4759-9643-9E30A40A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依据当前指令和上下文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产生回答或其他输出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34A27-BDA0-45F2-AE19-D9BCCFF3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通常使用已有模型参数。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回答仍可能出现事实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或推理错误。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2ACB7-7196-4D2B-8D32-D603F3F3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上传一篇论文，通常是在给当前任务补充材料。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微调则通过训练更新模型参数；检索增强生成通过查找相关材料补充回答依据。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04A35-DE09-4A77-BC4B-2774279A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三者解决的问题不同：基础能力、行为调整，以及当前任务的输入与输出。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01893-3B49-4B57-9752-1A1E02D0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来源：OpenAI：Key concepts；OpenAI：Model optimization；IJS / SLAIF（2026）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D53DC-0811-4DFC-84DB-320514F6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2081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3FD28-7859-41B3-A2DA-3612A1FCECC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D144A-4AE8-408D-9C4C-64076374C80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87095-6D12-4F1B-B6BF-B6F071E497A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DDF121-F415-4A8E-8F2E-98C0795A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2A37A-2BC4-490A-9EEB-EE6E17F9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上下文与检索增强生成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A009C-E8C1-43C9-9157-57366978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4BD98-9F85-44F2-9FA7-99C19099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模型的既有知识、当前任务材料和外部检索结果，是不同的信息来源。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18A7C-018B-4406-92FA-0480E392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AB612-8EFF-4A88-BA60-76FF54BB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2447F-CF83-4647-A126-DE90C76B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组织相关片段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60D4E-FCFE-492D-BDE5-5D1C19A1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模型生成回答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95B23-F41B-4E79-AEA0-4177C3D4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要比较什么、回答什么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DF429-9E08-414D-8796-CD38DA14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查论文、指南或项目文件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126FC-75B8-454A-8357-702E7097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保留出处、条件与版本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896C2-5128-4D8A-AF1A-B383A9C4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依据指令和这些材料组织内容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0FBD8-0060-47C6-8EFE-02803D6E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4C522-1CBC-47E6-AD25-9F3153C8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本次回答可使用的指令、对话、材料和工具结果，容量有限。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DB5A7-F814-4E1C-8F61-0296A522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45BEA-0418-414B-A0A8-15C7AC51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76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模型处理文本时使用的片段；不能按固定汉字数换算。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8794B-0D41-4DB2-875A-3AFBE24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检索增强生成（RAG）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1D8BA-6367-4932-9787-2960EA71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1035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先找相关材料，再交给模型生成回答；仍需核对检索是否完整、引用是否支持结论。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A1FAC-F99F-479F-B52E-F167398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能放进上下文，不代表所有信息都会被正确使用。材料选择和证据核对仍然必要。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213E5-3EF9-4FB8-BD17-92FB9CA0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来源：OpenAI：Conversation state；OpenAI：Prompt engineering；OpenAI：Using tools；GWU MAE-6291（2026）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0E827-23B1-41CD-9DA2-ADE50D97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3546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D0562-AA37-4E33-8E95-32F5CCA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6690F-6B05-4FD9-9087-35B4CA48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语言流畅与文献真实性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A842-03E9-4FCF-AF5A-5E2F4A06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7BEAA-12C2-4739-885D-5BBBA2AB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文献幻觉：生成的引文看起来完整，却可能没有对应的真实研究。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B5360-872F-4630-B9B4-2A81A4B8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Walters 与 Wilder（2023）让两个模型围绕 42 个主题生成短综述，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 84 篇生成文本中的 636 条参考文献。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3E4E9C7-CECD-4C5C-9973-EADEFBF7C028}"/>
              </a:ext>
            </a:extLst>
          </p:cNvPr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7429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0e153596c24c2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1F6A0-8B22-43E4-8A99-E022C1B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图中比较什么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413D8-1652-4EB9-B665-49F304E6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481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两个模型在该研究设定下生成的引文。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百分比按原文表 3 报告值重绘。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DBAC4-4B22-452C-84F4-21B9B366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真实文献也会写错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F2FA7-46D7-4AA4-874B-A475D3A2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真实文献中的著录错误：43% 与 24%。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分母为真实文献，与图中比例不同。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C90B3-6FF7-4658-95FF-95687EC9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531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能推出什么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BDDE0-62FC-4639-A85C-A9027332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817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给出的题名、作者、年份与 DOI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需要回到出版页面或数据库核对。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041C6-289F-4B1F-8166-E7088E80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历史研究，非当前模型排名。结果限于 2023 年的模型、提示与任务，不能外推为今天的错误率。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1885F-6A23-4FAC-883B-4B8D2123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 &amp; Wilder（2023），表3、4；NIST AI 600-1（2024）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C0C0C-014E-4A26-B1F6-64C0FB1A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1295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30F10-71C5-4CFD-8793-8FFC211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69F17-E6D4-46A6-B795-A5AC0C7F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科研任务中的能力与限制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35A91-7FBE-4153-BAAD-C198C045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0C0F3-9246-4006-A522-299AD39AF912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3716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476875"/>
                <a:gridCol w="5953125"/>
              </a:tblGrid>
              <a:tr h="8096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可以提供的帮助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科研中仍需判断的部分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语言组织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翻译、归纳、调整段落与术语表达。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是否改变原意、限定条件或证据强度。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材料比较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整理多篇文献的方法、结果与分歧。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材料是否完整，比较对象是否可比。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代码生成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根据分析需求编写和修改代码。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代码是否实际运行，方法假设是否适用。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图表与解释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依据数据生成图表，说明统计结果。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数据来源、单位、样本与结论范围。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31FEE-10ED-4663-8510-99368102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同一段文字可能很通顺，却误解了方法；同一份代码也可能运行成功，却回答了错误的问题。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 AI 辅助成果时，需要同时看表达、执行与科学判断。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03A75-F9F9-4F57-BDA2-7B8641B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输出形式正确、工具运行成功、研究结论成立，是三个需要分别检查的层次。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904DF-48E2-4057-A463-00062A3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来源：OpenAI：Using tools；NIST AI 600-1（2024）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569CD-D5C1-44AB-9AA1-63E7237D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3963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32C466-D69B-4DA7-905A-4E0A023E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C8EFC-4722-4187-A9C1-490197CF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复杂科研任务的组织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D3220-5609-49BF-B054-457B66AF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EEFC9-D8C2-4ABF-9967-AFB81178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把“帮我写一篇综述”拆成有输入、产物和核对依据的研究环节。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2599E-590A-4468-AF25-FB52B8BC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9DB9F-94E1-431A-8498-0ADACFB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75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界定问题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9311-AD05-4290-B82B-921C6141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研究对象、时间范围、纳入标准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95868-23B0-445B-833B-1DE63E3D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形成边界清楚的研究问题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C7483-EA44-4FF8-AE5F-FCA1A744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8617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8EA6D-67C8-4ADB-8BF4-555DD5EA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9B4B7-7112-46A4-A535-3D41673D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收集材料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881C2-6358-480D-91C7-6397354F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检索式、数据库与全文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31BD6-0721-4CC4-B5B1-AEB3B8F0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86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保存可回查的文献集合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83589-9AE6-43FD-8BAF-312B11B4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A9D14-E6E4-4ED7-AB84-9858201F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99489-C85A-4B60-B015-AE6D6C73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ABA8C-5D55-4430-A308-4F38DC2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对象、设计、指标和主要结果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FDDE4-ECC6-4788-939E-334454FB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14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区分共识、分歧与证据缺口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F3088-C776-49E7-9F4B-0566EE6A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19A9A-32C2-42A6-8196-C69138BC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414A2-4B78-4BD8-87AC-AFC2B5A1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组织论述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53DEA-2C4E-4EE6-8FFB-35A795D5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经过核对的证据与主张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5F868-776D-4013-B7B7-F195C096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435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形成段落，标明引文与限制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323C2-8D3C-42DB-B316-989850F3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7220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E4D69-387B-4BFC-BCBF-30C288B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95C02-E22D-42D1-A2A1-E69E0436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722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检查与修订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3DD0F-E36E-4E7C-8D88-1C9203B5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722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原文、引用清单与全文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B34156-F5AB-40A3-BD6C-204ED051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722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核对遗漏、误引和推断越界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950CA-0F25-4E9E-8449-93C4365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先确定每一步需要什么证据，再决定让模型生成、调用工具，还是由研究者作判断。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324A2D-912E-456A-B3F7-36E37180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来源：GWU MAE-6291（2026）；OpenAI：Prompt engineering；NIST AI 600-1（2024）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1E15DC-DF3D-41AC-B6CC-111FD300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0955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8C128-FF41-4D13-8D08-966D5217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EA6B2-5194-4C10-8A70-D8589F0D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科研提示词的主要变量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F1977-6BBF-4B00-BB54-710FE2D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75E84-15DB-4780-9ED9-93BBE1AA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提示词是研究者向模型交代任务、材料和判断标准的指令。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0EF6E-3527-447F-9B09-3CF2CD40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525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请从研究方法角度，比较我提供的两篇论文。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比较研究对象、样本来源、对照设置、测量指标和结论范围。只依据这两篇全文，给出每项判断对应的原文位置。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请区分作者报告的结果与你的解释。两篇论文没有报告的信息写明“未报告”，不要补入样本量、统计结果或其他文献。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按比较维度逐项列出共同点、差异及其对结论的影响。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45FC1-13BB-44B0-98EF-5EF2B0DD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194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E281E-3D32-4DEF-9BC4-80FF8BF1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671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研究方法，面向具体问题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1233C-7230-4451-BCEF-88155701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100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C0921-EC96-4DE1-B36A-B23E8215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57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两篇指定全文，范围明确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001D0-B61F-4F2B-8604-AFAF2B5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006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约束条件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C36AF-19EF-4790-8D7D-DB0BC302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483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依据可定位，缺项不补写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CD6FB-A4D3-4094-AB79-DB5535D9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输出结构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4BAF8-93F8-4FC8-9C95-ABA206D4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389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维度、比较、结论影响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20A83-1B41-4375-9639-13B078A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“专家”角色可帮助指定角度；材料、限制与核对标准决定这次任务怎样开展。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5348F-00FB-4FD8-A5F2-DC98FF4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来源：OpenAI：Prompt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E98A4-331D-4CAC-BB56-A7BB7DAF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8786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A27F5-AF4E-4F9C-8F15-EA4F8083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AE507-5929-4581-8D0B-6ACFF1FB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通用模型与专业工具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188E1-1284-4927-BB43-9B660BAB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6D099-835A-4ECC-B4E6-4C45DEE0A2B1}"/>
              </a:ext>
            </a:extLst>
          </p:cNvPr>
          <p:cNvGraphicFramePr/>
          <p:nvPr/>
        </p:nvGraphicFramePr>
        <p:xfrm>
          <a:off xmlns:a="http://schemas.openxmlformats.org/drawingml/2006/main" x="762000" y="2171700"/>
          <a:ext xmlns:a="http://schemas.openxmlformats.org/drawingml/2006/main" cx="13716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5857875"/>
                <a:gridCol w="5048250"/>
              </a:tblGrid>
              <a:tr h="8001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工具层次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主要作用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选择时关注什么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通用生成式助手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解释概念、组织材料、改写与生成代码。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能否读取需要的材料，是否保留出处。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学术检索与证据整理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例如 Elicit、Consensus，辅助发现和整理研究。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文献覆盖、全文获取与引文质量。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文献关联与图谱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Connected Papers 等，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用于探索文献关联。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关联依据、覆盖范围与遗漏。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计算与执行环境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运行代码、访问文件并保存结果。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权限、实际执行记录、文件可编辑性。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BBF60-27EF-4AEA-B2BB-6186435B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工具选择从研究任务出发：需要发现材料、解释内容，还是计算和交付文件？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再比较来源覆盖、方法限制、数据权限与输出要求。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C365A-EC88-447C-8116-37F84FD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产品和模型是不同层次。同一个模型可以出现在不同产品中，产品也可以接入多种工具。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C6704-B177-4AA1-AE7A-08D690B1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来源：OpenAI：Using tools；Elicit；Consensus；Connected Papers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9D53F-082A-4CD2-AF17-97A9A09E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70437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DFC08-5B7B-4837-BBEF-D0774B8E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44CDF-AF17-461A-9D12-D488F468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预测、解释与因果判断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B71F1-4ED0-4E62-8D08-7DE6C95E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88800-346F-4271-B055-C448174C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生成解释或预测之后，还要明确：研究究竟支持哪一种判断。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BCFE2-B7BF-4C1F-8CF5-563BF8E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6D513-F30D-4533-A3D7-7EE724E2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用已有特征估计未知结果。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10A7C-FDFD-48BF-9DAC-52C43F05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例如根据材料成分预测性质。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需要检查测试集、误差与适用范围。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FB18E-4A48-4E64-9B45-164A2F16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97947-47D9-4B60-9652-BFD4B1F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D1DB1-3AB7-4552-8C3E-D19E0E3E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说明现象可能通过什么机制发生。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0B529-63A9-4184-8631-F65CD93A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需要理论、测量和支持机制的证据。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一个合理的故事不足以确立机制。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92E11-D2B1-4404-AE86-69FC40C1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44F09-0147-4D43-8F3C-44BFC3E4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ADE78-4AF5-4F9D-ADD8-09999DB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34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判断改变某个因素是否会改变结果。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4D124-C8B5-48AE-B086-EAA6456B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19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需要合适的研究设计与识别假设。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相关关系或预测准确不能单独证明因果。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87BCE-AF95-4709-9161-F99EF7B8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1825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例如：AI 发现“某特征与结果同时变化”，可以形成待检验的线索。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要写成“改变该特征导致结果改变”，还需排查混杂、时间顺序与其他解释。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1AD4D-5B3E-459E-ADD1-EBD8662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模型输出应保留研究设计能够支持的结论强度。机制示意与自然语言推理也需证据。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9CFD0-DF32-42C9-BE81-98FEBFCA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SLAIF（2026）；NIST AI 600-1（2024）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35007-D9E2-4456-B7FF-2897B508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2582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E3F87-6B2D-4D1B-82BC-F3C2C5F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F4034-1939-4006-BF42-E2399F35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学术规范与作者责任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B4CF3-0F5D-481F-BF91-5A3258A0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81894-E942-4F2A-B384-B843AD22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参与写作与研究时，作者对准确性、原创性与证据负责。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0C5BB-985B-4970-A486-21D534D0C959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286375"/>
                <a:gridCol w="5667375"/>
              </a:tblGrid>
              <a:tr h="8024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核对事项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 Portfolio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PLOS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与作者资格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不能把学术责任交给 AI。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工具不能列为作者。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写作与研究支持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按风险程度进行人工监督与核验，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并按要求披露。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生成正文等按要求披露；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单纯语言改进见FAQ例外。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内容与研究记录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作者对原创性、准确性和完整性负责。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作者负责研究记录与投稿内容的可靠性。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EE2C0-C631-45F7-B739-28A3797D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53225"/>
            <a:ext cx="1371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日常保留工具与版本、用途、输入材料、采用的输出和人工核对记录。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正式投稿时，按目标期刊当时的声明范围与位置填写。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C4DD2-B055-44C8-898C-7E918C01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这里概述两家出版方的已核对政策；不能把一种期刊的规则直接套到另一种期刊。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B5008-458E-4519-92E9-25F3EFCC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来源：Nature Portfolio AI policy；PLOS AI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80FDE-0DD3-41C7-A702-E6ED7946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2322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CF499-7068-4811-84A0-D2A27A29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16FDA-18B0-4AE6-B090-13B5A6F8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科研可信度的四个条件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D0CD4-5499-4326-BEE8-665E2674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6FC8D-B43C-4059-A6FE-0CB7C2A8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辅助成果进入论文、申报或报告之前，需要经过证据与方法的检查。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3E484-1457-419E-AE26-CCB0DA76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来源真实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F2BF7-E51E-4A5A-9D9E-4BD002AE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1467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论文、数据与指南有可定位原件。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0715C-2B8A-4E7D-8067-A02E0268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有题名或 DOI 仍需确认实际对应的内容。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F126B-7B9C-4DD8-B0E0-151897A9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5CDB1-1093-4B56-B074-D0D5C96F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过程可查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DCA4E-851F-4A5C-9051-1A1E33D1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保留输入、方法、代码与处理记录。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A0219-77AE-416B-8CFB-DCA267E8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958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计算能复现，修改有依据，版本能区分。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CE3EE-0C8A-4BA4-956A-CDF601CA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7A6CD-FE30-4EB9-9930-6A0073DC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推断适当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1EA5D-F35C-449B-B5B3-B76A7768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结论符合研究对象、条件与设计。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527B6-E38C-456F-8129-286637EA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不把推测写成结果，不把相关直接写成因果。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27A64-816B-4954-BEB9-18832F7E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FB38B-2A85-423D-8824-D46E6A71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D0F7E-9B69-4376-98CB-9C317D0F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8650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研究者核对内容并按要求披露使用。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62035-518B-4F8E-86AC-72B98412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103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语言修订保留事实、数字、引用与限制。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A5990-2CE4-4811-8268-49AB891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后续章节据此展开：文献、数据、图表、论文与申报材料，各自有需要核对的证据。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873B4-2059-483B-80DA-FA83064A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600-1（2024）；Walters &amp; Wilder（2023），表3、4；Nature Portfolio AI policy；PLOS AI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EEBA8-9893-473E-A71A-FEAC927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45557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2026-10-17T14:31:44.4460000Z</dcterms:created>
  <dcterms:modified xsi:type="dcterms:W3CDTF">2026-10-17T14:31:44.4460000Z</dcterms:modified>
</coreProperties>
</file>