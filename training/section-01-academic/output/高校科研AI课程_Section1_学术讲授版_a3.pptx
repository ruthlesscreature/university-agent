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785e284c2147e4" /><Relationship Type="http://schemas.openxmlformats.org/officeDocument/2006/relationships/extended-properties" Target="/docProps/app.xml" Id="Rc8ecc867203a4e2c" /><Relationship Type="http://schemas.openxmlformats.org/officeDocument/2006/relationships/officeDocument" Target="/ppt/presentation.xml" Id="R33830abb41d148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77e355810e4af0"/>
  </p:sldMasterIdLst>
  <p:notesMasterIdLst>
    <p:notesMasterId xmlns:r="http://schemas.openxmlformats.org/officeDocument/2006/relationships" r:id="R097edd1cd70f4c23"/>
  </p:notesMasterIdLst>
  <p:sldIdLst>
    <p:sldId xmlns:r="http://schemas.openxmlformats.org/officeDocument/2006/relationships" id="256" r:id="R099e08528bd849fe"/>
    <p:sldId xmlns:r="http://schemas.openxmlformats.org/officeDocument/2006/relationships" id="257" r:id="R14cd6de36a4c47c6"/>
    <p:sldId xmlns:r="http://schemas.openxmlformats.org/officeDocument/2006/relationships" id="258" r:id="Rd5e6d6d5d56a4c1a"/>
    <p:sldId xmlns:r="http://schemas.openxmlformats.org/officeDocument/2006/relationships" id="259" r:id="Rec551c742f7d4a9d"/>
    <p:sldId xmlns:r="http://schemas.openxmlformats.org/officeDocument/2006/relationships" id="260" r:id="R49eba9095f714085"/>
    <p:sldId xmlns:r="http://schemas.openxmlformats.org/officeDocument/2006/relationships" id="261" r:id="R34ab3bd553e04071"/>
    <p:sldId xmlns:r="http://schemas.openxmlformats.org/officeDocument/2006/relationships" id="262" r:id="R2893f19b28964abf"/>
    <p:sldId xmlns:r="http://schemas.openxmlformats.org/officeDocument/2006/relationships" id="263" r:id="R78c177011171414b"/>
    <p:sldId xmlns:r="http://schemas.openxmlformats.org/officeDocument/2006/relationships" id="264" r:id="R0f27fc2e0bbb40fc"/>
    <p:sldId xmlns:r="http://schemas.openxmlformats.org/officeDocument/2006/relationships" id="265" r:id="Rcc713da80e0643a2"/>
    <p:sldId xmlns:r="http://schemas.openxmlformats.org/officeDocument/2006/relationships" id="266" r:id="R541883ba476e4781"/>
    <p:sldId xmlns:r="http://schemas.openxmlformats.org/officeDocument/2006/relationships" id="267" r:id="R590a32c32457415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d2e78e7e1543e0" /><Relationship Type="http://schemas.openxmlformats.org/officeDocument/2006/relationships/slideMaster" Target="/ppt/slideMasters/slideMaster1.xml" Id="Re577e355810e4af0" /><Relationship Type="http://schemas.openxmlformats.org/officeDocument/2006/relationships/notesMaster" Target="/ppt/notesMasters/notesMaster1.xml" Id="R097edd1cd70f4c23" /><Relationship Type="http://schemas.openxmlformats.org/officeDocument/2006/relationships/presProps" Target="/ppt/presProps.xml" Id="Rff7458059bf445b4" /><Relationship Type="http://schemas.openxmlformats.org/officeDocument/2006/relationships/tableStyles" Target="/ppt/tableStyles.xml" Id="R3cfbc9f9d5a64d0f" /><Relationship Type="http://schemas.openxmlformats.org/officeDocument/2006/relationships/slide" Target="/ppt/slides/slide1.xml" Id="R099e08528bd849fe" /><Relationship Type="http://schemas.openxmlformats.org/officeDocument/2006/relationships/slide" Target="/ppt/slides/slide2.xml" Id="R14cd6de36a4c47c6" /><Relationship Type="http://schemas.openxmlformats.org/officeDocument/2006/relationships/slide" Target="/ppt/slides/slide3.xml" Id="Rd5e6d6d5d56a4c1a" /><Relationship Type="http://schemas.openxmlformats.org/officeDocument/2006/relationships/slide" Target="/ppt/slides/slide4.xml" Id="Rec551c742f7d4a9d" /><Relationship Type="http://schemas.openxmlformats.org/officeDocument/2006/relationships/slide" Target="/ppt/slides/slide5.xml" Id="R49eba9095f714085" /><Relationship Type="http://schemas.openxmlformats.org/officeDocument/2006/relationships/slide" Target="/ppt/slides/slide6.xml" Id="R34ab3bd553e04071" /><Relationship Type="http://schemas.openxmlformats.org/officeDocument/2006/relationships/slide" Target="/ppt/slides/slide7.xml" Id="R2893f19b28964abf" /><Relationship Type="http://schemas.openxmlformats.org/officeDocument/2006/relationships/slide" Target="/ppt/slides/slide8.xml" Id="R78c177011171414b" /><Relationship Type="http://schemas.openxmlformats.org/officeDocument/2006/relationships/slide" Target="/ppt/slides/slide9.xml" Id="R0f27fc2e0bbb40fc" /><Relationship Type="http://schemas.openxmlformats.org/officeDocument/2006/relationships/slide" Target="/ppt/slides/slide10.xml" Id="Rcc713da80e0643a2" /><Relationship Type="http://schemas.openxmlformats.org/officeDocument/2006/relationships/slide" Target="/ppt/slides/slide11.xml" Id="R541883ba476e4781" /><Relationship Type="http://schemas.openxmlformats.org/officeDocument/2006/relationships/slide" Target="/ppt/slides/slide12.xml" Id="R590a32c3245741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996b1b665943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1d41f5e52b4ffe" /><Relationship Type="http://schemas.openxmlformats.org/officeDocument/2006/relationships/notesMaster" Target="/ppt/notesMasters/notesMaster1.xml" Id="Rcaa4845e15d14f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6fc3fcb05e4d11" /><Relationship Type="http://schemas.openxmlformats.org/officeDocument/2006/relationships/notesMaster" Target="/ppt/notesMasters/notesMaster1.xml" Id="Rfc8fb2e10c0849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600e76a78f4f82" /><Relationship Type="http://schemas.openxmlformats.org/officeDocument/2006/relationships/notesMaster" Target="/ppt/notesMasters/notesMaster1.xml" Id="R404b450ac3d247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9ad223ec644b9e" /><Relationship Type="http://schemas.openxmlformats.org/officeDocument/2006/relationships/notesMaster" Target="/ppt/notesMasters/notesMaster1.xml" Id="R65dc2b85e39e40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14596a0aa14701" /><Relationship Type="http://schemas.openxmlformats.org/officeDocument/2006/relationships/notesMaster" Target="/ppt/notesMasters/notesMaster1.xml" Id="R51499fbc657842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ea94fc8dab4361" /><Relationship Type="http://schemas.openxmlformats.org/officeDocument/2006/relationships/notesMaster" Target="/ppt/notesMasters/notesMaster1.xml" Id="R4e7d522f7a954b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947bd0bd6b4c3c" /><Relationship Type="http://schemas.openxmlformats.org/officeDocument/2006/relationships/notesMaster" Target="/ppt/notesMasters/notesMaster1.xml" Id="R326966f345cf4a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b45c87022d4a27" /><Relationship Type="http://schemas.openxmlformats.org/officeDocument/2006/relationships/notesMaster" Target="/ppt/notesMasters/notesMaster1.xml" Id="R2e7058739eca46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81d80aeed1474a" /><Relationship Type="http://schemas.openxmlformats.org/officeDocument/2006/relationships/notesMaster" Target="/ppt/notesMasters/notesMaster1.xml" Id="R3cf159bccc5b4e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59e6ec02dc4091" /><Relationship Type="http://schemas.openxmlformats.org/officeDocument/2006/relationships/notesMaster" Target="/ppt/notesMasters/notesMaster1.xml" Id="R3bac0330e12d40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1d4818f7234fd1" /><Relationship Type="http://schemas.openxmlformats.org/officeDocument/2006/relationships/notesMaster" Target="/ppt/notesMasters/notesMaster1.xml" Id="R7255da7abbd843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84261cedce4b35" /><Relationship Type="http://schemas.openxmlformats.org/officeDocument/2006/relationships/notesMaster" Target="/ppt/notesMasters/notesMaster1.xml" Id="R7f2edce544de41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介绍生成式AI在科研中的作用范围、基本原理、能力差异与规范。图中的工作环节是课程归纳，不能据此声称各类工具已能独立完成科研。科研还包括专用预测模型、实验设备与领域方法，后页区分其与通用生成式工具的关系。图中每个节点均为原生可编辑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左、右两类是为科研使用作的区分，并非互斥的技术分类：生成模型也可用于领域预测，多模态能力与语言模型也有交叉。生成式AI定义依据NIST AI 600-1第1节脚注。领域实例参考IJS Foundation Models课件，未复制其科研图片或数据。Agent系统的概念留至Section 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概念框架，省略优化器、网络层和底层接口。预训练、后训练并不是所有模型固定相同的生产流程，后训练常见方法包括监督微调与基于反馈的优化。推理可以包含多步计算，不等同于一次简单补字。上传文件是否进入服务后续训练受产品条款与设置影响；本页只解释当前任务提供上下文与专门微调之间的技术区别，不作数据保留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Key concepts</a:t>
            </a:r>
          </a:p>
          <a:p xmlns:a="http://schemas.openxmlformats.org/drawingml/2006/main">
            <a:r>
              <a:t>https://developers.openai.com/api/docs/concepts</a:t>
            </a:r>
          </a:p>
          <a:p xmlns:a="http://schemas.openxmlformats.org/drawingml/2006/main">
            <a:r>
              <a:t>定位：Text generation models; Tokens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Model optimization</a:t>
            </a:r>
          </a:p>
          <a:p xmlns:a="http://schemas.openxmlformats.org/drawingml/2006/main">
            <a:r>
              <a:t>https://developers.openai.com/api/docs/guides/model-optimization</a:t>
            </a:r>
          </a:p>
          <a:p xmlns:a="http://schemas.openxmlformats.org/drawingml/2006/main">
            <a:r>
              <a:t>定位：Evaluation, prompt engineering and fine-tuning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意图是课程绘制的简化RAG框架，并非某产品执行截图。检索可能来自数据库、文件或搜索工具；不是所有聊天都自动执行检索。输入和输出受到上下文窗口等限制，具体额度随模型而异。本节不讲向量库、API、分词器的实现细节。RAG能提供外部材料，不保证检索召回、证据质量和引用归属全部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Conversation state</a:t>
            </a:r>
          </a:p>
          <a:p xmlns:a="http://schemas.openxmlformats.org/drawingml/2006/main">
            <a:r>
              <a:t>https://developers.openai.com/api/docs/guides/conversation-state</a:t>
            </a:r>
          </a:p>
          <a:p xmlns:a="http://schemas.openxmlformats.org/drawingml/2006/main">
            <a:r>
              <a:t>定位：Managing the context window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真实公开研究，DOI 10.1038/s41598-023-41032-5。已读取原始PDF第1页摘要和第4页表3、表4；PDF共8页。表3：GPT-3.5全部引文n=222，55%虚构；GPT-4全部引文n=414，18%虚构。表4：实际存在文献中43%和24%含至少一种实质性著录错误；这两个百分比不能当作全部636条文献中的比例。图为原文报告值的可编辑重绘，不是本课程重新运行模型的结果，也不推断当前模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课程对科研任务的归纳，没有给工具打分，也没有宣称任意通用模型都具备同样能力。代码生成与代码执行分开；执行成功与方法适用分开。图表需来自实际数据或明确标识的示意，机制示意不能代替实验结果。NIST建议按具体任务验证能力，避免从狭窄或轶事测评作不当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解释任务分解原则，没有安排学员实操或课堂练习。综述作为科研工作例子，不能把模型生成的检索式或研究空白直接称作已验证结果。系统综述的正式检索与纳入报告要求在文献章节具体介绍，本页不冒称符合PRISMA。原文材料不足时保留缺口。后续Agent章节解释系统如何保存这些步骤的状态与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科研指令的结构分析，不是现场操作任务或模型执行记录。示例由课程编写，不指向某两篇真实论文，也不提供虚构比较结果。角色设定用于指定方法论视角，不代表模型具备真实研究者资格。指令可以约束输出，但不能保证引文准确，仍需回原文核对。提示设计原则来自官方说明，比较维度与文字由课程按科研场景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工具名称是类别示例，不构成产品排名或订阅建议。已访问Elicit、Consensus、Connected Papers官方首页核对其定位；功能、覆盖和访问条件以使用时版本为准。通用产品与模型、工具的关系按官方工具文档解释。Claude、ChatGPT、DeepSeek、Gemini等具体产品能力会在概念与工具章节结合实际版本介绍，不沿用“复杂任务必用某品牌”等固定口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</a:t>
            </a:r>
          </a:p>
          <a:p xmlns:a="http://schemas.openxmlformats.org/drawingml/2006/main">
            <a:r>
              <a:t>https://elicit.com/</a:t>
            </a:r>
          </a:p>
          <a:p xmlns:a="http://schemas.openxmlformats.org/drawingml/2006/main">
            <a:r>
              <a:t>定位：官方产品首页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Consensus</a:t>
            </a:r>
          </a:p>
          <a:p xmlns:a="http://schemas.openxmlformats.org/drawingml/2006/main">
            <a:r>
              <a:t>https://consensus.app/</a:t>
            </a:r>
          </a:p>
          <a:p xmlns:a="http://schemas.openxmlformats.org/drawingml/2006/main">
            <a:r>
              <a:t>定位：官方产品首页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Connected Papers</a:t>
            </a:r>
          </a:p>
          <a:p xmlns:a="http://schemas.openxmlformats.org/drawingml/2006/main">
            <a:r>
              <a:t>https://www.connectedpapers.com/</a:t>
            </a:r>
          </a:p>
          <a:p xmlns:a="http://schemas.openxmlformats.org/drawingml/2006/main">
            <a:r>
              <a:t>定位：官方产品首页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科研推断的层次，例子为方法说明，没有虚构具体实验或数值。预测可用于筛选候选材料，不自动建立机制与因果结论；因果判断也不只依赖随机实验一种方法，具体研究可有准实验、观察性识别及相应假设。不会因模型生成了详细解释就视作机制已被证明。技术方法细节在研究设计与数据分析章节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核对日期2026-10-17。Nature Portfolio当前政策采用风险框架，黄级用途包含建议方法、摘要、比较文献、写作支持等，需人工监督、核验与披露；红级不允许把学术责任交给AI、生成不可核验输出或破坏保密性。PLOS政策AI use by authors说明AI不能署名，生成或修订投稿内容以及支持所报告研究的使用需披露，作者承担可靠性责任。网页原文已读取并保存本地核对记录。本页不覆盖Science系列的具体规则，论文章节仍需单独核对；也不把仅用于课堂讲授的本页当作正式声明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Nature Portfolio, Artificial Intelligence policy</a:t>
            </a:r>
          </a:p>
          <a:p xmlns:a="http://schemas.openxmlformats.org/drawingml/2006/main">
            <a:r>
              <a:t>https://www.nature.com/nature-portfolio/editorial-policies/ai</a:t>
            </a:r>
          </a:p>
          <a:p xmlns:a="http://schemas.openxmlformats.org/drawingml/2006/main">
            <a:r>
              <a:t>定位：Risk assessment framework; Role-specific responsibilities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PLOS, Ethical Publishing Practice</a:t>
            </a:r>
          </a:p>
          <a:p xmlns:a="http://schemas.openxmlformats.org/drawingml/2006/main">
            <a:r>
              <a:t>https://journals.plos.org/plosone/s/ethical-publishing-practice</a:t>
            </a:r>
          </a:p>
          <a:p xmlns:a="http://schemas.openxmlformats.org/drawingml/2006/main">
            <a:r>
              <a:t>定位：Artificial Intelligence Tools and Technologies: AI use by authors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课程依据前述原理、实证研究与出版规范归纳的使用框架，没有课堂练习、操作打卡或让学员提交文件的要求。来源真实不保证结论有效，可复现也不保证方法合理，四项需要结合具体研究判断。后续Humanizer章节要展示怎样改善语言而不改变证据强度与使用事实；Agent与Harness章节则解释怎样保存执行状态、来源与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Nature Portfolio, Artificial Intelligence policy</a:t>
            </a:r>
          </a:p>
          <a:p xmlns:a="http://schemas.openxmlformats.org/drawingml/2006/main">
            <a:r>
              <a:t>https://www.nature.com/nature-portfolio/editorial-policies/ai</a:t>
            </a:r>
          </a:p>
          <a:p xmlns:a="http://schemas.openxmlformats.org/drawingml/2006/main">
            <a:r>
              <a:t>定位：Risk assessment framework; Role-specific responsibilities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PLOS, Ethical Publishing Practice</a:t>
            </a:r>
          </a:p>
          <a:p xmlns:a="http://schemas.openxmlformats.org/drawingml/2006/main">
            <a:r>
              <a:t>https://journals.plos.org/plosone/s/ethical-publishing-practice</a:t>
            </a:r>
          </a:p>
          <a:p xmlns:a="http://schemas.openxmlformats.org/drawingml/2006/main">
            <a:r>
              <a:t>定位：Artificial Intelligence Tools and Technologies: AI use by authors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2943ae70c42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b073d86d749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b00b7dc0c142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49cd151fae42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8c0039ef848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fc1d8dee549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EA354E-45D2-40FE-8335-DB062C2F6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F7A24F-0780-4109-8FDD-8044BB542D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A6F2FCA-9ECC-4C09-87B3-1D05BE8388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8AA907-CA19-4690-968D-25AD5FECCE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864AD10-58B2-40FB-A4C4-5BE9F3C072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4E24E6-DF89-413B-8B92-5459F832F7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B69221-6425-4CC2-8202-E5893C78AA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E341571-E20D-4124-B13E-4A0BDDDE0B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7C88FF-6ACE-4738-9C5D-79F3C48BD3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6F8BCD-D30D-4C81-AA0D-CA95FB4959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b7994e2bc44786" /><Relationship Type="http://schemas.openxmlformats.org/officeDocument/2006/relationships/slideLayout" Target="/ppt/slideLayouts/slideLayout1.xml" Id="Rbb17c86cfef9498b" /><Relationship Type="http://schemas.openxmlformats.org/officeDocument/2006/relationships/slideLayout" Target="/ppt/slideLayouts/slideLayout2.xml" Id="Rd0c117a1757649ee" /><Relationship Type="http://schemas.openxmlformats.org/officeDocument/2006/relationships/slideLayout" Target="/ppt/slideLayouts/slideLayout3.xml" Id="Rc08c347e31e14399" /><Relationship Type="http://schemas.openxmlformats.org/officeDocument/2006/relationships/slideLayout" Target="/ppt/slideLayouts/slideLayout4.xml" Id="Rde94a95a5f874f7e" /><Relationship Type="http://schemas.openxmlformats.org/officeDocument/2006/relationships/slideLayout" Target="/ppt/slideLayouts/slideLayout5.xml" Id="R19c2c363fd54480d" /><Relationship Type="http://schemas.openxmlformats.org/officeDocument/2006/relationships/slideLayout" Target="/ppt/slideLayouts/slideLayout6.xml" Id="R0944114fc5e04b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17c86cfef9498b"/>
    <p:sldLayoutId xmlns:r="http://schemas.openxmlformats.org/officeDocument/2006/relationships" id="2147483650" r:id="Rd0c117a1757649ee"/>
    <p:sldLayoutId xmlns:r="http://schemas.openxmlformats.org/officeDocument/2006/relationships" id="2147483651" r:id="Rc08c347e31e14399"/>
    <p:sldLayoutId xmlns:r="http://schemas.openxmlformats.org/officeDocument/2006/relationships" id="2147483652" r:id="Rde94a95a5f874f7e"/>
    <p:sldLayoutId xmlns:r="http://schemas.openxmlformats.org/officeDocument/2006/relationships" id="2147483653" r:id="R19c2c363fd54480d"/>
    <p:sldLayoutId xmlns:r="http://schemas.openxmlformats.org/officeDocument/2006/relationships" id="2147483654" r:id="R0944114fc5e04b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00a4874e4f4d9a" /><Relationship Type="http://schemas.openxmlformats.org/officeDocument/2006/relationships/notesSlide" Target="/ppt/notesSlides/notesSlide1.xml" Id="R9f53d6eb765a45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866c1a45be4f29" /><Relationship Type="http://schemas.openxmlformats.org/officeDocument/2006/relationships/notesSlide" Target="/ppt/notesSlides/notesSlide2.xml" Id="R8c6daea1d16649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6a70d92a3d42ea" /><Relationship Type="http://schemas.openxmlformats.org/officeDocument/2006/relationships/notesSlide" Target="/ppt/notesSlides/notesSlide3.xml" Id="R01d246d3e4ae45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e76c069a0c4bfa" /><Relationship Type="http://schemas.openxmlformats.org/officeDocument/2006/relationships/notesSlide" Target="/ppt/notesSlides/notesSlide4.xml" Id="R99f7097f1c1d41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c29f0c3318416d" /><Relationship Type="http://schemas.openxmlformats.org/officeDocument/2006/relationships/chart" Target="/ppt/slides/charts/chart1.xml" Id="R8f666b3a86e3410c" /><Relationship Type="http://schemas.openxmlformats.org/officeDocument/2006/relationships/notesSlide" Target="/ppt/notesSlides/notesSlide5.xml" Id="R791cfae4ae6349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83bfa957f8496b" /><Relationship Type="http://schemas.openxmlformats.org/officeDocument/2006/relationships/notesSlide" Target="/ppt/notesSlides/notesSlide6.xml" Id="Rccdb662ce2214e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4e74c5343040a7" /><Relationship Type="http://schemas.openxmlformats.org/officeDocument/2006/relationships/notesSlide" Target="/ppt/notesSlides/notesSlide7.xml" Id="Rb21bbb5d21ae4e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247be624fd498b" /><Relationship Type="http://schemas.openxmlformats.org/officeDocument/2006/relationships/notesSlide" Target="/ppt/notesSlides/notesSlide8.xml" Id="R3ed05481f46a4a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f3ace45e0c46a4" /><Relationship Type="http://schemas.openxmlformats.org/officeDocument/2006/relationships/notesSlide" Target="/ppt/notesSlides/notesSlide9.xml" Id="R80fdf64977b240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87e2411744110" /><Relationship Type="http://schemas.openxmlformats.org/officeDocument/2006/relationships/notesSlide" Target="/ppt/notesSlides/notesSlide10.xml" Id="R9052eb51431943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7b498b1c8d4614" /><Relationship Type="http://schemas.openxmlformats.org/officeDocument/2006/relationships/notesSlide" Target="/ppt/notesSlides/notesSlide11.xml" Id="Ra8ff0c20eb5344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4be23084e94ea8" /><Relationship Type="http://schemas.openxmlformats.org/officeDocument/2006/relationships/notesSlide" Target="/ppt/notesSlides/notesSlide12.xml" Id="R89d8e5c12ab5401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所引文献中虚构文献的比例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虚构文献比例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GPT-3.5（n=222）</c:v>
                </c:pt>
                <c:pt idx="1">
                  <c:v>GPT-4（n=414）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0.55</c:v>
                </c:pt>
                <c:pt idx="1">
                  <c:v>0.18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A81222-3E6C-4BB4-A938-DAC7ED11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D5A3A-12A5-473F-BA7B-C0AA0461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科研流程中的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99FFA-3BDD-4F6A-BD24-0BD17A02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ED55C-8511-4A6A-84EF-5934B1BB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可以参与科研的多个环节；每个环节需要的材料和证据并不相同。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E3371-F062-4ECD-9972-0D231FEF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科研环节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D14CA-D91D-481C-B3CF-14477773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194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 可以辅助的工作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56012-61E4-4DD4-BDB5-61BD340C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194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需要保留的学术判断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77DD1-5DC3-40CF-B6F2-A5325592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文献与选题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C6914-2CFD-4AA0-85B7-5B27C964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检索线索、比较已有研究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2DF66-78D8-4D1A-BC1B-9EFF5489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核对原文与研究空白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751A1-F0FB-45B4-A15A-1857A58C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AF17D-0549-4DCC-8903-0211AA98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研究方案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13CB2-AD26-45C5-8C70-FB197060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提出备选设计与变量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C6B68-4EC5-4A70-A668-3FAA082C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386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论证对照、测量和可行性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81DD1-0389-41E2-B25E-767BAAA7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643C1-8590-4665-9451-AFC8AE51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数据与分析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3317F-F8F8-479D-84C9-2892F193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25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生成代码、识别数据问题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6B56A3-7E1A-49B6-8930-53D09581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625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复算结果、检查假设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29DAB-0D89-448A-BE2A-C5EDF9B6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375F3C-3C66-4E58-946A-6AF8B420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论文与申报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873B00-2BF9-4805-8CB4-DF1BD0FD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864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组织材料、修改表达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552540-E79B-464D-BC67-0E23DDA4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864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核对主张、引文与成果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BE6B4-9FD8-4136-8546-9D3058E5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C11187-8565-4C92-9CDD-D2E649FD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评审与传播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1CD035-C596-4DDF-B812-DE28FFF9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103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整理意见、准备汇报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72BFFD-F28C-4EB1-8F9F-2B8BAEF7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03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保留限制、回应质疑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634D19-8604-45AC-B5AD-21C52B44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科研价值取决于问题、方法与证据。文字更快成稿，只是其中一个环节。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A3531D-D8B7-4261-859C-2A77663A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来源：IJS / SLAIF（2026）；GWU MAE-6291（2026）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05E1B6-E132-4B4E-BA67-5D2473FE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5034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A5C5E-1A81-4B03-A751-5971D81A9C86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7620000" y="3705225"/>
            <a:ext cx="3714750" cy="523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6EB98-8E97-431D-B90B-43CF6D3CF9E0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3905250" y="3705225"/>
            <a:ext cx="3714750" cy="523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6E74F-D4EC-410A-AB08-F6CCD14C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7F882-BE19-4780-BF8C-6FB38BB7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生成式 AI 与科研 AI 的范围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F9C3A-A38B-4015-94BC-C85328F4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11BB8-9567-4E5B-A015-5655744E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科研中的 AI 既包括面向特定问题的模型，也包括处理语言、图像与代码的生成式模型。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66432-BCB2-406B-9657-0109F006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面向科学研究的 AI 方法与系统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487F6-2566-4EF7-8716-3BF54CEF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领域预测与识别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431B1-D5B8-46E7-AFA9-8CB1F063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生成式模型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33B71-186C-4A8A-ABF8-B1037005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以特定数据和目标建立模型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3CC7B-A321-4E9C-BA2D-3C0DC62B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例如材料性质预测、显微图像分割。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评价时关注预测误差、泛化与测量条件。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FBCF1-F1BF-479B-BB6D-F550C870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339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根据输入生成新的内容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D14CE-0601-492C-BB02-A4DCCB0C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24525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大语言模型主要处理语言与代码；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多模态模型还可处理图像、音频等内容。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C310D-C15B-4C75-9551-52E1405E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3895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模型之上还有应用系统：界面、检索、计算工具、文件与任务管理。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同一个模型接入不同材料和工具，能够完成的工作也会不同。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FC12A-12AF-400E-ACAF-0A117FBA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本课程重点讲通用生成式 AI 怎样辅助科研，再介绍可执行多步任务的 Agent 系统。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59850E-2DDF-4E33-84F5-77FAFDF7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 AI 600-1（2024）；IJS / SLAIF（2026）；OpenAI：Using 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6DEC0-3D66-4D6A-92A3-7055ED5D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54758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3D465-CF5D-4A42-8710-190E1011113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5099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A034D-3AC1-4FE9-8697-4E7E9323F1E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5099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CCCC36-1A47-4327-92C7-A24820A7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E16E3-AA2D-45A0-B421-A244897A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预训练、后训练与推理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AD319-E73C-4A06-B323-DBFFDE14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13809-A19C-413E-B120-29463726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理解模型怎样获得能力，有助于区分“模型学过什么”和“本次提供了什么”。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EE627-F85E-4A7E-98C0-53AD67B0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预训练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3A982-79FA-430A-AD99-01F1CDF5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后训练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D41F5-175A-47E0-8AE2-3C5E2FCA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3060A-8EFA-4DEF-BDE4-21F35D6E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从大规模材料中学习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语言与数据规律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F764A-13A0-4425-BD62-F00DE957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形成可迁移的基础能力。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训练材料会影响回答质量。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7D268-D224-4289-8383-3C07AFDC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利用示例、反馈等方式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调整模型行为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28E89-44BD-4C59-971C-2A1E2966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改善指令遵循与任务表现。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具体方法因模型而异。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13BCA-F75E-45C3-BDE7-01DB1488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依据当前指令和上下文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产生回答或其他输出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F4A85-6AF2-444D-BC60-DD09E2D6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通常使用已有模型参数。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回答仍可能出现事实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或推理错误。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AF13D-BD09-44E6-ABB2-1DE76F3A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62775"/>
            <a:ext cx="1371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上传一篇论文，通常是在给当前任务补充材料。</a:t>
            </a:r>
          </a:p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微调则通过训练更新模型参数；检索增强生成通过查找相关材料补充回答依据。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F3021-7376-4177-9BF0-1D1781E5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三者解决的问题不同：基础能力、行为调整，以及当前任务的输入与输出。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15A882-8DE5-4A5E-9098-A9951CD6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来源：OpenAI：Key concepts；OpenAI：Model optimization；IJS / SLAIF（2026）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C4536-197A-45A4-AF85-F5801447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011816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40826-08B8-4A51-908C-DD5322B40BB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C1C9E-22F2-4C43-8E38-084AD824EC9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45F6B-B059-47FE-8D8C-750E057363F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BF3CE-E5F2-4D00-AE80-8BA63E99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49B8A-AE4C-4986-A04D-A7375EA5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上下文与检索增强生成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FFBA5-C504-4936-8186-BB3CC5ED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03C44-14BD-4B06-BE4D-781AA219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模型的既有知识、当前任务材料和外部检索结果，是不同的信息来源。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F4420-7CC2-4188-A841-7FE5E4F4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95924-F334-44EB-BAE7-530D7334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检索原始材料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062FE-B029-4B86-99F8-BABC534D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组织相关片段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725B6-3C63-4B4A-8EB7-8340CC70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模型生成回答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E1CF1-8D67-465F-B8F1-49C9CCB2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要比较什么、回答什么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D26C5-9F6E-459F-A78C-23CB76F6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查论文、指南或项目文件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C3435-E89F-4E39-9D37-4164B4EC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保留出处、条件与版本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74DCC7-DD5A-4A3E-9981-ACE98C84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依据指令和这些材料组织内容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609CF-A724-440C-B2B1-6F506B9E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FB72B-0BFA-413B-87F6-5A463EDD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4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本次回答可使用的指令、对话、材料和工具结果，容量有限。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3A9E6-330A-4184-B1D8-111C92FF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8CA3CB-0C75-4806-AB7C-3ECEA380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76925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模型处理文本时使用的片段；不能按固定汉字数换算。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FF032-4B54-4002-8916-7F0ECEA4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检索增强生成（RAG）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5BB46-EE8C-40AE-8083-F19A90F0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1035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先找相关材料，再交给模型生成回答；仍需核对检索是否完整、引用是否支持结论。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818421-0030-4476-85B1-44C6C98C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能放进上下文，不代表所有信息都会被正确使用。材料选择和证据核对仍然必要。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F93B2F-0172-4CA3-8730-1A2FB841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来源：OpenAI：Conversation state；OpenAI：Prompt engineering；OpenAI：Using tools；GWU MAE-6291（2026）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C6A7CB-AF68-465B-9412-902C6067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33474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F0C1DF-1A6C-4ED3-B4FB-92691F12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4A774-1B68-4408-B5A9-43781C0F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语言流畅与文献真实性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D0D97-3016-4FBC-A4D8-CEF6C869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8F7DD-480D-4883-A7BC-E663B17B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文献幻觉：生成的引文看起来完整，却可能没有对应的真实研究。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540A8-840F-46F7-9F71-0CF5B9D1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Walters 与 Wilder（2023）让两个模型围绕 42 个主题生成短综述，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 84 篇生成文本中的 636 条参考文献。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47CEFD5-E846-4671-9B73-4EE72A69B676}"/>
              </a:ext>
            </a:extLst>
          </p:cNvPr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742950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666b3a86e3410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C1EDC-9CD3-416B-B67C-099FC0D8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195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图中比较什么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869BF-4B36-43C2-8362-38F4B351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481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两个模型在该研究设定下生成的引文。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百分比按原文表 3 报告值重绘。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397BF-3184-4A38-86A9-A5865C5B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863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真实文献也会写错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A7128-0038-4258-8973-6E5ADF45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149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真实文献中的著录错误：43% 与 24%。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分母为真实文献，与图中比例不同。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C33ED-CC8E-4A4A-889E-3EB149B7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1531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能推出什么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3E742-9320-4C1E-B5D1-E1C7AA81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817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 给出的题名、作者、年份与 DOI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需要回到出版页面或数据库核对。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EE409-E96C-4B02-AF93-6053F5E0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历史研究，非当前模型排名。结果限于 2023 年的模型、提示与任务，不能外推为今天的错误率。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39F93-9ACE-40CD-9B54-A43E8800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来源：Walters &amp; Wilder（2023），表3、4；NIST AI 600-1（2024）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58C646-4E88-498A-A780-C5488DF1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767808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7418B-CBAC-4138-978B-B1527D64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62B96-DEC1-4CBD-AC15-D746E20A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科研任务中的能力与限制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FFA7B-E3DC-4886-8955-B4B35631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7C195-23A6-4E11-B6DC-764DDBBD1F67}"/>
              </a:ext>
            </a:extLst>
          </p:cNvPr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13716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476875"/>
                <a:gridCol w="5953125"/>
              </a:tblGrid>
              <a:tr h="8096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可以提供的帮助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科研中仍需判断的部分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语言组织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翻译、归纳、调整段落与术语表达。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是否改变原意、限定条件或证据强度。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材料比较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整理多篇文献的方法、结果与分歧。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材料是否完整，比较对象是否可比。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代码生成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根据分析需求编写和修改代码。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代码是否实际运行，方法假设是否适用。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图表与解释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依据数据生成图表，说明统计结果。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数据来源、单位、样本与结论范围。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3DE95-CD71-497A-BCB1-B9DA1950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137160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同一段文字可能很通顺，却误解了方法；同一份代码也可能运行成功，却回答了错误的问题。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评价 AI 辅助成果时，需要同时看表达、执行与科学判断。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526B2-5DF2-4D5E-AE5D-E055A9F3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输出形式正确、工具运行成功、研究结论成立，是三个需要分别检查的层次。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732CE-1F20-48A7-AF59-B240FF59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来源：OpenAI：Using tools；NIST AI 600-1（2024）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66877-4F0C-4A37-B3E7-C6D94B98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119244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A1D03B-7DA2-45E6-8E84-F7C6DFDC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7C955-13F6-46A3-9FCE-16840308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复杂科研任务的组织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BB017-5920-4D89-B702-63C6A51D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E0D81-0700-45C9-A219-50B4EC73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把“帮我写一篇综述”拆成有输入、产物和核对依据的研究环节。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1A53D-D92D-4DAF-B858-00316F80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09C65-5689-471D-A5A3-14A6645E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575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界定问题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F6D02-BD40-4E9D-BB76-3A7528BA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5752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研究对象、时间范围、纳入标准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04B95-22AE-4AF2-918A-578A1557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575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形成边界清楚的研究问题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D3DEC-99E0-43B0-ACD5-360768BA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86175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17A34-D0E8-4B9B-8147-01CFB241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241D5-8F2F-49B2-9041-8E4E6C48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收集材料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8CE797-AE82-424A-A948-5F17739A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检索式、数据库与全文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9D7B0-6004-4C3C-921D-6B23FEB2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8620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保存可回查的文献集合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EF69BD-2C7C-403C-95D3-D1318596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8EFEA1-653E-4BDF-BC18-5920F40E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14115-2699-4380-AD99-BB5BA1C0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148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47708-2159-4DA2-BF96-D471DECA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1487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对象、设计、指标和主要结果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3238F6-5B2A-4C04-81E0-BC34AD22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148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区分共识、分歧与证据缺口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B3382-22AC-4044-9072-183327A3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43525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7B9B09-E0E9-469D-9EDD-E8793AB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73BB7-3283-404B-8FCF-9E37CC59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435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组织论述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DC5C0D-C6A8-4003-B9A9-76F9055B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43550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经过核对的证据与主张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5A6A4A-ACBB-461E-B272-2D751139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4355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形成段落，标明引文与限制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8E861-EA99-4968-8610-036D4D30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72200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F68A89-E277-4B19-B879-A421C815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722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B6F1F9-6557-4282-9A75-598F188B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722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检查与修订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F77FEB-65B2-4AB8-A780-370F7DF9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37222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原文、引用清单与全文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0BF749-E4A7-4508-A561-9534291C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722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核对遗漏、误引和推断越界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F0B5A4-E7C3-4265-BDB8-6BDEC923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先确定每一步需要什么证据，再决定让模型生成、调用工具，还是由研究者作判断。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33E29E-9C92-4263-AF4F-63D5DCC2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来源：GWU MAE-6291（2026）；OpenAI：Prompt engineering；NIST AI 600-1（2024）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688E02-C103-4D2B-97AD-07C0B6CD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57583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23C17-6D71-4115-9D3B-DF1A877F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C92DC-A7D2-47C1-9E2A-08FA4AEC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科研提示词的主要变量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43A15-4BBB-40B6-A47C-FCED0BCD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4D709-6785-4C41-A396-99393A38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提示词是研究者向模型交代任务、材料和判断标准的指令。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418FA-4EFC-4CAC-BE19-E44311F0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95250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请从研究方法角度，比较我提供的两篇论文。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比较研究对象、样本来源、对照设置、测量指标和结论范围。只依据这两篇全文，给出每项判断对应的原文位置。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请区分作者报告的结果与你的解释。两篇论文没有报告的信息写明“未报告”，不要补入样本量、统计结果或其他文献。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按比较维度逐项列出共同点、差异及其对结论的影响。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B81EF-73EE-4FE8-B64F-8F8E1690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194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分析角度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3EDF6-FEC8-417F-9C34-84D11948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671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研究方法，面向具体问题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53AB3-6594-43EA-916A-501CB452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100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任务与材料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B6759-946B-4DBE-8812-845702C3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577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两篇指定全文，范围明确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B1E00-827C-4B1F-97FA-60B091AA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2006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约束条件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B8637-3975-4BC8-938F-E79333E9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6483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依据可定位，缺项不补写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68E81-D9E2-4CA0-BD86-8C0796A9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输出结构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289CA-A63C-4B09-8CE0-96B26CF2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389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维度、比较、结论影响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88F71-546B-49C7-B53F-E7F4CA05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“专家”角色可帮助指定角度；材料、限制与核对标准决定这次任务怎样开展。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306AF-D470-47DC-82DA-EDEA13FC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来源：OpenAI：Prompt engineering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84D16-FAE0-42EE-905C-7184D8C3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873801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FCBEC-2316-4905-8364-A33D09B8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F9CE2-FF68-4D0A-968F-01FFA1CE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通用模型与专业工具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B09D8-FB0E-4777-A4A5-502DC88E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D3D21-7A80-4F5D-A0C0-5DBCF2A57B15}"/>
              </a:ext>
            </a:extLst>
          </p:cNvPr>
          <p:cNvGraphicFramePr/>
          <p:nvPr/>
        </p:nvGraphicFramePr>
        <p:xfrm>
          <a:off xmlns:a="http://schemas.openxmlformats.org/drawingml/2006/main" x="762000" y="2171700"/>
          <a:ext xmlns:a="http://schemas.openxmlformats.org/drawingml/2006/main" cx="13716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5857875"/>
                <a:gridCol w="5048250"/>
              </a:tblGrid>
              <a:tr h="8001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工具层次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主要作用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选择时关注什么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通用生成式助手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解释概念、组织材料、改写与生成代码。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能否读取需要的材料，是否保留出处。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学术检索与证据整理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例如 Elicit、Consensus，辅助发现和整理研究。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文献覆盖、全文获取与引文质量。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文献关联与图谱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Connected Papers 等，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用于探索文献关联。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关联依据、覆盖范围与遗漏。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计算与执行环境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运行代码、访问文件并保存结果。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权限、实际执行记录、文件可编辑性。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9552E-EEA6-41D0-BDE7-2AD0D0D0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38925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工具选择从研究任务出发：需要发现材料、解释内容，还是计算和交付文件？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再比较来源覆盖、方法限制、数据权限与输出要求。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6700A-4B6D-4EB5-ACB1-041EBCEF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产品和模型是不同层次。同一个模型可以出现在不同产品中，产品也可以接入多种工具。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73DCD-2987-456A-B745-4FB24DBF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来源：OpenAI：Using tools；Elicit；Consensus；Connected Papers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6EF5E-E233-4E53-9733-719BFD38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29200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B1B75-85AF-4650-9F55-AD68AF6F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58BD0-5FDE-4081-BE42-6A7C8171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预测、解释与因果判断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D9B4E-6A11-4E10-91FC-A15505BA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B9831-7EA9-4E8D-8B8D-7EEFB025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生成解释或预测之后，还要明确：研究究竟支持哪一种判断。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4CA33-820F-4609-B7F8-4C6B2513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853B3-2CCE-499E-8771-5B4F6D9B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用已有特征估计未知结果。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A5737-4570-4071-A952-A9BCD045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例如根据材料成分预测性质。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需要检查测试集、误差与适用范围。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59D54-8C45-4278-9D0C-38B34217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DEDF7-E03A-49D3-A560-A955E846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解释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D28FF-D215-4A6B-B061-AA9EFABF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148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说明现象可能通过什么机制发生。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C6B0C-2BF2-4F3B-A6BA-2D80C6DE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006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需要理论、测量和支持机制的证据。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一个合理的故事不足以确立机制。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D3C1E-F96E-4933-AD8B-7BF51059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78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9A27D-26A7-45A6-AE7B-B81E2738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因果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4C2CD-4E61-4CC4-8E07-40CDB533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340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判断改变某个因素是否会改变结果。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C96F24-762A-4027-8783-EF1EFB4E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19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需要合适的研究设计与识别假设。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相关关系或预测准确不能单独证明因果。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48E59-F2AC-46AB-B9FA-CBE9132B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81825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例如：AI 发现“某特征与结果同时变化”，可以形成待检验的线索。</a:t>
            </a:r>
          </a:p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要写成“改变该特征导致结果改变”，还需排查混杂、时间顺序与其他解释。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F2C748-830D-413F-8113-640B248F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模型输出应保留研究设计能够支持的结论强度。机制示意与自然语言推理也需证据。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F4599F-1CC4-4A3E-9F85-6B66C3E8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来源：IJS / SLAIF（2026）；NIST AI 600-1（2024）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8933B-CD45-4272-B13F-85CF7CF0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61961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77414-10FC-4999-A3EA-9694CF72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C4C8B-CBC8-4988-8B9D-0A1E7EFA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学术规范与作者责任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976DB-7A54-4C77-AE3B-7C3CE1AC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4F8D0-CF02-4B92-963E-0FCF4BDF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参与写作与研究时，作者对准确性、原创性与证据负责。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66488-5754-4F01-BEC0-11A20F48FBE4}"/>
              </a:ext>
            </a:extLst>
          </p:cNvPr>
          <p:cNvGraphicFramePr/>
          <p:nvPr/>
        </p:nvGraphicFramePr>
        <p:xfrm>
          <a:off xmlns:a="http://schemas.openxmlformats.org/drawingml/2006/main" x="762000" y="3095625"/>
          <a:ext xmlns:a="http://schemas.openxmlformats.org/drawingml/2006/main" cx="137160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286375"/>
                <a:gridCol w="5667375"/>
              </a:tblGrid>
              <a:tr h="802481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核对事项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Nature Portfolio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PLOS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与作者资格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不能把学术责任交给 AI。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工具不能列为作者。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写作与研究支持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按风险程度进行人工监督与核验，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并按要求披露。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支持投稿内容生成、修订或所报告研究的 AI 使用需披露。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内容与研究记录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作者对原创性、准确性和完整性负责。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作者负责研究记录与投稿内容的可靠性。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0A509-7BA2-43BC-AED5-6A5F0111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53225"/>
            <a:ext cx="1371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日常保留工具与版本、用途、输入材料、采用的输出和人工核对记录。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正式投稿时，按目标期刊当时的声明范围与位置填写。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0F03E-2D59-4C63-B749-BF5625E7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这里概述两家出版方的已核对政策；不能把一种期刊的规则直接套到另一种期刊。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2CB1D-B8F3-405A-8BBE-F42DC846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来源：Nature Portfolio AI policy；PLOS AI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D076D-D063-43F0-97F1-E8C7BD2F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425605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FFD068-E344-4DAE-AF20-B6F37A25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B9536-6935-405C-8877-4DEE7659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科研可信度的四个条件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5B52F-28AA-4982-B705-E9DCF85A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517F0-14B9-46D3-B2B2-4F66A600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辅助成果进入论文、申报或报告之前，需要经过证据与方法的检查。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15680-AC4E-452F-833C-8E2E542C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来源真实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62692-D95E-447A-A83C-8535C5F4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1467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论文、数据与指南有可定位原件。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06479-8E99-4E24-95C1-51E7814E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有题名或 DOI 仍需确认实际对应的内容。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6E607-2A6C-452C-8879-4288359B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D5F90-A0F1-4174-8A3A-1FBA3AA8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过程可查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5DB5B-35A6-4CBB-A7D3-F052323D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保留输入、方法、代码与处理记录。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9E9D2-8A93-4991-92BE-60C3F717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958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计算能复现，修改有依据，版本能区分。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7D544-9BF6-4CE2-9B21-9BF6C92A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BFB1E-E3AA-4999-AFCF-35CDC0DC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推断适当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BC86E-71E6-4C72-9DF2-C118CD50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2922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结论符合研究对象、条件与设计。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ABA2B-FBE8-4B4C-A927-6FAFCAE6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531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不把推测写成结果，不把相关直接写成因果。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91261-8A26-4C7C-AA46-78C1C53D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AD2D9-7F10-48E9-A509-A00C4CD2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A26BED-6076-489B-834D-E3DC6CC4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86500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研究者核对内容并按要求披露使用。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69CAE-E87C-4AA2-876B-B40E3D4C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81037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语言修订保留事实、数字、引用与限制。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A402A-0182-4E3B-80D4-628F82CB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后续章节据此展开：文献、数据、图表、论文与申报材料，各自有需要核对的证据。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34361-F98D-4CAA-9FA1-9AB322AC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 AI 600-1（2024）；Walters &amp; Wilder（2023），表3、4；Nature Portfolio AI policy；PLOS AI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A094C3-50CE-46C4-98B5-3478224B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367730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2026-10-17T09:13:39.5870000Z</dcterms:created>
  <dcterms:modified xsi:type="dcterms:W3CDTF">2026-10-17T09:13:39.5870000Z</dcterms:modified>
</coreProperties>
</file>