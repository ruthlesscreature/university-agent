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47c0ec97e04123" /><Relationship Type="http://schemas.openxmlformats.org/officeDocument/2006/relationships/extended-properties" Target="/docProps/app.xml" Id="Rf8cd5720972d4da4" /><Relationship Type="http://schemas.openxmlformats.org/officeDocument/2006/relationships/officeDocument" Target="/ppt/presentation.xml" Id="R9ab0954f7312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fd0ebeb42b4225"/>
  </p:sldMasterIdLst>
  <p:notesMasterIdLst>
    <p:notesMasterId xmlns:r="http://schemas.openxmlformats.org/officeDocument/2006/relationships" r:id="R4baa860bfe574018"/>
  </p:notesMasterIdLst>
  <p:sldIdLst>
    <p:sldId xmlns:r="http://schemas.openxmlformats.org/officeDocument/2006/relationships" id="256" r:id="R4cfc21d9e3ed43e5"/>
    <p:sldId xmlns:r="http://schemas.openxmlformats.org/officeDocument/2006/relationships" id="257" r:id="R60a0f6d44fce4230"/>
    <p:sldId xmlns:r="http://schemas.openxmlformats.org/officeDocument/2006/relationships" id="258" r:id="R85a7848f1c824228"/>
    <p:sldId xmlns:r="http://schemas.openxmlformats.org/officeDocument/2006/relationships" id="259" r:id="R8f009a1abb144913"/>
    <p:sldId xmlns:r="http://schemas.openxmlformats.org/officeDocument/2006/relationships" id="260" r:id="Ra6216a90bc894651"/>
    <p:sldId xmlns:r="http://schemas.openxmlformats.org/officeDocument/2006/relationships" id="261" r:id="Rc3d50d09d4b2487c"/>
    <p:sldId xmlns:r="http://schemas.openxmlformats.org/officeDocument/2006/relationships" id="262" r:id="R7d3db68724c94c30"/>
    <p:sldId xmlns:r="http://schemas.openxmlformats.org/officeDocument/2006/relationships" id="263" r:id="R68114773a353458b"/>
    <p:sldId xmlns:r="http://schemas.openxmlformats.org/officeDocument/2006/relationships" id="264" r:id="R386aabb77b09423b"/>
    <p:sldId xmlns:r="http://schemas.openxmlformats.org/officeDocument/2006/relationships" id="265" r:id="R92810a4ecd5c4341"/>
    <p:sldId xmlns:r="http://schemas.openxmlformats.org/officeDocument/2006/relationships" id="266" r:id="R69bbf80ed3ff4e84"/>
    <p:sldId xmlns:r="http://schemas.openxmlformats.org/officeDocument/2006/relationships" id="267" r:id="R216fa2fbd3e7464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07ef9b271f4973" /><Relationship Type="http://schemas.openxmlformats.org/officeDocument/2006/relationships/slideMaster" Target="/ppt/slideMasters/slideMaster1.xml" Id="R93fd0ebeb42b4225" /><Relationship Type="http://schemas.openxmlformats.org/officeDocument/2006/relationships/notesMaster" Target="/ppt/notesMasters/notesMaster1.xml" Id="R4baa860bfe574018" /><Relationship Type="http://schemas.openxmlformats.org/officeDocument/2006/relationships/presProps" Target="/ppt/presProps.xml" Id="R53b8cecc6a9d4616" /><Relationship Type="http://schemas.openxmlformats.org/officeDocument/2006/relationships/tableStyles" Target="/ppt/tableStyles.xml" Id="R8199a3d58bbb4c7d" /><Relationship Type="http://schemas.openxmlformats.org/officeDocument/2006/relationships/slide" Target="/ppt/slides/slide1.xml" Id="R4cfc21d9e3ed43e5" /><Relationship Type="http://schemas.openxmlformats.org/officeDocument/2006/relationships/slide" Target="/ppt/slides/slide2.xml" Id="R60a0f6d44fce4230" /><Relationship Type="http://schemas.openxmlformats.org/officeDocument/2006/relationships/slide" Target="/ppt/slides/slide3.xml" Id="R85a7848f1c824228" /><Relationship Type="http://schemas.openxmlformats.org/officeDocument/2006/relationships/slide" Target="/ppt/slides/slide4.xml" Id="R8f009a1abb144913" /><Relationship Type="http://schemas.openxmlformats.org/officeDocument/2006/relationships/slide" Target="/ppt/slides/slide5.xml" Id="Ra6216a90bc894651" /><Relationship Type="http://schemas.openxmlformats.org/officeDocument/2006/relationships/slide" Target="/ppt/slides/slide6.xml" Id="Rc3d50d09d4b2487c" /><Relationship Type="http://schemas.openxmlformats.org/officeDocument/2006/relationships/slide" Target="/ppt/slides/slide7.xml" Id="R7d3db68724c94c30" /><Relationship Type="http://schemas.openxmlformats.org/officeDocument/2006/relationships/slide" Target="/ppt/slides/slide8.xml" Id="R68114773a353458b" /><Relationship Type="http://schemas.openxmlformats.org/officeDocument/2006/relationships/slide" Target="/ppt/slides/slide9.xml" Id="R386aabb77b09423b" /><Relationship Type="http://schemas.openxmlformats.org/officeDocument/2006/relationships/slide" Target="/ppt/slides/slide10.xml" Id="R92810a4ecd5c4341" /><Relationship Type="http://schemas.openxmlformats.org/officeDocument/2006/relationships/slide" Target="/ppt/slides/slide11.xml" Id="R69bbf80ed3ff4e84" /><Relationship Type="http://schemas.openxmlformats.org/officeDocument/2006/relationships/slide" Target="/ppt/slides/slide12.xml" Id="R216fa2fbd3e7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d5e2971eb0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4c44a6d864dc3" /><Relationship Type="http://schemas.openxmlformats.org/officeDocument/2006/relationships/notesMaster" Target="/ppt/notesMasters/notesMaster1.xml" Id="Raac369a99c224d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d6e92749e54247" /><Relationship Type="http://schemas.openxmlformats.org/officeDocument/2006/relationships/notesMaster" Target="/ppt/notesMasters/notesMaster1.xml" Id="Rb2cab455414148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87a12551645f5" /><Relationship Type="http://schemas.openxmlformats.org/officeDocument/2006/relationships/notesMaster" Target="/ppt/notesMasters/notesMaster1.xml" Id="R2248131611e645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146187bbdc4dbf" /><Relationship Type="http://schemas.openxmlformats.org/officeDocument/2006/relationships/notesMaster" Target="/ppt/notesMasters/notesMaster1.xml" Id="Rb7e747ee49164b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2ffdb2b6c14f1e" /><Relationship Type="http://schemas.openxmlformats.org/officeDocument/2006/relationships/notesMaster" Target="/ppt/notesMasters/notesMaster1.xml" Id="Ra037451205be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ea6a0af099404b" /><Relationship Type="http://schemas.openxmlformats.org/officeDocument/2006/relationships/notesMaster" Target="/ppt/notesMasters/notesMaster1.xml" Id="R7694a774c3a847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0e56ca6f0c4a7e" /><Relationship Type="http://schemas.openxmlformats.org/officeDocument/2006/relationships/notesMaster" Target="/ppt/notesMasters/notesMaster1.xml" Id="R829a9ff80fca46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5553cb2bf0444c" /><Relationship Type="http://schemas.openxmlformats.org/officeDocument/2006/relationships/notesMaster" Target="/ppt/notesMasters/notesMaster1.xml" Id="R220a1a6553d841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95812de084834" /><Relationship Type="http://schemas.openxmlformats.org/officeDocument/2006/relationships/notesMaster" Target="/ppt/notesMasters/notesMaster1.xml" Id="Rc538286150e64e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4402b9ce254d91" /><Relationship Type="http://schemas.openxmlformats.org/officeDocument/2006/relationships/notesMaster" Target="/ppt/notesMasters/notesMaster1.xml" Id="Ra1667e8323ef49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c265a00efa40a9" /><Relationship Type="http://schemas.openxmlformats.org/officeDocument/2006/relationships/notesMaster" Target="/ppt/notesMasters/notesMaster1.xml" Id="Re80f9d7a600441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238bbf602c44fd" /><Relationship Type="http://schemas.openxmlformats.org/officeDocument/2006/relationships/notesMaster" Target="/ppt/notesMasters/notesMaster1.xml" Id="Rd64c2d226dc44c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介绍生成式AI在科研中的作用范围、基本原理、能力差异与规范。图中的工作环节是课程归纳，不能据此声称各类工具已能独立完成科研。科研还包括专用预测模型、实验设备与领域方法，后页区分其与通用生成式工具的关系。图中每个节点均为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左、右两类是为科研使用作的区分，并非互斥的技术分类：生成模型也可用于领域预测，多模态能力与语言模型也有交叉。生成式AI定义依据NIST AI 600-1第1节脚注。领域实例参考IJS Foundation Models课件，未复制其科研图片或数据。Agent系统的概念留至Section 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概念框架，省略优化器、网络层和底层接口。预训练、后训练并不是所有模型固定相同的生产流程，后训练常见方法包括监督微调与基于反馈的优化。推理可以包含多步计算，不等同于一次简单补字。上传文件是否进入服务后续训练受产品条款与设置影响；本页只解释当前任务提供上下文与专门微调之间的技术区别，不作数据保留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Key concepts</a:t>
            </a:r>
          </a:p>
          <a:p xmlns:a="http://schemas.openxmlformats.org/drawingml/2006/main">
            <a:r>
              <a:t>https://developers.openai.com/api/docs/concepts</a:t>
            </a:r>
          </a:p>
          <a:p xmlns:a="http://schemas.openxmlformats.org/drawingml/2006/main">
            <a:r>
              <a:t>定位：Text generation models;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Model optimization</a:t>
            </a:r>
          </a:p>
          <a:p xmlns:a="http://schemas.openxmlformats.org/drawingml/2006/main">
            <a:r>
              <a:t>https://developers.openai.com/api/docs/guides/model-optimization</a:t>
            </a:r>
          </a:p>
          <a:p xmlns:a="http://schemas.openxmlformats.org/drawingml/2006/main">
            <a:r>
              <a:t>定位：Evaluation, prompt engineering and fine-tuning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图是课程绘制的简化RAG框架，并非某产品执行截图。检索可能来自数据库、文件或搜索工具；不是所有聊天都自动执行检索。输入和输出受到上下文窗口等限制，具体额度随模型而异。本节不讲向量库、API、分词器的实现细节。RAG能提供外部材料，不保证检索召回、证据质量和引用归属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Conversation state</a:t>
            </a:r>
          </a:p>
          <a:p xmlns:a="http://schemas.openxmlformats.org/drawingml/2006/main">
            <a:r>
              <a:t>https://developers.openai.com/api/docs/guides/conversation-state</a:t>
            </a:r>
          </a:p>
          <a:p xmlns:a="http://schemas.openxmlformats.org/drawingml/2006/main">
            <a:r>
              <a:t>定位：Managing the context window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真实公开研究，DOI 10.1038/s41598-023-41032-5。已读取原始PDF第1页摘要和第4页表3、表4；PDF共8页。表3：GPT-3.5全部引文n=222，55%虚构；GPT-4全部引文n=414，18%虚构。表4：实际存在文献中43%和24%含至少一种实质性著录错误；这两个百分比不能当作全部636条文献中的比例。图为原文报告值的可编辑重绘，不是本课程重新运行模型的结果，也不推断当前模型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课程对科研任务的归纳，没有给工具打分，也没有宣称任意通用模型都具备同样能力。代码生成与代码执行分开；执行成功与方法适用分开。图表需来自实际数据或明确标识的示意，机制示意不能代替实验结果。NIST建议按具体任务验证能力，避免从狭窄或轶事测评作不当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Using tools</a:t>
            </a:r>
          </a:p>
          <a:p xmlns:a="http://schemas.openxmlformats.org/drawingml/2006/main">
            <a:r>
              <a:t>https://developers.openai.com/api/docs/guides/tools</a:t>
            </a:r>
          </a:p>
          <a:p xmlns:a="http://schemas.openxmlformats.org/drawingml/2006/main">
            <a:r>
              <a:t>定位：网页搜索、文件检索与工具调用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解释任务分解原则，没有安排学员实操或课堂练习。综述作为科研工作例子，不能把模型生成的检索式或研究空白直接称作已验证结果。系统综述的正式检索与纳入报告要求在文献章节具体介绍，本页不冒称符合PRISMA。原文材料不足时保留缺口。后续Agent章节解释系统如何保存这些步骤的状态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Barba, MAE-6291, George Washington University, Spring 2026</a:t>
            </a:r>
          </a:p>
          <a:p xmlns:a="http://schemas.openxmlformats.org/drawingml/2006/main">
            <a:r>
              <a:t>https://barbagroup.github.io/mae6291-genai/2026/</a:t>
            </a:r>
          </a:p>
          <a:p xmlns:a="http://schemas.openxmlformats.org/drawingml/2006/main">
            <a:r>
              <a:t>定位：Class 1、2、10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科研指令的结构分析，不是现场操作任务或模型执行记录。示例由课程编写，不指向某两篇真实论文，也不提供虚构比较结果。角色设定用于指定方法论视角，不代表模型具备真实研究者资格。指令可以约束输出，但不能保证引文准确，仍需回原文核对。提示设计原则来自官方说明，比较维度与文字由课程按科研场景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Docs, Prompt engineering</a:t>
            </a:r>
          </a:p>
          <a:p xmlns:a="http://schemas.openxmlformats.org/drawingml/2006/main">
            <a:r>
              <a:t>https://developers.openai.com/api/docs/guides/prompt-engineering</a:t>
            </a:r>
          </a:p>
          <a:p xmlns:a="http://schemas.openxmlformats.org/drawingml/2006/main">
            <a:r>
              <a:t>定位：Prompt structure; Include relevant context information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教师常问“哪个助手好用”。这一页把问题落到同一件事：用 Walters 与 Wilder（2023）的公开论文，写一页中文材料说明。先展示课程已经核对的论文和报告值表，再说明三种入口各需要什么。论文研究的是当时特定模型与任务；55%和18%不能推广为今天产品的错误率。三条路线是课程编写的选用示例，尚未分别在Claude、ChatGPT或DeepSeek上执行，也没有三方性能、速度或成本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路线：官方文件说明支持执行代码、处理上传材料及生成Word等文件。若当前账户已开放文件工具，可直接提供论文PDF，让它先列原文定位、分母和限制，再整理成说明稿。若读不到表格，改用人工核对的摘录，不允许补猜。ChatGPT路线：这里具体指ChatGPT Work及官方说明中的文件处理能力；把论文和报告值表一并提供，要求可编辑图及说明文件，在预览中核对数字和图形，再下载文件。普通聊天入口是否有同样工具，需要现场查看。DeepSeek路线：这里具体指接入DeepSeek API的课程网页方案；提供已核对文本和数值，模型拟稿后由应用的文件工具导出。API响应、网页检索、计算、Word导出各有工具和记录，不能看到一段回答就说整个流程完成。官方API还公布了Search/Fetch和Agent集成入口，本页不把DeepSeek描述成天然不能联网或不能生成文件。当前没有为这个案例调用模型或导出三份品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核对一处容易出错的地方：55%与18%对应全部参考文献中的虚构比例；43%与24%对应真实参考文献中的实质性错误比例。两组分母不同，不能合并成“总错误率”。原文表3、4及正文对计数的描述应一起读。若需要逐条判定新文献是否真实，另用学术检索、DOI与原文回查；这不是用三个助手互相投票就能完成的事。Elicit、Consensus属于发现与整理研究的入口，Connected Papers用于探索文献关系；它们的覆盖范围与全文可用性另查官方说明，见Section5。本页换成品牌实例后，仍保留这些专业工具的分工。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可打开assistant-choice-packet/共同任务.md、三份入口任务和人工核对示例.md。任务文本属于教学材料，人工核对示例依据论文报告值编写，均不冒充产品回答。共同事实、输出检查项、产品边界和本节页码写入case.json；本地检查只确认这些材料的对应关系，不能证明三方模型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Claude Help Center, Create and edit files with Claude</a:t>
            </a:r>
          </a:p>
          <a:p xmlns:a="http://schemas.openxmlformats.org/drawingml/2006/main">
            <a:r>
              <a:t>https://support.claude.com/en/articles/12111783-create-and-edit-files-with-claude</a:t>
            </a:r>
          </a:p>
          <a:p xmlns:a="http://schemas.openxmlformats.org/drawingml/2006/main">
            <a:r>
              <a:t>定位：2026-08-06；How to get started、Supported file types、Advanced data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OpenAI, Work with files</a:t>
            </a:r>
          </a:p>
          <a:p xmlns:a="http://schemas.openxmlformats.org/drawingml/2006/main">
            <a:r>
              <a:t>https://learn.chatgpt.com/docs/artifacts-viewer</a:t>
            </a:r>
          </a:p>
          <a:p xmlns:a="http://schemas.openxmlformats.org/drawingml/2006/main">
            <a:r>
              <a:t>定位：Work with files正文：ChatGPT桌面预览、ChatGPT Work网页附件与下载；Review and refine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DeepSeek API Docs, Your First API Call</a:t>
            </a:r>
          </a:p>
          <a:p xmlns:a="http://schemas.openxmlformats.org/drawingml/2006/main">
            <a:r>
              <a:t>https://api-docs.deepseek.com/</a:t>
            </a:r>
          </a:p>
          <a:p xmlns:a="http://schemas.openxmlformats.org/drawingml/2006/main">
            <a:r>
              <a:t>定位：API兼容格式、Integrate with Agent Tools；顶部Search/Fetch说明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科研推断的层次，例子为方法说明，没有虚构具体实验或数值。预测可用于筛选候选材料，不自动建立机制与因果结论；因果判断也不只依赖随机实验一种方法，具体研究可有准实验、观察性识别及相应假设。不会因模型生成了详细解释就视作机制已被证明。技术方法细节在研究设计与数据分析章节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Džeroski, AI for Science, SLAIF/Jožef Stefan Institute, 2026</a:t>
            </a:r>
          </a:p>
          <a:p xmlns:a="http://schemas.openxmlformats.org/drawingml/2006/main">
            <a:r>
              <a:t>https://ai4science.ijs.si/2026course/</a:t>
            </a:r>
          </a:p>
          <a:p xmlns:a="http://schemas.openxmlformats.org/drawingml/2006/main">
            <a:r>
              <a:t>定位：Introduction及Foundation Models课件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核对日期2026-10-17。Nature Portfolio当前政策采用风险框架，黄级用途包含建议方法、摘要、比较文献、写作支持等，需人工监督、核验与披露；红级不允许把学术责任交给AI、生成不可核验输出或破坏保密性。PLOS政策AI use by authors说明AI不能署名，生成或修订投稿内容以及支持所报告研究的使用需披露，作者承担可靠性责任。网页原文已读取并保存本地核对记录。本页不覆盖Science系列的具体规则，论文章节仍需单独核对；也不把仅用于课堂讲授的本页当作正式声明模板。 补充核对同日PLOS FAQ：拼写、语法、清晰度和简洁性改进无需披露；翻译建议披露而非强制；分析代码生成与制图另按相应规定披露。必须与政策正文一起解释。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依据前述原理、实证研究与出版规范归纳的使用框架，没有课堂练习、操作打卡或让学员提交文件的要求。来源真实不保证结论有效，可复现也不保证方法合理，四项需要结合具体研究判断。后续Humanizer章节要展示怎样改善语言而不改变证据强度与使用事实；Agent与Harness章节则解释怎样保存执行状态、来源与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 AI 600-1, 2024</a:t>
            </a:r>
          </a:p>
          <a:p xmlns:a="http://schemas.openxmlformats.org/drawingml/2006/main">
            <a:r>
              <a:t>https://doi.org/10.6028/NIST.AI.600-1</a:t>
            </a:r>
          </a:p>
          <a:p xmlns:a="http://schemas.openxmlformats.org/drawingml/2006/main">
            <a:r>
              <a:t>定位：第1节定义；第2.2节Confabulation；MEASURE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Nature Portfolio, Artificial Intelligence policy</a:t>
            </a:r>
          </a:p>
          <a:p xmlns:a="http://schemas.openxmlformats.org/drawingml/2006/main">
            <a:r>
              <a:t>https://www.nature.com/nature-portfolio/editorial-policies/ai</a:t>
            </a:r>
          </a:p>
          <a:p xmlns:a="http://schemas.openxmlformats.org/drawingml/2006/main">
            <a:r>
              <a:t>定位：Risk assessment framework; Role-specific responsibilities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authors；AI use disclosures；FAQ语言改进与翻译例外、代码与制图要求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643e422904a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732741ddf741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f31df92d742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44f79effd426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40ca3eab144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e12968de9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D662F8-2D85-43CA-8950-6964C3D03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FABC75-10E2-4F6A-8E04-3FF90313B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20B9BE-F81E-4B7E-9AF0-F44FF3E29B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FD8170-2533-492A-8478-7FA0EDC03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3CEBE0-9C17-427A-875D-B0D4825B7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048B83-8E70-4961-8F2E-28CFAF5F1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B5F9F4-41FC-449A-9944-F19022318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68D60C-8620-4151-9D14-7103A97FBC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CD5D54-B040-4480-B958-7F002ADE2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49D12A-4FF2-4A4C-83F9-98688D7086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4f6e9140cc404e" /><Relationship Type="http://schemas.openxmlformats.org/officeDocument/2006/relationships/slideLayout" Target="/ppt/slideLayouts/slideLayout1.xml" Id="R311a4554e1e646c0" /><Relationship Type="http://schemas.openxmlformats.org/officeDocument/2006/relationships/slideLayout" Target="/ppt/slideLayouts/slideLayout2.xml" Id="Rd535e4be4f3a427d" /><Relationship Type="http://schemas.openxmlformats.org/officeDocument/2006/relationships/slideLayout" Target="/ppt/slideLayouts/slideLayout3.xml" Id="Ra74a8bc211054da2" /><Relationship Type="http://schemas.openxmlformats.org/officeDocument/2006/relationships/slideLayout" Target="/ppt/slideLayouts/slideLayout4.xml" Id="R82f3421153084656" /><Relationship Type="http://schemas.openxmlformats.org/officeDocument/2006/relationships/slideLayout" Target="/ppt/slideLayouts/slideLayout5.xml" Id="R2ffd7b94958a4ecb" /><Relationship Type="http://schemas.openxmlformats.org/officeDocument/2006/relationships/slideLayout" Target="/ppt/slideLayouts/slideLayout6.xml" Id="R245aa57dac51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1a4554e1e646c0"/>
    <p:sldLayoutId xmlns:r="http://schemas.openxmlformats.org/officeDocument/2006/relationships" id="2147483650" r:id="Rd535e4be4f3a427d"/>
    <p:sldLayoutId xmlns:r="http://schemas.openxmlformats.org/officeDocument/2006/relationships" id="2147483651" r:id="Ra74a8bc211054da2"/>
    <p:sldLayoutId xmlns:r="http://schemas.openxmlformats.org/officeDocument/2006/relationships" id="2147483652" r:id="R82f3421153084656"/>
    <p:sldLayoutId xmlns:r="http://schemas.openxmlformats.org/officeDocument/2006/relationships" id="2147483653" r:id="R2ffd7b94958a4ecb"/>
    <p:sldLayoutId xmlns:r="http://schemas.openxmlformats.org/officeDocument/2006/relationships" id="2147483654" r:id="R245aa57dac51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3c8440fd14310" /><Relationship Type="http://schemas.openxmlformats.org/officeDocument/2006/relationships/notesSlide" Target="/ppt/notesSlides/notesSlide1.xml" Id="R0d026119bc5c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90a8c780147a7" /><Relationship Type="http://schemas.openxmlformats.org/officeDocument/2006/relationships/notesSlide" Target="/ppt/notesSlides/notesSlide2.xml" Id="R37fb3e9993fa49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b167e75134a3f" /><Relationship Type="http://schemas.openxmlformats.org/officeDocument/2006/relationships/notesSlide" Target="/ppt/notesSlides/notesSlide3.xml" Id="R1d211ad03715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f236026eee4602" /><Relationship Type="http://schemas.openxmlformats.org/officeDocument/2006/relationships/notesSlide" Target="/ppt/notesSlides/notesSlide4.xml" Id="Re5fa85c76b0d43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4a4505ef24ed4" /><Relationship Type="http://schemas.openxmlformats.org/officeDocument/2006/relationships/chart" Target="/ppt/slides/charts/chart1.xml" Id="Rbb952088e46d4b91" /><Relationship Type="http://schemas.openxmlformats.org/officeDocument/2006/relationships/notesSlide" Target="/ppt/notesSlides/notesSlide5.xml" Id="R7e885794fca6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2e5f9c37c41dd" /><Relationship Type="http://schemas.openxmlformats.org/officeDocument/2006/relationships/notesSlide" Target="/ppt/notesSlides/notesSlide6.xml" Id="R83d12b6ad5e146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ffafc1c6247ac" /><Relationship Type="http://schemas.openxmlformats.org/officeDocument/2006/relationships/notesSlide" Target="/ppt/notesSlides/notesSlide7.xml" Id="R5280c5ff5ac6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3941896514bf5" /><Relationship Type="http://schemas.openxmlformats.org/officeDocument/2006/relationships/notesSlide" Target="/ppt/notesSlides/notesSlide8.xml" Id="Rab525932d0a143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822ca888064631" /><Relationship Type="http://schemas.openxmlformats.org/officeDocument/2006/relationships/notesSlide" Target="/ppt/notesSlides/notesSlide9.xml" Id="R7841f225ea444a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4f5b7638d440d" /><Relationship Type="http://schemas.openxmlformats.org/officeDocument/2006/relationships/notesSlide" Target="/ppt/notesSlides/notesSlide10.xml" Id="Redf71008a2c5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e40735ecc4173" /><Relationship Type="http://schemas.openxmlformats.org/officeDocument/2006/relationships/notesSlide" Target="/ppt/notesSlides/notesSlide11.xml" Id="R0d451dda6a3d4e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21ce7c131498a" /><Relationship Type="http://schemas.openxmlformats.org/officeDocument/2006/relationships/notesSlide" Target="/ppt/notesSlides/notesSlide12.xml" Id="R616dffe657754a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所引文献中虚构文献的比例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虚构文献比例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8C2230-710C-4026-9057-4A0A4F3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F0C5E-A19D-40E4-A124-CA0321E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科研流程中的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F3D1B-85B8-4489-97E8-5488890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2A688-61AE-42B3-93C2-702266D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可以参与科研的多个环节；每个环节需要的材料和证据并不相同。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DA77-2E3B-455C-A012-E94A349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科研环节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CD0F1-5F25-487B-9198-5326B63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可以辅助的工作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236F6-8DF6-457B-8055-BF79B218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194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需要保留的学术判断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F0339-5A34-4643-86F3-FDA1B2A5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文献与选题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50D14-16BF-4C2E-A471-41A4849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检索线索、比较已有研究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8357D-EDB9-4318-997E-5011D07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核对原文与研究空白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76C20-C727-4BB0-9A13-6C15A25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219E-7EF2-4C50-BC2A-38DE37F8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BE07F-9C93-45DF-8925-4C11F09B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提出备选设计与变量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B934C-2F88-41C2-B08F-67D1327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论证对照、测量和可行性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E1979-20BC-4FA6-BB98-39430CF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1EEFD-717A-4848-A94A-1CB48EB6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数据与分析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3E921-57B2-490C-90EB-BC75FF83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生成代码、识别数据问题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B82ED-553F-4D35-8EFB-1128688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复算结果、检查假设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FB784-5ADC-4701-BB25-EEB3C51A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2F88E-3BAE-4ECD-BA73-75A7DA61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论文与申报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4B8AD-F939-4166-B16C-63E47E7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组织材料、修改表达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1B964-C151-4935-B6D2-23CF4BF5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864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核对主张、引文与成果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DA566-FCE4-4A4F-8B42-BD874D2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BC00B-F637-4D11-BC47-1CCE4E71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评审与传播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61F32-8F52-4892-80F5-A1DD56BE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整理意见、准备汇报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10888-EABA-412E-81D4-DF2EDCB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6103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保留限制、回应质疑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E84D5-5F57-420B-A913-5CE7F44A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科研价值取决于问题、方法与证据。文字更快成稿，只是其中一个环节。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1E2BB8-F881-4818-A11C-5F41384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SLAIF（2026）；GWU MAE-6291（2026）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4AC186-A7F9-4082-9655-F4C3A03E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0106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E052B-84C9-4E63-B4F7-FA38391536B6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BE4BB-58D8-4CA1-8412-167E4B97A78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905250" y="3705225"/>
            <a:ext cx="3714750" cy="523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249AE-8B79-4920-92CC-DF8A39D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60071-D8CE-4A9D-A257-BB15FBF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 AI 与科研 AI 的范围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E231E-81A3-4E8C-83B6-1FB2A7E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591DD-8EB4-4398-BDFE-89719239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科研中的 AI 既包括面向特定问题的模型，也包括处理语言、图像与代码的生成式模型。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94332-0E27-4C66-8ABA-1A756848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面向科学研究的 AI 方法与系统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FAE9A-0111-49A1-A79A-8FFB5B06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领域预测与识别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D3052-297B-43D5-B2A5-531A40F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生成式模型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9FE29-B105-4272-AE8E-187773CD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以特定数据和目标建立模型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F3E1-5F87-423F-B4EC-F61862FF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例如材料性质预测、显微图像分割。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评价时关注预测误差、泛化与测量条件。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FC771-D05D-4ECD-8598-A39F96F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339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根据输入生成新的内容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F95B-DD8A-4FC5-BC3F-86230DC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2452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大语言模型主要处理语言与代码；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多模态模型还可处理图像、音频等内容。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F3BB5-9518-4369-BE8B-9FE0B8EB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3895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模型之上还有应用系统：界面、检索、计算工具、文件与任务管理。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同一个模型接入不同材料和工具，能够完成的工作也会不同。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C493C-C204-4781-A833-BD713E8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本课程重点讲通用生成式 AI 怎样辅助科研，再介绍可执行多步任务的 Agent 系统。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417E5-EE63-429C-B3A8-0852A8F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600-1（2024）；IJS / SLAIF（2026）；OpenAI：Using 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2FD1-C3A9-4181-BC1E-3990306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217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65D43-097C-46D4-AB0E-3735756A02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A5D35-3860-4660-8A56-46E2B49152D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5099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9DE55-E814-44E6-BCF5-5306DA59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3F40-5D6F-48CA-933F-A917CF3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预训练、后训练与推理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C6CA9-0AE7-4509-9D35-737CDADD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76AAC-A4D8-43D7-BE70-744DE09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理解模型怎样获得能力，有助于区分“模型学过什么”和“本次提供了什么”。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F7EB-4F56-42CF-9570-BE58B28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B82FD-7208-4C8F-87CC-4D82E72E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6E178-7301-4A59-B42B-8D9A6C5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43250"/>
            <a:ext cx="4000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E1E3A-18D0-405F-978C-37F9B17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从大规模材料中学习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语言与数据规律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EBB25-7776-434F-BB11-54907291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形成可迁移的基础能力。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训练材料会影响回答质量。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F2ED0-AC99-48EE-88F7-EF0635A0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利用示例、反馈等方式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调整模型行为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3A166-9D68-4888-939E-CC64339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改善指令遵循与任务表现。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具体方法因模型而异。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BDACF-6A1E-4116-BED9-706A82B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38625"/>
            <a:ext cx="4000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依据当前指令和上下文</a:t>
            </a:r>
          </a:p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产生回答或其他输出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01DE2-E54D-47C4-9057-52E81005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通常使用已有模型参数。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回答仍可能出现事实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或推理错误。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D00A2-2D73-42A4-861C-31F5F43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上传一篇论文，通常是在给当前任务补充材料。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微调则通过训练更新模型参数；检索增强生成通过查找相关材料补充回答依据。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E45E8-7A46-4BED-8917-DCC7BAD8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三者解决的问题不同：基础能力、行为调整，以及当前任务的输入与输出。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1BA51-8637-442A-B148-3BDA405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来源：OpenAI：Key concepts；OpenAI：Model optimization；IJS / SLAIF（2026）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5FD20-7235-4F30-8FA6-C9D5EF76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8670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7A7AF-AB48-4DB6-96E1-3417447C492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14731-284F-4999-A11E-88373F3D85C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59B6B-5F9F-4C4C-8FAC-E2B82C547B3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5099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FAD64-DEDA-42B8-A6D8-B66640AE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EF71C-B1DB-4B11-8F76-B5D92170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上下文与检索增强生成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39C54-B5AC-41E2-8829-CF89627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C4E43-744B-4B1F-937F-7D8B1BD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模型的既有知识、当前任务材料和外部检索结果，是不同的信息来源。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83F14-2D74-4554-A3C6-93524CF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C4A81-9164-4A01-B104-D01F4E2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检索原始材料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7C1C-2738-4477-BD99-C6E882B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组织相关片段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3DAF7-DBF0-4641-9AB8-A056101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43250"/>
            <a:ext cx="2857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模型生成回答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272EE-1EDE-48DB-864A-410435A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要比较什么、回答什么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75FD5-A584-4CF5-B20F-1E4643A1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查论文、指南或项目文件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90384-0F7D-4960-8CF8-D615D9A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保留出处、条件与版本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DC4DD-9D11-4CD9-BC9C-024C116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1148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依据指令和这些材料组织内容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3FF60-F8E5-4F36-AA4D-8B82FD0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648F9-3F24-4F3D-8334-558ECA0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435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本次回答可使用的指令、对话、材料和工具结果，容量有限。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6116-0AF3-4FE8-B826-FCD3E08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F27D7-7C2F-4AE5-A812-096B9B9D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876925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模型处理文本时使用的片段；不能按固定汉字数换算。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8341D-0DBA-45F7-AE64-A55965A3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检索增强生成（RAG）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10470-32D2-4AB5-A061-F83672E4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61035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先找相关材料，再交给模型生成回答；仍需核对检索是否完整、引用是否支持结论。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6251CF-AFC7-4385-8CBC-4E199A0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能放进上下文，不代表所有信息都会被正确使用。材料选择和证据核对仍然必要。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DBD23-D052-4CAB-B9E3-1DBCDD8C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来源：OpenAI：Conversation state；OpenAI：Prompt engineering；OpenAI：Using tools；GWU MAE-6291（2026）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22D8B-F900-4C58-ADA4-288BB04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1205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2A07B-E69F-4108-81C0-1F20A67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9C561-844B-4A9E-B078-6C154B91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语言流畅与文献真实性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89938-2A49-4AB2-A762-5ED5D98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3214-7A06-4BC8-8867-6B7E97C3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文献幻觉：生成的引文看起来完整，却可能没有对应的真实研究。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C41C1-6406-4DD0-802D-A10715C8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371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Walters 与 Wilder（2023）让两个模型围绕 42 个主题生成短综述，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 84 篇生成文本中的 636 条参考文献。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323FB70-A57E-47D6-A773-A6B20E3766C1}"/>
              </a:ext>
            </a:extLst>
          </p:cNvPr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7429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952088e46d4b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4D133-A06A-425B-A8CE-CA4DB4EB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图中比较什么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A917A-F000-4BD2-9499-7609AE95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481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两个模型在该研究设定下生成的引文。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百分比按原文表 3 报告值重绘。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28A7C-24C6-479F-A4CA-CC5C2CF9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86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真实文献也会写错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33E1F-DD45-4E77-8AC9-1E29AE0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真实文献中的著录错误：43% 与 24%。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分母为真实文献，与图中比例不同。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750B0-2C96-4303-A2CB-46BF619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53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能推出什么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78D33-4782-4C5F-83A8-A1C6529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5817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 给出的题名、作者、年份与 DOI</a:t>
            </a:r>
          </a:p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需要回到出版页面或数据库核对。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E5917-FC65-41F4-B09D-988C86A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历史研究，非当前模型排名。结果限于 2023 年的模型、提示与任务，不能外推为今天的错误率。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2F48C-2684-46EE-8BFA-720FCE27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 &amp; Wilder（2023），表3、4；NIST AI 600-1（2024）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4360E-52F1-41B7-937B-97CA2348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4879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374DD-4F30-444F-B5C9-5194D93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DD42F-380E-4D04-9941-BB0F109B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科研任务中的能力与限制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F782A-F98E-4916-8BBC-610DE48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1554-4B82-4DFB-BCD4-2FE9332C33DB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476875"/>
                <a:gridCol w="5953125"/>
              </a:tblGrid>
              <a:tr h="8096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可以提供的帮助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科研中仍需判断的部分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语言组织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翻译、归纳、调整段落与术语表达。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是否改变原意、限定条件或证据强度。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材料比较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整理多篇文献的方法、结果与分歧。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材料是否完整，比较对象是否可比。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代码生成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根据分析需求编写和修改代码。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代码是否实际运行，方法假设是否适用。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图表与解释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依据数据生成图表，说明统计结果。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数据来源、单位、样本与结论范围。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0B43-85B5-4FFD-B73D-194D014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同一段文字可能很通顺，却误解了方法；同一份代码也可能运行成功，却回答了错误的问题。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评价 AI 辅助成果时，需要同时看表达、执行与科学判断。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E0B62-CC9E-4007-BF45-74F893DB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输出形式正确、工具运行成功、研究结论成立，是三个需要分别检查的层次。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3C8DB-6B55-42C8-9C01-A90D0864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来源：OpenAI：Using tools；NIST AI 600-1（2024）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E532C-9721-4278-A239-8402288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4039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645CB0-1EFB-4272-9A74-D96745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28EBD-D9C9-4356-92AF-926C85E6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复杂科研任务的组织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57EA9-D0AD-4D39-BA27-D2FDA20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18528-EFB9-47CD-B441-C1B166D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把“帮我写一篇综述”拆成有输入、产物和核对依据的研究环节。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A70F-A3B8-4EED-9AC8-F6A8DEF5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E3110-0FA5-452A-AF28-78C705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575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界定问题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C984-A1B4-45E5-9AC5-27EEDC2A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研究对象、时间范围、纳入标准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6C4BC-93DB-47E7-9724-0AAB6C2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形成边界清楚的研究问题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1B7AF-32B8-4CA8-9F79-8C81145A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8617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23EB8-CC85-4571-A644-D7D8FDAB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21B68-65FF-43D7-9760-F4B65272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收集材料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550C4-ED58-42BC-A2C2-DD74464F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检索式、数据库与全文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A8504-21C1-421A-BAE4-B30EB4D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862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保存可回查的文献集合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B2288-9ECC-4F4E-9BFA-3CBEB05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965DC-F592-48DA-A509-BEE25B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22FA7-B213-4420-9270-1D786D1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AF8E8-AF30-4CCF-9E6F-35DFB10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对象、设计、指标和主要结果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D1A2D-BA56-4D52-8987-027F8CF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14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区分共识、分歧与证据缺口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F59A7-C855-47DC-870F-BD3E19E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43525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36773-D4BF-4744-BCD2-CFFF8F20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6FBB7-5F5D-4DDC-9869-F010E01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435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组织论述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BECD4-5463-4520-A2B7-01B85DDD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经过核对的证据与主张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D593D-0E26-43E6-871B-4C6376D2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形成段落，标明引文与限制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0AFD6-C8B1-4D2B-8CD0-7F7A1ACB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72200"/>
            <a:ext cx="12668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9C8B9-6EE0-4578-BEE9-E9CDD10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722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2C509-64A6-4C2A-9770-60B2EDE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722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检查与修订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E5C034-DC76-4012-85CB-34C093EA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37222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原文、引用清单与全文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78F8-C5C2-42BB-9D02-462DBC42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722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核对遗漏、误引和推断越界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55CB0D-014A-492D-9DA2-52BF143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先确定每一步需要什么证据，再决定让模型生成、调用工具，还是由研究者作判断。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72ACFA-BE99-42D6-8797-A209BC2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来源：GWU MAE-6291（2026）；OpenAI：Prompt engineering；NIST AI 600-1（2024）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F3947-27E9-4D79-B591-285E1AFF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6401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E5973-1FCB-49CA-92A5-77F9483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19877-6455-47D3-A472-082B0D2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科研提示词的主要变量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23FB5-7F63-4C06-989F-A88C76E9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66A22-A9C4-404D-B785-A0D900D8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提示词是研究者向模型交代任务、材料和判断标准的指令。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DD8DA-059B-4332-B07F-C0EB3E7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9525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请从研究方法角度，比较我提供的两篇论文。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比较研究对象、样本来源、对照设置、测量指标和结论范围。只依据这两篇全文，给出每项判断对应的原文位置。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请区分作者报告的结果与你的解释。两篇论文没有报告的信息写明“未报告”，不要补入样本量、统计结果或其他文献。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按比较维度逐项列出共同点、差异及其对结论的影响。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3E39-AF25-429E-86BA-C5D5B640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194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分析角度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2855-DBD2-4B58-B3D2-E07D8CEF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671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研究方法，面向具体问题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96EC5-138D-4B9D-87AD-1BAB154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100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47205-931A-49D4-B164-5FD1C7D0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57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两篇指定全文，范围明确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1288D-F368-44AD-AEF8-5940718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006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约束条件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DE63D-37B3-4036-B255-E4193C5D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483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依据可定位，缺项不补写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327C8-3E87-4CE3-9300-DA5AC64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输出结构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092C2-5865-4D4D-82BE-27B48379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389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维度、比较、结论影响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A782-FD58-43E4-9CC2-B35F7CF2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“专家”角色可帮助指定角度；材料、限制与核对标准决定这次任务怎样开展。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2D730-A298-4E6B-A9DE-F97BD27C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来源：OpenAI：Prompt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A4BC2-320A-4A4D-BEF4-C9727D47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521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CCBFA-0762-47B1-A43F-1B865069641B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39250" y="67056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4A15D-1B6D-412E-85C8-422977AC693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238500" y="66913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0A660-842E-43B0-BF91-CAC193BA573D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239250" y="54483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5EC57-9A94-49ED-AA07-267849F0E269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38500" y="54340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5B48A-B1CF-4981-BEB6-57FB2881E3D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39250" y="4191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91B4-FA64-485F-8978-86748F053A2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4176713"/>
            <a:ext cx="95250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5EA13-6A19-438E-9C1A-3EA02FA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A9BBB-AD2C-4CAE-811F-FBC113D7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Claude、ChatGPT、DeepSeek 怎样选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5BA4-2117-4CF8-9539-FC33D8C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2F1E8-2D4F-4F49-A518-F95A1870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同一任务：依据公开论文，解释“AI 编造文献”的证据，交付一页说明。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1F5A-9578-4775-893E-8B38143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使用入口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D723-6882-4172-AC3B-1022C79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765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这一任务怎样处理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75625-BB37-426A-829B-DD6DE24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76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选择依据与检查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EFAD2-C0C2-458E-B366-9CAB70A5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已启用文件工具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0D5EB-047B-4FEC-BB12-0757BB0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读论文 PDF，核对表3、4；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整理结果与限制，导出 Word。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27BA5-F0A1-4AC2-8F9E-122DF7F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适合：已有论文，要说明稿。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检查：原文定位、可编辑正文。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A0779-E0B8-4152-87D9-F8F3FC56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BC8F9-2148-4270-B468-FC391502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ChatGPT Work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文件处理模式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9BA76-15C0-4106-8A9C-CF3CFB74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720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附论文和报告值表；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制作可编辑图表及说明文件。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5E4FC-F598-470E-AF2C-17F992B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720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适合：要边看图、边改文件。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检查：数值、分母、图表编辑。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8E85F-8DA6-4E5E-924A-B66FC9F4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41458D-071B-439B-BD86-D5DA8E33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2476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课程网页方案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AA12-CFD0-49AC-B05D-CDDC0C2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2935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提供核对后的文本和数值；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模型拟稿，文件工具另行导出。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48FA4-66E3-438C-84DE-529461DF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适合：沿用课程网页流程。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检查：节点记录、实际导出文件。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2B712-F341-4AFC-8DF3-D5DECBF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三条路线是选用示例，未作三方实测。能否读文件、计算和导出，要核对当前入口及权限。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C949B-CE6A-4935-ABE7-2A5C214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来源：Claude：文件工具；OpenAI：Work with files；DeepSeek：API Docs；Walters &amp; Wilder（2023），表3、4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FEC2-6187-452B-9A1E-FD3A81BB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91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EED3A-52C0-46DE-B332-C377EA6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DF28C-C08C-4D0F-A6AD-A5096B1E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预测、解释与因果判断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1A639-2488-4F56-8B7C-BF6397A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08F13-09D4-4514-9AAE-3D212B2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生成解释或预测之后，还要明确：研究究竟支持哪一种判断。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A5AD7-7402-4D08-8729-A2861AC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87546-7666-440E-A8CA-4AF27000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用已有特征估计未知结果。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7D88C-88F2-4328-95C7-A405A22A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例如根据材料成分预测性质。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需要检查测试集、误差与适用范围。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683E-CBD6-4E0F-AA77-B50D3293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5D6EB-B694-42D7-9E2B-8CC07E92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DABF7-185D-4D26-B911-560F85F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说明现象可能通过什么机制发生。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262D4-E2F1-4F44-96B1-A0AEE93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需要理论、测量和支持机制的证据。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一个合理的故事不足以确立机制。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5D417-E87F-4DEB-AAC9-9376C77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78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AF391-4A96-4DEC-AB3E-4D6ADA94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B61D3-1504-4479-B482-C6C43AAF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34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判断改变某个因素是否会改变结果。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3BB3-2FC7-4A11-A4F3-156E96F3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19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需要合适的研究设计与识别假设。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相关关系或预测准确不能单独证明因果。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0229D-BABB-4774-913F-70636AAE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例如：AI 发现“某特征与结果同时变化”，可以形成待检验的线索。</a:t>
            </a:r>
          </a:p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要写成“改变该特征导致结果改变”，还需排查混杂、时间顺序与其他解释。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6FB6-E698-494C-8E77-D8B43950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模型输出应保留研究设计能够支持的结论强度。机制示意与自然语言推理也需证据。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E0259-7546-48F3-B7F3-BFAAAA7B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来源：IJS / SLAIF（2026）；NIST AI 600-1（2024）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A80D-2BBF-4B8F-BF03-F5579791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2086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DA027-5515-4A4C-ABF4-855ADFB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E48CD-A000-44AC-8B46-E2630F49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学术规范与作者责任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6A443-6E00-4071-AB26-86FF0DB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539B2-E4C5-4EEC-BE41-6B3BA9ED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371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参与写作与研究时，作者对准确性、原创性与证据负责。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CCAC2-5D9F-42AC-906D-B6D1BF053E7F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286375"/>
                <a:gridCol w="5667375"/>
              </a:tblGrid>
              <a:tr h="802481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核对事项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Portfolio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PLOS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与作者资格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不能把学术责任交给 AI。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工具不能列为作者。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写作与研究支持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按风险程度进行人工监督与核验，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并按要求披露。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生成正文等按要求披露；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单纯语言改进见FAQ例外。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内容与研究记录</a:t>
                      </a:r>
                    </a:p>
                  </a:txBody>
                  <a:tcPr marL="171450" marR="171450" marT="161925" marB="12382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作者对原创性、准确性和完整性负责。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作者负责研究记录与投稿内容的可靠性。</a:t>
                      </a:r>
                    </a:p>
                  </a:txBody>
                  <a:tcPr marL="171450" marR="171450" marT="161925" marB="12382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66247-1A24-40BE-8DB9-B26B70BE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53225"/>
            <a:ext cx="1371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日常保留工具与版本、用途、输入材料、采用的输出和人工核对记录。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正式投稿时，按目标期刊当时的声明范围与位置填写。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E4229-A17B-4692-9110-2262AB13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914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这里概述两家出版方的已核对政策；不能把一种期刊的规则直接套到另一种期刊。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56F41-B9A9-4FAB-A24E-20D77A0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来源：Nature Portfolio AI policy；PLOS AI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6F8B-1B25-46EB-ABE3-2ED879FE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15502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9C2B9-2061-4787-AE3F-5946CB1E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295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  科研 AI：能力、原理与学术边界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575BE-26DC-479F-A70C-AEB49D7C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科研可信度的四个条件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443DF-933E-40C5-A236-53D51A34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E301-42FD-4671-9F6F-7189397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 辅助成果进入论文、申报或报告之前，需要经过证据与方法的检查。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5CA32-B559-489F-A963-C1045CA9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来源真实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5C167-4F82-493C-B3C0-1A04609C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146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论文、数据与指南有可定位原件。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513BA-5326-4A1B-8A6C-9949ED7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有题名或 DOI 仍需确认实际对应的内容。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39DBE-C3D6-4E76-9664-3C7EB11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38640-C25C-4D4D-8036-AF2551D2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D64E4-506A-4269-B6F7-1F4CFCC4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保留输入、方法、代码与处理记录。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5585-49F9-4E8A-94B9-AFF8D04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958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计算能复现，修改有依据，版本能区分。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7CD17-97E7-4B40-B317-3729B73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B1C18-73FA-4468-97F6-16B3759C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推断适当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A6E71-1144-4B31-899F-9A80E53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结论符合研究对象、条件与设计。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CFCE-AB6A-423D-BE7A-D1EBE67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不把推测写成结果，不把相关直接写成因果。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30468-660F-4DA0-8005-EBEFEE4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08C8F-15AF-4887-9B1E-CB40ADFA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6FE6E-9197-49A7-9BA2-AA2D0E4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研究者核对内容并按要求披露使用。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82F7A-29C3-44DC-9160-9941331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81037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语言修订保留事实、数字、引用与限制。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75594-D89C-41F2-BC97-A27E1763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后续章节据此展开：文献、数据、图表、论文与申报材料，各自有需要核对的证据。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06DE2-20E3-422E-8A63-F7DF396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96275"/>
            <a:ext cx="1247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 AI 600-1（2024）；Walters &amp; Wilder（2023），表3、4；Nature Portfolio AI policy；PLOS AI 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7153C-1EEB-4EA9-ABC9-0E4EB602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2105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7120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2026-10-19T07:29:08.8880000Z</dcterms:created>
  <dcterms:modified xsi:type="dcterms:W3CDTF">2026-10-19T07:29:08.8880000Z</dcterms:modified>
</coreProperties>
</file>