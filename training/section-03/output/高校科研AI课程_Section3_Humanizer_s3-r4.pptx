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6f74c96c014ece" /><Relationship Type="http://schemas.openxmlformats.org/officeDocument/2006/relationships/extended-properties" Target="/docProps/app.xml" Id="R9538ef7cd7d7496c" /><Relationship Type="http://schemas.openxmlformats.org/officeDocument/2006/relationships/officeDocument" Target="/ppt/presentation.xml" Id="Raef17320afc74e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509082cac4527"/>
  </p:sldMasterIdLst>
  <p:notesMasterIdLst>
    <p:notesMasterId xmlns:r="http://schemas.openxmlformats.org/officeDocument/2006/relationships" r:id="R0cb16f7160bc400e"/>
  </p:notesMasterIdLst>
  <p:sldIdLst>
    <p:sldId xmlns:r="http://schemas.openxmlformats.org/officeDocument/2006/relationships" id="256" r:id="R18001e9e457e4e50"/>
    <p:sldId xmlns:r="http://schemas.openxmlformats.org/officeDocument/2006/relationships" id="257" r:id="Re1ffb7f7282c4eb5"/>
    <p:sldId xmlns:r="http://schemas.openxmlformats.org/officeDocument/2006/relationships" id="258" r:id="R82d0145c645f4841"/>
    <p:sldId xmlns:r="http://schemas.openxmlformats.org/officeDocument/2006/relationships" id="259" r:id="Ree8bbb0bc8004545"/>
    <p:sldId xmlns:r="http://schemas.openxmlformats.org/officeDocument/2006/relationships" id="260" r:id="R16347de3f9d34f39"/>
    <p:sldId xmlns:r="http://schemas.openxmlformats.org/officeDocument/2006/relationships" id="261" r:id="R48916a0813f5422e"/>
    <p:sldId xmlns:r="http://schemas.openxmlformats.org/officeDocument/2006/relationships" id="262" r:id="R7b92d631610a497c"/>
    <p:sldId xmlns:r="http://schemas.openxmlformats.org/officeDocument/2006/relationships" id="263" r:id="R5408358f0fee46e9"/>
    <p:sldId xmlns:r="http://schemas.openxmlformats.org/officeDocument/2006/relationships" id="264" r:id="R36b047df68e64ad2"/>
    <p:sldId xmlns:r="http://schemas.openxmlformats.org/officeDocument/2006/relationships" id="265" r:id="Rf31e305254444fc6"/>
    <p:sldId xmlns:r="http://schemas.openxmlformats.org/officeDocument/2006/relationships" id="266" r:id="R9791b58457cd4468"/>
    <p:sldId xmlns:r="http://schemas.openxmlformats.org/officeDocument/2006/relationships" id="267" r:id="Re942d4661f004379"/>
    <p:sldId xmlns:r="http://schemas.openxmlformats.org/officeDocument/2006/relationships" id="268" r:id="Re2598f9014c8477e"/>
    <p:sldId xmlns:r="http://schemas.openxmlformats.org/officeDocument/2006/relationships" id="269" r:id="R96fbad8537f04a0a"/>
    <p:sldId xmlns:r="http://schemas.openxmlformats.org/officeDocument/2006/relationships" id="270" r:id="Rff0c5586c0b449e5"/>
    <p:sldId xmlns:r="http://schemas.openxmlformats.org/officeDocument/2006/relationships" id="271" r:id="Rbc2f23e4c2ae41cb"/>
    <p:sldId xmlns:r="http://schemas.openxmlformats.org/officeDocument/2006/relationships" id="272" r:id="R4984016a472b42cd"/>
    <p:sldId xmlns:r="http://schemas.openxmlformats.org/officeDocument/2006/relationships" id="273" r:id="Ra773ab0994a84b7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b8acf200d4e74" /><Relationship Type="http://schemas.openxmlformats.org/officeDocument/2006/relationships/slideMaster" Target="/ppt/slideMasters/slideMaster1.xml" Id="R1d4509082cac4527" /><Relationship Type="http://schemas.openxmlformats.org/officeDocument/2006/relationships/notesMaster" Target="/ppt/notesMasters/notesMaster1.xml" Id="R0cb16f7160bc400e" /><Relationship Type="http://schemas.openxmlformats.org/officeDocument/2006/relationships/presProps" Target="/ppt/presProps.xml" Id="R717fefb3084c47d6" /><Relationship Type="http://schemas.openxmlformats.org/officeDocument/2006/relationships/tableStyles" Target="/ppt/tableStyles.xml" Id="Rb3b6613131e74d37" /><Relationship Type="http://schemas.openxmlformats.org/officeDocument/2006/relationships/slide" Target="/ppt/slides/slide1.xml" Id="R18001e9e457e4e50" /><Relationship Type="http://schemas.openxmlformats.org/officeDocument/2006/relationships/slide" Target="/ppt/slides/slide2.xml" Id="Re1ffb7f7282c4eb5" /><Relationship Type="http://schemas.openxmlformats.org/officeDocument/2006/relationships/slide" Target="/ppt/slides/slide3.xml" Id="R82d0145c645f4841" /><Relationship Type="http://schemas.openxmlformats.org/officeDocument/2006/relationships/slide" Target="/ppt/slides/slide4.xml" Id="Ree8bbb0bc8004545" /><Relationship Type="http://schemas.openxmlformats.org/officeDocument/2006/relationships/slide" Target="/ppt/slides/slide5.xml" Id="R16347de3f9d34f39" /><Relationship Type="http://schemas.openxmlformats.org/officeDocument/2006/relationships/slide" Target="/ppt/slides/slide6.xml" Id="R48916a0813f5422e" /><Relationship Type="http://schemas.openxmlformats.org/officeDocument/2006/relationships/slide" Target="/ppt/slides/slide7.xml" Id="R7b92d631610a497c" /><Relationship Type="http://schemas.openxmlformats.org/officeDocument/2006/relationships/slide" Target="/ppt/slides/slide8.xml" Id="R5408358f0fee46e9" /><Relationship Type="http://schemas.openxmlformats.org/officeDocument/2006/relationships/slide" Target="/ppt/slides/slide9.xml" Id="R36b047df68e64ad2" /><Relationship Type="http://schemas.openxmlformats.org/officeDocument/2006/relationships/slide" Target="/ppt/slides/slide10.xml" Id="Rf31e305254444fc6" /><Relationship Type="http://schemas.openxmlformats.org/officeDocument/2006/relationships/slide" Target="/ppt/slides/slide11.xml" Id="R9791b58457cd4468" /><Relationship Type="http://schemas.openxmlformats.org/officeDocument/2006/relationships/slide" Target="/ppt/slides/slide12.xml" Id="Re942d4661f004379" /><Relationship Type="http://schemas.openxmlformats.org/officeDocument/2006/relationships/slide" Target="/ppt/slides/slide13.xml" Id="Re2598f9014c8477e" /><Relationship Type="http://schemas.openxmlformats.org/officeDocument/2006/relationships/slide" Target="/ppt/slides/slide14.xml" Id="R96fbad8537f04a0a" /><Relationship Type="http://schemas.openxmlformats.org/officeDocument/2006/relationships/slide" Target="/ppt/slides/slide15.xml" Id="Rff0c5586c0b449e5" /><Relationship Type="http://schemas.openxmlformats.org/officeDocument/2006/relationships/slide" Target="/ppt/slides/slide16.xml" Id="Rbc2f23e4c2ae41cb" /><Relationship Type="http://schemas.openxmlformats.org/officeDocument/2006/relationships/slide" Target="/ppt/slides/slide17.xml" Id="R4984016a472b42cd" /><Relationship Type="http://schemas.openxmlformats.org/officeDocument/2006/relationships/slide" Target="/ppt/slides/slide18.xml" Id="Ra773ab0994a84b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fe706268944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a3f896cb34be5" /><Relationship Type="http://schemas.openxmlformats.org/officeDocument/2006/relationships/notesMaster" Target="/ppt/notesMasters/notesMaster1.xml" Id="R020c95e9259048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2348578cf44474" /><Relationship Type="http://schemas.openxmlformats.org/officeDocument/2006/relationships/notesMaster" Target="/ppt/notesMasters/notesMaster1.xml" Id="Rceaa53e9a4d441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a3c3c6a7cb444c" /><Relationship Type="http://schemas.openxmlformats.org/officeDocument/2006/relationships/notesMaster" Target="/ppt/notesMasters/notesMaster1.xml" Id="R528ab12483ee43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4a905b5cf54c50" /><Relationship Type="http://schemas.openxmlformats.org/officeDocument/2006/relationships/notesMaster" Target="/ppt/notesMasters/notesMaster1.xml" Id="Re57c380f1c414e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84c3bf6e8140f9" /><Relationship Type="http://schemas.openxmlformats.org/officeDocument/2006/relationships/notesMaster" Target="/ppt/notesMasters/notesMaster1.xml" Id="R427cae484a9249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9d8eda69347af" /><Relationship Type="http://schemas.openxmlformats.org/officeDocument/2006/relationships/notesMaster" Target="/ppt/notesMasters/notesMaster1.xml" Id="Ra32192a267d441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9be2bc4b824739" /><Relationship Type="http://schemas.openxmlformats.org/officeDocument/2006/relationships/notesMaster" Target="/ppt/notesMasters/notesMaster1.xml" Id="R8549f9f6628343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0dca8319ed4d30" /><Relationship Type="http://schemas.openxmlformats.org/officeDocument/2006/relationships/notesMaster" Target="/ppt/notesMasters/notesMaster1.xml" Id="R9f88170d743a48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a3f9fde86140d8" /><Relationship Type="http://schemas.openxmlformats.org/officeDocument/2006/relationships/notesMaster" Target="/ppt/notesMasters/notesMaster1.xml" Id="R065cf97c86c34a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8d876ac6b6473f" /><Relationship Type="http://schemas.openxmlformats.org/officeDocument/2006/relationships/notesMaster" Target="/ppt/notesMasters/notesMaster1.xml" Id="R579711f45d234f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6fc62b2dea440c" /><Relationship Type="http://schemas.openxmlformats.org/officeDocument/2006/relationships/notesMaster" Target="/ppt/notesMasters/notesMaster1.xml" Id="R2b450612eba24b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4c989a3f044953" /><Relationship Type="http://schemas.openxmlformats.org/officeDocument/2006/relationships/notesMaster" Target="/ppt/notesMasters/notesMaster1.xml" Id="R2f5a05a639334b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1766b8d4c84cfd" /><Relationship Type="http://schemas.openxmlformats.org/officeDocument/2006/relationships/notesMaster" Target="/ppt/notesMasters/notesMaster1.xml" Id="R913333df13c34d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49458029e54d9e" /><Relationship Type="http://schemas.openxmlformats.org/officeDocument/2006/relationships/notesMaster" Target="/ppt/notesMasters/notesMaster1.xml" Id="R642280be73b144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14bd3dd36d42a4" /><Relationship Type="http://schemas.openxmlformats.org/officeDocument/2006/relationships/notesMaster" Target="/ppt/notesMasters/notesMaster1.xml" Id="R3cdcc0281cc544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6d1cf955fc4878" /><Relationship Type="http://schemas.openxmlformats.org/officeDocument/2006/relationships/notesMaster" Target="/ppt/notesMasters/notesMaster1.xml" Id="Rfbde9911170a40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478bc27a324831" /><Relationship Type="http://schemas.openxmlformats.org/officeDocument/2006/relationships/notesMaster" Target="/ppt/notesMasters/notesMaster1.xml" Id="R3d4f9102b63c45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25d3ff36e442f2" /><Relationship Type="http://schemas.openxmlformats.org/officeDocument/2006/relationships/notesMaster" Target="/ppt/notesMasters/notesMaster1.xml" Id="R216ce1ddc35e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后续申报和论文写作的共同需求说明本节目的。表达自然不等于口语化到失去专业信息；读者应能准确理解研究对象、方法、结果和限制。Humanizer的规则用于发现语言问题，不能用作判断作者身份的检测器，也不能替研究者补齐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沿原句逐个指出：没有研究对象，没有方法，没有能验证的作用。不能为了让句子更像人写的，擅自补出疾病名称、算法、样本数或性能结果。删除空话后如果没有内容，说明需要补研究材料，而不是继续润色。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把修改分成两条路径。有依据时可以把抽象评价改为具体事实；无依据时保留待处理问题。缺项提示应保存在问题清单或批注，不应以占位符混入最终正式稿。本页不是课堂任务，不要求学员提交材料。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L课件第8页展示了may在润色后消失的例子。本页用中文转述其含义，不搬用原页面图片，也不把课件示例当作可量化的系统评测。让听众看到一个词也能改变作者立场。判断限定是否合适需回到研究设计和证据，不能把所有句子都改成“可能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用虚构的研究结果训练学员相信一个结论，而是明确标注为逻辑表达示例。锁定项包括对象、数字、单位、比较组、否定词、条件、时间、引用与研究状态。是否有权改动这些字段应单独讨论，不混入常规语言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图按arXiv v3的Results和Figure 1a报告值重绘。61.22%与5.19%均指人类作文被判AI的平均比例；前者91篇TOEFL作文，后者88篇美国八年级作文。原研究样本并不能控制所有语言和年级差异；本页只说明检测结果具有适用条件，不能据此鉴定单篇中文稿件。不要教授规避检测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Liang et al., GPT detectors are biased against non-native English writers, arXiv:2304.02819v3, 2023</a:t>
            </a:r>
          </a:p>
          <a:p xmlns:a="http://schemas.openxmlformats.org/drawingml/2006/main">
            <a:r>
              <a:t>https://arxiv.org/html/2304.02819v3</a:t>
            </a:r>
          </a:p>
          <a:p xmlns:a="http://schemas.openxmlformats.org/drawingml/2006/main">
            <a:r>
              <a:t>定位：Results首节与Figure 1a：7个检测器，91篇TOEFL作文、88篇美国八年级作文；报告平均误判率61.22%和5.19%；历史英文样本，不能外推当前中文检测。期刊版本DOI:10.1016/j.patter.2023.100779。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izer包含标记、改写、复查过程。这里把作者材料和差异核对放进流程。不要把原稿覆盖后只交一份“优化版”。差异说明写清每处实质修改，事实不明时单列问题。由AI生成初稿再反复润色，也可能反复强化同样的表达偏差，UCL第10页给出了这种叠加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的“相关问题”“内在联系”没有告诉读者研究做了什么。修改后的对象、操作和讨论范围来自本例预设材料，不能由润色工具自行编造。实际稿件应核对方法记录。没有提供材料时只能删空话并提问，不应照搬这段修订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原句把项目计划写成已完成成果。修订时把研究内容放回未来时态，并将已有基础留给实际材料。预期贡献需要与方法和验证方案相连；不能因为表达自然就省略创新性论证，也不能承诺解决所有问题。具体申报规范在Section 10结合真实指南讲。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写清楚未完成事项，能够支持实际决策。示例为课程编写，不能冒充真实项目进度。讲师解释三种状态各自需要什么记录：文件、问题清单和责任安排。不要为了语气积极而把未完成改成即将完成，也不要把初稿说成正式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本页用流程图承载原句中的动作，补充每一步需要考虑的事项。图中的检查是写作和研究组织建议，不是一个选题创新性已经通过的证据。MIT Communication Lab强调图形应帮助受众理解；本课程保留专业说明和来源，不照搬“每页只写一句”作为硬标准。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Communication Lab, Slideshow</a:t>
            </a:r>
          </a:p>
          <a:p xmlns:a="http://schemas.openxmlformats.org/drawingml/2006/main">
            <a:r>
              <a:t>https://mitcommlab.mit.edu/broad/commkit/slideshow/</a:t>
            </a:r>
          </a:p>
          <a:p xmlns:a="http://schemas.openxmlformats.org/drawingml/2006/main">
            <a:r>
              <a:t>定位：Each slide should convey a single point; Emphasize visuals over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本页沿用Section 1已核验的Walters与Wilder 2023研究数据，source-data.json附原始出处与值。比较指标为引文虚构比例，不是整体AI能力；222和414是引文数，不是参与者或论文数。不能凭这个历史研究图推断模型持续提升，更不能用今日性能解释它。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“加强逻辑性”拆成作者可以执行的修改。评语不必刻意严厉或套用固定三段；本例恰好包含定位、依据和建议。不能在未阅读稿件时声称发现第二段的问题。实际审稿涉及未公开稿件，不在本节演示上传到外部AI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短语映射说明风险，不把英语直译当作唯一正确写法。未检测到差异可能涉及样本量、测量和不确定性，不能自动等同于等效性结论。翻译后回查否定词、比较方向、范围和单位；必要时将中文和英文对应句放在同一修订记录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段便于教师理解的任务说明，不是一次外部模型的运行截图。不要在任务中要求“保证像人写”“规避检测”等不可核验目标。修订目标是读者理解、学术含义和作者意图。文字长度由内容决定，不强制每段三点或统一句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箭头是问题改动示例，不是推荐改法。语言审阅应结合上下文，不能仅用关键词相等证明含义相同。程序可核对数字和固定术语，但无法独立判断研究论证。检查中如果发现原稿本身错误，应作为内容修订另行处理并留下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PLOS政策正文与FAQ一起解释。正文要求披露相关AI使用，但FAQ明确：单纯拼写、语法、清晰度与简洁性修改无需披露；翻译建议披露而非强制。分析脚本或代码的生成开发需要披露，制图使用需在图注说明。不能只读总则就把所有语言修改都说成必须披露，也不能推到所有期刊。按目标规则保留使用记录与作者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 / AI use disclosures，以及FAQ中语言改进与翻译例外、代码与制图要求；核对2026-10-17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作者与读者。语言自然的标准包括能读懂、能解释、能复核，不依赖某个检测分数。这里列出三类交付是本课程的文件安排，不是所有写作任务必须使用的模板。复杂内容应按研究需要组织，避免机械套用句式和固定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b1c7908a04f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165f8fe054d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0617663d348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656b988dd40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36af067cc4c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1ab19b5384a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DBCFD-553A-404E-8113-E9E8E1E3D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3942D1-A915-40FE-9266-0242D4181A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AD4A2D-64D8-401E-8A70-58F8568C6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13AE14-28F2-42D5-9534-C9EA37AF2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3AC610-A729-489E-A631-A86AD147A0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507DCA-1269-46E3-A914-6287E8FCE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C42A7E-28B0-4097-AFD2-875A2B843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54A26E-3152-4914-B21C-FD4BE5967E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A63B31-9431-4806-A9E4-5BFF728FA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43AF88-6563-499D-A99B-C27284A8C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2e78b0af94423b" /><Relationship Type="http://schemas.openxmlformats.org/officeDocument/2006/relationships/slideLayout" Target="/ppt/slideLayouts/slideLayout1.xml" Id="R1d42e9b5849a46d1" /><Relationship Type="http://schemas.openxmlformats.org/officeDocument/2006/relationships/slideLayout" Target="/ppt/slideLayouts/slideLayout2.xml" Id="R5d97795b7ce147c5" /><Relationship Type="http://schemas.openxmlformats.org/officeDocument/2006/relationships/slideLayout" Target="/ppt/slideLayouts/slideLayout3.xml" Id="R3b8e579cc7654ed1" /><Relationship Type="http://schemas.openxmlformats.org/officeDocument/2006/relationships/slideLayout" Target="/ppt/slideLayouts/slideLayout4.xml" Id="Rc7d69e4b89cc46f3" /><Relationship Type="http://schemas.openxmlformats.org/officeDocument/2006/relationships/slideLayout" Target="/ppt/slideLayouts/slideLayout5.xml" Id="R6540beaaef2b4a17" /><Relationship Type="http://schemas.openxmlformats.org/officeDocument/2006/relationships/slideLayout" Target="/ppt/slideLayouts/slideLayout6.xml" Id="R5a4cd1f7bea541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2e9b5849a46d1"/>
    <p:sldLayoutId xmlns:r="http://schemas.openxmlformats.org/officeDocument/2006/relationships" id="2147483650" r:id="R5d97795b7ce147c5"/>
    <p:sldLayoutId xmlns:r="http://schemas.openxmlformats.org/officeDocument/2006/relationships" id="2147483651" r:id="R3b8e579cc7654ed1"/>
    <p:sldLayoutId xmlns:r="http://schemas.openxmlformats.org/officeDocument/2006/relationships" id="2147483652" r:id="Rc7d69e4b89cc46f3"/>
    <p:sldLayoutId xmlns:r="http://schemas.openxmlformats.org/officeDocument/2006/relationships" id="2147483653" r:id="R6540beaaef2b4a17"/>
    <p:sldLayoutId xmlns:r="http://schemas.openxmlformats.org/officeDocument/2006/relationships" id="2147483654" r:id="R5a4cd1f7bea5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9ac0f67cb48da" /><Relationship Type="http://schemas.openxmlformats.org/officeDocument/2006/relationships/notesSlide" Target="/ppt/notesSlides/notesSlide1.xml" Id="R670e666e6ea3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ea17cef9564cde" /><Relationship Type="http://schemas.openxmlformats.org/officeDocument/2006/relationships/notesSlide" Target="/ppt/notesSlides/notesSlide2.xml" Id="R3536144d340b44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64eccafa34fff" /><Relationship Type="http://schemas.openxmlformats.org/officeDocument/2006/relationships/notesSlide" Target="/ppt/notesSlides/notesSlide3.xml" Id="R3a1d8486b19643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643b1dd3d4101" /><Relationship Type="http://schemas.openxmlformats.org/officeDocument/2006/relationships/notesSlide" Target="/ppt/notesSlides/notesSlide4.xml" Id="R1cfe7912a88b4b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94b7356124ade" /><Relationship Type="http://schemas.openxmlformats.org/officeDocument/2006/relationships/notesSlide" Target="/ppt/notesSlides/notesSlide5.xml" Id="Rb54def6261bd4b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b7575fbea491c" /><Relationship Type="http://schemas.openxmlformats.org/officeDocument/2006/relationships/chart" Target="/ppt/slides/charts/chart1.xml" Id="Rf61624575406468c" /><Relationship Type="http://schemas.openxmlformats.org/officeDocument/2006/relationships/notesSlide" Target="/ppt/notesSlides/notesSlide6.xml" Id="R7d306ef26cc34a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1daea5e474a29" /><Relationship Type="http://schemas.openxmlformats.org/officeDocument/2006/relationships/notesSlide" Target="/ppt/notesSlides/notesSlide7.xml" Id="Ra7fdf307e77d43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41305cc23401b" /><Relationship Type="http://schemas.openxmlformats.org/officeDocument/2006/relationships/notesSlide" Target="/ppt/notesSlides/notesSlide8.xml" Id="Rb550c580f93841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0082df26b43f0" /><Relationship Type="http://schemas.openxmlformats.org/officeDocument/2006/relationships/notesSlide" Target="/ppt/notesSlides/notesSlide9.xml" Id="R3c9053309d4b42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772fedb884d18" /><Relationship Type="http://schemas.openxmlformats.org/officeDocument/2006/relationships/notesSlide" Target="/ppt/notesSlides/notesSlide10.xml" Id="R50e5b3ce883348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fa476d9794529" /><Relationship Type="http://schemas.openxmlformats.org/officeDocument/2006/relationships/notesSlide" Target="/ppt/notesSlides/notesSlide11.xml" Id="R440e1297421342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87ea0b293407b" /><Relationship Type="http://schemas.openxmlformats.org/officeDocument/2006/relationships/chart" Target="/ppt/slides/charts/chart2.xml" Id="R4394e1c8ac734c5c" /><Relationship Type="http://schemas.openxmlformats.org/officeDocument/2006/relationships/notesSlide" Target="/ppt/notesSlides/notesSlide12.xml" Id="R3eb68ee4cc804e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93d1d73544268" /><Relationship Type="http://schemas.openxmlformats.org/officeDocument/2006/relationships/notesSlide" Target="/ppt/notesSlides/notesSlide13.xml" Id="R337d75d7ccf540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041a785f543a8" /><Relationship Type="http://schemas.openxmlformats.org/officeDocument/2006/relationships/notesSlide" Target="/ppt/notesSlides/notesSlide14.xml" Id="R947dd6eeae5e4a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3c8bad8434f39" /><Relationship Type="http://schemas.openxmlformats.org/officeDocument/2006/relationships/notesSlide" Target="/ppt/notesSlides/notesSlide15.xml" Id="R0472e4cba19c4b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397b39fba4a48" /><Relationship Type="http://schemas.openxmlformats.org/officeDocument/2006/relationships/notesSlide" Target="/ppt/notesSlides/notesSlide16.xml" Id="R55feae5a823048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aa84cc91ed48e5" /><Relationship Type="http://schemas.openxmlformats.org/officeDocument/2006/relationships/notesSlide" Target="/ppt/notesSlides/notesSlide17.xml" Id="Refd46726bd004d4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07181589b4a8e" /><Relationship Type="http://schemas.openxmlformats.org/officeDocument/2006/relationships/notesSlide" Target="/ppt/notesSlides/notesSlide18.xml" Id="Rdb3022780c354fa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人工作文被判为 AI 文本的平均比例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TOEFL作文（n=91）</c:v>
                </c:pt>
                <c:pt idx="1">
                  <c:v>美国八年级作文（n=88）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0.6122</c:v>
                </c:pt>
                <c:pt idx="1">
                  <c:v>0.0519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虚构文献占所引文献的比例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73DC8-B3F4-4B99-A083-DD4AE075B10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C9CF8-B9D4-4217-8BFE-B05FB40D55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38430-3AEA-419E-A6A9-B2B497B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4DC2A-DF28-4CE1-ADB4-DEDB5C68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 与科研表达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C6DFC-C813-422B-B2BE-A1250EED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B8F86-6D5C-4279-A08D-FC8A9007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让读者看懂谁做了什么、依据是什么、结论适用于哪里。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63D3-D2FA-4078-A6B4-5FCFD7A3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读懂原意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197CD-5756-48CF-8B86-7495551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2C771-EDA8-42A2-9777-94A953F4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A1B29-9E6B-4D1D-8CAD-96E9106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作者要回答的具体问题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57D9E-ED0B-41CE-912B-FA1A3F00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去掉空话，理顺句子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DC88B-F3AA-4340-A497-4DD3B87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事实、限定与引用仍一致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C943C-9415-4E8E-B2BD-6D8F8B53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作者判断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6B529-AC1F-4150-95BB-7E576FF0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作者能解释句子里的对象、方法、结果和限制。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BEF6F-C03B-4E78-9CCD-1686B28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Humanizer 是文字修订方法；专业内容仍由作者判断。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CD7DA-03AA-4BD5-9BE2-5AC85D34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11014-EBBF-4ACB-A6C7-D45249EB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6420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D1376-0B35-41B4-A1AF-77A18059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78403-329D-4ACD-9CC4-4CB8BFCE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一段空话为什么难读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7240B-3D5B-42F3-A49C-8A6AF8CB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CCD64-F830-42FB-AF98-3252795E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问题常出在缺少具体对象、动作和依据，而不只是某几个词。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42B9-D819-4CC3-A59F-1B856CAC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本研究立足前沿，聚焦关键瓶颈，构建多维协同框架，全面赋能科研创新，为相关领域高质量发展提供重要支撑。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882DF-5450-473D-A0B0-7536D9E7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立足前沿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966BD-0A9F-4EE8-9132-09F3C72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53F0E-68D6-4804-AD0F-D292791A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053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哪个研究方向？与哪些已有工作有关？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B9A79-9BD8-431E-B6F7-FF567D39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多维协同框架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6C10-EFFC-4AFD-BCF6-751223A1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847FA-749A-496B-96D1-0F19D5E0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2452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包含哪些对象，怎样发生作用？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6B850-24F7-4CA6-A3F4-095959CF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赋能／重要支撑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97FC9-A38E-4E26-AABD-9687FAB6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04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3995B-CDFE-46AB-9C3D-30A996C8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具体改善什么，凭什么判断？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E9EF1-316A-4AB5-B2F5-42242AB9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示例为课程编写。没有研究材料时，删去空泛评价，具体内容留待作者补充。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1DF30-C193-43CB-ACCD-E0DA9699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E12D4-DD96-4F85-8F65-F1E2A184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2158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7768B-7392-4DA9-ABF8-68B2BD4191F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4667250"/>
            <a:ext cx="29527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B03CB-7E47-4371-8811-DDC7391D042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619750" y="3810000"/>
            <a:ext cx="29527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3B33F-64BE-4024-8C18-13C0C662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871AB-ED5D-45DD-914D-1BB8D2C8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材料不足时怎样修改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5A033-B3B4-40C6-AADC-C066C7A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8100C-A103-4945-A6BE-AA16BFE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有具体依据就写清楚；没有依据，就把缺项交回作者。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B6A5F-F82C-49A9-BBC1-C5DD8793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这句话有对应材料吗？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D93AE-FC09-485A-B5B2-3C16E16D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有：据材料重写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8EE99-E19E-482A-99BF-6A5FB101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无：登记缺项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61386-B23F-4DA0-A7AA-AC61958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“显著提高性能”需要比较对象、评价指标、测试条件和结果依据。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04EF7-22FF-4E76-A55C-C34A0C74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表达修改不能把尚未提供的信息写成已知事实。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13FE8-9CC7-432F-AB4A-071CCB3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CF1FF-0815-426F-855D-442342BA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2133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9D436-C83A-42E6-A200-AA48F52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25B46-32BE-4576-8D63-17752AF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删掉“可能”，结论就变了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DC37E-D5E4-43A3-BDFF-66C6E09F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ECD3-DC33-4847-B9BC-494F1B35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限定词表达证据强度，不能按“更有力量”的要求一律删除。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C2CBA-7618-49BE-9A7A-67A90DED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原意：保留可能性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30731-F6A6-4035-93D8-35170831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更明确的反馈可能帮助学生改进写作。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F841A-CA68-4DCF-B5FD-A002325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71975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C6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77A54-885B-4757-9B61-94BF09E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润色后的风险：判断更肯定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A939F-C31B-4E86-BFA8-09D5B226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更明确的反馈帮助学生改进写作。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8AC1D-4022-4F01-9473-D636D853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“可能”被删后，陈述的确定程度提高；流畅度的变化掩盖了论证含义的变化。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787ED-6DA5-415B-A3BA-551E58EF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据 UCL 2026 年课件第8页的英文例子作中文转述，不作为本课程实验结果。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3331E-EEDF-4128-AA34-3B2ED28B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来源：McKinley，UCL（2026），第4、8、10、13—14页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0AC2A-C994-4714-9D36-E3BF7E30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9009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CCC6E-4FF3-4D8E-BD8A-548BA1D78D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6000750"/>
            <a:ext cx="15240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829ED-BC27-4DD4-BF38-163D0A3CAA0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810000" y="5924550"/>
            <a:ext cx="15240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92946-A348-4438-85DC-52A5CD2686D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4914900"/>
            <a:ext cx="1524000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3603A-4D62-4929-B268-A20FE66C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7432F-E63C-457B-8EAE-806FF385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改写前先锁定研究信息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B319A-0040-4E97-BF8F-CC2F2E9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588B-4661-44B2-9272-190CB1E7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文字可以重排，数字、对象、条件和逻辑关系需要逐项保留。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E85B7-E368-455F-8478-FDF4F2DD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教学模拟：在本研究样本中，变量 A 与变量 B 呈正相关；尚不能据此确认因果关系。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EC13E-BC22-4EA4-B6F1-61786EA7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保持含义不变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B4EB0-FDBD-40E9-B9ED-C2EE24FC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852B-137A-4665-A6CA-2886B53D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C1591-EA22-4697-ADBE-05E3DE1C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6260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关系与方向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7D82D-6D3E-4A0B-BF5E-9CA6FB70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76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 与 B；正相关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AF1B1-A193-485A-9106-22316CA3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722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C1746-DB02-4D10-B3D4-03051612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865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尚不能确认因果关系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1C52F-AD82-483F-A0BC-878BA77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“相关”不能改成“导致”，“本样本”不能改成“所有人群”。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C03B2-DE0C-4325-A6E3-C50DC3AF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CFD8C-03C8-46EA-AAAA-5AE7F3EE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80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0F8C5-E10C-4724-9B5A-E0E4CFEC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BAF35-E39F-4042-BF38-2C6C7D54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检测分数不能代替文字审阅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2A5BA-4861-45F6-A62C-BB382C7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6C7DA-BC84-47EC-A17E-5EB041DC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历史研究发现，人工写作也可能被检测器判为 AI 文本。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6113E46-DE7B-4128-B330-E3946508F2F5}"/>
              </a:ext>
            </a:extLst>
          </p:cNvPr>
          <p:cNvGraphicFramePr/>
          <p:nvPr/>
        </p:nvGraphicFramePr>
        <p:xfrm>
          <a:off xmlns:a="http://schemas.openxmlformats.org/drawingml/2006/main" x="762000" y="3286125"/>
          <a:ext xmlns:a="http://schemas.openxmlformats.org/drawingml/2006/main" cx="7810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1624575406468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4587C-F164-41D5-ACD6-329184C5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2023年研究：7个检测器的平均误判率。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A17FB-5200-4522-BC19-C861CD6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672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样本、检测器和语言不同，结果不能直接外推。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75CFA-1F76-4327-9A41-D3AFE16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本课程检查表达与事实，不承诺“检测通过”。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25DF2-4971-455F-9F5E-10AD403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历史英文样本研究，非当前检测器排名，也不是中文学术文本的错误率。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0BAB0-873F-4B6B-83B6-8D2D7C93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来源：Liang等（2023），arXiv v3，Results / Fig.1a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CB542-B767-4F99-B0F5-B8A4FE48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5274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214A4-D2C4-4A90-86EE-B7D949106CF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0742F-E99A-4323-AE47-056C1F1B405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939A6-3C79-4A25-867C-EABED80AF8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9D09F-AEF5-4D5A-B3F5-CB3DEEA3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E3E0-8691-4C7F-801A-24395851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一轮修订的完整过程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CF074-AA5F-4049-B9C0-244AB9C1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56783-5970-4B82-86EB-3379D7D0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先核对内容，再改表达，最后与原稿逐项比较。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6A80F-73D9-4241-84DA-440147D0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FFD4B-738B-45A8-8AAC-F9E84BE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32641-CE88-4401-BAA5-72CFB25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修改句段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14E29-B1F0-45D6-9921-C6D7D7E3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A7F3A-7D65-4563-81F8-C658370F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与材料来源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083AE-FFDD-4D39-B3FB-4AD921B4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空话、跳步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指代与语气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DC0E9-0FBD-49CB-BF7D-F22D01AD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按对象、动作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与依据重写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7C62E-916C-412C-BA33-4E9E796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数字、限定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引用与结论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473FC-357F-477B-98FA-649B3D9A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0EECF-3FF2-4F80-AFEF-483646C9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原句、改句、修改理由，以及不能自行补写的内容。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3F5E8-43F3-4DF5-AFD5-5219F8BC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交付包括修订稿和差异说明；作者需要知道哪里改了、为什么改。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E6550B-B3C4-49AD-A6E7-F5616F17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85D1B-18FB-40FF-86F1-360D3C0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803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658F4-0597-4D9F-B4DB-92B495025B9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7B779-7E3A-498E-B33D-3AD0C28DE83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72A52-27D7-4662-B739-E995AEF3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477C3-DD23-4481-A2F1-5B553E4E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论文段落：写出对象与操作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EDA42-786A-41B5-8760-4C4CEF07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42572-FF29-45D4-A26F-C53B5C4E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用具体方法说明工作内容，比“系统性研究”更便于同行判断。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51717-BEB9-4D23-8814-186CF553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DB65D-F8BB-485E-9CC7-8100115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C0BBD-896E-4F10-BF03-2ACD8FAE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本研究围绕相关问题进行了系统性分析，揭示了不同因素之间的内在联系，为后续研究提供了重要启示。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04D74-8A0C-46E7-91BC-7C9BD85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本研究比较两种预处理方法对同一数据集分析结果的影响，记录差异出现的步骤，并讨论这些差异对结果解释的影响。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BF408-4D50-42CB-BD8C-7126AC9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38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74E1C-74A8-4D5C-91E0-2DF0D134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同一数据集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EFF69-38A0-43B3-89E9-53719E35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两种方法分别处理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64228-182E-40C9-A992-3EBEB9C9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4CFAD-CEE1-4092-AB64-1D3E18A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改写成立的前提：作者材料确实包含两种方法、同一数据集和逐步比较。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CE875-E66A-409E-96A3-86F22A3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课程模拟：本例不是已发表研究，不能直接用作真实论文成果描述。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F72F0-6AE5-49DC-8887-36D415F3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AFE03-CD02-425E-B550-D0867CE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82270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D877C-031B-4FE7-904F-77686A15552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AF68-F682-400E-ABC9-A408608BDA6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FEF9A-A642-46D7-9D46-DFD3CAB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FD397-288A-4A79-B99D-F7F06DC7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申报书：把研究计划与已有成果分开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90DB4-61CF-4229-9BF4-4DEA6722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F834E-E059-4B9A-B094-257F5C11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拟开展的工作用计划语气，已有基础用可核对的材料说明。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0E7C0-64D3-4839-A261-63805B6D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2725D-71B3-4B08-8976-C4BF1C4B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本项目已构建完整技术体系，实现研究流程全面优化，将有效解决该领域长期存在的核心难题。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86104-D8A2-4805-8E7B-4FD6FB19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7198D-29D3-4C7A-99C6-54FA14E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23C92-1EE8-4DA7-8565-23D4C5F0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本项目拟比较两条技术路线，分析关键条件对结果的影响，并通过对照实验检验方案的适用范围。已有基础另按实际材料说明。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839B1-79C8-47FD-A814-AF06A8B4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E7493-B0E0-413A-AF08-0E6DD40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571F3-382F-41C0-93A1-DAF538D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预期贡献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03DD5-4E4C-4CC4-83B1-4341DB2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能定位到数据、论文或记录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5A627-D3C3-40DE-8CBE-99DCFBD0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目标、内容与验证办法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4FF9C-ADA5-48D9-AA0C-FD05A77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明确条件，避免保证成功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2E89C-18F5-4104-B7E1-14AC7ABB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课程模拟：本例未提供前期成果，不能保留“已构建”“已实现”。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810FA-1202-48F7-A682-D041CBBD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490FB-6600-41AF-93D0-9086CD7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4628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FADD1-0B74-462E-9298-833B6B50166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C5E82-801F-48D4-90CB-05ADA7A1335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8A119-AA3C-4D6D-9F7F-8426B929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23F58-2C1D-4CCA-82E3-E97DA7C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进展报告：保留没做完的部分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12326-D8F9-4379-B279-071966B6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1037F-AE34-4D59-9D7A-40912246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读者需要知道完成情况、问题和下一步，不能只看到正面评价。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198AF-EB60-4ABE-945B-DE27EF00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09B0E-F726-4768-A55E-F4DB5AA7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项目整体进展顺利，各项任务稳步推进，已取得阶段性成效，为后续工作奠定了坚实基础。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9CA32-0DF8-4DCD-B1DD-189E5A5F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B8092-CEA1-4F92-A1F0-9C5804A8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A4E34-25EC-4172-A9A3-39D8628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已完成资料整理和分析方案初稿；原始记录中的缺项仍在核对，统计分析尚未开始。下一步先补齐缺项，再确认可分析的数据范围。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0118B-F972-4D03-AAD8-72421F0D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75D74-6CB2-4C67-9EBE-666168E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85E90-1F0C-4998-AD2A-558B92C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22F1F-4C89-4FB8-9DC7-BB36E93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资料整理、方案初稿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1544E-7C86-4056-9990-1F27390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缺项核对；分析尚未开始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6F55C-7CD9-42E7-902E-C7DD3F9F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补齐缺项，确认分析范围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5EBE0-6E59-4503-93EA-C48A09E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教学模拟：保留“尚未开始”，不把准备工作写成分析结果。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47E95-4E36-4050-8E95-85F7ABF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C7702-1671-43A8-989B-3273541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4058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80D8B-B1FC-4B71-B8C9-29CC7EF3429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858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73B23-2750-4E29-842D-5F181260BA8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390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2717E-9FC1-41F3-A59E-C2BAD10E168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71A76-46FC-4770-BE18-04E37EC8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F4C8D-9DD8-4C54-BDF0-C8D0C430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PPT：把过程画出来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2F090-0519-41E3-BE51-D3E094B3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A4957-C80F-48D7-A5E4-52504AC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页面呈现步骤和关系，讲师解释每一步采用的依据。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9FF75-65A6-418F-94BA-C28EFE1A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文字堆在一起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4C3CC-7DA6-4EED-8480-4B9F4850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本研究通过多源资料整合、研究要素识别、逻辑关系梳理、综合归纳与反复修订，形成完整的研究问题。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D1F81-B91A-4491-83F6-8FB5441B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用步骤和依据组织页面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2D76F-8D00-4D6B-A49F-5057A33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0304E-6F31-4B54-B258-B15301AC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3FE1C-2F9F-4F2F-B42C-003F3F35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形成研究问题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9E44F-9ECC-452B-A49D-BC6236B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检查可研究性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CD07D-918D-48EF-BF50-9B79C41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明确范围与来源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93BEF-5B6B-4854-8209-1194EE3B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对象、方法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结果与不足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C7B30-B19E-488B-B5F6-26DE5D89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关系与条件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C6587-0761-472C-8A05-98DA13E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材料、方法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与资源是否支持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B1AB8-D295-4AE8-8BAF-D16ADB1A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课程框架：流程图解释组织方式，不能证明某个选题已经成立。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81A68-50D9-4D5B-9053-BF17C362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Communication Lab：Slideshow；Humanizer 3.1.0：本机技能规则；课程编写：教学模拟，非真实研究结果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BB2BD-3B1D-45F8-9247-312146F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21124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2ECA0-EC87-4A16-B5CD-D4D3CE58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CF60-73D5-4C73-8FE9-751A658F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图注：交代图里究竟比较了什么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5C789-7D15-47C2-9119-D880272D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8FE3E-40AC-4DBA-AF86-B59325EC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图注需要说明对象、指标、分母和来源，评价性形容词可以删掉。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26237EE-666C-4E27-8B8F-4EE1156043CF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6858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94e1c8ac734c5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61310-272C-425A-8167-44F83A1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评价性图注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67A4B-962C-41E2-920B-5ED38F15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“两种先进模型的表现对比，充分展示 AI 能力的持续提升。”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F3D7B-A206-4378-8657-F977B28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说明对象、分母和来源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87F30-9ED3-47ED-BB00-F16B644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5905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图：所引文献中虚构文献的比例。按 Walters 与 Wilder（2023）表3报告值重绘；n 为生成的引文条目数。结果限于原研究的历史模型与任务。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830C7-0988-4008-98BC-2D6B4FD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公开真实研究数据；本课程仅重绘，没有重新运行原实验。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DFF0A-7FE8-43F2-B934-06D7C46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来源：Walters与Wilder（2023），表3；Humanizer 3.1.0：本机技能规则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2B98C-C4FB-4269-A325-2B85F0AB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5716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1D615-6FF8-44BE-B84B-D5F15CD1E47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26030-A2BB-4378-A6E4-A6E5C567D9C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0B8A9-B90F-4D89-A5FC-EB6198ED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742E-510E-4D78-8DAC-63AA8AFA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评语：指出位置、问题和改法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28197-E273-4CB6-8535-5E94AE94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EC652-935F-4C14-9C80-C9F5FA55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有用的评语应让作者知道下一步改哪里。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DC5ED-50B7-41D6-88EF-C90DDBF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FC13F-ADB6-4445-9F53-DB19AC1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文章整体质量较高，但仍存在一定不足，建议进一步加强逻辑性和学术性，以提升论文的整体水平。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AE966-E655-4AC3-B180-6A16E5C3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CE00E-CE88-443C-BEEB-7C3690C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82E3F-01DA-45F9-B77C-91F87E6B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第二段从相关性直接推到因果解释，中间缺少研究设计依据。建议保留相关性表述，并在讨论中说明尚不能排除的替代解释。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D4772-548E-4BB4-A9C7-D8334E81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5F3F3-5FDE-4F7A-AD96-06CF6B5D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F1884-CF0D-4C10-A08E-2BC10F6E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430FF-B7C4-4E5C-810F-0672DD5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第二段的结论句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7B0F0-1BFF-4AF8-9A6F-439C8FD6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相关性不能直接确认因果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BFF55-065C-4268-8B1C-41ECAE7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保留限定，讨论替代解释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07856-70BD-4BD5-AF1A-7F8845C6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教学模拟：真实审稿稿件与评语的使用须遵循相应保密要求。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77FCE-E885-499E-924B-48BC4984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D9D47-2467-462D-8EBF-73132682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516490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7FB36-AD5D-4E08-A292-76453579C88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72250" y="64198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42EB6-2D74-4122-9A04-1695473933E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72250" y="500062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A7751-CBEC-49EC-8D8E-9C3B245C415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814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CC761-710E-4B9C-AF27-AEE801D0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F5B6D-16D7-4B79-B5FF-C99911ED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中英文转换：保留术语与判断强度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58EF3-FE8A-4D06-8A06-FE3ECF9A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3CD94-AE97-4936-B003-032F7CAB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同义改写和翻译都可能改变条件、否定或推断关系。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48425-2061-48E4-88D5-060D08A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may be associated with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5574A-B40F-451A-98E3-26C1E093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可能与……相关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3AFAC-696E-4F81-9175-B6302F85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不能改为 causes（导致）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D0412-C6E9-46BC-A439-705A935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in this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F5737-22D0-499A-AB90-A0676CF0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在本样本中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48ACC-EEDE-4A34-BD74-899128F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959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不能直接扩大到整个人群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32CCE-DC92-421E-B797-02CB4CC8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did not detect a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CC77B-F0CA-4213-83A2-85910E8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4837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未检测到差异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15ACF-E9A9-47CA-9002-CC2D4CF3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9151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不能写成两者完全相同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66AAA-8085-430D-A888-0CFFA214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教学示例：术语选择与统计解释仍需结合具体领域和研究设计。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113F2-0409-4987-AA1C-DE46A9D3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3.1.0：本机技能规则；McKinley，UCL（2026），第4、8、10、13—14页；课程编写：教学模拟，非真实研究结果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793AE-7E8D-4D9A-8289-6EF9F283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4038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D07D1-76E9-4C29-A7E5-2F7FE4E3933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204CD-890A-43FE-9C14-F474733DBDC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01A7A-CE83-47C8-9017-037CF044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FC519-EDEA-4F46-BD56-C3A4353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给修订任务写清边界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93DC3-2389-43E9-BEA2-FC5D2F8F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1FEBB-655E-4B1C-801B-77D3A49E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要求说明保留项、修改范围和交付方式，减少无依据的扩写。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36E4B-1887-4FFC-9B7B-5600EAB8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请按高校科研材料的语体修订下文。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保留数字、单位、专业术语、引文、否定和限定条件。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改掉空泛评价、重复结尾、指代不清和过长句。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不要补充未提供的研究事实。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交付修订稿及逐项差异说明；事实不明处另列问题。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7CC9F-98F8-4BC1-B01B-D5AAB928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作者原稿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A6ABE-CF57-4B0B-A4F2-A3C48085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D8224-A39E-434C-8DA3-8FAA4B86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修订稿＋差异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BA3A5-8315-4530-8CE8-6D3886FB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课程编写的任务示例；提示词本身不能保证事实不变，需要再次核对。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D1E45-6828-4801-BAE0-0248A3CE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E8159-222C-4F05-9E58-159B7CF1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512754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E88D0-2974-441D-8D47-988B3E6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D086D-2821-40CB-B2D3-5150FF92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差异核对：表达变了，事实还在吗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96CF9-15E2-4D72-BF9F-624D0156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0A01A-92D2-4433-9153-80F4AEFD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把修订前后并排看，逐项核对容易被顺手改掉的信息。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0CF1B-C84B-41D5-BC6C-5B3AF01F236A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  <a:gridCol w="6286500"/>
              </a:tblGrid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风险改动示例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处理办法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研究状态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拟开展 → 已完成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需要撤回，不能改变时态事实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推断关系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 → 导致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需要撤回，不能提高因果强度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范围与否定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本样本／未检出 → 被省略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回到原句和研究记录核对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数字与引用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数值、单位、DOI被替换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逐项比对原始资料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C682B-EC55-43A6-BD89-F5B825D4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逐项差异说明支持复核；关键词检查只能覆盖部分问题。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6B0F0-1817-441A-96E8-12E4CCA7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3E6B-B4A0-4C32-A11C-553F7BA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731787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51862-27B8-4E15-9101-B89EFE86DE0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34F00-16A0-45B6-AEE4-0F8D3876C7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020C7-B4B3-44E8-9E35-76D3FE8C2A1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8598D1-BC2D-4290-9658-750D193D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13B4E-F531-42A9-BB45-81C57433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修订记录与使用说明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8938D-2EC5-4CEE-A59B-DA30CE83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881F-FD98-41CC-AB14-11D7FA09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表达自然之后，仍要保留材料来源、修订记录，并按目标要求说明 AI 的使用。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9AA0D-90F3-4FDC-997A-50783ED1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原稿与来源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70F8D-5C6E-42F0-BBE9-BD893A04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修订稿与差异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CAC48-796C-4D3D-A6AC-80F910C6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0E08F-AC09-4B8E-87B1-D4F3BBAB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按要求说明使用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F8C01-48AA-4260-A2DF-25FFDA4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哪份材料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哪个版本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228D0-5BBB-4AEE-8EBC-95FF872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改了什么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是否补了内容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C8C0D-D1FC-44BF-82BD-AF5F8760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逐项确认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事实和判断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A906B-DEBC-401A-A509-44FCAFED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核对目标期刊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与机构要求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1EBA5-4F14-45D2-8CEF-9D1833FB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32D9F-1644-4E8A-ACCA-B0F4B656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自然表达、事实核对和透明使用需要同时保留。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CE8A3-4424-4A60-87A7-BFDF3922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PLOS FAQ：单纯拼写、语法和清晰度修改无需披露；内容生成、代码和制图另按规定处理。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45665-B707-4900-9F96-BCCB5A6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来源：PLOS：Ethical Publishing Practice（核对2026-10-17）；Humanizer 3.1.0：本机技能规则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496C2-4696-45A0-B733-12484881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85296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F5261-BBB6-4B9E-B132-BC6C1FB61BD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7681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105B7-440B-4502-AA46-46B5D9C2F89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768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4491A-7B6F-44E0-B834-E19A88C523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4806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6A918-41C4-4FFB-BA5E-0232007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00451-37DD-4DF1-AEEF-EE85C29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一份可交付的修订结果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9974F-1155-41B1-A6BA-E414C54F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DEEDE-ACA3-44B0-9F89-B49ACFDB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交付时同时提供可读的正文、可核对的差异和仍需作者处理的问题。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6981F-7386-4AE3-A68D-5C00D034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10A35-A532-49C9-A466-70483484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C3110-A714-4207-8E69-67B59D1C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结构清楚、专业信息完整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5CE6F-1A0B-4489-A3B3-C107A91A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52967-79B9-406E-B52B-90644CC7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原句、改句、理由与保留项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424EF-C3AD-4565-AEDD-59EAEFC2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待确认事项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A04B9-5AD4-4F78-9677-21B0ABC2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483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材料缺失或需要专业判断的部分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089C0-1DDF-4124-92F2-6EE0C459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读者能看懂正文；作者能核对变化，并处理仍未解决的问题。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E92E5-195F-4D01-B21F-CA1E26F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后续各节都采用这套审阅要求；写作、图注、申报和汇报分别结合真实材料展开。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35018-CFBA-4C99-A59C-0B5BFBA2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471D0-E714-4F44-85C1-E645B27D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43064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2026-10-20T01:00:34.2150000Z</dcterms:created>
  <dcterms:modified xsi:type="dcterms:W3CDTF">2026-10-20T01:00:34.2150000Z</dcterms:modified>
</coreProperties>
</file>