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2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75454947f0498a" /><Relationship Type="http://schemas.openxmlformats.org/officeDocument/2006/relationships/extended-properties" Target="/docProps/app.xml" Id="Rb697f6bdb44a4c18" /><Relationship Type="http://schemas.openxmlformats.org/officeDocument/2006/relationships/officeDocument" Target="/ppt/presentation.xml" Id="Re6bcbe4e81494e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889e9ec70f4ef6"/>
  </p:sldMasterIdLst>
  <p:notesMasterIdLst>
    <p:notesMasterId xmlns:r="http://schemas.openxmlformats.org/officeDocument/2006/relationships" r:id="Rc2a645b302194367"/>
  </p:notesMasterIdLst>
  <p:sldIdLst>
    <p:sldId xmlns:r="http://schemas.openxmlformats.org/officeDocument/2006/relationships" id="256" r:id="R752f6645d3f94a83"/>
    <p:sldId xmlns:r="http://schemas.openxmlformats.org/officeDocument/2006/relationships" id="257" r:id="Rcc401ef82ff44958"/>
    <p:sldId xmlns:r="http://schemas.openxmlformats.org/officeDocument/2006/relationships" id="258" r:id="R38651bc569104650"/>
    <p:sldId xmlns:r="http://schemas.openxmlformats.org/officeDocument/2006/relationships" id="259" r:id="Re2f17224f8e3449f"/>
    <p:sldId xmlns:r="http://schemas.openxmlformats.org/officeDocument/2006/relationships" id="260" r:id="Rd98bac07a9554e56"/>
    <p:sldId xmlns:r="http://schemas.openxmlformats.org/officeDocument/2006/relationships" id="261" r:id="Raab87694659b41af"/>
    <p:sldId xmlns:r="http://schemas.openxmlformats.org/officeDocument/2006/relationships" id="262" r:id="R521fc44602dd4639"/>
    <p:sldId xmlns:r="http://schemas.openxmlformats.org/officeDocument/2006/relationships" id="263" r:id="Ra2a749f59e3c4141"/>
    <p:sldId xmlns:r="http://schemas.openxmlformats.org/officeDocument/2006/relationships" id="264" r:id="R77bf3f1bb3554731"/>
    <p:sldId xmlns:r="http://schemas.openxmlformats.org/officeDocument/2006/relationships" id="265" r:id="R58e2790b87cb4178"/>
    <p:sldId xmlns:r="http://schemas.openxmlformats.org/officeDocument/2006/relationships" id="266" r:id="R166a5c59602b45e0"/>
    <p:sldId xmlns:r="http://schemas.openxmlformats.org/officeDocument/2006/relationships" id="267" r:id="R519eebccd4f141df"/>
    <p:sldId xmlns:r="http://schemas.openxmlformats.org/officeDocument/2006/relationships" id="268" r:id="R0d47ba7450d94d72"/>
    <p:sldId xmlns:r="http://schemas.openxmlformats.org/officeDocument/2006/relationships" id="269" r:id="R7a2e0a413d884a6c"/>
    <p:sldId xmlns:r="http://schemas.openxmlformats.org/officeDocument/2006/relationships" id="270" r:id="Re62c8fabc9564234"/>
    <p:sldId xmlns:r="http://schemas.openxmlformats.org/officeDocument/2006/relationships" id="271" r:id="R538249b4b35a46d4"/>
    <p:sldId xmlns:r="http://schemas.openxmlformats.org/officeDocument/2006/relationships" id="272" r:id="R159be6cff35841a7"/>
    <p:sldId xmlns:r="http://schemas.openxmlformats.org/officeDocument/2006/relationships" id="273" r:id="Ra2108cfa7c5047c7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298b3409fb419d" /><Relationship Type="http://schemas.openxmlformats.org/officeDocument/2006/relationships/slideMaster" Target="/ppt/slideMasters/slideMaster1.xml" Id="Rfa889e9ec70f4ef6" /><Relationship Type="http://schemas.openxmlformats.org/officeDocument/2006/relationships/notesMaster" Target="/ppt/notesMasters/notesMaster1.xml" Id="Rc2a645b302194367" /><Relationship Type="http://schemas.openxmlformats.org/officeDocument/2006/relationships/presProps" Target="/ppt/presProps.xml" Id="R80fbe9d74e9f4690" /><Relationship Type="http://schemas.openxmlformats.org/officeDocument/2006/relationships/tableStyles" Target="/ppt/tableStyles.xml" Id="R37a7343e139046c8" /><Relationship Type="http://schemas.openxmlformats.org/officeDocument/2006/relationships/slide" Target="/ppt/slides/slide1.xml" Id="R752f6645d3f94a83" /><Relationship Type="http://schemas.openxmlformats.org/officeDocument/2006/relationships/slide" Target="/ppt/slides/slide2.xml" Id="Rcc401ef82ff44958" /><Relationship Type="http://schemas.openxmlformats.org/officeDocument/2006/relationships/slide" Target="/ppt/slides/slide3.xml" Id="R38651bc569104650" /><Relationship Type="http://schemas.openxmlformats.org/officeDocument/2006/relationships/slide" Target="/ppt/slides/slide4.xml" Id="Re2f17224f8e3449f" /><Relationship Type="http://schemas.openxmlformats.org/officeDocument/2006/relationships/slide" Target="/ppt/slides/slide5.xml" Id="Rd98bac07a9554e56" /><Relationship Type="http://schemas.openxmlformats.org/officeDocument/2006/relationships/slide" Target="/ppt/slides/slide6.xml" Id="Raab87694659b41af" /><Relationship Type="http://schemas.openxmlformats.org/officeDocument/2006/relationships/slide" Target="/ppt/slides/slide7.xml" Id="R521fc44602dd4639" /><Relationship Type="http://schemas.openxmlformats.org/officeDocument/2006/relationships/slide" Target="/ppt/slides/slide8.xml" Id="Ra2a749f59e3c4141" /><Relationship Type="http://schemas.openxmlformats.org/officeDocument/2006/relationships/slide" Target="/ppt/slides/slide9.xml" Id="R77bf3f1bb3554731" /><Relationship Type="http://schemas.openxmlformats.org/officeDocument/2006/relationships/slide" Target="/ppt/slides/slide10.xml" Id="R58e2790b87cb4178" /><Relationship Type="http://schemas.openxmlformats.org/officeDocument/2006/relationships/slide" Target="/ppt/slides/slide11.xml" Id="R166a5c59602b45e0" /><Relationship Type="http://schemas.openxmlformats.org/officeDocument/2006/relationships/slide" Target="/ppt/slides/slide12.xml" Id="R519eebccd4f141df" /><Relationship Type="http://schemas.openxmlformats.org/officeDocument/2006/relationships/slide" Target="/ppt/slides/slide13.xml" Id="R0d47ba7450d94d72" /><Relationship Type="http://schemas.openxmlformats.org/officeDocument/2006/relationships/slide" Target="/ppt/slides/slide14.xml" Id="R7a2e0a413d884a6c" /><Relationship Type="http://schemas.openxmlformats.org/officeDocument/2006/relationships/slide" Target="/ppt/slides/slide15.xml" Id="Re62c8fabc9564234" /><Relationship Type="http://schemas.openxmlformats.org/officeDocument/2006/relationships/slide" Target="/ppt/slides/slide16.xml" Id="R538249b4b35a46d4" /><Relationship Type="http://schemas.openxmlformats.org/officeDocument/2006/relationships/slide" Target="/ppt/slides/slide17.xml" Id="R159be6cff35841a7" /><Relationship Type="http://schemas.openxmlformats.org/officeDocument/2006/relationships/slide" Target="/ppt/slides/slide18.xml" Id="Ra2108cfa7c5047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48e51c65aaf4a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f8e579be0ba45c1" /><Relationship Type="http://schemas.openxmlformats.org/officeDocument/2006/relationships/notesMaster" Target="/ppt/notesMasters/notesMaster1.xml" Id="R972078a47cf94e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c786e8a1b74ca7" /><Relationship Type="http://schemas.openxmlformats.org/officeDocument/2006/relationships/notesMaster" Target="/ppt/notesMasters/notesMaster1.xml" Id="R3e8c49c511cd4d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d82f9b6d2f4f22" /><Relationship Type="http://schemas.openxmlformats.org/officeDocument/2006/relationships/notesMaster" Target="/ppt/notesMasters/notesMaster1.xml" Id="R069543733c5845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015fd230c447b3" /><Relationship Type="http://schemas.openxmlformats.org/officeDocument/2006/relationships/notesMaster" Target="/ppt/notesMasters/notesMaster1.xml" Id="R66b037cbf86043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a4b44b5c564ae4" /><Relationship Type="http://schemas.openxmlformats.org/officeDocument/2006/relationships/notesMaster" Target="/ppt/notesMasters/notesMaster1.xml" Id="R1d2e5ad5f6fa43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5e330278d34bcf" /><Relationship Type="http://schemas.openxmlformats.org/officeDocument/2006/relationships/notesMaster" Target="/ppt/notesMasters/notesMaster1.xml" Id="R81f86119243e446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d584a0081a8476d" /><Relationship Type="http://schemas.openxmlformats.org/officeDocument/2006/relationships/notesMaster" Target="/ppt/notesMasters/notesMaster1.xml" Id="Rebb7c9a872954f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5b80a87acad4cb4" /><Relationship Type="http://schemas.openxmlformats.org/officeDocument/2006/relationships/notesMaster" Target="/ppt/notesMasters/notesMaster1.xml" Id="Rc1d0c60c6df743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2a7903ae6ae455c" /><Relationship Type="http://schemas.openxmlformats.org/officeDocument/2006/relationships/notesMaster" Target="/ppt/notesMasters/notesMaster1.xml" Id="R15c3e5dd0c494eb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5af1ca10b8f4988" /><Relationship Type="http://schemas.openxmlformats.org/officeDocument/2006/relationships/notesMaster" Target="/ppt/notesMasters/notesMaster1.xml" Id="R448a216e96c945f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d358599e2bc4ea6" /><Relationship Type="http://schemas.openxmlformats.org/officeDocument/2006/relationships/notesMaster" Target="/ppt/notesMasters/notesMaster1.xml" Id="R684bbed910764da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837d58d6eb042e5" /><Relationship Type="http://schemas.openxmlformats.org/officeDocument/2006/relationships/notesMaster" Target="/ppt/notesMasters/notesMaster1.xml" Id="R31d64029c851426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cf8360942d04343" /><Relationship Type="http://schemas.openxmlformats.org/officeDocument/2006/relationships/notesMaster" Target="/ppt/notesMasters/notesMaster1.xml" Id="R82c7c4ed6ab24b0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03e36fb627144f8" /><Relationship Type="http://schemas.openxmlformats.org/officeDocument/2006/relationships/notesMaster" Target="/ppt/notesMasters/notesMaster1.xml" Id="R43c57824f0804f3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12c8c71a810448c" /><Relationship Type="http://schemas.openxmlformats.org/officeDocument/2006/relationships/notesMaster" Target="/ppt/notesMasters/notesMaster1.xml" Id="Rd67d77d2be334a0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f5203d703274189" /><Relationship Type="http://schemas.openxmlformats.org/officeDocument/2006/relationships/notesMaster" Target="/ppt/notesMasters/notesMaster1.xml" Id="R87d8f9ae35714fb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af271e9af6c4205" /><Relationship Type="http://schemas.openxmlformats.org/officeDocument/2006/relationships/notesMaster" Target="/ppt/notesMasters/notesMaster1.xml" Id="R6f84633e9d094c2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c1cf05f709c4aa6" /><Relationship Type="http://schemas.openxmlformats.org/officeDocument/2006/relationships/notesMaster" Target="/ppt/notesMasters/notesMaster1.xml" Id="R803b102c4c7f4c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用后续申报和论文写作的共同需求说明本节目的。表达自然不等于口语化到失去专业信息；读者应能准确理解研究对象、方法、结果和限制。Humanizer的规则用于发现语言问题，不能用作判断作者身份的检测器，也不能替研究者补齐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Jim McKinley, Beyond Polishing: AI in academic writing, UCL, 2026-04-09</a:t>
            </a:r>
          </a:p>
          <a:p xmlns:a="http://schemas.openxmlformats.org/drawingml/2006/main">
            <a:r>
              <a:t>https://mediacentral.ucl.ac.uk/assoc_files/gD20GGDG.pdf</a:t>
            </a:r>
          </a:p>
          <a:p xmlns:a="http://schemas.openxmlformats.org/drawingml/2006/main">
            <a:r>
              <a:t>定位：第4页作者声音；第8页润色删除may；第10页起草与润色叠加；第13—14页作者判断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沿原句逐个指出：没有研究对象，没有方法，没有能验证的作用。不能为了让句子更像人写的，擅自补出疾病名称、算法、样本数或性能结果。删除空话后如果没有内容，说明需要补研究材料，而不是继续润色。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本课程编写的中文修订示例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定位：lesson.json中的教学模拟，不是已发表论文、申报成果或外部模型运行结果；数字如有出现仅用于说明如何保留信息。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把修改分成两条路径。有依据时可以把抽象评价改为具体事实；无依据时保留待处理问题。缺项提示应保存在问题清单或批注，不应以占位符混入最终正式稿。本页不是课堂任务，不要求学员提交材料。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本课程编写的中文修订示例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定位：lesson.json中的教学模拟，不是已发表论文、申报成果或外部模型运行结果；数字如有出现仅用于说明如何保留信息。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CL课件第8页展示了may在润色后消失的例子。本页用中文转述其含义，不搬用原页面图片，也不把课件示例当作可量化的系统评测。让听众看到一个词也能改变作者立场。判断限定是否合适需回到研究设计和证据，不能把所有句子都改成“可能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Jim McKinley, Beyond Polishing: AI in academic writing, UCL, 2026-04-09</a:t>
            </a:r>
          </a:p>
          <a:p xmlns:a="http://schemas.openxmlformats.org/drawingml/2006/main">
            <a:r>
              <a:t>https://mediacentral.ucl.ac.uk/assoc_files/gD20GGDG.pdf</a:t>
            </a:r>
          </a:p>
          <a:p xmlns:a="http://schemas.openxmlformats.org/drawingml/2006/main">
            <a:r>
              <a:t>定位：第4页作者声音；第8页润色删除may；第10页起草与润色叠加；第13—14页作者判断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不用虚构的研究结果训练学员相信一个结论，而是明确标注为逻辑表达示例。锁定项包括对象、数字、单位、比较组、否定词、条件、时间、引用与研究状态。是否有权改动这些字段应单独讨论，不混入常规语言润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本课程编写的中文修订示例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定位：lesson.json中的教学模拟，不是已发表论文、申报成果或外部模型运行结果；数字如有出现仅用于说明如何保留信息。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图按arXiv v3的Results和Figure 1a报告值重绘。61.22%与5.19%均指人类作文被判AI的平均比例；前者91篇TOEFL作文，后者88篇美国八年级作文。原研究样本并不能控制所有语言和年级差异；本页只说明检测结果具有适用条件，不能据此鉴定单篇中文稿件。不要教授规避检测提示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Liang et al., GPT detectors are biased against non-native English writers, arXiv:2304.02819v3, 2023</a:t>
            </a:r>
          </a:p>
          <a:p xmlns:a="http://schemas.openxmlformats.org/drawingml/2006/main">
            <a:r>
              <a:t>https://arxiv.org/html/2304.02819v3</a:t>
            </a:r>
          </a:p>
          <a:p xmlns:a="http://schemas.openxmlformats.org/drawingml/2006/main">
            <a:r>
              <a:t>定位：Results首节与Figure 1a：7个检测器，91篇TOEFL作文、88篇美国八年级作文；报告平均误判率61.22%和5.19%；历史英文样本，不能外推当前中文检测。期刊版本DOI:10.1016/j.patter.2023.100779。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umanizer包含标记、改写、复查过程。这里把作者材料和差异核对放进流程。不要把原稿覆盖后只交一份“优化版”。差异说明写清每处实质修改，事实不明时单列问题。由AI生成初稿再反复润色，也可能反复强化同样的表达偏差，UCL第10页给出了这种叠加的框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Jim McKinley, Beyond Polishing: AI in academic writing, UCL, 2026-04-09</a:t>
            </a:r>
          </a:p>
          <a:p xmlns:a="http://schemas.openxmlformats.org/drawingml/2006/main">
            <a:r>
              <a:t>https://mediacentral.ucl.ac.uk/assoc_files/gD20GGDG.pdf</a:t>
            </a:r>
          </a:p>
          <a:p xmlns:a="http://schemas.openxmlformats.org/drawingml/2006/main">
            <a:r>
              <a:t>定位：第4页作者声音；第8页润色删除may；第10页起草与润色叠加；第13—14页作者判断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句的“相关问题”“内在联系”没有告诉读者研究做了什么。修改后的对象、操作和讨论范围来自本例预设材料，不能由润色工具自行编造。实际稿件应核对方法记录。没有提供材料时只能删空话并提问，不应照搬这段修订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本课程编写的中文修订示例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定位：lesson.json中的教学模拟，不是已发表论文、申报成果或外部模型运行结果；数字如有出现仅用于说明如何保留信息。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例原句把项目计划写成已完成成果。修订时把研究内容放回未来时态，并将已有基础留给实际材料。预期贡献需要与方法和验证方案相连；不能因为表达自然就省略创新性论证，也不能承诺解决所有问题。具体申报规范在Section 10结合真实指南讲。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本课程编写的中文修订示例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定位：lesson.json中的教学模拟，不是已发表论文、申报成果或外部模型运行结果；数字如有出现仅用于说明如何保留信息。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报告写清楚未完成事项，能够支持实际决策。示例为课程编写，不能冒充真实项目进度。讲师解释三种状态各自需要什么记录：文件、问题清单和责任安排。不要为了语气积极而把未完成改成即将完成，也不要把初稿说成正式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本课程编写的中文修订示例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定位：lesson.json中的教学模拟，不是已发表论文、申报成果或外部模型运行结果；数字如有出现仅用于说明如何保留信息。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本页用流程图承载原句中的动作，补充每一步需要考虑的事项。图中的检查是写作和研究组织建议，不是一个选题创新性已经通过的证据。MIT Communication Lab强调图形应帮助受众理解；本课程保留专业说明和来源，不照搬“每页只写一句”作为硬标准。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MIT Communication Lab, Slideshow</a:t>
            </a:r>
          </a:p>
          <a:p xmlns:a="http://schemas.openxmlformats.org/drawingml/2006/main">
            <a:r>
              <a:t>https://mitcommlab.mit.edu/broad/commkit/slideshow/</a:t>
            </a:r>
          </a:p>
          <a:p xmlns:a="http://schemas.openxmlformats.org/drawingml/2006/main">
            <a:r>
              <a:t>定位：Each slide should convey a single point; Emphasize visuals over text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本课程编写的中文修订示例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定位：lesson.json中的教学模拟，不是已发表论文、申报成果或外部模型运行结果；数字如有出现仅用于说明如何保留信息。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本页沿用Section 1已核验的Walters与Wilder 2023研究数据，source-data.json附原始出处与值。比较指标为引文虚构比例，不是整体AI能力；222和414是引文数，不是参与者或论文数。不能凭这个历史研究图推断模型持续提升，更不能用今日性能解释它。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Walters &amp; Wilder, Scientific Reports 13:14045, 2023</a:t>
            </a:r>
          </a:p>
          <a:p xmlns:a="http://schemas.openxmlformats.org/drawingml/2006/main">
            <a:r>
              <a:t>https://doi.org/10.1038/s41598-023-41032-5</a:t>
            </a:r>
          </a:p>
          <a:p xmlns:a="http://schemas.openxmlformats.org/drawingml/2006/main">
            <a:r>
              <a:t>定位：PDF第1页摘要、第4页表3和表4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“加强逻辑性”拆成作者可以执行的修改。评语不必刻意严厉或套用固定三段；本例恰好包含定位、依据和建议。不能在未阅读稿件时声称发现第二段的问题。实际审稿涉及未公开稿件，不在本节演示上传到外部AI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本课程编写的中文修订示例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定位：lesson.json中的教学模拟，不是已发表论文、申报成果或外部模型运行结果；数字如有出现仅用于说明如何保留信息。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短语映射说明风险，不把英语直译当作唯一正确写法。未检测到差异可能涉及样本量、测量和不确定性，不能自动等同于等效性结论。翻译后回查否定词、比较方向、范围和单位；必要时将中文和英文对应句放在同一修订记录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Jim McKinley, Beyond Polishing: AI in academic writing, UCL, 2026-04-09</a:t>
            </a:r>
          </a:p>
          <a:p xmlns:a="http://schemas.openxmlformats.org/drawingml/2006/main">
            <a:r>
              <a:t>https://mediacentral.ucl.ac.uk/assoc_files/gD20GGDG.pdf</a:t>
            </a:r>
          </a:p>
          <a:p xmlns:a="http://schemas.openxmlformats.org/drawingml/2006/main">
            <a:r>
              <a:t>定位：第4页作者声音；第8页润色删除may；第10页起草与润色叠加；第13—14页作者判断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本课程编写的中文修订示例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定位：lesson.json中的教学模拟，不是已发表论文、申报成果或外部模型运行结果；数字如有出现仅用于说明如何保留信息。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一段便于教师理解的任务说明，不是一次外部模型的运行截图。不要在任务中要求“保证像人写”“规避检测”等不可核验目标。修订目标是读者理解、学术含义和作者意图。文字长度由内容决定，不强制每段三点或统一句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本课程编写的中文修订示例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定位：lesson.json中的教学模拟，不是已发表论文、申报成果或外部模型运行结果；数字如有出现仅用于说明如何保留信息。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中箭头是问题改动示例，不是推荐改法。语言审阅应结合上下文，不能仅用关键词相等证明含义相同。程序可核对数字和固定术语，但无法独立判断研究论证。检查中如果发现原稿本身错误，应作为内容修订另行处理并留下依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本课程编写的中文修订示例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定位：lesson.json中的教学模拟，不是已发表论文、申报成果或外部模型运行结果；数字如有出现仅用于说明如何保留信息。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2026-10-17读取的PLOS政策正文与FAQ一起解释。正文要求披露相关AI使用，但FAQ明确：单纯拼写、语法、清晰度与简洁性修改无需披露；翻译建议披露而非强制。分析脚本或代码的生成开发需要披露，制图使用需在图注说明。不能只读总则就把所有语言修改都说成必须披露，也不能推到所有期刊。按目标规则保留使用记录与作者核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PLOS, Ethical Publishing Practice</a:t>
            </a:r>
          </a:p>
          <a:p xmlns:a="http://schemas.openxmlformats.org/drawingml/2006/main">
            <a:r>
              <a:t>https://journals.plos.org/plosone/s/ethical-publishing-practice</a:t>
            </a:r>
          </a:p>
          <a:p xmlns:a="http://schemas.openxmlformats.org/drawingml/2006/main">
            <a:r>
              <a:t>定位：AI use by authors / AI use disclosures，以及FAQ中语言改进与翻译例外、代码与制图要求；核对2026-10-17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时回到作者与读者。语言自然的标准包括能读懂、能解释、能复核，不依赖某个检测分数。这里列出三类交付是本课程的文件安排，不是所有写作任务必须使用的模板。复杂内容应按研究需要组织，避免机械套用句式和固定三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Humanizer 3.1.0，本机已安装技能</a:t>
            </a:r>
          </a:p>
          <a:p xmlns:a="http://schemas.openxmlformats.org/drawingml/2006/main">
            <a:r>
              <a:t>https://en.wikipedia.org/wiki/Wikipedia:Signs_of_AI_writing</a:t>
            </a:r>
          </a:p>
          <a:p xmlns:a="http://schemas.openxmlformats.org/drawingml/2006/main">
            <a:r>
              <a:t>定位：实际使用C:/Users/Georgij Xe/.codex/skills/humanizer/SKILL.md；§1—5套话，§6—21语言习惯，How to work事实保留。Wikipedia链接为技能注明的公开背景，不替代本机规则。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Jim McKinley, Beyond Polishing: AI in academic writing, UCL, 2026-04-09</a:t>
            </a:r>
          </a:p>
          <a:p xmlns:a="http://schemas.openxmlformats.org/drawingml/2006/main">
            <a:r>
              <a:t>https://mediacentral.ucl.ac.uk/assoc_files/gD20GGDG.pdf</a:t>
            </a:r>
          </a:p>
          <a:p xmlns:a="http://schemas.openxmlformats.org/drawingml/2006/main">
            <a:r>
              <a:t>定位：第4页作者声音；第8页润色删除may；第10页起草与润色叠加；第13—14页作者判断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3a4b2233eb423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ecbe38255343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ea357a63a8473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c36989355e4e0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af65d9ce094bb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8bebdc344f40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FEE1AA-E599-4B31-BB89-B392D1AFE5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7D73673-4515-4702-9F59-5F263BDFE01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12A2F2C-18F7-464D-BFB9-F42460CE26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BBBCF2-B2E8-4984-90A0-B127C35D85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707B8DE-F022-4EF3-BF73-8586B0C9AD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ECFAA8B-E591-4550-9ADF-24422A40EA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3AE250D-93CB-4A7E-A203-43C8D871C2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2DA77AB-02B2-4F43-9929-1F559CABD87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08E894-176F-408A-84EA-0CF8419124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32DD2D6-CAA9-4E18-ACC7-89FD68B776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6e57e1c7cc4cb9" /><Relationship Type="http://schemas.openxmlformats.org/officeDocument/2006/relationships/slideLayout" Target="/ppt/slideLayouts/slideLayout1.xml" Id="R269ff253c92e46cb" /><Relationship Type="http://schemas.openxmlformats.org/officeDocument/2006/relationships/slideLayout" Target="/ppt/slideLayouts/slideLayout2.xml" Id="R8d3f428215234777" /><Relationship Type="http://schemas.openxmlformats.org/officeDocument/2006/relationships/slideLayout" Target="/ppt/slideLayouts/slideLayout3.xml" Id="R676e691b0d264067" /><Relationship Type="http://schemas.openxmlformats.org/officeDocument/2006/relationships/slideLayout" Target="/ppt/slideLayouts/slideLayout4.xml" Id="R249f25304d8c49fe" /><Relationship Type="http://schemas.openxmlformats.org/officeDocument/2006/relationships/slideLayout" Target="/ppt/slideLayouts/slideLayout5.xml" Id="R2ff5626f61004014" /><Relationship Type="http://schemas.openxmlformats.org/officeDocument/2006/relationships/slideLayout" Target="/ppt/slideLayouts/slideLayout6.xml" Id="R1a90b9b3efc549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9ff253c92e46cb"/>
    <p:sldLayoutId xmlns:r="http://schemas.openxmlformats.org/officeDocument/2006/relationships" id="2147483650" r:id="R8d3f428215234777"/>
    <p:sldLayoutId xmlns:r="http://schemas.openxmlformats.org/officeDocument/2006/relationships" id="2147483651" r:id="R676e691b0d264067"/>
    <p:sldLayoutId xmlns:r="http://schemas.openxmlformats.org/officeDocument/2006/relationships" id="2147483652" r:id="R249f25304d8c49fe"/>
    <p:sldLayoutId xmlns:r="http://schemas.openxmlformats.org/officeDocument/2006/relationships" id="2147483653" r:id="R2ff5626f61004014"/>
    <p:sldLayoutId xmlns:r="http://schemas.openxmlformats.org/officeDocument/2006/relationships" id="2147483654" r:id="R1a90b9b3efc549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cb3ffb2225456b" /><Relationship Type="http://schemas.openxmlformats.org/officeDocument/2006/relationships/notesSlide" Target="/ppt/notesSlides/notesSlide1.xml" Id="R24aeb28ef76e49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8296b0f6ce4ff0" /><Relationship Type="http://schemas.openxmlformats.org/officeDocument/2006/relationships/notesSlide" Target="/ppt/notesSlides/notesSlide2.xml" Id="R06dbc19bc17042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0d659693f0477d" /><Relationship Type="http://schemas.openxmlformats.org/officeDocument/2006/relationships/notesSlide" Target="/ppt/notesSlides/notesSlide3.xml" Id="Re3e0867ffc994d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3c762c66954a39" /><Relationship Type="http://schemas.openxmlformats.org/officeDocument/2006/relationships/notesSlide" Target="/ppt/notesSlides/notesSlide4.xml" Id="R384aa35a80a84a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f396eafdae4e8c" /><Relationship Type="http://schemas.openxmlformats.org/officeDocument/2006/relationships/notesSlide" Target="/ppt/notesSlides/notesSlide5.xml" Id="R48ebc265ee704a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7a4138fd294a46" /><Relationship Type="http://schemas.openxmlformats.org/officeDocument/2006/relationships/chart" Target="/ppt/slides/charts/chart1.xml" Id="R2789c7f84ed0450e" /><Relationship Type="http://schemas.openxmlformats.org/officeDocument/2006/relationships/notesSlide" Target="/ppt/notesSlides/notesSlide6.xml" Id="R40ddd408803d45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f08ac2498c4187" /><Relationship Type="http://schemas.openxmlformats.org/officeDocument/2006/relationships/notesSlide" Target="/ppt/notesSlides/notesSlide7.xml" Id="R993c789c5ee744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08cb9e82584c93" /><Relationship Type="http://schemas.openxmlformats.org/officeDocument/2006/relationships/notesSlide" Target="/ppt/notesSlides/notesSlide8.xml" Id="R3c3351687663407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078b4a23b1497b" /><Relationship Type="http://schemas.openxmlformats.org/officeDocument/2006/relationships/notesSlide" Target="/ppt/notesSlides/notesSlide9.xml" Id="Ra0ef5b57ad0242a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3ad6f3ce064aab" /><Relationship Type="http://schemas.openxmlformats.org/officeDocument/2006/relationships/notesSlide" Target="/ppt/notesSlides/notesSlide10.xml" Id="R729b445b5e5e496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9d553af8f04fae" /><Relationship Type="http://schemas.openxmlformats.org/officeDocument/2006/relationships/notesSlide" Target="/ppt/notesSlides/notesSlide11.xml" Id="Ra0c9d08c7cb94c5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4187d985ba4314" /><Relationship Type="http://schemas.openxmlformats.org/officeDocument/2006/relationships/chart" Target="/ppt/slides/charts/chart2.xml" Id="R9bcef47f7d4b4a22" /><Relationship Type="http://schemas.openxmlformats.org/officeDocument/2006/relationships/notesSlide" Target="/ppt/notesSlides/notesSlide12.xml" Id="Rf7922f1a2f0f41a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dca4bcbaed421f" /><Relationship Type="http://schemas.openxmlformats.org/officeDocument/2006/relationships/notesSlide" Target="/ppt/notesSlides/notesSlide13.xml" Id="R410a8b14eb104bd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eacd10fd5b4c38" /><Relationship Type="http://schemas.openxmlformats.org/officeDocument/2006/relationships/notesSlide" Target="/ppt/notesSlides/notesSlide14.xml" Id="Rf91ccfbb6f814e4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9e7769d0b64d3c" /><Relationship Type="http://schemas.openxmlformats.org/officeDocument/2006/relationships/notesSlide" Target="/ppt/notesSlides/notesSlide15.xml" Id="R8c4bb6aa6b284be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0d93b7fbc54bc1" /><Relationship Type="http://schemas.openxmlformats.org/officeDocument/2006/relationships/notesSlide" Target="/ppt/notesSlides/notesSlide16.xml" Id="R7f318779c42a4e6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b5ff8d86424eaf" /><Relationship Type="http://schemas.openxmlformats.org/officeDocument/2006/relationships/notesSlide" Target="/ppt/notesSlides/notesSlide17.xml" Id="R1b789fdf4c5044b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d95d309aa64a7e" /><Relationship Type="http://schemas.openxmlformats.org/officeDocument/2006/relationships/notesSlide" Target="/ppt/notesSlides/notesSlide18.xml" Id="Rdb32b1675eff4d5d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人工作文被判为 AI 文本的平均比例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45B77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C6D68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TOEFL作文（n=91）</c:v>
                </c:pt>
                <c:pt idx="1">
                  <c:v>美国八年级作文（n=88）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0.6122</c:v>
                </c:pt>
                <c:pt idx="1">
                  <c:v>0.0519</c:v>
                </c:pt>
              </c:numCache>
            </c:numRef>
          </c:val>
        </c:ser>
        <c:dLbls>
          <c:numFmt formatCode="0.0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latin typeface="Microsoft YaHei"/>
                <a:ea typeface="Microsoft YaHei"/>
                <a:cs typeface="Microsoft YaHei"/>
              </a:rPr>
              <a:t>虚构文献占所引文献的比例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45B77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245B7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C6D68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GPT-3.5（n=222）</c:v>
                </c:pt>
                <c:pt idx="1">
                  <c:v>GPT-4（n=414）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0.55</c:v>
                </c:pt>
                <c:pt idx="1">
                  <c:v>0.18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0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AD6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2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6390AE-3DC4-4417-8CD1-9C1DEA55C44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620250" y="4095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AD5F68-FED8-4B20-BE9D-89628100238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62500" y="40957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900612-9ED5-4D24-9C1E-B2A0E988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6C3ED2-969D-4DBD-91D5-65CF7C72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Humanizer 与科研表达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EDB017-5614-4AB5-BB1A-924DE78C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35B5E3-8FE9-45C6-B7E9-BB48D11D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让读者看懂谁做了什么、依据是什么、结论适用于哪里。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51D7B5-5833-4B9C-92A4-FB2CF34A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读懂原意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CFD34C-3D89-48E6-BB13-C031D7DF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67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改写表达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4088EF-1DF7-47CF-8360-920480FD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667125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核对含义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5CAA43-96DD-4FCE-B24D-B0414889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作者要回答的具体问题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7BAB3F-6E6A-4F1E-BB57-43EBB2F33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57750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去掉空话，理顺句子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B528FE-960C-4995-A5D0-829BE1FB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857750"/>
            <a:ext cx="4000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事实、限定与引用仍一致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6B6FBC-BD1D-4E1A-AC39-7B259050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246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作者判断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70212E-C411-4929-9B38-992C3150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524625"/>
            <a:ext cx="1019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作者能解释句子里的对象、方法、结果和限制。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213108-04BA-4202-BDF7-441E47CA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Humanizer 是文字修订方法；专业内容仍由作者判断。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B1BB0C-2F93-4F7B-BEB4-D85B50B5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3.1.0：本机技能规则；McKinley，UCL（2026），第4、8、10、13—14页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249CA6-54F5-47AF-BEA4-A45C2052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116701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564F25-4372-4C00-90DF-9985CB67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5F1DC5-7AE9-466D-AA00-C2F753A8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一段空话为什么难读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0B9E5F-6AED-4B64-AB07-863AA131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012245-24C3-45BC-B552-1910EB32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问题常出在缺少具体对象、动作和依据，而不只是某几个词。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13BD02-58A7-47D3-965E-7FCCC81C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13716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本研究立足前沿，聚焦关键瓶颈，构建多维协同框架，全面赋能科研创新，为相关领域高质量发展提供重要支撑。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20C8DB-F3B9-4239-818A-A9B2D15D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立足前沿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5CDAF0-1A29-4C1A-A3B8-DC69789C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2667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63F3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7A4BB9-02C2-4CE0-8D67-030A9121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05375"/>
            <a:ext cx="9715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哪个研究方向？与哪些已有工作有关？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DC3521-D371-499E-9FD9-243065AE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2452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多维协同框架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DE3378-C33F-4C57-A838-11F60C53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2667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63F3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33840C-A986-4F51-BBE9-052128E0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724525"/>
            <a:ext cx="9715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包含哪些对象，怎样发生作用？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4481D9-7437-47FF-85D6-7C94476C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4367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赋能／重要支撑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9A7D4E-D95A-47D0-8C80-41E28104B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10400"/>
            <a:ext cx="2667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963F3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D71710-4FE8-458D-BC83-AB0A1C88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543675"/>
            <a:ext cx="9715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具体改善什么，凭什么判断？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978813-3020-4C2A-BFC1-11587516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示例为课程编写。没有研究材料时，删去空泛评价，具体内容留待作者补充。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5A312E-39E1-421D-8A18-1985890B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3.1.0：本机技能规则；课程编写：教学模拟，非真实研究结果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DA1CEA-C68C-400C-A419-1B8FE76E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756595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841A54-ED32-466F-82C7-CEB80CBD494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619750" y="4667250"/>
            <a:ext cx="2952750" cy="1143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E547B2-2845-4BDC-ACA0-9F34D151120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5619750" y="3810000"/>
            <a:ext cx="2952750" cy="857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CE4C09-5885-453D-9AA9-1154784C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433D54-F80A-48F6-839A-360F6FA8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材料不足时怎样修改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19140F-3F6C-4DB9-8A95-8E61CA1C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4DCD95-E57B-4704-9E18-A06D0A49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有具体依据就写清楚；没有依据，就把缺项交回作者。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E74F4F-9E16-4AF6-B97B-B310A42D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4857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这句话有对应材料吗？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267602-CDE9-4F62-9724-F3172A4A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590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有：据材料重写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277F48-D078-4D3D-A557-383A6B09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34000"/>
            <a:ext cx="5905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DE9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无：登记缺项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AB2986-E040-4D0A-A996-0183B532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6275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“显著提高性能”需要比较对象、评价指标、测试条件和结果依据。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7922EB-081F-4B22-BE5A-C8F1050F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表达修改不能把尚未提供的信息写成已知事实。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65E7E4-797A-4BDF-8B09-CCF1641E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3.1.0：本机技能规则；课程编写：教学模拟，非真实研究结果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974E54-8E77-4892-941A-343E607D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73738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8F4D53-DE9A-487D-A2FC-E15CD33E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C56A30-6E87-4F83-8A64-ED4A10C7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删掉“可能”，结论就变了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EC2E51-60F6-434D-8BFF-853F56C4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F28A7D-5417-4948-B0B1-E8BD3919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限定词表达证据强度，不能按“更有力量”的要求一律删除。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7F881C-28A6-45B8-A388-D3A16A95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原意：保留可能性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12CFFD-2790-46AE-BC7C-3A1E254E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更明确的反馈可能帮助学生改进写作。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66CC14-9466-499D-9487-1DA4252B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371975"/>
            <a:ext cx="7239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C6D6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60D4F4-FCF4-408A-9F5A-E7B16E89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润色后的风险：判断更肯定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DF66D8-3554-4657-9336-333592C7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1371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更明确的反馈帮助学生改进写作。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DAF028-8ADC-4DF8-BA27-F4BF4EDC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96100"/>
            <a:ext cx="1371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“可能”被删后，陈述的确定程度提高；流畅度的变化掩盖了论证含义的变化。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F7744F-4E81-42DF-A899-145709A5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据 UCL 2026 年课件第8页的英文例子作中文转述，不作为本课程实验结果。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149136-DC7C-46C6-A7D5-F5DA95D4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来源：McKinley，UCL（2026），第4、8、10、13—14页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F167B7-7640-4DCA-B1A7-3055FE87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096551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145E18-5CA0-4A28-B0B0-51D10A96574E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810000" y="6000750"/>
            <a:ext cx="1524000" cy="933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2A5966-7F0B-4EDB-8761-ADD1BC4AA254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3810000" y="5924550"/>
            <a:ext cx="1524000" cy="762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B31880-FDB1-470C-8E94-98FD18127A7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810000" y="4914900"/>
            <a:ext cx="1524000" cy="10858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6107F7-9784-49D4-97C1-8F027C85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1281A9-D14B-47FF-89A7-51B00F18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改写前先锁定研究信息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22961D-B037-4186-A6D7-89BFD6D0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97A017-748A-409E-A279-3C734958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文字可以重排，数字、对象、条件和逻辑关系需要逐项保留。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C41F3E-E173-4139-9C8F-6F6680EE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教学模拟：在本研究样本中，变量 A 与变量 B 呈正相关；尚不能据此确认因果关系。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D625DD-292B-48D2-AB2A-91A610CE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30480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保持含义不变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E40AB8-F460-4D9E-B82C-FF8AB9ED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552950"/>
            <a:ext cx="3333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对象与范围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FEE76C-B1B6-45C1-B4D1-AC313D12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667250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本研究样本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3D2A7B-370D-4E9E-A627-802DCD9B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562600"/>
            <a:ext cx="3333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关系与方向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653177-4C71-4516-A971-D5246B8D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676900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A 与 B；正相关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9A5005-210D-4F92-9BC5-1EA0876C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572250"/>
            <a:ext cx="3333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证据边界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7F0E15-2BC7-49A7-BA3F-D3514455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686550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尚不能确认因果关系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F35D9A-754F-4F1B-AE6F-B9F6D504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“相关”不能改成“导致”，“本样本”不能改成“所有人群”。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84D140-DFB9-472D-8982-24438F43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3.1.0：本机技能规则；课程编写：教学模拟，非真实研究结果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DC7A91-22B4-49A4-BA2E-75E15DA6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883488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E1BD4E-918D-4023-8751-7B071B46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0E74BB-99C9-4E8D-A59B-61239482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检测分数不能代替文字审阅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4F7FA7-8772-4D4C-9958-8DBCE7EC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0F0076-DE8D-4DDE-BEDE-F37D99D0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历史研究发现，人工写作也可能被检测器判为 AI 文本。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DF357B0D-33F2-4A71-832D-869AF248DA1A}"/>
              </a:ext>
            </a:extLst>
          </p:cNvPr>
          <p:cNvGraphicFramePr/>
          <p:nvPr/>
        </p:nvGraphicFramePr>
        <p:xfrm>
          <a:off xmlns:a="http://schemas.openxmlformats.org/drawingml/2006/main" x="762000" y="3286125"/>
          <a:ext xmlns:a="http://schemas.openxmlformats.org/drawingml/2006/main" cx="78105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789c7f84ed0450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377953-7B72-42EE-ACDE-D7A669F9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29000"/>
            <a:ext cx="49530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2023年研究：7个检测器的平均误判率。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B1FB7E-E60F-45CE-A3AD-89C5D99B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667250"/>
            <a:ext cx="49530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样本、检测器和语言不同，结果不能直接外推。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32BA5E-9360-4949-85D2-FF1A8CFB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905500"/>
            <a:ext cx="49530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本课程检查表达与事实，不承诺“检测通过”。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9AAE22-A9D1-4998-B31C-9D13ED41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历史英文样本研究，非当前检测器排名，也不是中文学术文本的错误率。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AEBD18-55B1-4564-9889-0A0196FB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来源：Liang等（2023），arXiv v3，Results / Fig.1a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D8B1B7-EAEF-4D27-B06A-9E57B0ACC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310510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9B675B-BDDE-48D2-912B-CB827720A67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0F6796-B557-4B75-9D53-65AEE968AE2A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004B03-0CE4-486E-9F7B-59264BB6E181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A86680-0E34-4D7E-B802-A7F4D1C8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74BAA1-0970-412B-A0A1-D15AAD8D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一轮修订的完整过程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9445DA-CE10-42EC-9095-24094EE5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D913BC-2AEC-4D43-AE98-6A49DB30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先核对内容，再改表达，最后与原稿逐项比较。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F1966-1CDA-4AC2-8B49-F6C35894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保留原稿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2ECCFB-1767-417C-ACB8-3AAE4EE2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标记问题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3157A6-DEA6-4EFA-A2B8-65B6ED57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修改句段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56B7C0-FBC2-49A5-A163-8D5432E1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核对差异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7F0468-C971-43C5-AA84-E4AE4765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记录版本与材料来源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0F14D1-B533-4398-AB72-EC8A1AAE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57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空话、跳步、指代与语气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890CF7-0F3E-48AE-88E0-6CB117F81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57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按对象、动作与依据重写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32EB5D-FD86-453D-90C7-DCA8F509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857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数字、限定、引用与结论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061D91-A287-4FE1-A603-F72CC3FF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246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修订记录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7B515E-0A5D-4FC9-BCE8-B71474C9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524625"/>
            <a:ext cx="1019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原句、改句、修改理由，以及不能自行补写的内容。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4E4358-D5C6-461A-883A-FB3F29AA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交付包括修订稿和差异说明；作者需要知道哪里改了、为什么改。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FC1C2D-F721-4A98-9029-0C32B6009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3.1.0：本机技能规则；McKinley，UCL（2026），第4、8、10、13—14页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C93565-4776-476A-8953-345FAFE5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067680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BB06E0-1372-4A9B-B117-267A57B3466E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620250" y="58578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23993A-6422-4F50-B50A-715BDA9A40C5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762500" y="58578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3B4A1B-62FC-484C-A49A-24D539E8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5EC38D-A2B7-4E21-9B15-3D8A1E03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论文段落：写出对象与操作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C00F2-A91A-4C18-B29E-1D7EF125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D9654F-CEF0-45FA-8FA6-198D1B35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用具体方法说明工作内容，比“系统性研究”更便于同行判断。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453AAA-86C7-4D41-A494-CB0C221A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原句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CC1674-3A5B-4FDC-9E7C-AB2EAD49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4800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修订稿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14630F-B41F-4CDF-9C39-E53146DA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5905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本研究围绕相关问题进行了系统性分析，揭示了不同因素之间的内在联系，为后续研究提供了重要启示。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4DBA3A-6AC4-4103-8262-C49A8803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24250"/>
            <a:ext cx="5905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本研究比较两种预处理方法对同一数据集分析结果的影响，记录差异出现的步骤，并讨论这些差异对结果解释的影响。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68D36F-1E43-414E-9D51-FF6EC5B2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38625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9F3A5C-4FF8-4697-8F86-20B83E73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同一数据集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2D068D-5095-4B82-ADE9-66F7E339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429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两种方法分别处理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051CC4-D59F-4B4C-ADBC-C3B203A8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429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比较差异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E13BE2-790C-425B-ABE7-AA06F81F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1037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改写成立的前提：作者材料确实包含两种方法、同一数据集和逐步比较。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4723E3-983A-495C-8EB7-71E69C49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课程模拟：本例不是已发表研究，不能直接用作真实论文成果描述。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2C2F58-0B48-4745-AE1B-DB537872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3.1.0：本机技能规则；课程编写：教学模拟，非真实研究结果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88F3E4-7C6F-446C-8CEA-360FE47A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523632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EECAF0-A0AB-40D8-AA85-EE22FEE8874E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620250" y="66198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F780A0-2BCB-4565-B0F6-885D074FF62C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762500" y="66198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406F82-1C06-4752-8DBC-CBAAFF09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CA8247-7962-4EFE-B508-CCFAB897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申报书：把研究计划与已有成果分开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2C9836-1823-454F-B2CA-881AB25F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70CDB1-6B43-462C-82E8-8D7D5547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拟开展的工作用计划语气，已有基础用可核对的材料说明。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FB8781-83B2-4958-ADE2-29B4C25E0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原句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224399-1288-42F1-A6A3-481199E8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11334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本项目已构建完整技术体系，实现研究流程全面优化，将有效解决该领域长期存在的核心难题。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A3DB2A-CD05-46D5-AF07-44C9A906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A3401B-4C7D-48C6-9BBC-A80B7899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修订稿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7AD5A7-7158-4400-9DBC-032AEE4C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52950"/>
            <a:ext cx="1133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本项目拟比较两条技术路线，分析关键条件对结果的影响，并通过对照实验检验方案的适用范围。已有基础另按实际材料说明。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E497CB-EB6C-4880-8072-AC168A71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已有材料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C2689F-2B64-4C82-94B3-E972B472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191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拟开展工作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76D886-0D5D-4ADE-84C1-1B08CD51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91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预期贡献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8B62B1-4D2A-4979-81A4-3885F24D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628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能定位到数据、论文或记录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7A6D25-3753-48C5-AFE4-215559C7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71628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目标、内容与验证办法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0E6CC9-2F59-4D8F-909E-4CCC67BA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71628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明确条件，避免保证成功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D548CF-4FBF-4841-8834-130F8812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课程模拟：本例未提供前期成果，不能保留“已构建”“已实现”。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802719-CF8A-4EB1-8F25-733CCBEE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3.1.0：本机技能规则；课程编写：教学模拟，非真实研究结果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4AC651-9F96-4B51-96E5-C50FF5D4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374704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AE1B6B-AF7C-4C6F-B0A4-1B8BADE3AB8E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620250" y="66198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9B7ACF-3F40-4F0A-BAB9-E4DC5BEE159A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762500" y="66198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43CC0B-C61F-4E80-B4B8-63F824AC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94ECC-EBA7-4E78-B156-F9A4EEE2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进展报告：保留没做完的部分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E78EE5-F157-4F8D-89D1-CEAAFC44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60FEC5-3F7D-4563-A774-0C49651B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读者需要知道完成情况、问题和下一步，不能只看到正面评价。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9D0E55-7AF3-4914-A0C3-0CC81C86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原句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C277E5-EBA9-47E8-AD48-8FB8C0766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11334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项目整体进展顺利，各项任务稳步推进，已取得阶段性成效，为后续工作奠定了坚实基础。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C435D6-A077-4E0D-BB47-5E164A42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E088F7-00FD-4631-8982-22E3714F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修订稿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EEE13E-A05B-4FF0-9617-7E9095B4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52950"/>
            <a:ext cx="1133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已完成资料整理和分析方案初稿；原始记录中的缺项仍在核对，统计分析尚未开始。下一步先补齐缺项，再确认可分析的数据范围。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77510D-2D8C-4B10-BF94-A796F2B6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F99F39-C18B-4863-8F9C-A78755A9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191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未完成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504025-57A4-418C-8067-FD9156C6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91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674155-FFCF-4A46-B9F1-D3C14CE3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628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资料整理、方案初稿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675B16-76D8-4AE3-8639-8A8FB6CF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71628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缺项核对；分析尚未开始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2A0BCC-FA08-4789-A2A1-131A8A3A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71628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补齐缺项，确认分析范围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E7E909-710E-4780-8020-4D49DD78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教学模拟：保留“尚未开始”，不把准备工作写成分析结果。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9647A1-1BE5-48C0-8E82-F63A0085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3.1.0：本机技能规则；课程编写：教学模拟，非真实研究结果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A1BD7A-FA5A-4938-9F1F-F3C02AF4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503415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DEBC2C-A118-415A-A147-9FBDECC3E8FB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0858500" y="58578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0D0849-C16F-4D90-A889-997645AFE404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239000" y="58578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49484E-18CA-4808-AB48-0D0E439D31A4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619500" y="58578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594375-B9D2-4D83-AED1-B7D41F66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680BB7-836F-47F8-8DC8-ECC2976F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PPT：把过程画出来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D7D6D2-57D5-4726-A369-C8D9A75E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EDC796-23DA-4A59-B1F7-279D7A6B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页面呈现步骤和关系，讲师解释每一步采用的依据。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5B2561-1608-4830-AF6A-F8E65D5F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文字堆在一起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D72A67-A69F-4EDC-B6A7-6DF28BD9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1371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本研究通过多源资料整合、研究要素识别、逻辑关系梳理、综合归纳与反复修订，形成完整的研究问题。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0F6EEE-343B-4FC7-BC61-75A38A0B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用步骤和依据组织页面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3EA1EA-7855-43B5-BD03-8FD4A0BE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检索资料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9A6744-BA52-43D6-AC7D-6176E66B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4292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比较已有研究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2C7288-4735-4AB6-AB35-EC1907AB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292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形成研究问题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DC9A19-E1C0-4BE4-98A7-BC5CD3FA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5429250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检查可研究性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BB2173-244B-4A76-BF9E-107F9402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72250"/>
            <a:ext cx="2857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明确范围与来源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691A54-F630-4B30-822A-B641B9CC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572250"/>
            <a:ext cx="2857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对象、方法、结果与不足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6858BC-FEFB-4AFF-982F-C310C4AA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572250"/>
            <a:ext cx="2857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限定对象、关系与条件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26821F-4501-4393-A964-B67D94F3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6572250"/>
            <a:ext cx="285750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材料、方法和资源是否支持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8BD203-D100-4367-97D8-85FF6469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课程框架：流程图解释组织方式，不能证明某个选题已经成立。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F4B7CD-05CC-42A2-AF0D-1D18AEEA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来源：MIT Communication Lab：Slideshow；Humanizer 3.1.0：本机技能规则；课程编写：教学模拟，非真实研究结果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E47613-CE08-4D92-8761-B88AC38A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498974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F058DF-D762-4DE2-A686-EDE9EB8B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4B8672-5E74-4BB9-9F8E-923B2899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图注：交代图里究竟比较了什么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75A518-8A79-4D3E-B963-016ECA06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634488-D6B1-46F1-BD8A-7DACDB17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图注需要说明对象、指标、分母和来源，评价性形容词可以删掉。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8EBFFF06-4EE8-49EA-AC86-B22858A1AADD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6858000" cy="3762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bcef47f7d4b4a2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CE67D7-3F2A-4ADD-9799-660381EE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432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评价性图注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C967CA-4D71-4134-9D5D-1D9D158F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14750"/>
            <a:ext cx="590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“两种先进模型的表现对比，充分展示 AI 能力的持续提升。”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E3DC09-2697-4D19-A5AE-61A98849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482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说明对象、分母和来源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DB2093-76F0-4355-B9E2-ED3B82EE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619750"/>
            <a:ext cx="59055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图：所引文献中虚构文献的比例。按 Walters 与 Wilder（2023）表3报告值重绘；n 为生成的引文条目数。结果限于原研究的历史模型与任务。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E4756D-A653-402E-975A-071F64F3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公开真实研究数据；本课程仅重绘，没有重新运行原实验。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9700CB-F06F-4242-AF7F-917531D0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来源：Walters与Wilder（2023），表3；Humanizer 3.1.0：本机技能规则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501DD7-811D-4FBC-88CF-BFD733CD3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8623804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A32BDC-8C49-4E7B-8A53-372EE8C272CF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9620250" y="66198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A0CC04-1ACD-4C57-BA9F-7A33C392CE31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762500" y="66198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13D43A-7A2D-442A-959D-3C94F3DC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B76CEC-9860-4CC8-A99C-06F4904A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评语：指出位置、问题和改法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A2681E-EA65-4074-9C31-06D1D615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985844-5A52-4E3A-AB37-2BE3A804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有用的评语应让作者知道下一步改哪里。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46897F-B92E-44B9-A3EF-E79D396B9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原句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36B91F-80A2-4ED2-BA6B-FD2027DA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11334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文章整体质量较高，但仍存在一定不足，建议进一步加强逻辑性和学术性，以提升论文的整体水平。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55EFC9-2E7C-4DD8-9538-D27C5220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CAD6D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0007AF-C3AC-48F7-9E19-D32F169E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238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修订稿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E53AC3-27C7-46C4-95EC-6B40124D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52950"/>
            <a:ext cx="1133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第二段从相关性直接推到因果解释，中间缺少研究设计依据。建议保留相关性表述，并在讨论中说明尚不能排除的替代解释。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600A55-33CF-4517-98AA-D6BB4EC7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具体位置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557F35-3525-41E1-B68E-36AE16671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191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判断依据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1A1462-599E-41B2-B4B2-0F8B9355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19125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修改建议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7260A0-C6F7-4C35-B93D-79240588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628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第二段的结论句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80B12B-1ADC-45BC-873E-3C548D3AE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71628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相关性不能直接确认因果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EC28AA-EC73-4962-917A-F354B0BF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716280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保留限定，讨论替代解释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DA8016-4AA3-414E-91ED-2D2F407DD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教学模拟：真实审稿稿件与评语的使用须遵循相应保密要求。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7EB17C-BB63-4867-8C88-9A390086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3.1.0：本机技能规则；课程编写：教学模拟，非真实研究结果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B1E7DC-4410-489D-A1FB-120FB37C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453153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7F31F6-BCB7-42E4-A01D-A2D8FF99CA07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572250" y="6419850"/>
            <a:ext cx="2000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D03343-E36C-4411-B098-F95638A6A04B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572250" y="5000625"/>
            <a:ext cx="2000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2C0F53-34E8-4D59-BDE4-6634D173300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6572250" y="3581400"/>
            <a:ext cx="2000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0255FB-FBAA-4997-BD65-6C090320D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1ECC89-9D4D-42BB-B218-10738AAA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中英文转换：保留术语与判断强度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3C91BD-86E8-499C-99B3-1340200E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0611A9-BEE1-48EF-8780-69145765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同义改写和翻译都可能改变条件、否定或推断关系。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E91F28-F3DC-404C-9388-CFFA4A6C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9925"/>
            <a:ext cx="581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may be associated with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478E5E-BA93-47C6-A3DF-39C55AAB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09925"/>
            <a:ext cx="590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可能与……相关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F5F971-85BA-47AC-B9E7-0BF58BB23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76700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不能改为 causes（导致）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B04956-A599-4D1B-9F13-630D5BC2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29150"/>
            <a:ext cx="581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in this sample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D7C9F4-3BE6-42EC-89A1-168F0DFB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29150"/>
            <a:ext cx="590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在本样本中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4ADFB8-D365-4561-8D95-2249B741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495925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不能直接扩大到整个人群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D729C3-B7CF-49F9-BA1D-914A3EC7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48375"/>
            <a:ext cx="581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did not detect a difference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9BFA64-D6B1-4CBA-A46D-B7B05A33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048375"/>
            <a:ext cx="590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未检测到差异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05C0EB-A4A5-48D1-94D8-55B79F19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915150"/>
            <a:ext cx="590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963F3C"/>
                </a:solidFill>
                <a:latin typeface="Microsoft YaHei"/>
                <a:ea typeface="Microsoft YaHei"/>
                <a:cs typeface="Microsoft YaHei"/>
              </a:rPr>
              <a:t>不能写成两者完全相同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EA888F-022A-4F3F-BECB-42E843B9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教学示例：术语选择与统计解释仍需结合具体领域和研究设计。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9C49AF-A2EB-4176-9519-9E511848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3.1.0：本机技能规则；McKinley，UCL（2026），第4、8、10、13—14页；课程编写：教学模拟，非真实研究结果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B0F13A-11D3-4B54-BDF2-5108EC24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139783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2442C8-33B4-4743-A884-6CABECFAEAB8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620250" y="6905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BAE285-F9EE-47F5-A096-75051059BE20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762500" y="6905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292C37-D4CB-42DB-A591-4C8912D9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D2851C-8DF4-4E4C-B620-D6EC2031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给修订任务写清边界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6E5C73-1DC9-47BD-AB09-95950CAC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78061-AB0E-42CB-B4A2-4C7AC8E5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要求说明保留项、修改范围和交付方式，减少无依据的扩写。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15C3B6-123E-48B7-BA87-8DC84396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37160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请按高校科研材料的语体修订下文。</a:t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保留数字、单位、专业术语、引文、否定和限定条件。</a:t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改掉空泛评价、重复结尾、指代不清和过长句。</a:t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不要补充未提供的研究事实。</a:t>
            </a:r>
          </a:p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交付修订稿及逐项差异说明；事实不明处另列问题。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572DFC-5B18-4077-9CB5-B02CDA8E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作者原稿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0B5939-57C2-4129-951A-75E4BABE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647700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修订要求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EF398D-325D-4194-B01E-38270834E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77000"/>
            <a:ext cx="4000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修订稿＋差异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315B20-1872-4ECC-9DD7-EE46C077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课程编写的任务示例；提示词本身不能保证事实不变，需要再次核对。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D4FAA4-768D-4BE2-9217-72C16B5A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3.1.0：本机技能规则；课程编写：教学模拟，非真实研究结果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CE4DAA-AB55-47F9-834A-6D31D31C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68647973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B709D7-779C-4C35-99C9-8D3F59A3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741F6B-38CE-4B8B-8E50-5D5D5EA4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差异核对：表达变了，事实还在吗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81ABF9-7306-43EE-8A43-279532F6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6D2F35-D7C8-490D-AFFC-41C813DB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把修订前后并排看，逐项核对容易被顺手改掉的信息。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9A84F6-8DC1-4C26-AF09-6CC7C3A46D28}"/>
              </a:ext>
            </a:extLst>
          </p:cNvPr>
          <p:cNvGraphicFramePr/>
          <p:nvPr/>
        </p:nvGraphicFramePr>
        <p:xfrm>
          <a:off xmlns:a="http://schemas.openxmlformats.org/drawingml/2006/main" x="762000" y="3143250"/>
          <a:ext xmlns:a="http://schemas.openxmlformats.org/drawingml/2006/main" cx="137160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953000"/>
                <a:gridCol w="6286500"/>
              </a:tblGrid>
              <a:tr h="8382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核对项</a:t>
                      </a:r>
                    </a:p>
                  </a:txBody>
                  <a:tcPr marL="161925" marR="161925" marT="161925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风险改动示例</a:t>
                      </a:r>
                    </a:p>
                  </a:txBody>
                  <a:tcPr marL="161925" marR="161925" marT="161925" marB="11430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处理办法</a:t>
                      </a:r>
                    </a:p>
                  </a:txBody>
                  <a:tcPr marL="161925" marR="161925" marT="161925" marB="114300" anchor="t">
                    <a:lnR w="9525">
                      <a:solidFill>
                        <a:srgbClr val="CAD6DC"/>
                      </a:solidFill>
                    </a:lnR>
                    <a:lnT w="9525">
                      <a:solidFill>
                        <a:srgbClr val="CAD6DC"/>
                      </a:solidFill>
                    </a:lnT>
                    <a:lnB w="9525">
                      <a:solidFill>
                        <a:srgbClr val="CAD6DC"/>
                      </a:solidFill>
                    </a:lnB>
                    <a:solidFill>
                      <a:srgbClr val="132F43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研究状态</a:t>
                      </a:r>
                    </a:p>
                  </a:txBody>
                  <a:tcPr marL="161925" marR="161925" marT="161925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拟开展 → 已完成</a:t>
                      </a:r>
                    </a:p>
                  </a:txBody>
                  <a:tcPr marL="161925" marR="161925" marT="161925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需要撤回，不能改变时态事实</a:t>
                      </a:r>
                    </a:p>
                  </a:txBody>
                  <a:tcPr marL="161925" marR="161925" marT="161925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推断关系</a:t>
                      </a:r>
                    </a:p>
                  </a:txBody>
                  <a:tcPr marL="161925" marR="161925" marT="161925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 → 导致</a:t>
                      </a:r>
                    </a:p>
                  </a:txBody>
                  <a:tcPr marL="161925" marR="161925" marT="161925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需要撤回，不能提高因果强度</a:t>
                      </a:r>
                    </a:p>
                  </a:txBody>
                  <a:tcPr marL="161925" marR="161925" marT="161925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范围与否定</a:t>
                      </a:r>
                    </a:p>
                  </a:txBody>
                  <a:tcPr marL="161925" marR="161925" marT="161925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本样本／未检出 → 被省略</a:t>
                      </a:r>
                    </a:p>
                  </a:txBody>
                  <a:tcPr marL="161925" marR="161925" marT="161925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回到原句和研究记录核对</a:t>
                      </a:r>
                    </a:p>
                  </a:txBody>
                  <a:tcPr marL="161925" marR="161925" marT="161925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数字与引用</a:t>
                      </a:r>
                    </a:p>
                  </a:txBody>
                  <a:tcPr marL="161925" marR="161925" marT="161925" marB="114300" anchor="t">
                    <a:lnL w="9525">
                      <a:solidFill>
                        <a:srgbClr val="CAD6DC"/>
                      </a:solidFill>
                    </a:lnL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数值、单位、DOI被替换</a:t>
                      </a:r>
                    </a:p>
                  </a:txBody>
                  <a:tcPr marL="161925" marR="161925" marT="161925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263D4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逐项比对原始资料</a:t>
                      </a:r>
                    </a:p>
                  </a:txBody>
                  <a:tcPr marL="161925" marR="161925" marT="161925" marB="114300" anchor="t">
                    <a:lnR w="9525">
                      <a:solidFill>
                        <a:srgbClr val="CAD6DC"/>
                      </a:solidFill>
                    </a:lnR>
                    <a:lnB w="9525">
                      <a:solidFill>
                        <a:srgbClr val="CAD6DC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FB86F7-B7C3-4FF6-9560-749B831F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逐项差异说明支持复核；关键词检查只能覆盖部分问题。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3B9386-E643-453C-8AA8-1868F1C9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3.1.0：本机技能规则；课程编写：教学模拟，非真实研究结果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1C90E9-A24B-489D-8E6C-62202F7C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3276818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10EE1C-BBC6-4258-A24D-2E66D40759C2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585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663A4E-F374-4707-8D10-7AB069B87CA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2390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4ED691-0063-43ED-9C36-C2BC09CED88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40957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69888E-E5F2-41AB-9BD6-BC609F8C2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7620E7-8060-4660-BA75-53CF18D2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修订记录与使用说明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1BCA39-1645-48BE-8B0E-27673CCC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E2D4B6-DEA3-4465-833E-F0F83C82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表达自然之后，仍要保留材料来源、修订记录，并按目标要求说明 AI 的使用。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41660B-65B2-4391-801A-878B5E1E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原稿与来源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3F88B4-A12D-45DA-8E1A-579C0EF5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修订稿与差异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B9EBF6-7F63-4D4C-8324-CBBE7473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作者核对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15D3E4-1E62-4CDC-8E57-73634EAD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36671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按要求说明使用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DAC9D8-C1E1-43A7-B56D-55D7A024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哪份材料，哪个版本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9DDDB8-DFE9-44E7-A462-E6B2806E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57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改了什么，是否补了内容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4D9FE8-4681-4129-B737-F6E46A04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57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逐项确认事实和判断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D7CF0F-513B-4ABD-8DD2-64EF1071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857750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核对目标期刊与机构要求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1AEBB4-729C-4460-8FF0-CA764467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246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使用说明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CA5D93-2ECA-4E4D-899A-6E90C926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524625"/>
            <a:ext cx="1019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自然表达、事实核对和透明使用需要同时保留。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EBC30A-4111-4ACA-AD44-0A5882A3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PLOS FAQ：单纯拼写、语法和清晰度修改无需披露；内容生成、代码和制图另按规定处理。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D77DB9-39DE-4579-BDD5-15FE33D1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来源：PLOS：Ethical Publishing Practice（核对2026-10-17）；Humanizer 3.1.0：本机技能规则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8E2BB6-32AE-44F1-8815-6E8EB3C3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13289140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A90FE5-E297-4081-B716-7F22A02ABFD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095750" y="4976813"/>
            <a:ext cx="2095500" cy="1428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EAF3F4-12FE-46F8-A7B4-F1F89FC64B2A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095750" y="4976813"/>
            <a:ext cx="2095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7D957D-2880-4426-B3C2-C9B09E2888D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4095750" y="3548063"/>
            <a:ext cx="2095500" cy="1428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245B77"/>
            </a:solidFill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C4E4CC-BA89-4749-9499-78AC8725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"/>
            <a:ext cx="1371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03  Humanizer 与各类科研产物的表达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1BDF4F-1BF4-4412-A855-209F3039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一份可交付的修订结果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7DE6DA-0F60-4E6E-8037-185AB0B2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13716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32F4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D479B0-FCB0-4EEA-9975-F83E1898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3716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交付时同时提供可读的正文、可核对的差异和仍需作者处理的问题。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26CA73-C3BB-4B0F-BF68-50F98538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3333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F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修订交付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8BAE6-C626-4CE2-B3FD-064F8285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3333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修订稿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F9ACB4-3EBB-4908-90AF-17E70F77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190875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结构清楚、专业信息完整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5EAD67-214C-4D97-8A28-EF50CA7C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72000"/>
            <a:ext cx="3333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差异说明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310EA7-95B0-4D58-8110-05F74A7D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619625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原句、改句、理由与保留项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45B690-73D2-4E84-AC55-EF7280F0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000750"/>
            <a:ext cx="3333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8"/>
          </a:solidFill>
          <a:ln xmlns:a="http://schemas.openxmlformats.org/drawingml/2006/main" w="14288">
            <a:solidFill>
              <a:srgbClr val="245B77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32F43"/>
                </a:solidFill>
                <a:latin typeface="Microsoft YaHei"/>
                <a:ea typeface="Microsoft YaHei"/>
                <a:cs typeface="Microsoft YaHei"/>
              </a:rPr>
              <a:t>待确认事项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F2D2AB-E0A0-4D7E-89C4-232DB4BF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048375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D4A"/>
                </a:solidFill>
                <a:latin typeface="Microsoft YaHei"/>
                <a:ea typeface="Microsoft YaHei"/>
                <a:cs typeface="Microsoft YaHei"/>
              </a:rPr>
              <a:t>材料缺失或需要专业判断的部分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2B1D2A-8DBB-4EAC-BA2F-E889D927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91375"/>
            <a:ext cx="1371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B77"/>
                </a:solidFill>
                <a:latin typeface="Microsoft YaHei"/>
                <a:ea typeface="Microsoft YaHei"/>
                <a:cs typeface="Microsoft YaHei"/>
              </a:rPr>
              <a:t>读者能看懂正文；作者能核对变化，并处理仍未解决的问题。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90EB6F-A89F-49BD-940F-63703EFA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1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C6D68"/>
                </a:solidFill>
                <a:latin typeface="Microsoft YaHei"/>
                <a:ea typeface="Microsoft YaHei"/>
                <a:cs typeface="Microsoft YaHei"/>
              </a:rPr>
              <a:t>后续各节都采用这套审阅要求；写作、图注、申报和汇报分别结合真实材料展开。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989252-1D8B-4684-A882-5369F7BA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324850"/>
            <a:ext cx="1276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来源：Humanizer 3.1.0：本机技能规则；McKinley，UCL（2026），第4、8、10、13—14页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00C29C-86CF-4C8E-A4E2-C90D0EF2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82105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68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9380279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2026-10-17T14:30:47.2690000Z</dcterms:created>
  <dcterms:modified xsi:type="dcterms:W3CDTF">2026-10-17T14:30:47.2690000Z</dcterms:modified>
</coreProperties>
</file>