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d066c007a4435b" /><Relationship Type="http://schemas.openxmlformats.org/officeDocument/2006/relationships/extended-properties" Target="/docProps/app.xml" Id="R92a3b23e4c734b5b" /><Relationship Type="http://schemas.openxmlformats.org/officeDocument/2006/relationships/officeDocument" Target="/ppt/presentation.xml" Id="Ra3c24cb8687546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eeea3e7ecb4b0e"/>
  </p:sldMasterIdLst>
  <p:notesMasterIdLst>
    <p:notesMasterId xmlns:r="http://schemas.openxmlformats.org/officeDocument/2006/relationships" r:id="R3a0753fe369c478e"/>
  </p:notesMasterIdLst>
  <p:sldIdLst>
    <p:sldId xmlns:r="http://schemas.openxmlformats.org/officeDocument/2006/relationships" id="256" r:id="R86710682a14542b0"/>
    <p:sldId xmlns:r="http://schemas.openxmlformats.org/officeDocument/2006/relationships" id="257" r:id="R05a9c6f462c242ec"/>
    <p:sldId xmlns:r="http://schemas.openxmlformats.org/officeDocument/2006/relationships" id="258" r:id="R7392b63ea7b14fc0"/>
    <p:sldId xmlns:r="http://schemas.openxmlformats.org/officeDocument/2006/relationships" id="259" r:id="Rc5ef7cef302b4389"/>
    <p:sldId xmlns:r="http://schemas.openxmlformats.org/officeDocument/2006/relationships" id="260" r:id="R6071f64694724627"/>
    <p:sldId xmlns:r="http://schemas.openxmlformats.org/officeDocument/2006/relationships" id="261" r:id="Re4cb9843146e4f3f"/>
    <p:sldId xmlns:r="http://schemas.openxmlformats.org/officeDocument/2006/relationships" id="262" r:id="Rff48cb0c8a874c91"/>
    <p:sldId xmlns:r="http://schemas.openxmlformats.org/officeDocument/2006/relationships" id="263" r:id="Rbac0be6e81f244b8"/>
    <p:sldId xmlns:r="http://schemas.openxmlformats.org/officeDocument/2006/relationships" id="264" r:id="R414ff2180df64cb1"/>
    <p:sldId xmlns:r="http://schemas.openxmlformats.org/officeDocument/2006/relationships" id="265" r:id="Rab069e8a47074926"/>
    <p:sldId xmlns:r="http://schemas.openxmlformats.org/officeDocument/2006/relationships" id="266" r:id="R63e253bccbcb4015"/>
    <p:sldId xmlns:r="http://schemas.openxmlformats.org/officeDocument/2006/relationships" id="267" r:id="Re75e1846c5b745bf"/>
    <p:sldId xmlns:r="http://schemas.openxmlformats.org/officeDocument/2006/relationships" id="268" r:id="R111bbab7c44b446e"/>
    <p:sldId xmlns:r="http://schemas.openxmlformats.org/officeDocument/2006/relationships" id="269" r:id="Rb02914bbb12f411f"/>
    <p:sldId xmlns:r="http://schemas.openxmlformats.org/officeDocument/2006/relationships" id="270" r:id="R3781319b11be41a1"/>
    <p:sldId xmlns:r="http://schemas.openxmlformats.org/officeDocument/2006/relationships" id="271" r:id="R1d672fa019094dd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559cf4eb4a4633" /><Relationship Type="http://schemas.openxmlformats.org/officeDocument/2006/relationships/slideMaster" Target="/ppt/slideMasters/slideMaster1.xml" Id="Rd0eeea3e7ecb4b0e" /><Relationship Type="http://schemas.openxmlformats.org/officeDocument/2006/relationships/notesMaster" Target="/ppt/notesMasters/notesMaster1.xml" Id="R3a0753fe369c478e" /><Relationship Type="http://schemas.openxmlformats.org/officeDocument/2006/relationships/presProps" Target="/ppt/presProps.xml" Id="R369b059a7edb483d" /><Relationship Type="http://schemas.openxmlformats.org/officeDocument/2006/relationships/tableStyles" Target="/ppt/tableStyles.xml" Id="R0de3330342004da3" /><Relationship Type="http://schemas.openxmlformats.org/officeDocument/2006/relationships/slide" Target="/ppt/slides/slide1.xml" Id="R86710682a14542b0" /><Relationship Type="http://schemas.openxmlformats.org/officeDocument/2006/relationships/slide" Target="/ppt/slides/slide2.xml" Id="R05a9c6f462c242ec" /><Relationship Type="http://schemas.openxmlformats.org/officeDocument/2006/relationships/slide" Target="/ppt/slides/slide3.xml" Id="R7392b63ea7b14fc0" /><Relationship Type="http://schemas.openxmlformats.org/officeDocument/2006/relationships/slide" Target="/ppt/slides/slide4.xml" Id="Rc5ef7cef302b4389" /><Relationship Type="http://schemas.openxmlformats.org/officeDocument/2006/relationships/slide" Target="/ppt/slides/slide5.xml" Id="R6071f64694724627" /><Relationship Type="http://schemas.openxmlformats.org/officeDocument/2006/relationships/slide" Target="/ppt/slides/slide6.xml" Id="Re4cb9843146e4f3f" /><Relationship Type="http://schemas.openxmlformats.org/officeDocument/2006/relationships/slide" Target="/ppt/slides/slide7.xml" Id="Rff48cb0c8a874c91" /><Relationship Type="http://schemas.openxmlformats.org/officeDocument/2006/relationships/slide" Target="/ppt/slides/slide8.xml" Id="Rbac0be6e81f244b8" /><Relationship Type="http://schemas.openxmlformats.org/officeDocument/2006/relationships/slide" Target="/ppt/slides/slide9.xml" Id="R414ff2180df64cb1" /><Relationship Type="http://schemas.openxmlformats.org/officeDocument/2006/relationships/slide" Target="/ppt/slides/slide10.xml" Id="Rab069e8a47074926" /><Relationship Type="http://schemas.openxmlformats.org/officeDocument/2006/relationships/slide" Target="/ppt/slides/slide11.xml" Id="R63e253bccbcb4015" /><Relationship Type="http://schemas.openxmlformats.org/officeDocument/2006/relationships/slide" Target="/ppt/slides/slide12.xml" Id="Re75e1846c5b745bf" /><Relationship Type="http://schemas.openxmlformats.org/officeDocument/2006/relationships/slide" Target="/ppt/slides/slide13.xml" Id="R111bbab7c44b446e" /><Relationship Type="http://schemas.openxmlformats.org/officeDocument/2006/relationships/slide" Target="/ppt/slides/slide14.xml" Id="Rb02914bbb12f411f" /><Relationship Type="http://schemas.openxmlformats.org/officeDocument/2006/relationships/slide" Target="/ppt/slides/slide15.xml" Id="R3781319b11be41a1" /><Relationship Type="http://schemas.openxmlformats.org/officeDocument/2006/relationships/slide" Target="/ppt/slides/slide16.xml" Id="R1d672fa019094d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08a637dc4041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6d056ab5c84fe9" /><Relationship Type="http://schemas.openxmlformats.org/officeDocument/2006/relationships/notesMaster" Target="/ppt/notesMasters/notesMaster1.xml" Id="Ra0bced5fb7be49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ec84b0a88e4933" /><Relationship Type="http://schemas.openxmlformats.org/officeDocument/2006/relationships/notesMaster" Target="/ppt/notesMasters/notesMaster1.xml" Id="R4918f796e9b84b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8adf1998734ea9" /><Relationship Type="http://schemas.openxmlformats.org/officeDocument/2006/relationships/notesMaster" Target="/ppt/notesMasters/notesMaster1.xml" Id="R904844dcd1df43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65796bb3c34875" /><Relationship Type="http://schemas.openxmlformats.org/officeDocument/2006/relationships/notesMaster" Target="/ppt/notesMasters/notesMaster1.xml" Id="R1da240899f8748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5cfd9ae42a4289" /><Relationship Type="http://schemas.openxmlformats.org/officeDocument/2006/relationships/notesMaster" Target="/ppt/notesMasters/notesMaster1.xml" Id="R51e4adc75d334d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df71a48a1b4726" /><Relationship Type="http://schemas.openxmlformats.org/officeDocument/2006/relationships/notesMaster" Target="/ppt/notesMasters/notesMaster1.xml" Id="R263b634ebc4a45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e2418b7efe46c7" /><Relationship Type="http://schemas.openxmlformats.org/officeDocument/2006/relationships/notesMaster" Target="/ppt/notesMasters/notesMaster1.xml" Id="R271d672e31c142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d1b8f234534637" /><Relationship Type="http://schemas.openxmlformats.org/officeDocument/2006/relationships/notesMaster" Target="/ppt/notesMasters/notesMaster1.xml" Id="R81818042940442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b88cbbb89b41ee" /><Relationship Type="http://schemas.openxmlformats.org/officeDocument/2006/relationships/notesMaster" Target="/ppt/notesMasters/notesMaster1.xml" Id="Rd2009ed7660947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ab0cf8d82c402c" /><Relationship Type="http://schemas.openxmlformats.org/officeDocument/2006/relationships/notesMaster" Target="/ppt/notesMasters/notesMaster1.xml" Id="R77932aa37ffb4c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0c684fbfee4061" /><Relationship Type="http://schemas.openxmlformats.org/officeDocument/2006/relationships/notesMaster" Target="/ppt/notesMasters/notesMaster1.xml" Id="Rf6d1d0bf09874c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2a84d76bbb48dc" /><Relationship Type="http://schemas.openxmlformats.org/officeDocument/2006/relationships/notesMaster" Target="/ppt/notesMasters/notesMaster1.xml" Id="Ra1cbcd6b260c4b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0064c6deebe47f9" /><Relationship Type="http://schemas.openxmlformats.org/officeDocument/2006/relationships/notesMaster" Target="/ppt/notesMasters/notesMaster1.xml" Id="R81c11bca466640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d0142b64c34be3" /><Relationship Type="http://schemas.openxmlformats.org/officeDocument/2006/relationships/notesMaster" Target="/ppt/notesMasters/notesMaster1.xml" Id="R7e282ab7b11e442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c48f5e0b8a84583" /><Relationship Type="http://schemas.openxmlformats.org/officeDocument/2006/relationships/notesMaster" Target="/ppt/notesMasters/notesMaster1.xml" Id="R008d3dd6c42c47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1ef845e75644f78" /><Relationship Type="http://schemas.openxmlformats.org/officeDocument/2006/relationships/notesMaster" Target="/ppt/notesMasters/notesMaster1.xml" Id="R64e426cf3a0c48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将前面讲过的Skill、工作流和Harness放回实际材料中。演示对象是“公开文献筛选与核验流程”的教学申报材料，非真实基金申请。先看本地文件服务如何把给定材料放进模板，再看云端的承载方式、状态记录和工具范围。提醒听众区分写作建议、实际工具动作与生成的文件。页面里的本地与云端不是两套科学结论；它们只是运行位置和可用工具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科研工作台健康检查</a:t>
            </a:r>
          </a:p>
          <a:p xmlns:a="http://schemas.openxmlformats.org/drawingml/2006/main">
            <a:r>
              <a:t>https://ikun.homes/health</a:t>
            </a:r>
          </a:p>
          <a:p xmlns:a="http://schemas.openxmlformats.org/drawingml/2006/main">
            <a:r>
              <a:t>定位：evidence/cloud-health.json；assets/cloud-health-actual.png；2026-10-18 UTC；仅健康与配置状态，不含本轮模型任务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CMU 2025年Lecture 23物理第30页展示Mind2Web的候选元素、排序模型、预测模型、目标元素和操作。这里只借它说明：任务和前序动作会影响下一步选择，动作必须落到具体环境。课堂用“读模板—填章节—检查文件”替换网页操作细节。不能因课件介绍浏览器Agent，就说本项目已经有自主浏览器；当前Worker的检索、模型和文件生成能力必须分别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Aran Nayebi &amp; Matt Gormley, Code Generation + LLMs / VLMs as Autonomous Agents, Nov. 19, 2025</a:t>
            </a:r>
          </a:p>
          <a:p xmlns:a="http://schemas.openxmlformats.org/drawingml/2006/main">
            <a:r>
              <a:t>https://www.cs.cmu.edu/~mgormley/courses/10423-f25/slides/lecture23-code.pdf</a:t>
            </a:r>
          </a:p>
          <a:p xmlns:a="http://schemas.openxmlformats.org/drawingml/2006/main">
            <a:r>
              <a:t>定位：物理页29、30、31、32、34、37已查看；采用30页（印刷页35）的输入、动作及历史信息组织；不采用旧论文计数和模型排名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打开demo/input/grant可见guide.json、grant.json和template.docx。教学指南要求12个月内形成可复算流程、评价召回与耗时并保留人工判断。材料提供研究目标、六节已有内容及来源编号；模板决定这些内容落到哪里。本地程序不从任意PDF理解指南，也不凭空撰写研究设想。讲师逐项展示输入，让听众知道输出中的句子原先来自哪里。真实申请须换用对应项目当期官方指南及申请人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启动8788服务，点击生成申报草稿，页面由读取材料与模板转为“草稿已生成”，出现可编辑Word链接。配图是浏览器实际截图，没有绘制假的执行界面。后续另通过HTTP下载检查了文件哈希。本地演示主要帮助老师理解文件到文件的执行链，不能说它已经自主提出科学问题或查完文献。课程包保留了本轮输入、输出、运行事件和问题清单，课前可重新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nt的run.json记录intake、constraints、outline和docx四个事件。其含义依次是读取输入，检查指南和章节，记录仍需研究者审阅，写入Word。outline的状态为human_review_required，不能改讲成研究者已签核。另一个route.mmd描述教学研究方案中的“材料准入—独立参考答案—固定任务比较—错误分析—人工复核—报告”，它是拟开展研究的路线，不能当成本次程序已完成这些研究步骤的日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程序比较指南和材料中的requirements是否一致，并检查每项要求是否关联已有目标，是否写明产物及检验方式。本例R1关联G1，交付代码、依赖、输入和日志；R2关联G2，保存逐条筛选记录及统计报告；R3关联G3，交付Word草稿、来源账本和审核记录。指南中“12个月”是模拟项目安排，不是已经完成12个月研究。程序核对的是对应关系存在与内容一致，没有验证研究设计一定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实际生成的Word第一页和issues.json。六节内容按模板填入，每节带材料来源，文末保留来源与未决问题。本例缺口有：未提供真实团队基础，未完成真实文献查新与科学可行性审查，未获得研究者签核。技术路线和考核指标可以先组织成草稿，但缺口不能靠润色消失。这里的来源账本只保存给定身份和定位；它没有自动读取所有原始论文来证明每一句科学主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本轮读取University-Skills、工作区安装目录、Agent仓库安装目录及生成的Worker Skill包，统一换行后逐份比较完整内容和SHA256，24份全部一致。云端健康接口返回的包指纹也与skills-lock一致。Skill是办事规则，可带脚本和资源；本课程这24份主要是指令规范。指令里写“查文献”不会自动增加浏览器或数据库账号，写“绘图”也不等于云端已执行绘图代码。同源是可核对的文件事实，不是能力等同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Skills / Build skills</a:t>
            </a:r>
          </a:p>
          <a:p xmlns:a="http://schemas.openxmlformats.org/drawingml/2006/main">
            <a:r>
              <a:t>https://developers.openai.com/plugins/concepts/skills</a:t>
            </a:r>
          </a:p>
          <a:p xmlns:a="http://schemas.openxmlformats.org/drawingml/2006/main">
            <a:r>
              <a:t>定位：Skill由SKILL.md和可选脚本、资源组成；实际安装和完整内容比较见evidence/same-skills.json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科研工作台健康检查</a:t>
            </a:r>
          </a:p>
          <a:p xmlns:a="http://schemas.openxmlformats.org/drawingml/2006/main">
            <a:r>
              <a:t>https://ikun.homes/health</a:t>
            </a:r>
          </a:p>
          <a:p xmlns:a="http://schemas.openxmlformats.org/drawingml/2006/main">
            <a:r>
              <a:t>定位：evidence/cloud-health.json；assets/cloud-health-actual.png；2026-10-18 UTC；仅健康与配置状态，不含本轮模型任务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“执行管理”解释Harness：研究者给目标和材料，模型决定或按工作流处理当前步骤，工具实际读取或写入文件，管理程序保存结果并选择继续、重试或结束。模型本身不会因为写出“已保存”就真的在硬盘产生文件。本地Codex可以使用当前授权的文件和代码工具；本项目Worker只使用已接入的接口与导出工具。讲师指着回路解释每次反馈来自哪里，避免把Harness讲成另一个神秘大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Aran Nayebi &amp; Matt Gormley, Code Generation + LLMs / VLMs as Autonomous Agents, Nov. 19, 2025</a:t>
            </a:r>
          </a:p>
          <a:p xmlns:a="http://schemas.openxmlformats.org/drawingml/2006/main">
            <a:r>
              <a:t>https://www.cs.cmu.edu/~mgormley/courses/10423-f25/slides/lecture23-code.pdf</a:t>
            </a:r>
          </a:p>
          <a:p xmlns:a="http://schemas.openxmlformats.org/drawingml/2006/main">
            <a:r>
              <a:t>定位：物理页29、30、31、32、34、37已查看；采用30页（印刷页35）的输入、动作及历史信息组织；不采用旧论文计数和模型排名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Cloudflare Worker承载入口和接口；Durable Object在这里可以理解为每个任务的持久档案与执行状态。浏览器读取进度，后台alarm唤醒后继续下一节点。模型服务返回文字，项目代码另做检查与文件生成；Worker本身不是模型。图中云端模型按本轮健康接口显示为DeepSeek deepseek-flash，MiniMax只保留旧配置且停用，不参与执行或回退。图的箭头说明当前实现关系，不代表本轮已经完整重跑了云端任务。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are Durable Objects? / Alarms</a:t>
            </a:r>
          </a:p>
          <a:p xmlns:a="http://schemas.openxmlformats.org/drawingml/2006/main">
            <a:r>
              <a:t>https://developers.cloudflare.com/durable-objects/api/alarms/</a:t>
            </a:r>
          </a:p>
          <a:p xmlns:a="http://schemas.openxmlformats.org/drawingml/2006/main">
            <a:r>
              <a:t>定位：Background及alarm：持久状态与后台唤醒；应用层重试次数另据本项目代码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本轮实际健康响应，在页面用中文解释检查结果：ok是服务响应，model_configured表示配置检查通过，persistence_bound表示绑定存在，inactive_providers中有minimax。没有显示密码或密钥，没有登录用户账户，也没有发起本轮付费模型调用。当前界面与配置事实可以复核；2026年10月17日已有云端测试记录属于历史记录，讲师若演示当天新任务，应使用当天的运行记录，而非把旧记录当作实时响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科研工作台健康检查</a:t>
            </a:r>
          </a:p>
          <a:p xmlns:a="http://schemas.openxmlformats.org/drawingml/2006/main">
            <a:r>
              <a:t>https://ikun.homes/health</a:t>
            </a:r>
          </a:p>
          <a:p xmlns:a="http://schemas.openxmlformats.org/drawingml/2006/main">
            <a:r>
              <a:t>定位：evidence/cloud-health.json；assets/cloud-health-actual.png；2026-10-18 UTC；仅健康与配置状态，不含本轮模型任务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自动流程先处理需要的检索，再依次执行节点，最后导出文件。每一步结束后保存输出，并安排下一次alarm；页面轮询读取状态。应用代码对失败节点自动重试一次，再失败则停止并显示错误；这与Cloudflare平台alarm抛异常的重试机制不同，不混讲次数。由于已完成结果在任务存储中，关闭页面不应等同取消任务。这个行为本轮通过夹具测试检查，没有通过本轮真实云端模型任务再次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are Durable Objects? / Alarms</a:t>
            </a:r>
          </a:p>
          <a:p xmlns:a="http://schemas.openxmlformats.org/drawingml/2006/main">
            <a:r>
              <a:t>https://developers.cloudflare.com/durable-objects/api/alarms/</a:t>
            </a:r>
          </a:p>
          <a:p xmlns:a="http://schemas.openxmlformats.org/drawingml/2006/main">
            <a:r>
              <a:t>定位：Background及alarm：持久状态与后台唤醒；应用层重试次数另据本项目代码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当前代码先生成节点内容，再自动修订表达，并检查数字、来源和章节。定向测试用342条记录与均值3700.7 g验证数字改变会被拒绝，用D1变成D2验证来源改变会被拒绝。它们是自编测试夹具，不是科研结果。数字完全一样时，也可能把相关性改成因果，或把拟开展写成已完成，因此还要逐句读。Humanizer的目标是让具体读者读懂对象、动作和结论，不是给文字一个“绝无AI味”的程序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复制教学输入并作三种小改动，分别运行真实文件执行器。来源改成NOT-A-SOURCE，返回unknown_source；修改指南对应要求，返回guide_requirement_mismatch；直接要求final而未签核，返回final_export_blocked。错误记录在每个案例的run.json中保存。这里检查的是本地固定材料执行器；网页自动草稿无需逐节点人工确认，二者不是同一个提交关口。不能为了看起来流程完整而编造人名、批准事件或把失败节点涂成绿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8788服务实际支持Grant、Paper、Patent固定材料到Word，本轮分别下载并核对文件。当前Worker代码中的申报、论文、专利导出Word；figures整理绘图方案Markdown，没有执行绘图代码；closeout导出结题草稿Markdown。前面课程中真实CSV图是本地数据计算与图表制作，不能转述成云端已自动画完。Nano Banana没有对应服务，本节不能放假的调用截图。讲师可据这个表回答“能不能做”的问题，先说明运行位置再说明输出。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沿本例档案回看：输入有指南、材料和模板；规则有Skill版本和程序快照；过程有本地事件、HTTP与失败记录；结果有Word、来源账本和问题清单。下次改模板或输入，应生成新记录并重新检查。示范本地时无需登录云账户；示范云端时应明确公开教学材料的传输范围，并查看当天节点和结果。对真实科研资料另按授权处理。课程帮助教师判断AI做了什么、证据在哪里，科学问题、事实核对与正式提交仍由研究者负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科研工作台健康检查</a:t>
            </a:r>
          </a:p>
          <a:p xmlns:a="http://schemas.openxmlformats.org/drawingml/2006/main">
            <a:r>
              <a:t>https://ikun.homes/health</a:t>
            </a:r>
          </a:p>
          <a:p xmlns:a="http://schemas.openxmlformats.org/drawingml/2006/main">
            <a:r>
              <a:t>定位：evidence/cloud-health.json；assets/cloud-health-actual.png；2026-10-18 UTC；仅健康与配置状态，不含本轮模型任务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3e10e3a58a49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b3409212e42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38a40d46d645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37e93b125e4a5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04dab1998341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d2e7af596c4a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3880D6-444D-4FCA-8565-21B60585B8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681F08C-AFA0-4B30-A7DF-34E03B36138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0339BFF-5FE7-4DE8-A36E-B535192866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FAC5E8-4347-4115-92A7-D745F0834A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400CCE4-264D-4394-B654-96AD2AA8B5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0EE56C-CCE9-4FF4-B14B-896316B6F3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8683A7-1810-4E6F-990A-9AE4FDA971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29DC613-F8C8-410E-8BFC-3012FB6B1C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C36443-847D-490C-833A-835B27093A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FA596A-2C7C-4CA2-B154-EBF82556FD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f2abce73c647d9" /><Relationship Type="http://schemas.openxmlformats.org/officeDocument/2006/relationships/slideLayout" Target="/ppt/slideLayouts/slideLayout1.xml" Id="Ra71e2fad7b8b42ce" /><Relationship Type="http://schemas.openxmlformats.org/officeDocument/2006/relationships/slideLayout" Target="/ppt/slideLayouts/slideLayout2.xml" Id="R5f8483d8a86a45ec" /><Relationship Type="http://schemas.openxmlformats.org/officeDocument/2006/relationships/slideLayout" Target="/ppt/slideLayouts/slideLayout3.xml" Id="R0c17ea231a8e4757" /><Relationship Type="http://schemas.openxmlformats.org/officeDocument/2006/relationships/slideLayout" Target="/ppt/slideLayouts/slideLayout4.xml" Id="Re107124d88ec4ed0" /><Relationship Type="http://schemas.openxmlformats.org/officeDocument/2006/relationships/slideLayout" Target="/ppt/slideLayouts/slideLayout5.xml" Id="R7aab6fede551463d" /><Relationship Type="http://schemas.openxmlformats.org/officeDocument/2006/relationships/slideLayout" Target="/ppt/slideLayouts/slideLayout6.xml" Id="Rd1e3c15862d747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1e2fad7b8b42ce"/>
    <p:sldLayoutId xmlns:r="http://schemas.openxmlformats.org/officeDocument/2006/relationships" id="2147483650" r:id="R5f8483d8a86a45ec"/>
    <p:sldLayoutId xmlns:r="http://schemas.openxmlformats.org/officeDocument/2006/relationships" id="2147483651" r:id="R0c17ea231a8e4757"/>
    <p:sldLayoutId xmlns:r="http://schemas.openxmlformats.org/officeDocument/2006/relationships" id="2147483652" r:id="Re107124d88ec4ed0"/>
    <p:sldLayoutId xmlns:r="http://schemas.openxmlformats.org/officeDocument/2006/relationships" id="2147483653" r:id="R7aab6fede551463d"/>
    <p:sldLayoutId xmlns:r="http://schemas.openxmlformats.org/officeDocument/2006/relationships" id="2147483654" r:id="Rd1e3c15862d747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62d11da9d14594" /><Relationship Type="http://schemas.openxmlformats.org/officeDocument/2006/relationships/notesSlide" Target="/ppt/notesSlides/notesSlide1.xml" Id="Rd20dde65ff374e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c4980787274793" /><Relationship Type="http://schemas.openxmlformats.org/officeDocument/2006/relationships/image" Target="/ppt/media/image.png" Id="R2f926feba58e4db1" /><Relationship Type="http://schemas.openxmlformats.org/officeDocument/2006/relationships/notesSlide" Target="/ppt/notesSlides/notesSlide2.xml" Id="R0134e5ababbd4c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78ed3634c446b1" /><Relationship Type="http://schemas.openxmlformats.org/officeDocument/2006/relationships/notesSlide" Target="/ppt/notesSlides/notesSlide3.xml" Id="R74b2cfa9832146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cc84e3c0334ec5" /><Relationship Type="http://schemas.openxmlformats.org/officeDocument/2006/relationships/image" Target="/ppt/media/image.jpeg" Id="R70e88d91220946e5" /><Relationship Type="http://schemas.openxmlformats.org/officeDocument/2006/relationships/notesSlide" Target="/ppt/notesSlides/notesSlide4.xml" Id="Re84cd38c534e42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c896ae00e94db3" /><Relationship Type="http://schemas.openxmlformats.org/officeDocument/2006/relationships/notesSlide" Target="/ppt/notesSlides/notesSlide5.xml" Id="Re143554c6ab44f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bf3e58b3904624" /><Relationship Type="http://schemas.openxmlformats.org/officeDocument/2006/relationships/notesSlide" Target="/ppt/notesSlides/notesSlide6.xml" Id="Rc46be214b2f742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4ee282fcd54295" /><Relationship Type="http://schemas.openxmlformats.org/officeDocument/2006/relationships/image" Target="/ppt/media/image2.png" Id="R46d70c02c8f04651" /><Relationship Type="http://schemas.openxmlformats.org/officeDocument/2006/relationships/notesSlide" Target="/ppt/notesSlides/notesSlide7.xml" Id="Rd6ef34568bbc47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1725ede0dd4b25" /><Relationship Type="http://schemas.openxmlformats.org/officeDocument/2006/relationships/notesSlide" Target="/ppt/notesSlides/notesSlide8.xml" Id="R519909cc044948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5f44d009804166" /><Relationship Type="http://schemas.openxmlformats.org/officeDocument/2006/relationships/notesSlide" Target="/ppt/notesSlides/notesSlide9.xml" Id="R6da345a05e9043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70ae81bb1f43c7" /><Relationship Type="http://schemas.openxmlformats.org/officeDocument/2006/relationships/notesSlide" Target="/ppt/notesSlides/notesSlide10.xml" Id="Rcd9c9c97548748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cc5465ba4f4be9" /><Relationship Type="http://schemas.openxmlformats.org/officeDocument/2006/relationships/notesSlide" Target="/ppt/notesSlides/notesSlide11.xml" Id="Rc0155cca719d40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7ddb463a914791" /><Relationship Type="http://schemas.openxmlformats.org/officeDocument/2006/relationships/notesSlide" Target="/ppt/notesSlides/notesSlide12.xml" Id="R2a0348680df540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3866c68bec4f5a" /><Relationship Type="http://schemas.openxmlformats.org/officeDocument/2006/relationships/notesSlide" Target="/ppt/notesSlides/notesSlide13.xml" Id="R6de108e4836e48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43b1fefab647b2" /><Relationship Type="http://schemas.openxmlformats.org/officeDocument/2006/relationships/notesSlide" Target="/ppt/notesSlides/notesSlide14.xml" Id="R6eb69ad21747406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7811c44ab346d1" /><Relationship Type="http://schemas.openxmlformats.org/officeDocument/2006/relationships/notesSlide" Target="/ppt/notesSlides/notesSlide15.xml" Id="R5ca457e297ad4c6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73c69118a54dc9" /><Relationship Type="http://schemas.openxmlformats.org/officeDocument/2006/relationships/notesSlide" Target="/ppt/notesSlides/notesSlide16.xml" Id="Re066f585235c45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0484D5-61A8-4368-92FB-1C61BBFAFD8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572625" y="4691063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F22A4-6320-4D93-90BD-1E8821A5249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67250" y="4691063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AE9873-E06F-46D6-A2AE-AD2AA016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6C970-106D-4586-AB01-5B352854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本地与云端Agent实际演示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E6429-51CA-414A-A507-7D8DF89E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F2E81-31DC-4804-AC01-6F8995A4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以教学申报材料为例，沿着输入、执行记录和结果文件，查看每一步究竟完成了什么。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D4625-596D-4383-8B40-B93D20AA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本地文件演示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9FE72-2031-499A-92B4-F5D7CF20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3905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指南、材料与模板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DE488-E624-43CF-8F96-5C3CA6F5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38625"/>
            <a:ext cx="3905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文件检查与填充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7DAEB-47FC-455F-A3BF-EFEE4733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38625"/>
            <a:ext cx="3905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Word与问题清单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4395C-6661-4DC2-AE9A-01DEBCA6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当前输入已经准备好，程序按规则处理，输出可下载、可检查。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0BD1A-B39B-4233-91D3-3C265838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云端工作流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FD5F0F-9EEA-402B-A9D5-02C2A20A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715125"/>
            <a:ext cx="1019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接入模型与检索后，仍要逐步保存来源、节点结果和文件版本。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30E7ED-A4C2-45C5-A279-C6C18FD1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本地固定材料流程已执行；云端本轮只核对入口和健康状态。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C4F39-6811-4884-970B-73E4338B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来源：本轮本地HTTP、文件与拒绝记录；本轮云端健康接口与实际登录页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5D933-D103-4762-9264-51980FDD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975704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FACF7C-8677-465F-8D84-A9FB532E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F923D-42B0-4415-80E4-23E7E05C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Agent的动作与环境反馈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62E13-F022-4612-8F1B-630D18E5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6209E-5A3B-4F9A-BC0D-099D9E66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模型给出下一步动作后，系统还要执行动作、读取结果，并据此决定后续步骤。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9DE40-411A-472A-97EF-DE09C93DA4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26feba58e4db1"/>
          <a:stretch xmlns:a="http://schemas.openxmlformats.org/drawingml/2006/main"/>
        </p:blipFill>
        <p:spPr>
          <a:xfrm xmlns:a="http://schemas.openxmlformats.org/drawingml/2006/main">
            <a:off x="995870" y="3143250"/>
            <a:ext cx="8295259" cy="4667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46697-C364-4F27-BC15-BEC77FF2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908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8E1EE-C853-434C-A8B2-D8EC05FF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6237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当前环境、任务与此前动作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EFE57-F272-44DE-9419-709EF312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196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28C2E-41B4-4D18-90F3-F06BDF8A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9112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选择对象，并给出具体操作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C38A8-AA09-4AAD-8F94-35588150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0483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回查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38544-1070-4104-8EE9-1C7B3DFC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61987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执行之后再次读取环境与结果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613CF-DF9D-41FF-8E3B-1F921747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原课件用于解释输入与动作关系；本项目没有实现图中的Mind2Web系统。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ED8300-675C-4674-81A5-D1466370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来源：CMU Generative AI 2025，Lecture 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2B6FC5-264C-4F00-BC10-8F8D2B63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639628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2141F-180B-4837-8341-F05E0BAAA834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7620000" y="6238875"/>
            <a:ext cx="4857750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6E337-60A7-49E5-BA40-0771A7DDBA05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620000" y="623887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F1952-DA7F-4CA1-9BFF-84373BE31333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762250" y="6238875"/>
            <a:ext cx="4857750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B4C65-79B1-4BB3-BB2F-3547CB6B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06B8C-414F-4B25-BCEB-45F0964A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申报演示的三份输入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09BD1-FF6C-494B-85A6-E378E053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AEAD0-9375-468D-9969-4430610C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这次输入是教学指南、已有研究设想和Word模板，三者各有不同用途。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1A23E-827D-48D4-B596-8C8F8873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教学指南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12个月内形成可复算流程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评价召回与耗时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保留人工判断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B3D8E-EAA1-4FA5-9812-85034575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已有材料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研究目标与方案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六节已有文字与来源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尚缺的真实研究基础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64E0B-0AEE-44E9-B1FC-AE26149D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Word模板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立项依据、研究目标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研究内容、技术路线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考核指标与研究基础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2335F-FA75-4978-963A-E79C681E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9532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核对三者一致后，按模板整理草稿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48A0F-97B6-4862-BF7D-7815FFC0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指南编号TEACH-GRANT-01为课程自编，不能当作当年官方基金指南。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620F3B-8BBA-4568-BA6E-56262D26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06C75-8BAC-48A5-B97E-F30B1939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069947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89D251-99C4-456C-A132-D0C930D9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9005A-D8FB-45E6-A28C-777EC93D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本地页面到Word的实际操作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973B0-7FAA-4845-A5B1-C83F97E7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66D94-84C5-4636-B7F6-2C9F4F9C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点击“生成申报草稿”后，页面实际调用本地文件程序，并提供可下载的Word。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27BCF-7E09-4E01-9027-762FE5675D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88d91220946e5"/>
          <a:stretch xmlns:a="http://schemas.openxmlformats.org/drawingml/2006/main"/>
        </p:blipFill>
        <p:spPr>
          <a:xfrm xmlns:a="http://schemas.openxmlformats.org/drawingml/2006/main">
            <a:off x="1216819" y="3000375"/>
            <a:ext cx="5186363" cy="4714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67AE2-8951-46BC-B33C-DC2CB7E8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读取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C4192-CD97-49A2-852A-B6B93C2C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5762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程序读取已准备的指南和模板。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76C0F-387D-4D75-86B0-2C9AE672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19625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生成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930DA-B31C-4129-A408-F96C3E36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387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把给定内容写入Word。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F49AA-EAB3-4837-9E19-F8AD69C8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0007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检查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ED0F2-D247-4528-BD06-7AE981A7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61987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文末保留来源和未决问题。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BE4AE-3495-4C4A-AB28-BF3905DB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这是本轮实际页面截图；固定材料流程没有调用外部模型。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990CC-C962-4834-80D5-2EBF9F70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495E60-A3BB-4186-9A2B-C9E150B2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629423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5642C-E664-40A3-8532-8C4818190DE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4C916-3882-466D-908C-7F399AC7C53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74DF9-48A1-4C61-9AB2-7B320C3C6EA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85D3D6-3F28-4ABE-8C31-D235F935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F8EBC-23E6-4E58-9C54-9F6F4769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本次运行经过的四个环节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36AF0-56F6-482E-8DE0-43C7C19C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10D2F-1B3E-4CE2-A255-E10F79D2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运行记录说明程序做了哪些检查；研究方案中的技术路线另有自己的内容。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4E58A-BA1A-4D27-96BD-A546F8DB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读取输入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17AFA-9F61-4F7A-8109-4992121C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47DC9-E24E-475E-989E-5D8EC36A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保留审阅状态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596FE-AB83-4777-A129-FD80443C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写入Word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5E25F-F5CD-4065-A8D3-4F7479CE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intake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读取材料和模板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6D58B5-432A-4902-95EB-5A73BBAD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196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constraints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检查指南、来源与章节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248C1-AB90-44FF-BCD2-FD5964B9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96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outline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仍需研究者审阅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49C609-C2B5-42B1-832F-D6BE64AE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196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docx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输出草稿文件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678571-EC6E-4C8D-97EE-EF9C5106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拟研究的技术路线另存于 route.mmd：材料准入 → 参考答案 → 固定比较 → 错误分析 → 人工复核 → 报告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952F6-FD49-469D-8A61-77DEE72F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运行事件与研究技术路线分开读，避免把流程完成误解为科研完成。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2FE123-6971-4FF0-BC31-C5374EC0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6A8270-D837-466D-A9C5-09588CBA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977689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713CA-3742-4B2E-B68F-844D9F9F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1CCF5-CF50-4578-AFFE-E1BB8A29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指南要求与产物的对应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9EFDC-54A4-4CB7-918F-B2EB7B85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DF7CC-2B3D-4243-B121-48305EF4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把每条指南要求连到研究目标、交付材料和检验办法，便于检查遗漏。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48733-A2B6-487D-BC73-F525989C4ABA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3905250"/>
                <a:gridCol w="5524500"/>
              </a:tblGrid>
              <a:tr h="1107281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指南要求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研究目标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交付与检验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1072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R1：12个月内形成可复算流程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G1：建立可复算筛选流程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代码、依赖、输入与日志；由另一研究者按说明复跑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072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R2：评价召回与耗时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G2：独立评价召回与耗时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逐条筛选记录与统计报告；任务和参考答案固定，报告漏检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072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R3：产物可复用，保留人工判断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G3：保留人工审核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Word、来源账本与审核记录；批准须对应输入和模板版本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401B3-8DED-4319-AAE0-E0DF31DB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映射检查能发现缺项；是否科学可行仍需读具体内容。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20244-DE23-4CD0-AC9B-8FAF51FC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943D7-6B80-44A8-8F37-5BF347A0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719994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7EA6C-7240-4431-ADA8-7E2328E0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3A627-2FF8-41E6-8A25-9CB9CB10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Word草稿与尚缺的证据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273A8-62F9-4B59-814E-B4C6C4C6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2DE93-3242-475D-967B-E173BFAF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文件已经生成；团队基础、真实查新和研究者签核仍列在问题清单中。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A344C-29A3-4B5E-A634-6F9C06671F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70c02c8f04651"/>
          <a:stretch xmlns:a="http://schemas.openxmlformats.org/drawingml/2006/main"/>
        </p:blipFill>
        <p:spPr>
          <a:xfrm xmlns:a="http://schemas.openxmlformats.org/drawingml/2006/main">
            <a:off x="1358395" y="3048000"/>
            <a:ext cx="3569710" cy="4619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EB961-A4FF-45C5-849E-9AA04A83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90875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实际问题清单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76990-014F-4A90-9363-5D994CFC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4337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2E9AC-B67B-41CC-A7AB-76A9A5C9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96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没有提供申请人的真实团队成果。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8C26E-B4C6-4803-AAE6-44B7BF13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8637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查新与可行性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47C5E-D6AA-4985-BD9B-BA2FA537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626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尚未完成真实文献查新及科学审查。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038F2-3063-45C4-9F53-5BFB4655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2937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研究者签核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CCBFF-91BC-4F81-ADD3-10A7086D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9056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没有签核当前输入和模板版本。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5DC222-421F-4D99-B289-E273E369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教学文字来自给定材料；没有补写团队成果、实验结果或真实签核。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86C546-1917-4E6A-9DBD-8AF07153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DDAA5-62B4-4071-B839-E75E69CC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99949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1EA4B-17DB-406B-94B8-7571977E560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57750" y="5048250"/>
            <a:ext cx="32385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9C1AE-F83E-45EE-A206-839576D9FC5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857750" y="3667125"/>
            <a:ext cx="3238500" cy="1381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19F289-A6B8-45CA-A9A0-F1B982A9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89ED2-8AFA-4EF2-AF96-2E06C9C8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本地与Worker中的同源Skill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E7B8C-6917-4EB4-988C-FD25140D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5729A-AD0A-4616-B409-6B414140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24份基础Skill的指令内容已逐份比较，云端健康接口报告的包指纹也与本地一致。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AA067-E956-42DF-96CD-E0AD80A4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4095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University-Skills</a:t>
            </a:r>
          </a:p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24份基础指令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3897C-AD81-4AE5-8B9D-98052F6D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638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本地Codex安装目录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59BE4-E629-4FC3-BC90-79579FAA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48375"/>
            <a:ext cx="638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Worker的Skill包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86992-C66C-45A7-A2BA-54F1B3F4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29125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逐份比较完整内容和SHA256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95748-D684-49C7-B7FD-1469878C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638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统一换行后，24份内容一致。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云端报告的包指纹与本地锁文件一致。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23515-8DA2-47C1-BACA-F5D6012C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Skill说明“按什么要求做”；执行器决定“能调用哪些工具”。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44A1E1-18E7-4CBE-B42B-E2023F56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相同指令便于统一要求；工具、模型与运行结果仍需分别检查。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DDB80-7D70-455F-A467-804F4907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来源：OpenAI官方Skill说明；本地24份指令核对；本轮云端健康接口与实际登录页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C3771-DC11-4F18-A20D-35EB2E38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79832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A24F9-1C70-4772-8C31-3CDEBA5C0417}"/>
              </a:ext>
            </a:extLst>
          </p:cNvPr>
          <p:cNvCxnSpPr>
            <a:stCxn xmlns:a="http://schemas.openxmlformats.org/drawingml/2006/main" id="9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7620000" y="4238625"/>
            <a:ext cx="0" cy="1952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F0C42E-D078-4CA7-B66E-68C533BEE145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962025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0BEE6-D098-435C-9808-1F3AF86506C7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2477750" y="4238625"/>
            <a:ext cx="0" cy="1952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C2E90-CCC8-4619-B1AC-CCCAF3821DC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810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38224-E1E4-4FA1-971F-E6EEADF0C81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810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E0CE9E-5F18-4297-8D18-BFE7D985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25993-5BB6-47D9-9845-EB71CD4B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Harness怎样管理一次任务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9BE08-2B82-4A20-BCB5-FB70BE0C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0418B-9473-4832-AD92-BE46204C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Harness是任务周围的执行管理：提供工具，保存过程，并处理失败和继续运行。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991F0-FAB0-419B-8919-29FD69D6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任务与已有材料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32A9F-ABB1-4209-9E27-D877DA47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813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模型处理当前步骤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E3C54-7904-4283-B7EB-054FE9A5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813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工具实际读写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072B5-3B9E-472D-BA14-E3515396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保存结果和版本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8A566-9A6A-4AD4-8917-014E76D1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检查并继续或重试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8EA0EE-0382-4B3E-A17D-4F871F69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400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  <a:p xmlns:a="http://schemas.openxmlformats.org/drawingml/2006/main">
            <a: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任务执行管理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A2C3C7-106D-40F2-B71B-97DE8275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工具返回了什么？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文件是否真的存在？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失败发生在哪一步？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A4DD3-6C2A-4559-9D77-32CA783B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记录包含输入、输出与版本；程序完成状态仍需与科研结论分开。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E235F5-34A9-4B5F-B107-02C2BB68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来源：CMU Generative AI 2025，Lecture 23；当前工作区代码快照；12项定向夹具测试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FB2738-D7BD-46AA-8606-5AE029E2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987001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85E73-BEAA-4F7E-BCC0-43F7125C85EE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9620250" y="6858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810DC-7E0B-4148-BAEC-42F10C0167AC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2477750" y="4381500"/>
            <a:ext cx="0" cy="1952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2B863-1269-488E-89AA-A64C51CFE4D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857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D25AF-24B5-49BD-86D4-5F74894F7B9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857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78766C-222E-4CEF-B738-0B916712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C6218-87DD-4E90-97C0-04964551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Cloudflare承载的工作流结构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02C19-C157-4A5B-9EBD-C9C80D93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90171-1923-41D8-AB43-74D73347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浏览器提交任务，Worker接收请求；持久任务对象保存节点，按步骤调用模型或导出文件。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DD08B-92FD-4E07-938C-CF1E6EA1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浏览器</a:t>
            </a:r>
          </a:p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填写材料、查看进度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16517-016D-4BD7-AAEC-B14227C2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Cloudflare Worker</a:t>
            </a:r>
          </a:p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接收和检查请求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20C72-DD70-43D0-BAB2-D777EC10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持久任务对象</a:t>
            </a:r>
          </a:p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保存节点、输入和输出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0D990-A03E-43C6-B5FC-FC624F9A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模型服务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DeepSeek deepseek-flash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F978E-0991-4908-9809-BC020746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334125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文件导出</a:t>
            </a:r>
          </a:p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Word或Markdown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1C0DD0-2538-4298-A7BC-791BF498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400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后台alarm按步骤继续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页面读取已经保存的进度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29197-CC61-42B7-BE47-C3E74031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6250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模型负责生成文字；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项目代码检查并导出。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23F32-CAB4-40B2-9AC6-B6308771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这里是依据代码绘制的结构图；不是云端任务执行截图。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7489CD-D169-450B-8EE6-1A136349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来源：Cloudflare Durable Objects官方文档；当前工作区代码快照；12项定向夹具测试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415B6C-0B22-48D1-9DF2-05DD7E2C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943538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34E69-B386-4552-8EFA-6E4F96BD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3AF42-B25E-4A51-B3CD-DAB76A58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云端入口与模型配置的核验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8AEDB-CB66-4B34-8BED-0DDC8F90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8FC28-3A69-4DBF-A43A-E6B54CF9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本轮可打开登录页；健康接口返回DeepSeek已配置、持久化已绑定、MiniMax停用。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6B2AB-D5D4-40B6-9997-8804CA59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本轮检查结果及其含义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69B3D-72BA-4DD7-B097-E84BDEE1777F}"/>
              </a:ext>
            </a:extLst>
          </p:cNvPr>
          <p:cNvGraphicFramePr/>
          <p:nvPr/>
        </p:nvGraphicFramePr>
        <p:xfrm>
          <a:off xmlns:a="http://schemas.openxmlformats.org/drawingml/2006/main" x="762000" y="4048125"/>
          <a:ext xmlns:a="http://schemas.openxmlformats.org/drawingml/2006/main" cx="13716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9525000"/>
              </a:tblGrid>
              <a:tr h="6858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检查项目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本轮记录及其含义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服务是否响应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能够响应健康请求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当前模型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 deepseek-flash，已配置；本轮未调用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任务数据保存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持久化已绑定；本轮尚未验证任务恢复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旧模型配置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MiniMax停用，不作为执行或失败回退模型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A8CEC-1FA9-4E62-80E0-A3245F54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健康检查不能证明某次模型回答正确，也不能替代完整任务演示。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19841-397E-4E15-8434-AB900055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来源：本轮云端健康接口与实际登录页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965CF-6A8D-4D8C-AFB5-F6A0C20E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954233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C504E4-92AB-49ED-8907-97F33674ACE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93622-A0AC-46A5-B8BF-9F0D3D482E3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CF00D-A06B-47D3-B31F-45382609587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F50688-63E0-4F23-A005-DE4434DA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5C8DE-9CCD-4B9E-8650-94ED694F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一次提交后的后台执行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E8B6E-4C2B-4F1B-A454-F198F0EB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3858E-2683-4F6E-9022-30D2A993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网页负责展示状态，后台按节点保存结果，再继续下一步；刷新页面无需逐节点确认。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7536C-AF3F-47D9-92AA-04A07C39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提交材料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C11FF-5908-4EA8-B1EA-6692F673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逐节点执行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4E07F-CF7A-4C14-9E28-2D857D03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保存当前结果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9BFA1-3949-4729-884D-7386A9F5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导出草稿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793EC-7519-46D0-96A9-571B81F6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网页创建任务后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读取后台进度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6CEECE-8AA1-4C1F-9351-9B897956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需要检索时先检索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再处理模型节点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D3D00-2EA4-4266-B6BD-E6B8BAB9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保存后安排下一节点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刷新网页可再读取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EBE6C-009A-4047-869C-C7112483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完成节点后生成文件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问题仍随草稿保留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77334A-2556-4846-96EA-3056998E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当前应用的失败处理：失败 → 自动重试1次 → 再失败则停止并保留原因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2E07F-564A-4143-B427-C4293D96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此页讲当前代码的自动流程；12项定向测试使用模型和存储夹具。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DCF30C-3F3B-4308-8287-92305886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来源：Cloudflare Durable Objects官方文档；当前工作区代码快照；12项定向夹具测试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5AAEBC-7F31-4E23-8F38-50C85D81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47626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FC20B-4040-4C84-AA39-80062FAA04E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667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92111-FA3C-4EE6-AAC9-23952AEB457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667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BF368-02D9-44C6-A18F-C2B1DA82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DDEC1-09A1-4B02-A07E-1C842DBF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节点文字修订与事实保留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A6642-99FD-44B1-BF1C-8F8C0297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DA561-1BBC-444F-8756-81628332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表达修订后，程序比较数字、来源编号和章节结构；研究者还需检查语义有没有变化。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A2EB9-B4F5-4B6D-BBEC-04ED1651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节点初稿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BF779-306D-4BFC-90CB-1BE43C5A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自动修订表达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8E860-F63E-49D5-93A7-96EF5185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检查数字与来源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6DD9D-A8A6-4F57-B397-D67C219B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教学测试原句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CBCB2-10F0-4F15-8979-D618DFE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571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342条记录，均值3700.7 g。</a:t>
            </a:r>
          </a:p>
          <a:p xmlns:a="http://schemas.openxmlformats.org/drawingml/2006/main">
            <a: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来源编号：D1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64603-3149-45C1-9193-CE5E83A5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243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实际夹具测试中的拒绝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00BB70-3AB9-4B2B-A69B-E498842E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638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342 → 343：数字改变，拒绝。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D1 → D2：来源改变，拒绝。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02800-3506-4BFF-82AF-740E3BDB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仍需逐句读：数字没变，也可能把“相关”写成“导致”。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4BC54-543E-4654-AA4A-3BEDE835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机器比对能够发现部分改动，不能证明文字已达到学术要求。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E84255-4D33-4DF3-B4A1-4E9B8A3C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来源：当前工作区代码快照；12项定向夹具测试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20E63F-273E-453B-BB4D-84937BDB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425268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0702E0-F47C-4DDB-98A2-02B8F6FCA256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095750" y="6524625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A8F7E-12FD-433B-B210-A54133D8B59C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95750" y="5095875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6BC54-77BE-4236-9308-B9DFEFC22BF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95750" y="3667125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ACE0E1-2C79-4CA9-A739-2D3DEBE8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88035-DEDB-4EE4-AA37-EA2888A0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错误输入的实际拒绝结果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E967D-8AC4-44A5-ACD0-770BDCB5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719FD-536D-4BF0-9582-27B4F9B6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故意改变教学输入后，文件程序拒绝未知来源、指南不一致和未签核正式导出。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DB52B-E6E5-4D21-98AA-DF567C8A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未知来源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266AA-A103-4020-8947-555993A4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0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程序拒绝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61CBA-57B6-42DE-A242-6B61CD35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9087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来源编号改为NOT-A-SOURCE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6AE38-EFDB-44B2-B226-14F0DC26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62375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unknown_source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B6145-AA87-4FB0-A1CC-B5C43A0D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指南不一致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AB864-27FD-44CF-B2CD-E33FC574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67250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程序拒绝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715E7-A484-4E3F-BF9D-D846CBEE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1962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改写材料中的指南要求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EC793-4C75-497E-9734-DFE0C278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191125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guide_requirement_mismatch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18F62-953C-4E3A-A135-6E34ADB9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未签核正式导出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2AFF1-8E48-4CBF-8B9D-30E073E2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96000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程序拒绝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11D6B7-FB73-4B28-B385-2347A2F2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04837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要求final，但未提供研究者签核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7E94F-0CB3-4336-87E4-619BD2AD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619875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final_export_blocked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FB5C7D-5A06-4EDB-8E5D-833070E1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这三项实际跑过文件执行器；不等于已经测试了网络、模型或全部故障。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DC601A-D772-4FCB-BECF-0692B3F3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23867B-2930-4606-81EF-B9EFBEB6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453664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D032E-A559-46CC-AEA5-4FB5CDDE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C3937-0073-4B73-800D-9380F6AC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五类任务的当前输出范围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5FE89-42D4-40C8-BC92-EBF5136F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F36AE-B3B7-4318-AF5F-D954BA31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任务入口决定组织材料的顺序，真正交付什么还取决于该运行端接入了哪些工具。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7AF5C-6A8C-41D0-B87F-73954B442CB7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524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429250"/>
                <a:gridCol w="5429250"/>
              </a:tblGrid>
              <a:tr h="75406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本地8788本轮实际输出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Worker当前代码范围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申报 / Grant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教学指南、材料、模板 → Word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模型节点组织内容 → Word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 / Paper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公开数据示例文字 → Word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模型节点组织内容 → Word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专利 / Patent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教学技术方案 → Word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模型节点组织内容 → Word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配图 / Figure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本节未执行配图任务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绘图方案Markdown；不执行绘图代码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结题 / Closeout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本节未执行结题任务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结题草稿Markdown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52D99-2986-4BBE-B2F8-61A9137F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本轮实际下载了本地申报、论文、专利三份Word；配图与结题按代码范围说明。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A4C7E-7C5F-4B28-A109-56DA50F8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来源：本轮本地HTTP、文件与拒绝记录；当前工作区代码快照；12项定向夹具测试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CBBAD-D56A-4DB1-A373-9F8035DF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284931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A3E40-D2C7-41BA-81D3-D77DE7A5831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CBC44-8D4A-4139-A216-CC0D46A6998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1FA44-C5C9-46E4-B910-5E7C398BEAA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5F32C9-51AC-4CBA-BCB7-35D4853F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BD57B-484D-4A01-A942-A880A117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可复查的演示材料包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A24EE-69AE-47A6-BEEC-C56F4736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D5BCC-194A-4AC0-A083-BFC9F4E8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保留这次用的材料、指令版本、运行结果和问题清单，下一次才能检查变化来自哪里。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2C5D5-E4EF-47B2-9A01-48FF5C39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输入材料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4DC1D-A788-4A2B-863A-16D71F57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指令与程序版本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A19DC-4240-452A-8B76-607E962C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过程记录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1A148B-56DC-44F8-BC97-76320036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交付文件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8EBFB-BA06-4321-B056-37216003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指南、研究材料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与模板原件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272588-1802-49C3-B230-6DA86176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Skill内容及指纹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本轮程序快照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FAB6F-A1A7-4E5C-84E5-974C0F47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节点输入和输出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失败原因与重试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3EFD88-61D8-4AA6-83F4-70D0B764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Word、来源账本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问题清单与预览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19876-39AC-4B66-BAF5-564680DB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71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改了材料或模板，就产生新记录，并重新检查对应文件。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2BCB03-2EA4-4154-9446-DE42E9C6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实际授课前复查服务、模型和文件；保留未核验项，不把旧记录说成现场运行。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C83E2-B6CE-4356-92D1-004CE0F5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来源：本轮本地HTTP、文件与拒绝记录；本轮云端健康接口与实际登录页；当前工作区代码快照；12项定向夹具测试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920A73-DCBB-43E2-A350-173C5C5A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203896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2026-10-18T14:33:51.1350000Z</dcterms:created>
  <dcterms:modified xsi:type="dcterms:W3CDTF">2026-10-18T14:33:51.1350000Z</dcterms:modified>
</coreProperties>
</file>