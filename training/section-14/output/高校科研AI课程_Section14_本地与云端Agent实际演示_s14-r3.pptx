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a1e61a7d3f4136" /><Relationship Type="http://schemas.openxmlformats.org/officeDocument/2006/relationships/extended-properties" Target="/docProps/app.xml" Id="Ra7f23b6fcd3549db" /><Relationship Type="http://schemas.openxmlformats.org/officeDocument/2006/relationships/officeDocument" Target="/ppt/presentation.xml" Id="Ra329ab127de14d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39639e01e34657"/>
  </p:sldMasterIdLst>
  <p:notesMasterIdLst>
    <p:notesMasterId xmlns:r="http://schemas.openxmlformats.org/officeDocument/2006/relationships" r:id="Rd5842d52d3c04c76"/>
  </p:notesMasterIdLst>
  <p:sldIdLst>
    <p:sldId xmlns:r="http://schemas.openxmlformats.org/officeDocument/2006/relationships" id="256" r:id="R6e21c7cf7e184d6e"/>
    <p:sldId xmlns:r="http://schemas.openxmlformats.org/officeDocument/2006/relationships" id="257" r:id="Re193ef3563ce41f8"/>
    <p:sldId xmlns:r="http://schemas.openxmlformats.org/officeDocument/2006/relationships" id="258" r:id="R99f3fee5e3754f5e"/>
    <p:sldId xmlns:r="http://schemas.openxmlformats.org/officeDocument/2006/relationships" id="259" r:id="R44eb9a4ec45c42d1"/>
    <p:sldId xmlns:r="http://schemas.openxmlformats.org/officeDocument/2006/relationships" id="260" r:id="Re800335d5e6a42e7"/>
    <p:sldId xmlns:r="http://schemas.openxmlformats.org/officeDocument/2006/relationships" id="261" r:id="Rf071742a6d914ffd"/>
    <p:sldId xmlns:r="http://schemas.openxmlformats.org/officeDocument/2006/relationships" id="262" r:id="R34411827b4324681"/>
    <p:sldId xmlns:r="http://schemas.openxmlformats.org/officeDocument/2006/relationships" id="263" r:id="R0d2365c1e7f74ac0"/>
    <p:sldId xmlns:r="http://schemas.openxmlformats.org/officeDocument/2006/relationships" id="264" r:id="Rf68ebcf6b0374de0"/>
    <p:sldId xmlns:r="http://schemas.openxmlformats.org/officeDocument/2006/relationships" id="265" r:id="R724c498bff2f4a7d"/>
    <p:sldId xmlns:r="http://schemas.openxmlformats.org/officeDocument/2006/relationships" id="266" r:id="Reafa909a1a8e4272"/>
    <p:sldId xmlns:r="http://schemas.openxmlformats.org/officeDocument/2006/relationships" id="267" r:id="R5edd9103bfb64c20"/>
    <p:sldId xmlns:r="http://schemas.openxmlformats.org/officeDocument/2006/relationships" id="268" r:id="R6d61d77d4f2e4e4a"/>
    <p:sldId xmlns:r="http://schemas.openxmlformats.org/officeDocument/2006/relationships" id="269" r:id="R5e09a86c2752459e"/>
    <p:sldId xmlns:r="http://schemas.openxmlformats.org/officeDocument/2006/relationships" id="270" r:id="Rf61f886a579b43f5"/>
    <p:sldId xmlns:r="http://schemas.openxmlformats.org/officeDocument/2006/relationships" id="271" r:id="Rf20c3ad4aebb4850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fb4491ac1943fd" /><Relationship Type="http://schemas.openxmlformats.org/officeDocument/2006/relationships/slideMaster" Target="/ppt/slideMasters/slideMaster1.xml" Id="Rd639639e01e34657" /><Relationship Type="http://schemas.openxmlformats.org/officeDocument/2006/relationships/notesMaster" Target="/ppt/notesMasters/notesMaster1.xml" Id="Rd5842d52d3c04c76" /><Relationship Type="http://schemas.openxmlformats.org/officeDocument/2006/relationships/presProps" Target="/ppt/presProps.xml" Id="Rd2e13c699e9d4d9a" /><Relationship Type="http://schemas.openxmlformats.org/officeDocument/2006/relationships/tableStyles" Target="/ppt/tableStyles.xml" Id="Raf7b782b71af4132" /><Relationship Type="http://schemas.openxmlformats.org/officeDocument/2006/relationships/slide" Target="/ppt/slides/slide1.xml" Id="R6e21c7cf7e184d6e" /><Relationship Type="http://schemas.openxmlformats.org/officeDocument/2006/relationships/slide" Target="/ppt/slides/slide2.xml" Id="Re193ef3563ce41f8" /><Relationship Type="http://schemas.openxmlformats.org/officeDocument/2006/relationships/slide" Target="/ppt/slides/slide3.xml" Id="R99f3fee5e3754f5e" /><Relationship Type="http://schemas.openxmlformats.org/officeDocument/2006/relationships/slide" Target="/ppt/slides/slide4.xml" Id="R44eb9a4ec45c42d1" /><Relationship Type="http://schemas.openxmlformats.org/officeDocument/2006/relationships/slide" Target="/ppt/slides/slide5.xml" Id="Re800335d5e6a42e7" /><Relationship Type="http://schemas.openxmlformats.org/officeDocument/2006/relationships/slide" Target="/ppt/slides/slide6.xml" Id="Rf071742a6d914ffd" /><Relationship Type="http://schemas.openxmlformats.org/officeDocument/2006/relationships/slide" Target="/ppt/slides/slide7.xml" Id="R34411827b4324681" /><Relationship Type="http://schemas.openxmlformats.org/officeDocument/2006/relationships/slide" Target="/ppt/slides/slide8.xml" Id="R0d2365c1e7f74ac0" /><Relationship Type="http://schemas.openxmlformats.org/officeDocument/2006/relationships/slide" Target="/ppt/slides/slide9.xml" Id="Rf68ebcf6b0374de0" /><Relationship Type="http://schemas.openxmlformats.org/officeDocument/2006/relationships/slide" Target="/ppt/slides/slide10.xml" Id="R724c498bff2f4a7d" /><Relationship Type="http://schemas.openxmlformats.org/officeDocument/2006/relationships/slide" Target="/ppt/slides/slide11.xml" Id="Reafa909a1a8e4272" /><Relationship Type="http://schemas.openxmlformats.org/officeDocument/2006/relationships/slide" Target="/ppt/slides/slide12.xml" Id="R5edd9103bfb64c20" /><Relationship Type="http://schemas.openxmlformats.org/officeDocument/2006/relationships/slide" Target="/ppt/slides/slide13.xml" Id="R6d61d77d4f2e4e4a" /><Relationship Type="http://schemas.openxmlformats.org/officeDocument/2006/relationships/slide" Target="/ppt/slides/slide14.xml" Id="R5e09a86c2752459e" /><Relationship Type="http://schemas.openxmlformats.org/officeDocument/2006/relationships/slide" Target="/ppt/slides/slide15.xml" Id="Rf61f886a579b43f5" /><Relationship Type="http://schemas.openxmlformats.org/officeDocument/2006/relationships/slide" Target="/ppt/slides/slide16.xml" Id="Rf20c3ad4aebb48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fe2b41c13f4a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48900c82974a20" /><Relationship Type="http://schemas.openxmlformats.org/officeDocument/2006/relationships/notesMaster" Target="/ppt/notesMasters/notesMaster1.xml" Id="R9640339ae60847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c42653cbbb456e" /><Relationship Type="http://schemas.openxmlformats.org/officeDocument/2006/relationships/notesMaster" Target="/ppt/notesMasters/notesMaster1.xml" Id="R9b5ad37fc3da4b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5f619ae66b4678" /><Relationship Type="http://schemas.openxmlformats.org/officeDocument/2006/relationships/notesMaster" Target="/ppt/notesMasters/notesMaster1.xml" Id="R753fc15ab0a842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94d39174004c83" /><Relationship Type="http://schemas.openxmlformats.org/officeDocument/2006/relationships/notesMaster" Target="/ppt/notesMasters/notesMaster1.xml" Id="R7a293fe51e924f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14b809a1084ce3" /><Relationship Type="http://schemas.openxmlformats.org/officeDocument/2006/relationships/notesMaster" Target="/ppt/notesMasters/notesMaster1.xml" Id="R78912c34c7e241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a1626ee84c4880" /><Relationship Type="http://schemas.openxmlformats.org/officeDocument/2006/relationships/notesMaster" Target="/ppt/notesMasters/notesMaster1.xml" Id="R9ebf078905f54d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20e8efa3fd4ed9" /><Relationship Type="http://schemas.openxmlformats.org/officeDocument/2006/relationships/notesMaster" Target="/ppt/notesMasters/notesMaster1.xml" Id="R42cd9952d3c140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a4a88487cd44fb" /><Relationship Type="http://schemas.openxmlformats.org/officeDocument/2006/relationships/notesMaster" Target="/ppt/notesMasters/notesMaster1.xml" Id="R953898abc46847e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f55a62cdd744867" /><Relationship Type="http://schemas.openxmlformats.org/officeDocument/2006/relationships/notesMaster" Target="/ppt/notesMasters/notesMaster1.xml" Id="Rcbceef463a6343c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131b1b1de6f4b47" /><Relationship Type="http://schemas.openxmlformats.org/officeDocument/2006/relationships/notesMaster" Target="/ppt/notesMasters/notesMaster1.xml" Id="Rab77c5aee8c54d4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f2576055b3f4e49" /><Relationship Type="http://schemas.openxmlformats.org/officeDocument/2006/relationships/notesMaster" Target="/ppt/notesMasters/notesMaster1.xml" Id="R6c47a70195fb441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9bd16206be445fd" /><Relationship Type="http://schemas.openxmlformats.org/officeDocument/2006/relationships/notesMaster" Target="/ppt/notesMasters/notesMaster1.xml" Id="R1298a0b6687143a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d048057e0ca403e" /><Relationship Type="http://schemas.openxmlformats.org/officeDocument/2006/relationships/notesMaster" Target="/ppt/notesMasters/notesMaster1.xml" Id="R421460047dc04cb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9351fb7a27b4257" /><Relationship Type="http://schemas.openxmlformats.org/officeDocument/2006/relationships/notesMaster" Target="/ppt/notesMasters/notesMaster1.xml" Id="R5c09dedd8dec424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bc0c67bdc5b4588" /><Relationship Type="http://schemas.openxmlformats.org/officeDocument/2006/relationships/notesMaster" Target="/ppt/notesMasters/notesMaster1.xml" Id="Re8bf523ba1e84f4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96ea349769445c8" /><Relationship Type="http://schemas.openxmlformats.org/officeDocument/2006/relationships/notesMaster" Target="/ppt/notesMasters/notesMaster1.xml" Id="Rca21c83ccd0643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将前面讲过的Skill、工作流和Harness放回实际材料中。演示对象是“公开文献筛选与核验流程”的教学申报材料，非真实基金申请。先看本地文件服务如何把给定材料放进模板，再看云端的承载方式、状态记录和工具范围。提醒听众区分写作建议、实际工具动作与生成的文件。页面里的本地与云端不是两套科学结论；它们只是运行位置和可用工具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Section 14实际本地教学运行</a:t>
            </a:r>
          </a:p>
          <a:p xmlns:a="http://schemas.openxmlformats.org/drawingml/2006/main">
            <a:r>
              <a:t>demo/output/grant/run.json</a:t>
            </a:r>
          </a:p>
          <a:p xmlns:a="http://schemas.openxmlformats.org/drawingml/2006/main">
            <a:r>
              <a:t>定位：evidence/local-http.json；demo/input；demo/output；evidence/negative-cases.json；固定材料，无模型调用；course-artifacts/manifest.json为前节五类已有产物快照，本轮未重跑这些前节流程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科研工作台健康检查</a:t>
            </a:r>
          </a:p>
          <a:p xmlns:a="http://schemas.openxmlformats.org/drawingml/2006/main">
            <a:r>
              <a:t>https://ikun.homes/health</a:t>
            </a:r>
          </a:p>
          <a:p xmlns:a="http://schemas.openxmlformats.org/drawingml/2006/main">
            <a:r>
              <a:t>定位：evidence/cloud-health.json、cloud-auth-attempt.json；当前公开配置与一次登录尝试，无本轮模型任务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CMU 2025年Lecture 23物理第30页展示Mind2Web的候选元素、排序模型、预测模型、目标元素和操作。这里只借它说明：任务和前序动作会影响下一步选择，动作必须落到具体环境。课堂用“读模板—填章节—检查文件”替换网页操作细节。不能因课件介绍浏览器Agent，就说本项目已经有自主浏览器；当前Worker的检索、模型和文件生成能力必须分别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Aran Nayebi &amp; Matt Gormley, Code Generation + LLMs / VLMs as Autonomous Agents, Nov. 19, 2025</a:t>
            </a:r>
          </a:p>
          <a:p xmlns:a="http://schemas.openxmlformats.org/drawingml/2006/main">
            <a:r>
              <a:t>https://www.cs.cmu.edu/~mgormley/courses/10423-f25/slides/lecture23-code.pdf</a:t>
            </a:r>
          </a:p>
          <a:p xmlns:a="http://schemas.openxmlformats.org/drawingml/2006/main">
            <a:r>
              <a:t>定位：物理页29、30、31、32、34、37已查看；采用30页（印刷页35）的输入、动作及历史信息组织；不采用旧论文计数和模型排名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打开demo/input/grant可见guide.json、grant.json和template.docx。教学指南要求12个月内形成可复算流程、评价召回与耗时并保留人工判断。材料提供研究目标、六节已有内容及来源编号；模板决定这些内容落到哪里。本地程序不从任意PDF理解指南，也不凭空撰写研究设想。讲师逐项展示输入，让听众知道输出中的句子原先来自哪里。真实申请须换用对应项目当期官方指南及申请人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Section 14实际本地教学运行</a:t>
            </a:r>
          </a:p>
          <a:p xmlns:a="http://schemas.openxmlformats.org/drawingml/2006/main">
            <a:r>
              <a:t>demo/output/grant/run.json</a:t>
            </a:r>
          </a:p>
          <a:p xmlns:a="http://schemas.openxmlformats.org/drawingml/2006/main">
            <a:r>
              <a:t>定位：evidence/local-http.json；demo/input；demo/output；evidence/negative-cases.json；固定材料，无模型调用；course-artifacts/manifest.json为前节五类已有产物快照，本轮未重跑这些前节流程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启动8788服务，点击生成申报草稿，页面由读取材料与模板转为“草稿已生成”，出现可编辑Word链接。配图是浏览器实际截图，没有绘制假的执行界面。后续另通过HTTP下载检查了文件哈希。本地演示主要帮助老师理解文件到文件的执行链，不能说它已经自主提出科学问题或查完文献。课程包保留了本轮输入、输出、运行事件和问题清单，课前可重新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Section 14实际本地教学运行</a:t>
            </a:r>
          </a:p>
          <a:p xmlns:a="http://schemas.openxmlformats.org/drawingml/2006/main">
            <a:r>
              <a:t>demo/output/grant/run.json</a:t>
            </a:r>
          </a:p>
          <a:p xmlns:a="http://schemas.openxmlformats.org/drawingml/2006/main">
            <a:r>
              <a:t>定位：evidence/local-http.json；demo/input；demo/output；evidence/negative-cases.json；固定材料，无模型调用；course-artifacts/manifest.json为前节五类已有产物快照，本轮未重跑这些前节流程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ant的run.json记录intake、constraints、outline和docx四个事件。其含义依次是读取输入，检查指南和章节，记录仍需研究者审阅，写入Word。outline的状态为human_review_required，不能改讲成研究者已签核。另一个route.mmd描述教学研究方案中的“材料准入—独立参考答案—固定任务比较—错误分析—人工复核—报告”，它是拟开展研究的路线，不能当成本次程序已完成这些研究步骤的日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Section 14实际本地教学运行</a:t>
            </a:r>
          </a:p>
          <a:p xmlns:a="http://schemas.openxmlformats.org/drawingml/2006/main">
            <a:r>
              <a:t>demo/output/grant/run.json</a:t>
            </a:r>
          </a:p>
          <a:p xmlns:a="http://schemas.openxmlformats.org/drawingml/2006/main">
            <a:r>
              <a:t>定位：evidence/local-http.json；demo/input；demo/output；evidence/negative-cases.json；固定材料，无模型调用；course-artifacts/manifest.json为前节五类已有产物快照，本轮未重跑这些前节流程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地程序比较指南和材料中的requirements是否一致，并检查每项要求是否关联已有目标，是否写明产物及检验方式。本例R1关联G1，交付代码、依赖、输入和日志；R2关联G2，保存逐条筛选记录及统计报告；R3关联G3，交付Word草稿、来源账本和审核记录。指南中“12个月”是模拟项目安排，不是已经完成12个月研究。程序核对的是对应关系存在与内容一致，没有验证研究设计一定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Section 14实际本地教学运行</a:t>
            </a:r>
          </a:p>
          <a:p xmlns:a="http://schemas.openxmlformats.org/drawingml/2006/main">
            <a:r>
              <a:t>demo/output/grant/run.json</a:t>
            </a:r>
          </a:p>
          <a:p xmlns:a="http://schemas.openxmlformats.org/drawingml/2006/main">
            <a:r>
              <a:t>定位：evidence/local-http.json；demo/input；demo/output；evidence/negative-cases.json；固定材料，无模型调用；course-artifacts/manifest.json为前节五类已有产物快照，本轮未重跑这些前节流程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展示实际生成的Word第一页和issues.json。六节内容按模板填入，每节带材料来源，文末保留来源与未决问题。本例缺口有：未提供真实团队基础，未完成真实文献查新与科学可行性审查，未获得研究者签核。技术路线和考核指标可以先组织成草稿，但缺口不能靠润色消失。这里的来源账本只保存给定身份和定位；它没有自动读取所有原始论文来证明每一句科学主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Section 14实际本地教学运行</a:t>
            </a:r>
          </a:p>
          <a:p xmlns:a="http://schemas.openxmlformats.org/drawingml/2006/main">
            <a:r>
              <a:t>demo/output/grant/run.json</a:t>
            </a:r>
          </a:p>
          <a:p xmlns:a="http://schemas.openxmlformats.org/drawingml/2006/main">
            <a:r>
              <a:t>定位：evidence/local-http.json；demo/input；demo/output；evidence/negative-cases.json；固定材料，无模型调用；course-artifacts/manifest.json为前节五类已有产物快照，本轮未重跑这些前节流程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本轮读取University-Skills、工作区安装目录、Agent仓库安装目录及生成的Worker Skill包，统一换行后逐份比较完整内容和SHA256，24份全部一致。云端健康接口返回的包指纹也与skills-lock一致。Skill是办事规则，可带脚本和资源；本课程这24份主要是指令规范。指令里写“查文献”不会自动增加浏览器或数据库账号，写“绘图”也不等于云端已执行绘图代码。同源是可核对的文件事实，不是能力等同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Skills / Build skills</a:t>
            </a:r>
          </a:p>
          <a:p xmlns:a="http://schemas.openxmlformats.org/drawingml/2006/main">
            <a:r>
              <a:t>https://developers.openai.com/plugins/concepts/skills</a:t>
            </a:r>
          </a:p>
          <a:p xmlns:a="http://schemas.openxmlformats.org/drawingml/2006/main">
            <a:r>
              <a:t>定位：Skill由SKILL.md和可选脚本、资源组成；实际安装和完整内容比较见evidence/same-skills.json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科研工作台健康检查</a:t>
            </a:r>
          </a:p>
          <a:p xmlns:a="http://schemas.openxmlformats.org/drawingml/2006/main">
            <a:r>
              <a:t>https://ikun.homes/health</a:t>
            </a:r>
          </a:p>
          <a:p xmlns:a="http://schemas.openxmlformats.org/drawingml/2006/main">
            <a:r>
              <a:t>定位：evidence/cloud-health.json、cloud-auth-attempt.json；当前公开配置与一次登录尝试，无本轮模型任务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“执行管理”解释Harness：研究者给目标和材料，模型决定或按工作流处理当前步骤，工具实际读取或写入文件，管理程序保存结果并选择继续、重试或结束。模型本身不会因为写出“已保存”就真的在硬盘产生文件。本地Codex可以使用当前授权的文件和代码工具；本项目Worker只使用已接入的接口与导出工具。讲师指着回路解释每次反馈来自哪里，避免把Harness讲成另一个神秘大模型。 本地8788走固定规则，不调用模型。图中的“模型或规则”表示运行端采用的处理方式，不能把本地写文件理解为模型自主决策。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Aran Nayebi &amp; Matt Gormley, Code Generation + LLMs / VLMs as Autonomous Agents, Nov. 19, 2025</a:t>
            </a:r>
          </a:p>
          <a:p xmlns:a="http://schemas.openxmlformats.org/drawingml/2006/main">
            <a:r>
              <a:t>https://www.cs.cmu.edu/~mgormley/courses/10423-f25/slides/lecture23-code.pdf</a:t>
            </a:r>
          </a:p>
          <a:p xmlns:a="http://schemas.openxmlformats.org/drawingml/2006/main">
            <a:r>
              <a:t>定位：物理页29、30、31、32、34、37已查看；采用30页（印刷页35）的输入、动作及历史信息组织；不采用旧论文计数和模型排名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项目工作流、模型、编辑与导出实现</a:t>
            </a:r>
          </a:p>
          <a:p xmlns:a="http://schemas.openxmlformats.org/drawingml/2006/main">
            <a:r>
              <a:t>evidence/source-snapshot/</a:t>
            </a:r>
          </a:p>
          <a:p xmlns:a="http://schemas.openxmlformats.org/drawingml/2006/main">
            <a:r>
              <a:t>定位：automatic.js、model.js、workflows.js、writing.js、projects.js；targeted-tests.tap。工作区有未提交应用修改，快照哈希见provenance.json；测试模型与存储使用夹具，不能当作云端联调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Cloudflare Worker承载入口和接口；Durable Object在这里可以理解为每个任务的持久档案与执行状态。浏览器读取进度，后台alarm唤醒后继续下一节点。模型服务返回文字，项目代码另做检查与文件生成；Worker本身不是模型。图中云端模型按本轮健康接口显示为DeepSeek deepseek-flash，MiniMax只保留旧配置且停用，不参与执行或回退。图的箭头说明当前实现关系，不代表本轮已经完整重跑了云端任务。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What are Durable Objects? / Alarms</a:t>
            </a:r>
          </a:p>
          <a:p xmlns:a="http://schemas.openxmlformats.org/drawingml/2006/main">
            <a:r>
              <a:t>https://developers.cloudflare.com/durable-objects/api/alarms/</a:t>
            </a:r>
          </a:p>
          <a:p xmlns:a="http://schemas.openxmlformats.org/drawingml/2006/main">
            <a:r>
              <a:t>定位：Background及alarm：持久状态与后台唤醒；应用层重试次数另据本项目代码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项目工作流、模型、编辑与导出实现</a:t>
            </a:r>
          </a:p>
          <a:p xmlns:a="http://schemas.openxmlformats.org/drawingml/2006/main">
            <a:r>
              <a:t>evidence/source-snapshot/</a:t>
            </a:r>
          </a:p>
          <a:p xmlns:a="http://schemas.openxmlformats.org/drawingml/2006/main">
            <a:r>
              <a:t>定位：automatic.js、model.js、workflows.js、writing.js、projects.js；targeted-tests.tap。工作区有未提交应用修改，快照哈希见provenance.json；测试模型与存储使用夹具，不能当作云端联调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分别请求公开health和项目登录接口。health返回HTTP200，报告deepseek-flash已配置、persistence_bound为true且MiniMax停用；随后用现有项目专用访问配置发起一次登录，返回HTTP401，没有取得会话，未创建任务或调用模型。证据中不保存凭据、请求体或含凭据的头。未改变密码、全局密钥、模型或部署。2026年10月17日的云端执行属于历史记录，不能作为本轮模型执行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科研工作台健康检查</a:t>
            </a:r>
          </a:p>
          <a:p xmlns:a="http://schemas.openxmlformats.org/drawingml/2006/main">
            <a:r>
              <a:t>https://ikun.homes/health</a:t>
            </a:r>
          </a:p>
          <a:p xmlns:a="http://schemas.openxmlformats.org/drawingml/2006/main">
            <a:r>
              <a:t>定位：evidence/cloud-health.json、cloud-auth-attempt.json；当前公开配置与一次登录尝试，无本轮模型任务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自动流程先处理需要的检索，再依次执行节点，最后导出文件。每一步结束后保存输出，并安排下一次alarm；页面轮询读取状态。应用代码对失败节点自动重试一次，再失败则停止并显示错误；这与Cloudflare平台alarm抛异常的重试机制不同，不混讲次数。由于已完成结果在任务存储中，关闭页面不应等同取消任务。这个行为本轮通过夹具测试检查，没有通过本轮真实云端模型任务再次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What are Durable Objects? / Alarms</a:t>
            </a:r>
          </a:p>
          <a:p xmlns:a="http://schemas.openxmlformats.org/drawingml/2006/main">
            <a:r>
              <a:t>https://developers.cloudflare.com/durable-objects/api/alarms/</a:t>
            </a:r>
          </a:p>
          <a:p xmlns:a="http://schemas.openxmlformats.org/drawingml/2006/main">
            <a:r>
              <a:t>定位：Background及alarm：持久状态与后台唤醒；应用层重试次数另据本项目代码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项目工作流、模型、编辑与导出实现</a:t>
            </a:r>
          </a:p>
          <a:p xmlns:a="http://schemas.openxmlformats.org/drawingml/2006/main">
            <a:r>
              <a:t>evidence/source-snapshot/</a:t>
            </a:r>
          </a:p>
          <a:p xmlns:a="http://schemas.openxmlformats.org/drawingml/2006/main">
            <a:r>
              <a:t>定位：automatic.js、model.js、workflows.js、writing.js、projects.js；targeted-tests.tap。工作区有未提交应用修改，快照哈希见provenance.json；测试模型与存储使用夹具，不能当作云端联调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当前代码先生成节点内容，再自动修订表达，并检查数字、来源和章节。定向测试用342条记录与均值3700.7 g验证数字改变会被拒绝，用D1变成D2验证来源改变会被拒绝。它们是自编测试夹具，不是科研结果。数字完全一样时，也可能把相关性改成因果，或把拟开展写成已完成，因此还要逐句读。Humanizer的目标是让具体读者读懂对象、动作和结论，不是给文字一个“绝无AI味”的程序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项目工作流、模型、编辑与导出实现</a:t>
            </a:r>
          </a:p>
          <a:p xmlns:a="http://schemas.openxmlformats.org/drawingml/2006/main">
            <a:r>
              <a:t>evidence/source-snapshot/</a:t>
            </a:r>
          </a:p>
          <a:p xmlns:a="http://schemas.openxmlformats.org/drawingml/2006/main">
            <a:r>
              <a:t>定位：automatic.js、model.js、workflows.js、writing.js、projects.js；targeted-tests.tap。工作区有未提交应用修改，快照哈希见provenance.json；测试模型与存储使用夹具，不能当作云端联调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复制教学输入并作三种小改动，分别运行真实文件执行器。来源改成NOT-A-SOURCE，返回unknown_source；修改指南对应要求，返回guide_requirement_mismatch；直接要求final而未签核，返回final_export_blocked。错误记录在每个案例的run.json中保存。这里检查的是本地固定材料执行器；网页自动草稿无需逐节点人工确认，二者不是同一个提交关口。不能为了看起来流程完整而编造人名、批准事件或把失败节点涂成绿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Section 14实际本地教学运行</a:t>
            </a:r>
          </a:p>
          <a:p xmlns:a="http://schemas.openxmlformats.org/drawingml/2006/main">
            <a:r>
              <a:t>demo/output/grant/run.json</a:t>
            </a:r>
          </a:p>
          <a:p xmlns:a="http://schemas.openxmlformats.org/drawingml/2006/main">
            <a:r>
              <a:t>定位：evidence/local-http.json；demo/input；demo/output；evidence/negative-cases.json；固定材料，无模型调用；course-artifacts/manifest.json为前节五类已有产物快照，本轮未重跑这些前节流程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中本地产物分别来自第8至12节，course-artifacts保留18项文件及来源、字节与哈希。它们是前节实际产物的快照，本轮未重新运行五类完整任务。第9节有清稿、字体增删标记稿和逐条回复Word，标记稿不等于Word原生修订模式。第8节包含7幅原生数据图与工作簿的PPT和两份draw.io；第10、11节Word中已有技术路线或教学流程附图；第12节Word、证据表和9项附件目录继续保留待补状态。8788本轮实际重跑的是固定申报、论文、专利三份Word，不包含Figure和Closeout入口。Worker的前三类导出Word，Figure整理绘图方案Markdown，Closeout导出Markdown。本轮登录失败，未验证真实云端模型任务；Nano Banana未接入。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Section 14实际本地教学运行</a:t>
            </a:r>
          </a:p>
          <a:p xmlns:a="http://schemas.openxmlformats.org/drawingml/2006/main">
            <a:r>
              <a:t>demo/output/grant/run.json</a:t>
            </a:r>
          </a:p>
          <a:p xmlns:a="http://schemas.openxmlformats.org/drawingml/2006/main">
            <a:r>
              <a:t>定位：evidence/local-http.json；demo/input；demo/output；evidence/negative-cases.json；固定材料，无模型调用；course-artifacts/manifest.json为前节五类已有产物快照，本轮未重跑这些前节流程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项目工作流、模型、编辑与导出实现</a:t>
            </a:r>
          </a:p>
          <a:p xmlns:a="http://schemas.openxmlformats.org/drawingml/2006/main">
            <a:r>
              <a:t>evidence/source-snapshot/</a:t>
            </a:r>
          </a:p>
          <a:p xmlns:a="http://schemas.openxmlformats.org/drawingml/2006/main">
            <a:r>
              <a:t>定位：automatic.js、model.js、workflows.js、writing.js、projects.js；targeted-tests.tap。工作区有未提交应用修改，快照哈希见provenance.json；测试模型与存储使用夹具，不能当作云端联调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沿本例档案回看：输入有指南、材料和模板；规则有Skill版本和程序快照；过程有本地事件、HTTP与失败记录；结果有Word、来源账本和问题清单。下次改模板或输入，应生成新记录并重新检查。示范本地时无需登录云账户；示范云端时应明确公开教学材料的传输范围，并查看当天节点和结果。对真实科研资料另按授权处理。课程帮助教师判断AI做了什么、证据在哪里，科学问题、事实核对与正式提交仍由研究者负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Section 14实际本地教学运行</a:t>
            </a:r>
          </a:p>
          <a:p xmlns:a="http://schemas.openxmlformats.org/drawingml/2006/main">
            <a:r>
              <a:t>demo/output/grant/run.json</a:t>
            </a:r>
          </a:p>
          <a:p xmlns:a="http://schemas.openxmlformats.org/drawingml/2006/main">
            <a:r>
              <a:t>定位：evidence/local-http.json；demo/input；demo/output；evidence/negative-cases.json；固定材料，无模型调用；course-artifacts/manifest.json为前节五类已有产物快照，本轮未重跑这些前节流程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科研工作台健康检查</a:t>
            </a:r>
          </a:p>
          <a:p xmlns:a="http://schemas.openxmlformats.org/drawingml/2006/main">
            <a:r>
              <a:t>https://ikun.homes/health</a:t>
            </a:r>
          </a:p>
          <a:p xmlns:a="http://schemas.openxmlformats.org/drawingml/2006/main">
            <a:r>
              <a:t>定位：evidence/cloud-health.json、cloud-auth-attempt.json；当前公开配置与一次登录尝试，无本轮模型任务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项目工作流、模型、编辑与导出实现</a:t>
            </a:r>
          </a:p>
          <a:p xmlns:a="http://schemas.openxmlformats.org/drawingml/2006/main">
            <a:r>
              <a:t>evidence/source-snapshot/</a:t>
            </a:r>
          </a:p>
          <a:p xmlns:a="http://schemas.openxmlformats.org/drawingml/2006/main">
            <a:r>
              <a:t>定位：automatic.js、model.js、workflows.js、writing.js、projects.js；targeted-tests.tap。工作区有未提交应用修改，快照哈希见provenance.json；测试模型与存储使用夹具，不能当作云端联调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9dbddfb938437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82783df8fb483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a2aab10b1843a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06ede329e04d9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f0636bc63d47a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e43c39f1304d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705F1F-9BF0-4D5C-B780-A0BB1A39FB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202725F-2F92-4362-AC5E-FE6D7AD8302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0DF85A6-E992-4E74-B370-BE450273C5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53185BC-9D08-47C7-8F72-B4FB51A0BE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6ED04C4-7B8B-4994-9547-9E39D97D4E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820ABA2-BFCA-4621-81CB-551C024401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C50FFEA-BB7A-4294-91BB-A84413AA33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B121E9A-AFFB-4415-A990-658853FF45A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111664-7F46-4F05-AF58-0F9C9EC593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9750293-4A7D-4F1E-86F4-BBD33715C0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298aaf396341e7" /><Relationship Type="http://schemas.openxmlformats.org/officeDocument/2006/relationships/slideLayout" Target="/ppt/slideLayouts/slideLayout1.xml" Id="R492f9048532645f1" /><Relationship Type="http://schemas.openxmlformats.org/officeDocument/2006/relationships/slideLayout" Target="/ppt/slideLayouts/slideLayout2.xml" Id="Rf48ad5a5fde14aed" /><Relationship Type="http://schemas.openxmlformats.org/officeDocument/2006/relationships/slideLayout" Target="/ppt/slideLayouts/slideLayout3.xml" Id="R871c637fe975401f" /><Relationship Type="http://schemas.openxmlformats.org/officeDocument/2006/relationships/slideLayout" Target="/ppt/slideLayouts/slideLayout4.xml" Id="R75aec2105ded4720" /><Relationship Type="http://schemas.openxmlformats.org/officeDocument/2006/relationships/slideLayout" Target="/ppt/slideLayouts/slideLayout5.xml" Id="Rca1a722896644643" /><Relationship Type="http://schemas.openxmlformats.org/officeDocument/2006/relationships/slideLayout" Target="/ppt/slideLayouts/slideLayout6.xml" Id="R25f72a1bf1f349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2f9048532645f1"/>
    <p:sldLayoutId xmlns:r="http://schemas.openxmlformats.org/officeDocument/2006/relationships" id="2147483650" r:id="Rf48ad5a5fde14aed"/>
    <p:sldLayoutId xmlns:r="http://schemas.openxmlformats.org/officeDocument/2006/relationships" id="2147483651" r:id="R871c637fe975401f"/>
    <p:sldLayoutId xmlns:r="http://schemas.openxmlformats.org/officeDocument/2006/relationships" id="2147483652" r:id="R75aec2105ded4720"/>
    <p:sldLayoutId xmlns:r="http://schemas.openxmlformats.org/officeDocument/2006/relationships" id="2147483653" r:id="Rca1a722896644643"/>
    <p:sldLayoutId xmlns:r="http://schemas.openxmlformats.org/officeDocument/2006/relationships" id="2147483654" r:id="R25f72a1bf1f349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6c683fcac648b4" /><Relationship Type="http://schemas.openxmlformats.org/officeDocument/2006/relationships/notesSlide" Target="/ppt/notesSlides/notesSlide1.xml" Id="R3cdb5564552546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82eaf6b0ad4690" /><Relationship Type="http://schemas.openxmlformats.org/officeDocument/2006/relationships/image" Target="/ppt/media/image.png" Id="R776dd482716942ad" /><Relationship Type="http://schemas.openxmlformats.org/officeDocument/2006/relationships/notesSlide" Target="/ppt/notesSlides/notesSlide2.xml" Id="R07aae55a1dc04a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f0de6755b64a78" /><Relationship Type="http://schemas.openxmlformats.org/officeDocument/2006/relationships/notesSlide" Target="/ppt/notesSlides/notesSlide3.xml" Id="R9081ceb13ce74d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17b98dc4bd41ed" /><Relationship Type="http://schemas.openxmlformats.org/officeDocument/2006/relationships/image" Target="/ppt/media/image.jpeg" Id="R98ea2a9d92094287" /><Relationship Type="http://schemas.openxmlformats.org/officeDocument/2006/relationships/notesSlide" Target="/ppt/notesSlides/notesSlide4.xml" Id="R33ae9e62692849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3e30b2d2d24f06" /><Relationship Type="http://schemas.openxmlformats.org/officeDocument/2006/relationships/notesSlide" Target="/ppt/notesSlides/notesSlide5.xml" Id="R375240dc119744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dd0a5c4a1849d5" /><Relationship Type="http://schemas.openxmlformats.org/officeDocument/2006/relationships/notesSlide" Target="/ppt/notesSlides/notesSlide6.xml" Id="Rf36ebd4893da46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be48965d8c4fdf" /><Relationship Type="http://schemas.openxmlformats.org/officeDocument/2006/relationships/image" Target="/ppt/media/image2.png" Id="Re21fcbedea284aff" /><Relationship Type="http://schemas.openxmlformats.org/officeDocument/2006/relationships/notesSlide" Target="/ppt/notesSlides/notesSlide7.xml" Id="Rb2c39e91cbea4f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d642f58bde484f" /><Relationship Type="http://schemas.openxmlformats.org/officeDocument/2006/relationships/notesSlide" Target="/ppt/notesSlides/notesSlide8.xml" Id="R2481644a61554f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527b49306b469c" /><Relationship Type="http://schemas.openxmlformats.org/officeDocument/2006/relationships/notesSlide" Target="/ppt/notesSlides/notesSlide9.xml" Id="Rc6457b6b42ef4b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b61b7ba47b4095" /><Relationship Type="http://schemas.openxmlformats.org/officeDocument/2006/relationships/notesSlide" Target="/ppt/notesSlides/notesSlide10.xml" Id="Rf5fe5993f6e7441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f24295d67c4121" /><Relationship Type="http://schemas.openxmlformats.org/officeDocument/2006/relationships/notesSlide" Target="/ppt/notesSlides/notesSlide11.xml" Id="R6de2aa3bb6d7473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1cf4e1980b4461" /><Relationship Type="http://schemas.openxmlformats.org/officeDocument/2006/relationships/notesSlide" Target="/ppt/notesSlides/notesSlide12.xml" Id="R9e546ad9f17441f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d5310f24204d14" /><Relationship Type="http://schemas.openxmlformats.org/officeDocument/2006/relationships/notesSlide" Target="/ppt/notesSlides/notesSlide13.xml" Id="R6ea65af5f54e46d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ed615850554d60" /><Relationship Type="http://schemas.openxmlformats.org/officeDocument/2006/relationships/notesSlide" Target="/ppt/notesSlides/notesSlide14.xml" Id="Rc1bcfbb7312a4a5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ed372f58a647a2" /><Relationship Type="http://schemas.openxmlformats.org/officeDocument/2006/relationships/notesSlide" Target="/ppt/notesSlides/notesSlide15.xml" Id="Ra5f9ccf117e747a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dad7fb9af944fa" /><Relationship Type="http://schemas.openxmlformats.org/officeDocument/2006/relationships/notesSlide" Target="/ppt/notesSlides/notesSlide16.xml" Id="Rcb27fb1e377e473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D8EBA5-8F38-433D-8B0B-7EF054DCCCC7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572625" y="4691063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129677-5897-475D-923C-AFF2D98D5F5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667250" y="4691063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F8CFC6-05F8-44FB-AD64-1D96F143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F34948-7A87-40BA-8C7E-46CAD488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本地与云端Agent实际演示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C15EA-DAA8-46F8-960D-1FA5C4A9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3FC6A0-2F3C-4958-BD22-3E64F056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以教学申报材料为例，沿着输入、执行记录和结果文件，查看每一步究竟完成了什么。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A2F6B1-0E29-4DC1-85C7-1A9C2FDA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本地文件演示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43ACFC-09C4-437D-95F3-0E5DF9BB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3905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指南、材料与模板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A5CF40-34F6-4E88-AB11-91AB380E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238625"/>
            <a:ext cx="3905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文件检查与填充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B2734B-596C-4136-ABC7-AE9AE78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38625"/>
            <a:ext cx="3905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Word与问题清单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944234-2BAF-4D0C-AE17-A6AC31F4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当前输入已经准备好，程序按规则处理，输出可下载、可检查。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D37577-F4C7-4AC2-ABDF-8F44ED8F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15125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云端工作流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FB4366-2E6B-4A66-863E-03EE7535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715125"/>
            <a:ext cx="10191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接入模型与检索后，仍要逐步保存来源、节点结果和文件版本。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671D20-6D5F-4D3C-A39A-B3B06D51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本地固定材料流程已重跑；云端健康接口可用，登录返回401，未创建模型任务。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E97B72-C5C9-4F77-BB0E-0FF02843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来源：本轮本地HTTP、文件与拒绝记录；本轮HTTPS健康200、登录401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256682-D3AC-4C84-BC04-74D18727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212899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711B12-D95F-4E74-985B-E4DE95D4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8DD6A4-FD1D-47A9-B55A-8BCBA81C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Agent的动作与环境反馈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F64F26-3A82-410B-96CC-4B37509E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C265F-70D1-40DE-A45D-82D1FFE8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模型给出下一步动作后，系统还要执行动作、读取结果，并据此决定后续步骤。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64DE36-B172-44E4-8DBC-BBA01571EA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6dd482716942ad"/>
          <a:stretch xmlns:a="http://schemas.openxmlformats.org/drawingml/2006/main"/>
        </p:blipFill>
        <p:spPr>
          <a:xfrm xmlns:a="http://schemas.openxmlformats.org/drawingml/2006/main">
            <a:off x="995870" y="3143250"/>
            <a:ext cx="8295259" cy="4667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32530B-A46F-43E0-BFFE-DE5F8BD0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9087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8603A3-D73A-4E1C-85A5-3C0F4925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62375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当前环境、任务与此前动作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A589C0-B025-4B8B-BA9E-468BBE24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61962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动作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16F1B2-2A1F-48AF-A32C-38669B4A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191125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选择对象，并给出具体操作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FC9F9C-7FD2-4993-8605-26A05AB3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04837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回查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038D97-78CB-4551-A22E-46F8DB1F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619875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执行之后再次读取环境与结果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FA3665-E8CA-4F75-B87C-FE8FCADF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原课件用于解释输入与动作关系；本项目没有实现图中的Mind2Web系统。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9B60CF-CF68-4E50-A018-98D898D8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来源：CMU Generative AI 2025，Lecture 23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DAB5BD-8704-4C6F-AC0D-6950D747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401128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D088E4-CEDA-4249-AA8F-F62B45AD3807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7620000" y="6238875"/>
            <a:ext cx="4857750" cy="714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5D1BD9-B269-4027-B1BE-F811D2F306A1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7620000" y="6238875"/>
            <a:ext cx="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3EFA1B-A396-4821-B066-9B53E23B9438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2762250" y="6238875"/>
            <a:ext cx="4857750" cy="714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5013C7-54C1-4A96-BC0F-8A2ABC79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69DCF2-0D9D-4B41-9C03-4292C2F7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申报演示的三份输入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DEDA2-CA46-4E09-A413-60871C77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9CF2D-E2E2-443E-AC9A-06C6DD10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这次输入是教学指南、已有研究设想和Word模板，三者各有不同用途。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813705-1A0B-4C5F-8F90-8D807DE1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4000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教学指南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12个月内形成可复算流程</a:t>
            </a:r>
          </a:p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评价召回与耗时</a:t>
            </a:r>
          </a:p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保留人工判断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5F9420-4907-47B5-8CF1-47F5FDD9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86125"/>
            <a:ext cx="4000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已有材料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研究目标与方案</a:t>
            </a:r>
          </a:p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六节已有文字与来源</a:t>
            </a:r>
          </a:p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尚缺的真实研究基础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F2DFAD-40D5-4089-82CD-42427928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86125"/>
            <a:ext cx="4000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Word模板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立项依据、研究目标</a:t>
            </a:r>
          </a:p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研究内容、技术路线</a:t>
            </a:r>
          </a:p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考核指标与研究基础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05A104-0714-4543-98AC-D4499A7F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9532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核对三者一致后，按模板整理草稿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C3D04B-157B-4158-8237-2CC6FA0A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指南编号TEACH-GRANT-01为课程自编，不能当作当年官方基金指南。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EDF70C-0F08-4E1C-8E63-59E94077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来源：本轮本地HTTP、文件与拒绝记录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27357C-DFBA-4EC2-AC92-8A2CF014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619942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958476-232D-4A2C-9956-1F48D5EB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FC8ADC-073A-4C9F-B6D4-7887ECF8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本地页面到Word的实际操作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57C50E-AD3E-434F-A352-84B0A40B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B75135-0EEB-434A-B7A6-BCDADCC0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点击“生成申报草稿”后，页面实际调用本地文件程序，并提供可下载的Word。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0872A5-1138-455F-98FB-87E953E794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ea2a9d92094287"/>
          <a:stretch xmlns:a="http://schemas.openxmlformats.org/drawingml/2006/main"/>
        </p:blipFill>
        <p:spPr>
          <a:xfrm xmlns:a="http://schemas.openxmlformats.org/drawingml/2006/main">
            <a:off x="1822092" y="3000375"/>
            <a:ext cx="3975816" cy="47148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B84BEE-5948-4807-B5E7-F7B6F8CC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3850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读取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A75A00-10E3-4B78-A3AC-10EE51D4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57625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程序读取已准备的指南和模板。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5186C3-0D3D-4F3D-BFC2-3D122CE5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19625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生成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9858AB-2701-4784-9C97-27BFC4FD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38750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把给定内容写入Word。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BDAD0C-ADE9-46B8-A5BF-28177761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0007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检查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E755C7-2C8F-491E-9B0D-926787B0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619875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文末保留来源和未决问题。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CEDF8C-0480-48BB-BAAB-35A1A3CB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这是本轮实际页面截图；固定材料流程没有调用外部模型。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AB05DE-01BC-41BC-9037-AE17C3D5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来源：本轮本地HTTP、文件与拒绝记录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F5C7ED-380D-4035-AC4C-70C0AF56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85749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1F61CD-B8CF-4DE6-B988-B74D7DB31FA9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714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11D542-9B6F-440B-847F-DE52DBB420A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714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A6109E-7793-4B41-B2F1-5C79685030F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714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13BD21-8689-48C8-81DA-FE920004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0C81F3-CB47-4170-BBB4-CC4BB4FA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本次运行经过的四个环节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A1D9D5-8054-46AC-9917-3F980CBB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023E6-6E65-4B12-BA20-36151AFF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运行记录说明程序做了哪些检查；研究方案中的技术路线另有自己的内容。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D5C939-02B7-451D-A423-99E73897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读取输入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AA4E30-F369-49D9-B07F-E9595BBB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86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检查约束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B0C270-92A2-463D-96CF-F251DC11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86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保留审阅状态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DC5E9F-D44A-4F8A-BDB2-1B5248A2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286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写入Word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3F8F3E-6EE2-42FE-B049-A0827EBD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intake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读取材料和模板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185E9B-6B7E-43BA-8D9B-57900015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1962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constraints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检查指南、来源与章节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FF6114-9398-4E1F-967A-DAAA208D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1962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outline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仍需研究者审阅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BC6DFF-7906-4278-AF1A-01EA232C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61962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docx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输出草稿文件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412F9A-D851-4BD9-B352-5145D688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037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拟研究的技术路线另存于 route.mmd：材料准入 → 参考答案 → 固定比较 → 错误分析 → 人工复核 → 报告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29FA39-EB46-4E2B-A447-9D372F7E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运行事件与研究技术路线分开读，避免把流程完成误解为科研完成。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0800B6-CB2E-4C8E-BC27-4CB05FE2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来源：本轮本地HTTP、文件与拒绝记录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DF24CA-CA52-42E1-AB65-63E887B2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79899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5DC701-93CD-49DF-8208-16AAFF97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DE0FE7-C56D-4AC7-B69C-37B564CF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指南要求与产物的对应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FCAC8E-2F5F-4B58-9D00-C5EF9301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7C351A-B717-4C1A-9C12-DA9E37B9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把每条指南要求连到研究目标、交付材料和检验办法，便于检查遗漏。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1486D8-9784-43E6-8FAF-2D717AEC039E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137160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3905250"/>
                <a:gridCol w="5524500"/>
              </a:tblGrid>
              <a:tr h="1107281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指南要求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研究目标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交付与检验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107281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R1：12个月内形成可复算流程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G1：建立可复算筛选流程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代码、依赖、输入与日志；由另一研究者按说明复跑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07281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R2：评价召回与耗时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G2：独立评价召回与耗时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逐条筛选记录与统计报告；任务和参考答案固定，报告漏检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07281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R3：产物可复用，保留人工判断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G3：保留人工审核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Word、来源账本与审核记录；批准须对应输入和模板版本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DA5B28-A093-4DCA-9720-BA2461E4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映射检查能发现缺项；是否科学可行仍需读具体内容。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6DFE97-7A14-4DF6-99BD-401ABB24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来源：本轮本地HTTP、文件与拒绝记录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EE12DE-E494-424E-80EA-CB609C9B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797531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75FCA5-3924-40F4-98F9-CB612792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E3C125-3D07-41F0-9C2D-2C72655F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Word草稿与尚缺的证据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AD626B-A79E-430A-9100-427EDE0B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84E4F3-821C-4094-A628-22DADD74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文件已经生成；团队基础、真实查新和研究者签核仍列在问题清单中。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BF0C9F-3490-45DD-AA74-B38031A90F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1fcbedea284aff"/>
          <a:stretch xmlns:a="http://schemas.openxmlformats.org/drawingml/2006/main"/>
        </p:blipFill>
        <p:spPr>
          <a:xfrm xmlns:a="http://schemas.openxmlformats.org/drawingml/2006/main">
            <a:off x="1358395" y="3048000"/>
            <a:ext cx="3569710" cy="4619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B80F41-ADCF-42EF-85CA-73DD190C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90875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实际问题清单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F5C070-B1C5-484D-A580-1996891F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43375"/>
            <a:ext cx="781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研究基础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1A74E4-D993-4EE4-B920-5856F8B7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19625"/>
            <a:ext cx="781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没有提供申请人的真实团队成果。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237E74-AF36-4046-B99E-2F719E44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86375"/>
            <a:ext cx="781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查新与可行性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3E00FB-AC92-4CB3-BDCA-EB493751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762625"/>
            <a:ext cx="781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尚未完成真实文献查新及科学审查。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6EE418-1B48-4611-97FD-07B45828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29375"/>
            <a:ext cx="781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研究者签核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7CC1B9-6088-4C91-8D67-75DBAB7F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905625"/>
            <a:ext cx="781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没有签核当前输入和模板版本。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7CE397-DD43-441B-90FC-A75871FF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教学文字来自给定材料；没有补写团队成果、实验结果或真实签核。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3609A5-1BB5-4473-AACF-669C7564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来源：本轮本地HTTP、文件与拒绝记录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F5CEAE-399E-4B1B-8A19-1C63C442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34927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9F2652-ABD0-41EA-817B-285C99DA247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857750" y="5048250"/>
            <a:ext cx="3238500" cy="1428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3F1682-0F40-4A28-A226-00567AD88BC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857750" y="3667125"/>
            <a:ext cx="3238500" cy="1381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09562B-2835-4FBC-8B3E-782F8B5F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FFC923-384F-4C43-8664-11548942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本地与Worker中的同源Skill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414E43-06C5-4014-AAD5-26A467C7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D52A20-CD76-48EC-9A45-097FAC00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24份基础Skill的指令内容已逐份比较，云端健康接口报告的包指纹也与本地一致。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AFDB0-5BD3-4994-9C93-C71B2730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4095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University-Skills</a:t>
            </a:r>
          </a:p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24份基础指令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C30D8F-033B-4A81-8C6F-D65979A4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0"/>
            <a:ext cx="6381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本地Codex安装目录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3D11CB-5F60-433A-8F4B-879E5392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48375"/>
            <a:ext cx="6381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Worker的Skill包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C90B44-143B-4B62-A9AD-18F68E55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29125"/>
            <a:ext cx="638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逐份比较完整内容和SHA256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069B80-DDD7-4D10-85C8-1CDF92B9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91125"/>
            <a:ext cx="638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统一换行后，24份内容一致。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云端报告的包指纹与本地锁文件一致。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D511E8-EDDB-473F-8353-B69849EB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Skill说明“按什么要求做”；执行器决定“能调用哪些工具”。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AE5978-D649-4E55-BCA7-19A41E4F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相同指令便于统一要求；工具、模型与运行结果仍需分别检查。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EF1F93-76BC-4E06-9375-900BA10B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来源：OpenAI官方Skill说明；本地24份指令核对；本轮HTTPS健康200、登录401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9277E0-E27F-440A-A173-4B25F54B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325217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716122-40B6-4A3C-AFE8-C30AC8ED8334}"/>
              </a:ext>
            </a:extLst>
          </p:cNvPr>
          <p:cNvCxnSpPr>
            <a:stCxn xmlns:a="http://schemas.openxmlformats.org/drawingml/2006/main" id="9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7620000" y="4238625"/>
            <a:ext cx="0" cy="1952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51CA6C-B53D-4281-B05A-7BE736B08A71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9620250" y="66198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BB9FED-0EAF-4373-AC97-9813FD2FC68C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2477750" y="4238625"/>
            <a:ext cx="0" cy="1952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66C7E7-459C-4863-A4EA-6FA263907D5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8100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681F60-F1B0-42A9-81D8-02586B1B8F7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8100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6AE9F8-E28D-4502-8EE6-F77CED9B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FD12C2-A5CF-482C-974C-0EC4BF3F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Harness怎样管理一次任务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82B069-31BA-433F-A79B-E6ECF04C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A792B5-D1C6-46E9-9214-E067084D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Harness是任务周围的执行管理：提供工具，保存过程，并处理失败和继续运行。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42A512-728F-49F4-9A42-A187DA48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任务与已有材料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A34B64-0B1A-42CB-BFF3-43A54140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8137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当前步骤：模型或规则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71B536-97A6-441C-AD5A-418AF941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8137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工具实际读写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DF5885-4EF0-4F54-BAAF-4038CCAD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91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保存结果和版本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53934-78E3-4050-90E0-38B7D145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191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检查并继续或重试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D29895-C637-46BA-AD56-42BF4231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4000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Harness</a:t>
            </a:r>
          </a:p>
          <a:p xmlns:a="http://schemas.openxmlformats.org/drawingml/2006/main">
            <a: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任务执行管理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290203-B9E2-4725-A5B1-5514C7A8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0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工具返回了什么？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文件是否真的存在？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失败发生在哪一步？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54D978-ECF9-4CA7-8CA9-1BBE9775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记录包含输入、输出与版本；程序完成状态仍需与科研结论分开。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3CA856-4443-4A4E-9A7A-B471BFD6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来源：CMU Generative AI 2025，Lecture 23；当前工作区代码快照；12项定向夹具测试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D399E2-0A34-4DE1-8A6D-8226FDA4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022147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4F43AA-0143-454E-A3DF-88A028E100E5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9620250" y="68580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B0E8A0-1634-4DA2-AB86-2DD33BB173A9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2477750" y="4381500"/>
            <a:ext cx="0" cy="1952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87A501-2C99-4334-8AD5-C0A7F976184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857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B59C1F-5D1E-47BA-BF77-10C2B038507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857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BA92E4-9A8E-4FD6-8701-AE91B4E3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64648-0E50-4960-B759-A67A1E53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Cloudflare承载的工作流结构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8D3524-97DB-476A-8417-94996A1B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4598E5-753C-4E6C-8464-F4DE3631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浏览器提交任务，Worker接收请求；持久任务对象保存节点，按步骤调用模型或导出文件。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F78241-F988-4154-9796-4EE16C4F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000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浏览器</a:t>
            </a:r>
          </a:p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填写材料、查看进度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56FA2F-694B-4647-9013-5B373240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4000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Cloudflare Worker</a:t>
            </a:r>
          </a:p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接收和检查请求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7A39E3-1079-4815-AF78-F180098F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33750"/>
            <a:ext cx="4000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持久任务对象</a:t>
            </a:r>
          </a:p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保存节点、输入和输出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F0B1B6-F373-427F-8788-875C8002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4000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模型服务</a:t>
            </a:r>
          </a:p>
          <a:p xmlns:a="http://schemas.openxmlformats.org/drawingml/2006/main">
            <a:pPr>
              <a:def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DeepSeek deepseek-flash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91861D-01FF-4A50-8040-8BAE1E62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334125"/>
            <a:ext cx="4000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文件导出</a:t>
            </a:r>
          </a:p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Word或Markdown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BB2423-F45A-40A6-9A9E-5E38A9D8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4000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后台alarm按步骤继续</a:t>
            </a:r>
          </a:p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页面读取已经保存的进度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46AB87-8958-4B3D-9C20-D1E65BDF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62500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模型负责生成文字；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项目代码检查并导出。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1B8C79-8DB9-4EBD-A818-ADD1C4E7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这里是依据代码绘制的结构图；不是云端任务执行截图。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705C2C-ECF5-46B8-BB39-5C80A114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来源：Cloudflare Durable Objects官方文档；当前工作区代码快照；12项定向夹具测试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FB8B82-8E54-4C4A-BFB1-B9114B4D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535516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A568EC-0BDC-4FF6-8619-0B0F0378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F43BDD-6A55-42C9-9871-E71E8808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云端本轮核验到哪一步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6FD60-C7AC-4EF2-83E8-3BE09D55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59398-B588-4423-AE87-BA466DEF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健康接口返回200并报告DeepSeek配置；项目登录请求返回401，本轮未能创建云端模型任务。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AE4909-6DA5-4A7C-BBA3-29E13783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本轮实际请求及其含义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AFBE4-7954-42BC-BB0C-5ED2621A6AEB}"/>
              </a:ext>
            </a:extLst>
          </p:cNvPr>
          <p:cNvGraphicFramePr/>
          <p:nvPr/>
        </p:nvGraphicFramePr>
        <p:xfrm>
          <a:off xmlns:a="http://schemas.openxmlformats.org/drawingml/2006/main" x="762000" y="3810000"/>
          <a:ext xmlns:a="http://schemas.openxmlformats.org/drawingml/2006/main" cx="137160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9525000"/>
              </a:tblGrid>
              <a:tr h="619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实际检查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返回结果及可证明的范围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公开健康接口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HTTPS返回200，服务可响应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当前模型配置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deepseek-flash已配置；MiniMax停用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持久化绑定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绑定存在；当前未验证任务恢复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项目登录请求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HTTPS返回401，未获得登录会话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本轮模型任务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未创建、未调用；不据健康响应认定跑通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4A2E0B-79B4-4C54-AB8B-0F97217E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200对应服务健康响应，401对应登录未通过；两项均保存原始状态与核验时间。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6D6B4D-CBAB-4F43-9B82-B4ABC484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来源：本轮HTTPS健康200、登录401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7AF22B-381F-4EFF-979E-7F306A43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206966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CF96FC-001E-48A9-9679-88A0CF468E27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2E9422-3E57-4BA8-97EE-5B1EB8A1BFBC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1DE525-DE96-4A28-B5F3-A621038AE9B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586202-4179-419B-9546-347E153A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2F52EB-B69E-4C03-BC20-A57C38FF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一次提交后的后台执行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666EC7-57DB-4446-904D-77C4B002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7D3D4F-7232-4042-9640-3514D003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网页负责展示状态，后台按节点保存结果，再继续下一步；刷新页面无需逐节点确认。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C784AB-EE4F-493E-97D6-3A019C96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提交材料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D902B2-64EF-4E60-98C9-5A536689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逐节点执行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A2E149-9498-40F8-84E6-38E84E7A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保存当前结果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7D512C-D95D-4DB5-B282-66E99E7C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导出草稿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5DF917-FD7B-46AE-9119-C8D77DF1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网页创建任务后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读取后台进度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B86718-0598-430C-8B2A-F8B6DD27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1487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需要检索时先检索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再处理模型节点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78937F-D3C9-4840-8FE5-45043851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1487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保存后安排下一节点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刷新网页可再读取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2CE8EC-D796-43AE-A81D-6169709F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1487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完成节点后生成文件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问题仍随草稿保留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05A7BB-11B7-442F-9094-11457C21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71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当前应用的失败处理：失败 → 自动重试1次 → 再失败则停止并保留原因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31EC6D-2558-4C96-B287-D7654B29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此页讲当前代码的自动流程；12项定向测试使用模型和存储夹具。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E6B01F-EC03-4800-9650-C9E88B56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来源：Cloudflare Durable Objects官方文档；当前工作区代码快照；12项定向夹具测试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08997A-90EA-4B90-8CD4-CD533922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450856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38C163-70DA-4799-94C6-A73A1DFDC3A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6671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A43198-F61C-4B92-B188-95A573FF0D9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6671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4A9DE1-E7F9-4AFE-9B5E-C021C884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980C89-4696-4F08-9D5B-5BCA033B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节点文字修订与事实保留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A8F7A0-9913-4E2B-AAE3-000D5A99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F0F958-F115-4698-8D76-496363E3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表达修订后，程序比较数字、来源编号和章节结构；研究者还需检查语义有没有变化。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2AB0F9-C705-4055-A3FB-B2BF0441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4000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节点初稿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7E032B-E5F7-4377-BC30-5386364F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86125"/>
            <a:ext cx="4000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自动修订表达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7CD7FD-015D-4192-B6FB-DF8112BB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86125"/>
            <a:ext cx="4000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检查数字与来源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644F5E-3B19-48B2-9F52-671F4A61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教学测试原句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345DF3-0373-42E3-B7EA-0C23D18E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571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342条记录，均值3700.7 g。</a:t>
            </a:r>
          </a:p>
          <a:p xmlns:a="http://schemas.openxmlformats.org/drawingml/2006/main">
            <a: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来源编号：D1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E206A1-0FE0-4D78-A608-D90827B2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24375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实际夹具测试中的拒绝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E0923B-BB40-4A0E-8CFC-6AD8D4DA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91125"/>
            <a:ext cx="638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342 → 343：数字改变，拒绝。</a:t>
            </a:r>
          </a:p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D1 → D2：来源改变，拒绝。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C14F7E-A292-4B29-AEFD-6DCAB921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仍需逐句读：数字没变，也可能把“相关”写成“导致”。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0A1FA3-869B-4A08-AA17-3C9A7CF6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机器比对能够发现部分改动，不能证明文字已达到学术要求。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1C4049-6DD3-406E-9537-53B2F8C5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来源：当前工作区代码快照；12项定向夹具测试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D72914-4CC6-44E7-B2C0-5F7181DC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496054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059867-530B-4DD0-A70A-106F2C56F7C4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095750" y="6524625"/>
            <a:ext cx="6477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AF769E-5D3A-41F3-928E-4792C553A35C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095750" y="5095875"/>
            <a:ext cx="6477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A917D3-D078-4E73-9CC5-307D9D79F19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095750" y="3667125"/>
            <a:ext cx="6477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6F5399-3821-4B1E-81CC-BDD4F0A8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A5CA29-D5A3-4B7B-9204-9C70274F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错误输入的实际拒绝结果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ACE7F1-9646-4269-B59F-694CB1E5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DFB9A2-9F59-4801-AF47-70696AFA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故意改变教学输入后，文件程序拒绝未知来源、指南不一致和未签核正式导出。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0DFC59-EC4E-48D9-B1AC-6DB52B2C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3333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未知来源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AB4105-4B4F-4773-90B2-426FE7B6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0"/>
            <a:ext cx="3905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程序拒绝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227DFD-9929-43B9-9B31-0072B13C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90875"/>
            <a:ext cx="542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来源编号改为NOT-A-SOURCE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CDC191-EC47-46B2-84F4-D0FA0E37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762375"/>
            <a:ext cx="542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unknown_source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E5AB20-D4E2-4EAE-803B-089F82E8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3333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指南不一致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6823B5-ED15-46EE-8B5F-8982BA3F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667250"/>
            <a:ext cx="3905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程序拒绝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9AD1EE-2FE3-4D98-91AF-EE79D41F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619625"/>
            <a:ext cx="542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改写材料中的指南要求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EEFFDE-0902-4C1B-AD17-7A6CE389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191125"/>
            <a:ext cx="542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guide_requirement_mismatch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24A40A-416E-4654-BE7E-8C800AEE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3333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未签核正式导出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922E5C-BFB5-409F-BD78-24BBFEA4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96000"/>
            <a:ext cx="3905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程序拒绝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F4A500-CFE0-4784-A653-FB9CD7F4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048375"/>
            <a:ext cx="542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要求final，但未提供研究者签核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5FFAE2-23ED-4B9E-A136-8BD689D0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619875"/>
            <a:ext cx="542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final_export_blocked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0382DA-01D0-4E54-8E93-E069EF1E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这三项实际跑过文件执行器；不等于已经测试了网络、模型或全部故障。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9A5DBC-51C3-4BBB-AA63-8B5790C5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来源：本轮本地HTTP、文件与拒绝记录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1CE41F-CD18-47E3-8B37-889CD988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2179121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BFF7CB-7F37-4315-8819-4A9D1EAD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A16F80-0C40-4268-A625-DD887285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五类任务要分别看运行端和实际文件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70321A-CDBE-4919-9E54-89DF50A9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202B2B-5D31-4C8F-A2BC-B02860E8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前节五类本地产物已随本节保存快照；8788固定材料演示与Worker模型工作流各有自己的输出范围。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E6C3BA-5E49-488D-A278-43899F0AD796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13716000" cy="4524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5429250"/>
                <a:gridCol w="5429250"/>
              </a:tblGrid>
              <a:tr h="754063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本课程已有本地产物快照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Worker代码中的导出范围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754063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申报 / Grant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第10节：Word、路线与问题清单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模型节点组织内容后导出Word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4063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 / Paper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第9节：清稿、标记稿及回复Word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模型节点组织内容后导出Word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4063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专利 / Patent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第11节：交底Word及其流程附图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模型节点组织内容后导出Word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4063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配图 / Figure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第8节：7幅原生图及可编辑路线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绘图方案Markdown；不执行绘图代码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4063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结题 / Closeout</a:t>
                      </a:r>
                    </a:p>
                  </a:txBody>
                  <a:tcPr marL="152400" marR="133350" marT="114300" marB="857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第12节：Word、证据表与附件目录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结题草稿Markdown</a:t>
                      </a:r>
                    </a:p>
                  </a:txBody>
                  <a:tcPr marL="152400" marR="133350" marT="114300" marB="857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7CE320-88A3-44D7-A76A-C985C56E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前节文件本轮只复制核对，未重跑；8788本轮生成三份Word，Worker本轮未创建模型任务。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8315EA-B715-4455-B933-B1292618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来源：本轮本地HTTP、文件与拒绝记录；当前工作区代码快照；12项定向夹具测试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B4945C-C64D-4BBE-82B8-414A2FF6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67950490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B916C1-2134-4323-9837-3093D36A79BA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C0795E-F505-42C9-B532-CEB7DBB2E81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3168B2-504E-4DFF-B3EC-3210F587FEB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3C5029-2E98-4BA9-9112-97E8988B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  本地与云端Agent实际演示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C55111-EB4E-47A9-84FC-DEC60EA6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可复查的演示材料包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506F54-5980-4E7A-BDD7-E565813C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5CB80E-FE43-4F25-AEDB-7D7CC521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保留这次用的材料、指令版本、运行结果和问题清单，下一次才能检查变化来自哪里。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9E8605-034F-46D2-880F-E7479EA9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输入材料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0BA566-4279-4B94-BFC8-E131A8C0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指令与程序版本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977A66-02D7-48C7-BBCD-B312F651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过程记录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2A54B3-138A-44C9-BE93-4F3983EF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交付文件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DBFFA7-7A44-4C64-8016-789CFCBB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指南、研究材料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与模板原件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3F325A-2046-4563-AB46-BC0E46DF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1487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Skill内容及指纹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本轮程序快照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701A34-800E-4B8D-8903-FD39CFC6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1487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节点输入和输出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失败原因与重试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B582B5-28B3-464E-9E43-6E14DC17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1487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Word、来源账本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问题清单与预览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150CC9-EAA3-42B2-BEA5-718F95E2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0"/>
            <a:ext cx="1371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改了材料或模板，就产生新记录，并重新检查对应文件。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70103B-4C35-4ED1-B5D4-8C60288E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581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实际授课前复查服务、模型和文件；保留未核验项，不把旧记录说成现场运行。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2A95CF-5551-4874-8F6B-77F7B7D1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来源：本轮本地HTTP、文件与拒绝记录；本轮HTTPS健康200、登录401；当前工作区代码快照；12项定向夹具测试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2B67CD-B772-4D97-8B69-1E5E4B51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391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614534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2026-10-19T16:53:11.4230000Z</dcterms:created>
  <dcterms:modified xsi:type="dcterms:W3CDTF">2026-10-19T16:53:11.4240000Z</dcterms:modified>
</coreProperties>
</file>