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5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01987139394694" /><Relationship Type="http://schemas.openxmlformats.org/officeDocument/2006/relationships/extended-properties" Target="/docProps/app.xml" Id="Rad2b8dd1890b4faf" /><Relationship Type="http://schemas.openxmlformats.org/officeDocument/2006/relationships/officeDocument" Target="/ppt/presentation.xml" Id="R976341a7a27f49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57ac114a644482"/>
  </p:sldMasterIdLst>
  <p:notesMasterIdLst>
    <p:notesMasterId xmlns:r="http://schemas.openxmlformats.org/officeDocument/2006/relationships" r:id="Raacc038b53254687"/>
  </p:notesMasterIdLst>
  <p:sldIdLst>
    <p:sldId xmlns:r="http://schemas.openxmlformats.org/officeDocument/2006/relationships" id="256" r:id="R62b2255eb6d44b59"/>
    <p:sldId xmlns:r="http://schemas.openxmlformats.org/officeDocument/2006/relationships" id="257" r:id="R466f9391131747c6"/>
    <p:sldId xmlns:r="http://schemas.openxmlformats.org/officeDocument/2006/relationships" id="258" r:id="Rc44d0de054a74b3d"/>
    <p:sldId xmlns:r="http://schemas.openxmlformats.org/officeDocument/2006/relationships" id="259" r:id="R6fd9f2a58478456a"/>
    <p:sldId xmlns:r="http://schemas.openxmlformats.org/officeDocument/2006/relationships" id="260" r:id="R2cfccdc8c035420d"/>
    <p:sldId xmlns:r="http://schemas.openxmlformats.org/officeDocument/2006/relationships" id="261" r:id="R2542282cda7e46ff"/>
    <p:sldId xmlns:r="http://schemas.openxmlformats.org/officeDocument/2006/relationships" id="262" r:id="R5768b09eeaab4bca"/>
    <p:sldId xmlns:r="http://schemas.openxmlformats.org/officeDocument/2006/relationships" id="263" r:id="R37b0f4ace380491c"/>
    <p:sldId xmlns:r="http://schemas.openxmlformats.org/officeDocument/2006/relationships" id="264" r:id="Rfc68dd7a524842db"/>
    <p:sldId xmlns:r="http://schemas.openxmlformats.org/officeDocument/2006/relationships" id="265" r:id="Rd6f14654af9946dd"/>
    <p:sldId xmlns:r="http://schemas.openxmlformats.org/officeDocument/2006/relationships" id="266" r:id="R2a366715cdcc44da"/>
    <p:sldId xmlns:r="http://schemas.openxmlformats.org/officeDocument/2006/relationships" id="267" r:id="R0654b641383945e0"/>
    <p:sldId xmlns:r="http://schemas.openxmlformats.org/officeDocument/2006/relationships" id="268" r:id="Rfe960d931a5d4933"/>
    <p:sldId xmlns:r="http://schemas.openxmlformats.org/officeDocument/2006/relationships" id="269" r:id="R0174a24afb8c484d"/>
    <p:sldId xmlns:r="http://schemas.openxmlformats.org/officeDocument/2006/relationships" id="270" r:id="Ra218f10b236246ff"/>
    <p:sldId xmlns:r="http://schemas.openxmlformats.org/officeDocument/2006/relationships" id="271" r:id="Ref576a74c1504325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f955bd754146ea" /><Relationship Type="http://schemas.openxmlformats.org/officeDocument/2006/relationships/slideMaster" Target="/ppt/slideMasters/slideMaster1.xml" Id="R7757ac114a644482" /><Relationship Type="http://schemas.openxmlformats.org/officeDocument/2006/relationships/notesMaster" Target="/ppt/notesMasters/notesMaster1.xml" Id="Raacc038b53254687" /><Relationship Type="http://schemas.openxmlformats.org/officeDocument/2006/relationships/presProps" Target="/ppt/presProps.xml" Id="R63ba52c4210247e9" /><Relationship Type="http://schemas.openxmlformats.org/officeDocument/2006/relationships/tableStyles" Target="/ppt/tableStyles.xml" Id="R1914b2be86084c4b" /><Relationship Type="http://schemas.openxmlformats.org/officeDocument/2006/relationships/slide" Target="/ppt/slides/slide1.xml" Id="R62b2255eb6d44b59" /><Relationship Type="http://schemas.openxmlformats.org/officeDocument/2006/relationships/slide" Target="/ppt/slides/slide2.xml" Id="R466f9391131747c6" /><Relationship Type="http://schemas.openxmlformats.org/officeDocument/2006/relationships/slide" Target="/ppt/slides/slide3.xml" Id="Rc44d0de054a74b3d" /><Relationship Type="http://schemas.openxmlformats.org/officeDocument/2006/relationships/slide" Target="/ppt/slides/slide4.xml" Id="R6fd9f2a58478456a" /><Relationship Type="http://schemas.openxmlformats.org/officeDocument/2006/relationships/slide" Target="/ppt/slides/slide5.xml" Id="R2cfccdc8c035420d" /><Relationship Type="http://schemas.openxmlformats.org/officeDocument/2006/relationships/slide" Target="/ppt/slides/slide6.xml" Id="R2542282cda7e46ff" /><Relationship Type="http://schemas.openxmlformats.org/officeDocument/2006/relationships/slide" Target="/ppt/slides/slide7.xml" Id="R5768b09eeaab4bca" /><Relationship Type="http://schemas.openxmlformats.org/officeDocument/2006/relationships/slide" Target="/ppt/slides/slide8.xml" Id="R37b0f4ace380491c" /><Relationship Type="http://schemas.openxmlformats.org/officeDocument/2006/relationships/slide" Target="/ppt/slides/slide9.xml" Id="Rfc68dd7a524842db" /><Relationship Type="http://schemas.openxmlformats.org/officeDocument/2006/relationships/slide" Target="/ppt/slides/slide10.xml" Id="Rd6f14654af9946dd" /><Relationship Type="http://schemas.openxmlformats.org/officeDocument/2006/relationships/slide" Target="/ppt/slides/slide11.xml" Id="R2a366715cdcc44da" /><Relationship Type="http://schemas.openxmlformats.org/officeDocument/2006/relationships/slide" Target="/ppt/slides/slide12.xml" Id="R0654b641383945e0" /><Relationship Type="http://schemas.openxmlformats.org/officeDocument/2006/relationships/slide" Target="/ppt/slides/slide13.xml" Id="Rfe960d931a5d4933" /><Relationship Type="http://schemas.openxmlformats.org/officeDocument/2006/relationships/slide" Target="/ppt/slides/slide14.xml" Id="R0174a24afb8c484d" /><Relationship Type="http://schemas.openxmlformats.org/officeDocument/2006/relationships/slide" Target="/ppt/slides/slide15.xml" Id="Ra218f10b236246ff" /><Relationship Type="http://schemas.openxmlformats.org/officeDocument/2006/relationships/slide" Target="/ppt/slides/slide16.xml" Id="Ref576a74c15043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e5d042fe7543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019857fdf74d31" /><Relationship Type="http://schemas.openxmlformats.org/officeDocument/2006/relationships/notesMaster" Target="/ppt/notesMasters/notesMaster1.xml" Id="R89bdf0d3a69142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217667f8444d0b" /><Relationship Type="http://schemas.openxmlformats.org/officeDocument/2006/relationships/notesMaster" Target="/ppt/notesMasters/notesMaster1.xml" Id="Rf7bb33a16e0a45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c9a61de9464ff4" /><Relationship Type="http://schemas.openxmlformats.org/officeDocument/2006/relationships/notesMaster" Target="/ppt/notesMasters/notesMaster1.xml" Id="Rce25ce86f1074c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065af2f6214709" /><Relationship Type="http://schemas.openxmlformats.org/officeDocument/2006/relationships/notesMaster" Target="/ppt/notesMasters/notesMaster1.xml" Id="R33afb31a892b46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4041b5f2fd4354" /><Relationship Type="http://schemas.openxmlformats.org/officeDocument/2006/relationships/notesMaster" Target="/ppt/notesMasters/notesMaster1.xml" Id="Rb0f7ed96518b4f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8db9cb650d44c8" /><Relationship Type="http://schemas.openxmlformats.org/officeDocument/2006/relationships/notesMaster" Target="/ppt/notesMasters/notesMaster1.xml" Id="Ref22e0869b814a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a769e95b654f63" /><Relationship Type="http://schemas.openxmlformats.org/officeDocument/2006/relationships/notesMaster" Target="/ppt/notesMasters/notesMaster1.xml" Id="Re347628400b247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355b6401024225" /><Relationship Type="http://schemas.openxmlformats.org/officeDocument/2006/relationships/notesMaster" Target="/ppt/notesMasters/notesMaster1.xml" Id="R2e3bda5b86d54ec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04fd9b38d24c1c" /><Relationship Type="http://schemas.openxmlformats.org/officeDocument/2006/relationships/notesMaster" Target="/ppt/notesMasters/notesMaster1.xml" Id="R3355169f23b24bf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91a19d9abf4dbc" /><Relationship Type="http://schemas.openxmlformats.org/officeDocument/2006/relationships/notesMaster" Target="/ppt/notesMasters/notesMaster1.xml" Id="R68c2e1d36fe84e9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e7bc496f2024d73" /><Relationship Type="http://schemas.openxmlformats.org/officeDocument/2006/relationships/notesMaster" Target="/ppt/notesMasters/notesMaster1.xml" Id="Reff98354f2cd400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8ab07af08ab4e48" /><Relationship Type="http://schemas.openxmlformats.org/officeDocument/2006/relationships/notesMaster" Target="/ppt/notesMasters/notesMaster1.xml" Id="R8fa5c96ee4d4490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22d3b8ecb9e4847" /><Relationship Type="http://schemas.openxmlformats.org/officeDocument/2006/relationships/notesMaster" Target="/ppt/notesMasters/notesMaster1.xml" Id="R02038b783cce4c4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b21e8015ea3499e" /><Relationship Type="http://schemas.openxmlformats.org/officeDocument/2006/relationships/notesMaster" Target="/ppt/notesMasters/notesMaster1.xml" Id="R4a2e2254389144f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e9100f73a2d4963" /><Relationship Type="http://schemas.openxmlformats.org/officeDocument/2006/relationships/notesMaster" Target="/ppt/notesMasters/notesMaster1.xml" Id="Rba8441b5f7154a2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1744f8001b74e98" /><Relationship Type="http://schemas.openxmlformats.org/officeDocument/2006/relationships/notesMaster" Target="/ppt/notesMasters/notesMaster1.xml" Id="Ra0e045bcfcd64f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本节区分数据图、技术路线与机制示意。数据图对应数值和比较；路线说明工作如何完成；机制图呈现假说与待验证关系。来源和材料状态分别标识。图的美观不能替代数据或研究设计。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CPSC447 2026课程：Marks &amp; Channels I，2026-01-19修订</a:t>
            </a:r>
          </a:p>
          <a:p xmlns:a="http://schemas.openxmlformats.org/drawingml/2006/main">
            <a:r>
              <a:t>https://www.cs.ubc.ca/~tmm/talks/vad/2601-marks.pdf</a:t>
            </a:r>
          </a:p>
          <a:p xmlns:a="http://schemas.openxmlformats.org/drawingml/2006/main">
            <a:r>
              <a:t>定位：实际渲染查看第4、6、17页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课程自编绘图与研究方案示意</a:t>
            </a:r>
          </a:p>
          <a:p xmlns:a="http://schemas.openxmlformats.org/drawingml/2006/main">
            <a:r>
              <a:t>local:training/section-08/lesson.json</a:t>
            </a:r>
          </a:p>
          <a:p xmlns:a="http://schemas.openxmlformats.org/drawingml/2006/main">
            <a:r>
              <a:t>定位：方案未实施，假说未验证；未伪装为科研实证或Agent截图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以同一企鹅数据为例：雌雄差异需看分布，喙长与鳍长关系看散点，各年均值看年份图。说明研究执行过程则用节点和箭头。图型由问题、数据结构和读者任务共同决定，避免看到数字就默认柱图。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CPSC447 2026课程：Marks &amp; Channels I，2026-01-19修订</a:t>
            </a:r>
          </a:p>
          <a:p xmlns:a="http://schemas.openxmlformats.org/drawingml/2006/main">
            <a:r>
              <a:t>https://www.cs.ubc.ca/~tmm/talks/vad/2601-marks.pdf</a:t>
            </a:r>
          </a:p>
          <a:p xmlns:a="http://schemas.openxmlformats.org/drawingml/2006/main">
            <a:r>
              <a:t>定位：实际渲染查看第4、6、17页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左侧female187.79、male192.41毫米，各73条；右侧使用同一146条Adelie完整记录，按5毫米分箱。均值图没有展示原始分布，不能据此判断每个个体或是否存在双峰。这里不把柱高差当作因果效应。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Gorman，palmerpenguins公开观测数据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data与CC0；源CSV哈希见figure-packet/source.json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CPSC447 2026课程：Marks &amp; Channels I，2026-01-19修订</a:t>
            </a:r>
          </a:p>
          <a:p xmlns:a="http://schemas.openxmlformats.org/drawingml/2006/main">
            <a:r>
              <a:t>https://www.cs.ubc.ca/~tmm/talks/vad/2601-marks.pdf</a:t>
            </a:r>
          </a:p>
          <a:p xmlns:a="http://schemas.openxmlformats.org/drawingml/2006/main">
            <a:r>
              <a:t>定位：实际渲染查看第4、6、17页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图均用187.7945和192.411毫米。左图从0到210，右图180到200。右侧用于解释截断柱长的视觉后果，不作为推荐呈现。数据差仍为4.6164毫米，不能凭截断后的柱长比说雄性是雌性的若干倍。散点或区间图可合理聚焦局部，但要清楚给刻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Gorman，palmerpenguins公开观测数据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data与CC0；源CSV哈希见figure-packet/source.json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2026课程所列Rules of Thumb (Ch6)</a:t>
            </a:r>
          </a:p>
          <a:p xmlns:a="http://schemas.openxmlformats.org/drawingml/2006/main">
            <a:r>
              <a:t>https://www.cs.ubc.ca/~tmm/talks/vad/VAD-rules.pdf</a:t>
            </a:r>
          </a:p>
          <a:p xmlns:a="http://schemas.openxmlformats.org/drawingml/2006/main">
            <a:r>
              <a:t>定位：第4页共同尺度位置与平面表达，已渲染查看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male组n73，均值187.7945，SD5.5950，行独立假设SE0.65485。第三行用该组10000次有放回重抽样均值的2.5%—97.5%分位点186.52—189.05。前两行是mean±SD、mean±SE，第三行不是±SD。三个范围用同一毫米尺度示意。此计算未核实巢内依赖，不能解释为已确认的总体置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Gorman，palmerpenguins公开观测数据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data与CC0；源CSV哈希见figure-packet/source.json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NIST：Confidence Limits for the Mean</a:t>
            </a:r>
          </a:p>
          <a:p xmlns:a="http://schemas.openxmlformats.org/drawingml/2006/main">
            <a:r>
              <a:t>https://www.itl.nist.gov/div898/handbook/eda/section3/eda352.htm</a:t>
            </a:r>
          </a:p>
          <a:p xmlns:a="http://schemas.openxmlformats.org/drawingml/2006/main">
            <a:r>
              <a:t>定位：标准误和均值区间的解释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显示Adelie雌雄完整记录的喙长与鳍长，各73条，共146点。横轴喙长、纵轴鳍长，均为mm。只显示观测点，不连线、不添加未计算拟合。保留公开数据来源。颜色辅以圆形和方形，减少仅凭颜色辨识的依赖。数据只支持观察关联，没有以性别或喙长的干预建立因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Gorman，palmerpenguins公开观测数据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data与CC0；源CSV哈希见figure-packet/source.json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CPSC447 2026课程：Marks &amp; Channels I，2026-01-19修订</a:t>
            </a:r>
          </a:p>
          <a:p xmlns:a="http://schemas.openxmlformats.org/drawingml/2006/main">
            <a:r>
              <a:t>https://www.cs.ubc.ca/~tmm/talks/vad/2601-marks.pdf</a:t>
            </a:r>
          </a:p>
          <a:p xmlns:a="http://schemas.openxmlformats.org/drawingml/2006/main">
            <a:r>
              <a:t>定位：实际渲染查看第4、6、17页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例图注依据本节第6页。内容包括物种和年份、完整记录范围、每点含义、形状和颜色、两轴单位、无拟合线及数据来源。若使用误差线还需写明定义。这里按期刊图注原则写一个课程示例，不宣称所有期刊的格式完全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 Figures官方要求</a:t>
            </a:r>
          </a:p>
          <a:p xmlns:a="http://schemas.openxmlformats.org/drawingml/2006/main">
            <a:r>
              <a:t>https://journals.plos.org/plosone/s/figures</a:t>
            </a:r>
          </a:p>
          <a:p xmlns:a="http://schemas.openxmlformats.org/drawingml/2006/main">
            <a:r>
              <a:t>定位：2026-10-18核查Captions、Multi-panel Figures、Preparing Figures from Image Files；各刊要求不同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Gorman，palmerpenguins公开观测数据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data与CC0；源CSV哈希见figure-packet/source.json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为雌雄分布，B为年份均值，均来自相同146条Adelie完整记录；雌雄各年n为22、25、26。两个面板共享颜色含义，图例不变。A纵轴为记录数，B为mm，不能将纵轴刻度误认为可共用。B连接年组均值，不表示同一个体成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Gorman，palmerpenguins公开观测数据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data与CC0；源CSV哈希见figure-packet/source.json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 Figures官方要求</a:t>
            </a:r>
          </a:p>
          <a:p xmlns:a="http://schemas.openxmlformats.org/drawingml/2006/main">
            <a:r>
              <a:t>https://journals.plos.org/plosone/s/figures</a:t>
            </a:r>
          </a:p>
          <a:p xmlns:a="http://schemas.openxmlformats.org/drawingml/2006/main">
            <a:r>
              <a:t>定位：2026-10-18核查Captions、Multi-panel Figures、Preparing Figures from Image Files；各刊要求不同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意显示三种数据含义，不引入科研观测。分类配色不暗示甲乙丙的高低；顺序色阶用亮度变化表达高低；发散色阶围绕0显示方向。颜色之外保留文字或形状。不能仅因颜色鲜艳就用彩虹色表达连续数值。本页是图例教学示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2026课程所列Color (Ch10)共享课件</a:t>
            </a:r>
          </a:p>
          <a:p xmlns:a="http://schemas.openxmlformats.org/drawingml/2006/main">
            <a:r>
              <a:t>https://www.cs.ubc.ca/~tmm/talks/vad/VAD-color.pdf</a:t>
            </a:r>
          </a:p>
          <a:p xmlns:a="http://schemas.openxmlformats.org/drawingml/2006/main">
            <a:r>
              <a:t>定位：实际查看第7、21页；共享文件未将全套标为2026新制作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课程自编绘图与研究方案示意</a:t>
            </a:r>
          </a:p>
          <a:p xmlns:a="http://schemas.openxmlformats.org/drawingml/2006/main">
            <a:r>
              <a:t>local:training/section-08/lesson.json</a:t>
            </a:r>
          </a:p>
          <a:p xmlns:a="http://schemas.openxmlformats.org/drawingml/2006/main">
            <a:r>
              <a:t>定位：方案未实施，假说未验证；未伪装为科研实证或Agent截图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示例：仅用所附CSV，限定Adelie且性别、喙长与鳍长完整；横轴喙长mm、纵轴鳍长mm，按性别着色并用不同点形，保留所有观测，不连线、不加拟合；输出代码、图注和数据来源。代码实际运行后核对记录数与轴。此工作流是课堂方法说明，配套脚本实际绘图，并非某个云端Agent截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课程自编绘图与研究方案示意</a:t>
            </a:r>
          </a:p>
          <a:p xmlns:a="http://schemas.openxmlformats.org/drawingml/2006/main">
            <a:r>
              <a:t>local:training/section-08/lesson.json</a:t>
            </a:r>
          </a:p>
          <a:p xmlns:a="http://schemas.openxmlformats.org/drawingml/2006/main">
            <a:r>
              <a:t>定位：方案未实施，假说未验证；未伪装为科研实证或Agent截图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案为教学模拟，与第6节的问题衔接。流程从材料题目和评分规则开始，经预试核查，再分两种提示条件并行实施；分别记录作答过程，最后用统一无AI新题评价独立解题，再按预定方案比较。分配单位、样本量和授权待研究者确认，图不代表试验已经开展。 本轮与Section6教学方案衔接，主要结果明确为一周后无AI新题评分；过程记录按提示组和解答组分开。箭头表示实施与后续测量的次序，不表示过程记录已证明机制或因果。材料预试、分配清单、过程记录与结果评分是不同产物，不能把任一缺失内容自动补成事实。图中没有写正式招募人数，Section6的样本条件仍是教学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2026课程所列Network Data (Ch9 revised)，2501版本</a:t>
            </a:r>
          </a:p>
          <a:p xmlns:a="http://schemas.openxmlformats.org/drawingml/2006/main">
            <a:r>
              <a:t>https://www.cs.ubc.ca/~tmm/talks/vad/2501-networks.pdf</a:t>
            </a:r>
          </a:p>
          <a:p xmlns:a="http://schemas.openxmlformats.org/drawingml/2006/main">
            <a:r>
              <a:t>定位：第2页节点与连接，已渲染查看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课程自编绘图与研究方案示意</a:t>
            </a:r>
          </a:p>
          <a:p xmlns:a="http://schemas.openxmlformats.org/drawingml/2006/main">
            <a:r>
              <a:t>local:training/section-08/lesson.json</a:t>
            </a:r>
          </a:p>
          <a:p xmlns:a="http://schemas.openxmlformats.org/drawingml/2006/main">
            <a:r>
              <a:t>定位：方案未实施，假说未验证；未伪装为科研实证或Agent截图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预试题目的评分一致性核对作为示例，但不虚设一个普适阈值。研究者需预先确定一致性标准。达到标准才进入正式阶段，未达到则修订并保留版本，复核后再进入判断。路线图能呈现依赖关系，不等于规定的质量标准已经满足。 旧图只有“修订后重新核对”文字，没有返回箭头；本轮补出修订节点回到预试材料节点的实际连接。核对材料列为评分规则与试评记录、分配单位和样本依据、招募及数据权限，不捏造一个所有研究通用的评分阈值。未确认的项目保留在问题清单，再补材料或修订版本，返回核查。这里是科研方案启动条件的教学图，不是网页Agent逐节点人工确认或已经通过审批的运行记录。独立draw.io和SVG使用同一节点与边定义，编辑源保留返回连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2026课程所列Network Data (Ch9 revised)，2501版本</a:t>
            </a:r>
          </a:p>
          <a:p xmlns:a="http://schemas.openxmlformats.org/drawingml/2006/main">
            <a:r>
              <a:t>https://www.cs.ubc.ca/~tmm/talks/vad/2501-networks.pdf</a:t>
            </a:r>
          </a:p>
          <a:p xmlns:a="http://schemas.openxmlformats.org/drawingml/2006/main">
            <a:r>
              <a:t>定位：第2页节点与连接，已渲染查看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课程自编绘图与研究方案示意</a:t>
            </a:r>
          </a:p>
          <a:p xmlns:a="http://schemas.openxmlformats.org/drawingml/2006/main">
            <a:r>
              <a:t>local:training/section-08/lesson.json</a:t>
            </a:r>
          </a:p>
          <a:p xmlns:a="http://schemas.openxmlformats.org/drawingml/2006/main">
            <a:r>
              <a:t>定位：方案未实施，假说未验证；未伪装为科研实证或Agent截图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出研究假说后，过程证据和独立测验可并行整理，分别形成编码记录与评分结果，再检查一致与不一致之处。不能把两个分支都画成“AI分析”或默认结果一定支持假说。缺少记录、指标不对应时保留问题，而非强行汇合为积极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2026课程所列Network Data (Ch9 revised)，2501版本</a:t>
            </a:r>
          </a:p>
          <a:p xmlns:a="http://schemas.openxmlformats.org/drawingml/2006/main">
            <a:r>
              <a:t>https://www.cs.ubc.ca/~tmm/talks/vad/2501-networks.pdf</a:t>
            </a:r>
          </a:p>
          <a:p xmlns:a="http://schemas.openxmlformats.org/drawingml/2006/main">
            <a:r>
              <a:t>定位：第2页节点与连接，已渲染查看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课程自编绘图与研究方案示意</a:t>
            </a:r>
          </a:p>
          <a:p xmlns:a="http://schemas.openxmlformats.org/drawingml/2006/main">
            <a:r>
              <a:t>local:training/section-08/lesson.json</a:t>
            </a:r>
          </a:p>
          <a:p xmlns:a="http://schemas.openxmlformats.org/drawingml/2006/main">
            <a:r>
              <a:t>定位：方案未实施，假说未验证；未伪装为科研实证或Agent截图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本页左侧为课程编写的GPT Image任务示例，右侧为人工核对用的PPT原生关系图；没有把右图当作模型输出。完整提示见prompt-packet。三个节点分别对应提示、作答过程与独立测验，两条虚线只是待验证的解释关系。尚无真实过程数据证明中介或因果关系，既有水平、练习时间、题目难度及实施差异仍需考虑。原稿中的DALL·E名称保留作时效说明：官方API下线记录列出dall-e-2和dall-e-3于2026-05-12移除，不推广成所有第三方入口也同时停止。当前官方图像指南用于GPT Image任务写法；本轮未调用该图像模型。示例供教学构思，投稿另查目标期刊对生成图像的规定。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2026课程所列Network Data (Ch9 revised)，2501版本</a:t>
            </a:r>
          </a:p>
          <a:p xmlns:a="http://schemas.openxmlformats.org/drawingml/2006/main">
            <a:r>
              <a:t>https://www.cs.ubc.ca/~tmm/talks/vad/2501-networks.pdf</a:t>
            </a:r>
          </a:p>
          <a:p xmlns:a="http://schemas.openxmlformats.org/drawingml/2006/main">
            <a:r>
              <a:t>定位：第2页节点与连接，已渲染查看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Image generation官方指南</a:t>
            </a:r>
          </a:p>
          <a:p xmlns:a="http://schemas.openxmlformats.org/drawingml/2006/main">
            <a:r>
              <a:t>https://developers.openai.com/api/docs/guides/image-generation</a:t>
            </a:r>
          </a:p>
          <a:p xmlns:a="http://schemas.openxmlformats.org/drawingml/2006/main">
            <a:r>
              <a:t>定位：2026-10-19查阅：生成与编辑、文本渲染和结构布局限制；未调用图像模型，不声称请求文字保证准确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Deprecations：DALL·E model snapshots</a:t>
            </a:r>
          </a:p>
          <a:p xmlns:a="http://schemas.openxmlformats.org/drawingml/2006/main">
            <a:r>
              <a:t>https://developers.openai.com/api/docs/deprecations</a:t>
            </a:r>
          </a:p>
          <a:p xmlns:a="http://schemas.openxmlformats.org/drawingml/2006/main">
            <a:r>
              <a:t>定位：2025-11-14条目：dall-e-2与dall-e-3 API于2026-05-12移除；不推断第三方入口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课程自编绘图与研究方案示意</a:t>
            </a:r>
          </a:p>
          <a:p xmlns:a="http://schemas.openxmlformats.org/drawingml/2006/main">
            <a:r>
              <a:t>local:training/section-08/lesson.json</a:t>
            </a:r>
          </a:p>
          <a:p xmlns:a="http://schemas.openxmlformats.org/drawingml/2006/main">
            <a:r>
              <a:t>定位：方案未实施，假说未验证；未伪装为科研实证或Agent截图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PPT中的图表原生可编辑，配套图保留PDF、PNG和SVG；技术路线附draw.io与SVG/PNG。图表嵌入工作簿是数值快照，不保留源表公式。修订后仍需按数据复算。PNG适合预览，矢量或原生对象适合后续调整，正式投稿须查目标期刊规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 Figures官方要求</a:t>
            </a:r>
          </a:p>
          <a:p xmlns:a="http://schemas.openxmlformats.org/drawingml/2006/main">
            <a:r>
              <a:t>https://journals.plos.org/plosone/s/figures</a:t>
            </a:r>
          </a:p>
          <a:p xmlns:a="http://schemas.openxmlformats.org/drawingml/2006/main">
            <a:r>
              <a:t>定位：2026-10-18核查Captions、Multi-panel Figures、Preparing Figures from Image Files；各刊要求不同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课程自编绘图与研究方案示意</a:t>
            </a:r>
          </a:p>
          <a:p xmlns:a="http://schemas.openxmlformats.org/drawingml/2006/main">
            <a:r>
              <a:t>local:training/section-08/lesson.json</a:t>
            </a:r>
          </a:p>
          <a:p xmlns:a="http://schemas.openxmlformats.org/drawingml/2006/main">
            <a:r>
              <a:t>定位：方案未实施，假说未验证；未伪装为科研实证或Agent截图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左侧是可复制的Midjourney提示，按官方Prompt Basics使用具体画面描述；--ar 16:9是画面宽高比，不是像素、清晰度或可编辑格式保证。英文意为左到右三个区：分步提示题单、作答修订、新题试卷，相邻区用细虚线，白底蓝绿配色并留出标签空间。中文标签和“教学假说示意，尚未取得机制证据”图注在编辑源中补全后仍需核对。模型可能画错连线、增加对象或拼错字；发现后按完整修改任务调整，不能仅写“高级一点”。配套revision_prompt给出保留对象、改虚线、删虚构成绩和修正文字的明确指令。核对流程为讲授方法，没有执行Midjourney、GPT Image或Nano Banana。图像文件通常不自动提供独立可编辑节点；定稿需保留原始输出、提示版本和PPT/draw.io文字与连接。数据图另用CSV脚本和原生图表复算，不让图像模型生成观测值。下一节将图表组织进论文正文、投稿与返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Midjourney Prompt Basics与Aspect Ratio</a:t>
            </a:r>
          </a:p>
          <a:p xmlns:a="http://schemas.openxmlformats.org/drawingml/2006/main">
            <a:r>
              <a:t>https://docs.midjourney.com/hc/en-us/articles/32023408776205-Prompt-Basics</a:t>
            </a:r>
          </a:p>
          <a:p xmlns:a="http://schemas.openxmlformats.org/drawingml/2006/main">
            <a:r>
              <a:t>定位：2026-10-19查阅短而具体的画面描述；--ar参数另见prompt-packet/参考资料.md；未操作Midjourney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Image generation官方指南</a:t>
            </a:r>
          </a:p>
          <a:p xmlns:a="http://schemas.openxmlformats.org/drawingml/2006/main">
            <a:r>
              <a:t>https://developers.openai.com/api/docs/guides/image-generation</a:t>
            </a:r>
          </a:p>
          <a:p xmlns:a="http://schemas.openxmlformats.org/drawingml/2006/main">
            <a:r>
              <a:t>定位：2026-10-19查阅：生成与编辑、文本渲染和结构布局限制；未调用图像模型，不声称请求文字保证准确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课程自编绘图与研究方案示意</a:t>
            </a:r>
          </a:p>
          <a:p xmlns:a="http://schemas.openxmlformats.org/drawingml/2006/main">
            <a:r>
              <a:t>local:training/section-08/lesson.json</a:t>
            </a:r>
          </a:p>
          <a:p xmlns:a="http://schemas.openxmlformats.org/drawingml/2006/main">
            <a:r>
              <a:t>定位：方案未实施，假说未验证；未伪装为科研实证或Agent截图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94ee4044bd467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4363f1106e49a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1820e482764ae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a14e5c2b21446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518482fb6f4fa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bb5cb7f6d842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48AE121-56EB-408E-BA6B-748DBF3ED5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9B12EB9-8A14-43FF-8C9E-55DF796B9A9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D692828-2392-4757-AAD3-501D0DAD54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4D765C-7362-47B8-A2C3-161AB57EC7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1495AF9-AF4D-47FB-A338-536D5980D0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B233296-0E8D-4FD8-B921-892320B4C2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92BE28-2925-4E6D-A05F-D3FDE00AD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FD95C51-69B8-4B2D-B5E4-4D9BDD7DE1B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DA4D77-F601-4EA4-B61D-D868A541EC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3FBF067-5ACF-425F-A02B-3274D1A923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938ad1ce4c4bbb" /><Relationship Type="http://schemas.openxmlformats.org/officeDocument/2006/relationships/slideLayout" Target="/ppt/slideLayouts/slideLayout1.xml" Id="R1567c3a10fe244c3" /><Relationship Type="http://schemas.openxmlformats.org/officeDocument/2006/relationships/slideLayout" Target="/ppt/slideLayouts/slideLayout2.xml" Id="Rd3eb7896fee14947" /><Relationship Type="http://schemas.openxmlformats.org/officeDocument/2006/relationships/slideLayout" Target="/ppt/slideLayouts/slideLayout3.xml" Id="R0258889146854266" /><Relationship Type="http://schemas.openxmlformats.org/officeDocument/2006/relationships/slideLayout" Target="/ppt/slideLayouts/slideLayout4.xml" Id="R8512d5054cf54d29" /><Relationship Type="http://schemas.openxmlformats.org/officeDocument/2006/relationships/slideLayout" Target="/ppt/slideLayouts/slideLayout5.xml" Id="R738938f1d93c4172" /><Relationship Type="http://schemas.openxmlformats.org/officeDocument/2006/relationships/slideLayout" Target="/ppt/slideLayouts/slideLayout6.xml" Id="R8d6a683546cd49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67c3a10fe244c3"/>
    <p:sldLayoutId xmlns:r="http://schemas.openxmlformats.org/officeDocument/2006/relationships" id="2147483650" r:id="Rd3eb7896fee14947"/>
    <p:sldLayoutId xmlns:r="http://schemas.openxmlformats.org/officeDocument/2006/relationships" id="2147483651" r:id="R0258889146854266"/>
    <p:sldLayoutId xmlns:r="http://schemas.openxmlformats.org/officeDocument/2006/relationships" id="2147483652" r:id="R8512d5054cf54d29"/>
    <p:sldLayoutId xmlns:r="http://schemas.openxmlformats.org/officeDocument/2006/relationships" id="2147483653" r:id="R738938f1d93c4172"/>
    <p:sldLayoutId xmlns:r="http://schemas.openxmlformats.org/officeDocument/2006/relationships" id="2147483654" r:id="R8d6a683546cd49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4fa53213b24f9a" /><Relationship Type="http://schemas.openxmlformats.org/officeDocument/2006/relationships/notesSlide" Target="/ppt/notesSlides/notesSlide1.xml" Id="R9c8bf5fda51546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3eec0f531f4ac4" /><Relationship Type="http://schemas.openxmlformats.org/officeDocument/2006/relationships/notesSlide" Target="/ppt/notesSlides/notesSlide2.xml" Id="R5fe1088763444f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ee1cc0fcca4a73" /><Relationship Type="http://schemas.openxmlformats.org/officeDocument/2006/relationships/chart" Target="/ppt/slides/charts/chart1.xml" Id="Rd2bc957e032f4c83" /><Relationship Type="http://schemas.openxmlformats.org/officeDocument/2006/relationships/chart" Target="/ppt/slides/charts/chart2.xml" Id="Rc825237fb1a94715" /><Relationship Type="http://schemas.openxmlformats.org/officeDocument/2006/relationships/notesSlide" Target="/ppt/notesSlides/notesSlide3.xml" Id="R254110772e8f48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5ebf42650946b4" /><Relationship Type="http://schemas.openxmlformats.org/officeDocument/2006/relationships/chart" Target="/ppt/slides/charts/chart3.xml" Id="R3d1445c784b64034" /><Relationship Type="http://schemas.openxmlformats.org/officeDocument/2006/relationships/chart" Target="/ppt/slides/charts/chart4.xml" Id="R83f0b5d683974472" /><Relationship Type="http://schemas.openxmlformats.org/officeDocument/2006/relationships/notesSlide" Target="/ppt/notesSlides/notesSlide4.xml" Id="Rd284419b112941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a0b1cc9eed4a3d" /><Relationship Type="http://schemas.openxmlformats.org/officeDocument/2006/relationships/notesSlide" Target="/ppt/notesSlides/notesSlide5.xml" Id="R2ecd23f86d1345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354faaa2e14c63" /><Relationship Type="http://schemas.openxmlformats.org/officeDocument/2006/relationships/chart" Target="/ppt/slides/charts/chart5.xml" Id="R538223208a944fe7" /><Relationship Type="http://schemas.openxmlformats.org/officeDocument/2006/relationships/notesSlide" Target="/ppt/notesSlides/notesSlide6.xml" Id="Rc469fd8e33e14d1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5bb8cb6eb049dc" /><Relationship Type="http://schemas.openxmlformats.org/officeDocument/2006/relationships/notesSlide" Target="/ppt/notesSlides/notesSlide7.xml" Id="R16be1bfba16246f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b4588fa155437e" /><Relationship Type="http://schemas.openxmlformats.org/officeDocument/2006/relationships/chart" Target="/ppt/slides/charts/chart6.xml" Id="R0af81bca8b6a4afa" /><Relationship Type="http://schemas.openxmlformats.org/officeDocument/2006/relationships/chart" Target="/ppt/slides/charts/chart7.xml" Id="Rd77fe55352584877" /><Relationship Type="http://schemas.openxmlformats.org/officeDocument/2006/relationships/notesSlide" Target="/ppt/notesSlides/notesSlide8.xml" Id="Rb34da99aaec143c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139d63b4b34664" /><Relationship Type="http://schemas.openxmlformats.org/officeDocument/2006/relationships/notesSlide" Target="/ppt/notesSlides/notesSlide9.xml" Id="R72cfd3e673ea411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1ba727b1204dea" /><Relationship Type="http://schemas.openxmlformats.org/officeDocument/2006/relationships/notesSlide" Target="/ppt/notesSlides/notesSlide10.xml" Id="R2e120ba75424435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a1868f14b94791" /><Relationship Type="http://schemas.openxmlformats.org/officeDocument/2006/relationships/notesSlide" Target="/ppt/notesSlides/notesSlide11.xml" Id="Rba5c6b35ee1c472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fde6616d914d97" /><Relationship Type="http://schemas.openxmlformats.org/officeDocument/2006/relationships/notesSlide" Target="/ppt/notesSlides/notesSlide12.xml" Id="Re01cbdbe895d4a1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8164db8c8b4462" /><Relationship Type="http://schemas.openxmlformats.org/officeDocument/2006/relationships/notesSlide" Target="/ppt/notesSlides/notesSlide13.xml" Id="R3b0413abfac54f7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ec9ee31b60442e" /><Relationship Type="http://schemas.openxmlformats.org/officeDocument/2006/relationships/notesSlide" Target="/ppt/notesSlides/notesSlide14.xml" Id="Rc19e939c96b1405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85411949054e6f" /><Relationship Type="http://schemas.openxmlformats.org/officeDocument/2006/relationships/notesSlide" Target="/ppt/notesSlides/notesSlide15.xml" Id="R2cdda721c3a942e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ac08b2a8514db0" /><Relationship Type="http://schemas.openxmlformats.org/officeDocument/2006/relationships/notesSlide" Target="/ppt/notesSlides/notesSlide16.xml" Id="Re7a01f75ca8e4c6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A  平均鳍长（毫米）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平均鳍长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strRef>
              <c:f>'Chart Data'!$A$2:$A$3</c:f>
              <c:strCache>
                <c:ptCount val="2"/>
                <c:pt idx="0">
                  <c:v>雌</c:v>
                </c:pt>
                <c:pt idx="1">
                  <c:v>雄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187.794520548</c:v>
                </c:pt>
                <c:pt idx="1">
                  <c:v>192.410958904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1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B  5毫米分箱频数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雌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strRef>
              <c:f>'Chart Data'!$A$2:$A$10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Data'!$B$2:$B$10</c:f>
              <c:numCache>
                <c:formatCode>General</c:formatCode>
                <c:ptCount val="9"/>
                <c:pt idx="0">
                  <c:v>2</c:v>
                </c:pt>
                <c:pt idx="1">
                  <c:v>3</c:v>
                </c:pt>
                <c:pt idx="2">
                  <c:v>11</c:v>
                </c:pt>
                <c:pt idx="3">
                  <c:v>27</c:v>
                </c:pt>
                <c:pt idx="4">
                  <c:v>21</c:v>
                </c:pt>
                <c:pt idx="5">
                  <c:v>8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v>雄</c:v>
          </c:tx>
          <c:spPr>
            <a:solidFill xmlns:a="http://schemas.openxmlformats.org/drawingml/2006/main">
              <a:srgbClr val="2C6D68"/>
            </a:solidFill>
            <a:ln xmlns:a="http://schemas.openxmlformats.org/drawingml/2006/main" w="23813">
              <a:solidFill>
                <a:srgbClr val="2C6D68"/>
              </a:solidFill>
            </a:ln>
          </c:spPr>
          <c:invertIfNegative val="0"/>
          <c:cat>
            <c:strRef>
              <c:f>'Chart Data'!$C$2:$C$10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Data'!$D$2:$D$10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10</c:v>
                </c:pt>
                <c:pt idx="3">
                  <c:v>8</c:v>
                </c:pt>
                <c:pt idx="4">
                  <c:v>24</c:v>
                </c:pt>
                <c:pt idx="5">
                  <c:v>22</c:v>
                </c:pt>
                <c:pt idx="6">
                  <c:v>5</c:v>
                </c:pt>
                <c:pt idx="7">
                  <c:v>2</c:v>
                </c:pt>
                <c:pt idx="8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A  纵轴从0开始（毫米）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平均鳍长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strRef>
              <c:f>'Chart Data'!$A$2:$A$3</c:f>
              <c:strCache>
                <c:ptCount val="2"/>
                <c:pt idx="0">
                  <c:v>雌</c:v>
                </c:pt>
                <c:pt idx="1">
                  <c:v>雄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187.794520548</c:v>
                </c:pt>
                <c:pt idx="1">
                  <c:v>192.410958904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1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B  纵轴从180开始（毫米）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平均鳍长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strRef>
              <c:f>'Chart Data'!$A$2:$A$3</c:f>
              <c:strCache>
                <c:ptCount val="2"/>
                <c:pt idx="0">
                  <c:v>雌</c:v>
                </c:pt>
                <c:pt idx="1">
                  <c:v>雄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187.794520548</c:v>
                </c:pt>
                <c:pt idx="1">
                  <c:v>192.410958904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00"/>
          <c:min val="18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Adelie喙长与鳍长（每组73条）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marker"/>
        <c:varyColors val="0"/>
        <c:ser>
          <c:idx val="0"/>
          <c:order val="0"/>
          <c:tx>
            <c:v>雌（圆形）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0">
              <a:noFill/>
            </a:ln>
          </c:spPr>
          <c:marker>
            <c:symbol val="circle"/>
            <c:size val="6"/>
            <c:spPr>
              <a:solidFill xmlns:a="http://schemas.openxmlformats.org/drawingml/2006/main">
                <a:srgbClr val="245B77"/>
              </a:solidFill>
            </c:spPr>
          </c:marker>
          <c:xVal>
            <c:numRef>
              <c:f>'Chart Data'!$A$2:$A$74</c:f>
              <c:numCache>
                <c:formatCode>General</c:formatCode>
                <c:ptCount val="73"/>
                <c:pt idx="0">
                  <c:v>39.5</c:v>
                </c:pt>
                <c:pt idx="1">
                  <c:v>40.3</c:v>
                </c:pt>
                <c:pt idx="2">
                  <c:v>36.7</c:v>
                </c:pt>
                <c:pt idx="3">
                  <c:v>38.9</c:v>
                </c:pt>
                <c:pt idx="4">
                  <c:v>41.1</c:v>
                </c:pt>
                <c:pt idx="5">
                  <c:v>36.6</c:v>
                </c:pt>
                <c:pt idx="6">
                  <c:v>38.7</c:v>
                </c:pt>
                <c:pt idx="7">
                  <c:v>34.4</c:v>
                </c:pt>
                <c:pt idx="8">
                  <c:v>37.8</c:v>
                </c:pt>
                <c:pt idx="9">
                  <c:v>35.9</c:v>
                </c:pt>
                <c:pt idx="10">
                  <c:v>35.3</c:v>
                </c:pt>
                <c:pt idx="11">
                  <c:v>40.5</c:v>
                </c:pt>
                <c:pt idx="12">
                  <c:v>37.9</c:v>
                </c:pt>
                <c:pt idx="13">
                  <c:v>39.5</c:v>
                </c:pt>
                <c:pt idx="14">
                  <c:v>39.5</c:v>
                </c:pt>
                <c:pt idx="15">
                  <c:v>36.4</c:v>
                </c:pt>
                <c:pt idx="16">
                  <c:v>42.2</c:v>
                </c:pt>
                <c:pt idx="17">
                  <c:v>37.6</c:v>
                </c:pt>
                <c:pt idx="18">
                  <c:v>36.5</c:v>
                </c:pt>
                <c:pt idx="19">
                  <c:v>36</c:v>
                </c:pt>
                <c:pt idx="20">
                  <c:v>37</c:v>
                </c:pt>
                <c:pt idx="21">
                  <c:v>36</c:v>
                </c:pt>
                <c:pt idx="22">
                  <c:v>39.6</c:v>
                </c:pt>
                <c:pt idx="23">
                  <c:v>35</c:v>
                </c:pt>
                <c:pt idx="24">
                  <c:v>34.5</c:v>
                </c:pt>
                <c:pt idx="25">
                  <c:v>39</c:v>
                </c:pt>
                <c:pt idx="26">
                  <c:v>36.5</c:v>
                </c:pt>
                <c:pt idx="27">
                  <c:v>35.7</c:v>
                </c:pt>
                <c:pt idx="28">
                  <c:v>37.6</c:v>
                </c:pt>
                <c:pt idx="29">
                  <c:v>36.4</c:v>
                </c:pt>
                <c:pt idx="30">
                  <c:v>35.5</c:v>
                </c:pt>
                <c:pt idx="31">
                  <c:v>35.9</c:v>
                </c:pt>
                <c:pt idx="32">
                  <c:v>33.5</c:v>
                </c:pt>
                <c:pt idx="33">
                  <c:v>39.6</c:v>
                </c:pt>
                <c:pt idx="34">
                  <c:v>35.5</c:v>
                </c:pt>
                <c:pt idx="35">
                  <c:v>40.9</c:v>
                </c:pt>
                <c:pt idx="36">
                  <c:v>36.2</c:v>
                </c:pt>
                <c:pt idx="37">
                  <c:v>34.6</c:v>
                </c:pt>
                <c:pt idx="38">
                  <c:v>36.7</c:v>
                </c:pt>
                <c:pt idx="39">
                  <c:v>37.3</c:v>
                </c:pt>
                <c:pt idx="40">
                  <c:v>36.9</c:v>
                </c:pt>
                <c:pt idx="41">
                  <c:v>38.9</c:v>
                </c:pt>
                <c:pt idx="42">
                  <c:v>35.7</c:v>
                </c:pt>
                <c:pt idx="43">
                  <c:v>34</c:v>
                </c:pt>
                <c:pt idx="44">
                  <c:v>36.2</c:v>
                </c:pt>
                <c:pt idx="45">
                  <c:v>38.1</c:v>
                </c:pt>
                <c:pt idx="46">
                  <c:v>33.1</c:v>
                </c:pt>
                <c:pt idx="47">
                  <c:v>35</c:v>
                </c:pt>
                <c:pt idx="48">
                  <c:v>37.7</c:v>
                </c:pt>
                <c:pt idx="49">
                  <c:v>37.9</c:v>
                </c:pt>
                <c:pt idx="50">
                  <c:v>38.6</c:v>
                </c:pt>
                <c:pt idx="51">
                  <c:v>38.1</c:v>
                </c:pt>
                <c:pt idx="52">
                  <c:v>38.1</c:v>
                </c:pt>
                <c:pt idx="53">
                  <c:v>39.7</c:v>
                </c:pt>
                <c:pt idx="54">
                  <c:v>39.6</c:v>
                </c:pt>
                <c:pt idx="55">
                  <c:v>38.6</c:v>
                </c:pt>
                <c:pt idx="56">
                  <c:v>35.7</c:v>
                </c:pt>
                <c:pt idx="57">
                  <c:v>36.2</c:v>
                </c:pt>
                <c:pt idx="58">
                  <c:v>40.2</c:v>
                </c:pt>
                <c:pt idx="59">
                  <c:v>35.2</c:v>
                </c:pt>
                <c:pt idx="60">
                  <c:v>38.8</c:v>
                </c:pt>
                <c:pt idx="61">
                  <c:v>39</c:v>
                </c:pt>
                <c:pt idx="62">
                  <c:v>38.5</c:v>
                </c:pt>
                <c:pt idx="63">
                  <c:v>36.8</c:v>
                </c:pt>
                <c:pt idx="64">
                  <c:v>38.1</c:v>
                </c:pt>
                <c:pt idx="65">
                  <c:v>35.6</c:v>
                </c:pt>
                <c:pt idx="66">
                  <c:v>37</c:v>
                </c:pt>
                <c:pt idx="67">
                  <c:v>40.2</c:v>
                </c:pt>
                <c:pt idx="68">
                  <c:v>32.1</c:v>
                </c:pt>
                <c:pt idx="69">
                  <c:v>37.3</c:v>
                </c:pt>
                <c:pt idx="70">
                  <c:v>36.6</c:v>
                </c:pt>
                <c:pt idx="71">
                  <c:v>36</c:v>
                </c:pt>
                <c:pt idx="72">
                  <c:v>36</c:v>
                </c:pt>
              </c:numCache>
            </c:numRef>
          </c:xVal>
          <c:yVal>
            <c:numRef>
              <c:f>'Chart Data'!$B$2:$B$74</c:f>
              <c:numCache>
                <c:formatCode>General</c:formatCode>
                <c:ptCount val="73"/>
                <c:pt idx="0">
                  <c:v>186</c:v>
                </c:pt>
                <c:pt idx="1">
                  <c:v>195</c:v>
                </c:pt>
                <c:pt idx="2">
                  <c:v>193</c:v>
                </c:pt>
                <c:pt idx="3">
                  <c:v>181</c:v>
                </c:pt>
                <c:pt idx="4">
                  <c:v>182</c:v>
                </c:pt>
                <c:pt idx="5">
                  <c:v>185</c:v>
                </c:pt>
                <c:pt idx="6">
                  <c:v>195</c:v>
                </c:pt>
                <c:pt idx="7">
                  <c:v>184</c:v>
                </c:pt>
                <c:pt idx="8">
                  <c:v>174</c:v>
                </c:pt>
                <c:pt idx="9">
                  <c:v>189</c:v>
                </c:pt>
                <c:pt idx="10">
                  <c:v>187</c:v>
                </c:pt>
                <c:pt idx="11">
                  <c:v>187</c:v>
                </c:pt>
                <c:pt idx="12">
                  <c:v>172</c:v>
                </c:pt>
                <c:pt idx="13">
                  <c:v>178</c:v>
                </c:pt>
                <c:pt idx="14">
                  <c:v>188</c:v>
                </c:pt>
                <c:pt idx="15">
                  <c:v>195</c:v>
                </c:pt>
                <c:pt idx="16">
                  <c:v>180</c:v>
                </c:pt>
                <c:pt idx="17">
                  <c:v>181</c:v>
                </c:pt>
                <c:pt idx="18">
                  <c:v>182</c:v>
                </c:pt>
                <c:pt idx="19">
                  <c:v>186</c:v>
                </c:pt>
                <c:pt idx="20">
                  <c:v>185</c:v>
                </c:pt>
                <c:pt idx="21">
                  <c:v>190</c:v>
                </c:pt>
                <c:pt idx="22">
                  <c:v>186</c:v>
                </c:pt>
                <c:pt idx="23">
                  <c:v>190</c:v>
                </c:pt>
                <c:pt idx="24">
                  <c:v>187</c:v>
                </c:pt>
                <c:pt idx="25">
                  <c:v>186</c:v>
                </c:pt>
                <c:pt idx="26">
                  <c:v>181</c:v>
                </c:pt>
                <c:pt idx="27">
                  <c:v>185</c:v>
                </c:pt>
                <c:pt idx="28">
                  <c:v>185</c:v>
                </c:pt>
                <c:pt idx="29">
                  <c:v>184</c:v>
                </c:pt>
                <c:pt idx="30">
                  <c:v>195</c:v>
                </c:pt>
                <c:pt idx="31">
                  <c:v>190</c:v>
                </c:pt>
                <c:pt idx="32">
                  <c:v>190</c:v>
                </c:pt>
                <c:pt idx="33">
                  <c:v>196</c:v>
                </c:pt>
                <c:pt idx="34">
                  <c:v>190</c:v>
                </c:pt>
                <c:pt idx="35">
                  <c:v>191</c:v>
                </c:pt>
                <c:pt idx="36">
                  <c:v>187</c:v>
                </c:pt>
                <c:pt idx="37">
                  <c:v>189</c:v>
                </c:pt>
                <c:pt idx="38">
                  <c:v>187</c:v>
                </c:pt>
                <c:pt idx="39">
                  <c:v>191</c:v>
                </c:pt>
                <c:pt idx="40">
                  <c:v>189</c:v>
                </c:pt>
                <c:pt idx="41">
                  <c:v>190</c:v>
                </c:pt>
                <c:pt idx="42">
                  <c:v>202</c:v>
                </c:pt>
                <c:pt idx="43">
                  <c:v>185</c:v>
                </c:pt>
                <c:pt idx="44">
                  <c:v>187</c:v>
                </c:pt>
                <c:pt idx="45">
                  <c:v>190</c:v>
                </c:pt>
                <c:pt idx="46">
                  <c:v>178</c:v>
                </c:pt>
                <c:pt idx="47">
                  <c:v>192</c:v>
                </c:pt>
                <c:pt idx="48">
                  <c:v>183</c:v>
                </c:pt>
                <c:pt idx="49">
                  <c:v>193</c:v>
                </c:pt>
                <c:pt idx="50">
                  <c:v>199</c:v>
                </c:pt>
                <c:pt idx="51">
                  <c:v>181</c:v>
                </c:pt>
                <c:pt idx="52">
                  <c:v>198</c:v>
                </c:pt>
                <c:pt idx="53">
                  <c:v>193</c:v>
                </c:pt>
                <c:pt idx="54">
                  <c:v>191</c:v>
                </c:pt>
                <c:pt idx="55">
                  <c:v>188</c:v>
                </c:pt>
                <c:pt idx="56">
                  <c:v>189</c:v>
                </c:pt>
                <c:pt idx="57">
                  <c:v>187</c:v>
                </c:pt>
                <c:pt idx="58">
                  <c:v>176</c:v>
                </c:pt>
                <c:pt idx="59">
                  <c:v>186</c:v>
                </c:pt>
                <c:pt idx="60">
                  <c:v>191</c:v>
                </c:pt>
                <c:pt idx="61">
                  <c:v>191</c:v>
                </c:pt>
                <c:pt idx="62">
                  <c:v>190</c:v>
                </c:pt>
                <c:pt idx="63">
                  <c:v>193</c:v>
                </c:pt>
                <c:pt idx="64">
                  <c:v>187</c:v>
                </c:pt>
                <c:pt idx="65">
                  <c:v>191</c:v>
                </c:pt>
                <c:pt idx="66">
                  <c:v>185</c:v>
                </c:pt>
                <c:pt idx="67">
                  <c:v>193</c:v>
                </c:pt>
                <c:pt idx="68">
                  <c:v>188</c:v>
                </c:pt>
                <c:pt idx="69">
                  <c:v>192</c:v>
                </c:pt>
                <c:pt idx="70">
                  <c:v>184</c:v>
                </c:pt>
                <c:pt idx="71">
                  <c:v>195</c:v>
                </c:pt>
                <c:pt idx="72">
                  <c:v>187</c:v>
                </c:pt>
              </c:numCache>
            </c:numRef>
          </c:yVal>
        </c:ser>
        <c:ser>
          <c:idx val="1"/>
          <c:order val="1"/>
          <c:tx>
            <c:v>雄（方形）</c:v>
          </c:tx>
          <c:spPr>
            <a:solidFill xmlns:a="http://schemas.openxmlformats.org/drawingml/2006/main">
              <a:srgbClr val="2C6D68"/>
            </a:solidFill>
            <a:ln xmlns:a="http://schemas.openxmlformats.org/drawingml/2006/main" w="0">
              <a:noFill/>
            </a:ln>
          </c:spPr>
          <c:marker>
            <c:symbol val="square"/>
            <c:size val="6"/>
            <c:spPr>
              <a:solidFill xmlns:a="http://schemas.openxmlformats.org/drawingml/2006/main">
                <a:srgbClr val="2C6D68"/>
              </a:solidFill>
            </c:spPr>
          </c:marker>
          <c:xVal>
            <c:numRef>
              <c:f>'Chart Data'!$C$2:$C$74</c:f>
              <c:numCache>
                <c:formatCode>General</c:formatCode>
                <c:ptCount val="73"/>
                <c:pt idx="0">
                  <c:v>39.1</c:v>
                </c:pt>
                <c:pt idx="1">
                  <c:v>39.3</c:v>
                </c:pt>
                <c:pt idx="2">
                  <c:v>39.2</c:v>
                </c:pt>
                <c:pt idx="3">
                  <c:v>38.6</c:v>
                </c:pt>
                <c:pt idx="4">
                  <c:v>34.6</c:v>
                </c:pt>
                <c:pt idx="5">
                  <c:v>42.5</c:v>
                </c:pt>
                <c:pt idx="6">
                  <c:v>46</c:v>
                </c:pt>
                <c:pt idx="7">
                  <c:v>37.7</c:v>
                </c:pt>
                <c:pt idx="8">
                  <c:v>38.2</c:v>
                </c:pt>
                <c:pt idx="9">
                  <c:v>38.8</c:v>
                </c:pt>
                <c:pt idx="10">
                  <c:v>40.6</c:v>
                </c:pt>
                <c:pt idx="11">
                  <c:v>40.5</c:v>
                </c:pt>
                <c:pt idx="12">
                  <c:v>37.2</c:v>
                </c:pt>
                <c:pt idx="13">
                  <c:v>40.9</c:v>
                </c:pt>
                <c:pt idx="14">
                  <c:v>39.2</c:v>
                </c:pt>
                <c:pt idx="15">
                  <c:v>38.8</c:v>
                </c:pt>
                <c:pt idx="16">
                  <c:v>39.8</c:v>
                </c:pt>
                <c:pt idx="17">
                  <c:v>40.8</c:v>
                </c:pt>
                <c:pt idx="18">
                  <c:v>44.1</c:v>
                </c:pt>
                <c:pt idx="19">
                  <c:v>39.6</c:v>
                </c:pt>
                <c:pt idx="20">
                  <c:v>41.1</c:v>
                </c:pt>
                <c:pt idx="21">
                  <c:v>42.3</c:v>
                </c:pt>
                <c:pt idx="22">
                  <c:v>40.1</c:v>
                </c:pt>
                <c:pt idx="23">
                  <c:v>42</c:v>
                </c:pt>
                <c:pt idx="24">
                  <c:v>41.4</c:v>
                </c:pt>
                <c:pt idx="25">
                  <c:v>40.6</c:v>
                </c:pt>
                <c:pt idx="26">
                  <c:v>37.6</c:v>
                </c:pt>
                <c:pt idx="27">
                  <c:v>41.3</c:v>
                </c:pt>
                <c:pt idx="28">
                  <c:v>41.1</c:v>
                </c:pt>
                <c:pt idx="29">
                  <c:v>41.6</c:v>
                </c:pt>
                <c:pt idx="30">
                  <c:v>41.1</c:v>
                </c:pt>
                <c:pt idx="31">
                  <c:v>41.8</c:v>
                </c:pt>
                <c:pt idx="32">
                  <c:v>39.7</c:v>
                </c:pt>
                <c:pt idx="33">
                  <c:v>45.8</c:v>
                </c:pt>
                <c:pt idx="34">
                  <c:v>42.8</c:v>
                </c:pt>
                <c:pt idx="35">
                  <c:v>37.2</c:v>
                </c:pt>
                <c:pt idx="36">
                  <c:v>42.1</c:v>
                </c:pt>
                <c:pt idx="37">
                  <c:v>42.9</c:v>
                </c:pt>
                <c:pt idx="38">
                  <c:v>35.1</c:v>
                </c:pt>
                <c:pt idx="39">
                  <c:v>41.3</c:v>
                </c:pt>
                <c:pt idx="40">
                  <c:v>36.3</c:v>
                </c:pt>
                <c:pt idx="41">
                  <c:v>38.3</c:v>
                </c:pt>
                <c:pt idx="42">
                  <c:v>41.1</c:v>
                </c:pt>
                <c:pt idx="43">
                  <c:v>39.6</c:v>
                </c:pt>
                <c:pt idx="44">
                  <c:v>40.8</c:v>
                </c:pt>
                <c:pt idx="45">
                  <c:v>40.3</c:v>
                </c:pt>
                <c:pt idx="46">
                  <c:v>43.2</c:v>
                </c:pt>
                <c:pt idx="47">
                  <c:v>41</c:v>
                </c:pt>
                <c:pt idx="48">
                  <c:v>37.8</c:v>
                </c:pt>
                <c:pt idx="49">
                  <c:v>39.7</c:v>
                </c:pt>
                <c:pt idx="50">
                  <c:v>38.2</c:v>
                </c:pt>
                <c:pt idx="51">
                  <c:v>43.2</c:v>
                </c:pt>
                <c:pt idx="52">
                  <c:v>45.6</c:v>
                </c:pt>
                <c:pt idx="53">
                  <c:v>42.2</c:v>
                </c:pt>
                <c:pt idx="54">
                  <c:v>42.7</c:v>
                </c:pt>
                <c:pt idx="55">
                  <c:v>37.3</c:v>
                </c:pt>
                <c:pt idx="56">
                  <c:v>41.1</c:v>
                </c:pt>
                <c:pt idx="57">
                  <c:v>37.7</c:v>
                </c:pt>
                <c:pt idx="58">
                  <c:v>41.4</c:v>
                </c:pt>
                <c:pt idx="59">
                  <c:v>40.6</c:v>
                </c:pt>
                <c:pt idx="60">
                  <c:v>41.5</c:v>
                </c:pt>
                <c:pt idx="61">
                  <c:v>44.1</c:v>
                </c:pt>
                <c:pt idx="62">
                  <c:v>43.1</c:v>
                </c:pt>
                <c:pt idx="63">
                  <c:v>37.5</c:v>
                </c:pt>
                <c:pt idx="64">
                  <c:v>41.1</c:v>
                </c:pt>
                <c:pt idx="65">
                  <c:v>40.2</c:v>
                </c:pt>
                <c:pt idx="66">
                  <c:v>39.7</c:v>
                </c:pt>
                <c:pt idx="67">
                  <c:v>40.6</c:v>
                </c:pt>
                <c:pt idx="68">
                  <c:v>40.7</c:v>
                </c:pt>
                <c:pt idx="69">
                  <c:v>39</c:v>
                </c:pt>
                <c:pt idx="70">
                  <c:v>39.2</c:v>
                </c:pt>
                <c:pt idx="71">
                  <c:v>37.8</c:v>
                </c:pt>
                <c:pt idx="72">
                  <c:v>41.5</c:v>
                </c:pt>
              </c:numCache>
            </c:numRef>
          </c:xVal>
          <c:yVal>
            <c:numRef>
              <c:f>'Chart Data'!$D$2:$D$74</c:f>
              <c:numCache>
                <c:formatCode>General</c:formatCode>
                <c:ptCount val="73"/>
                <c:pt idx="0">
                  <c:v>181</c:v>
                </c:pt>
                <c:pt idx="1">
                  <c:v>190</c:v>
                </c:pt>
                <c:pt idx="2">
                  <c:v>195</c:v>
                </c:pt>
                <c:pt idx="3">
                  <c:v>191</c:v>
                </c:pt>
                <c:pt idx="4">
                  <c:v>198</c:v>
                </c:pt>
                <c:pt idx="5">
                  <c:v>197</c:v>
                </c:pt>
                <c:pt idx="6">
                  <c:v>194</c:v>
                </c:pt>
                <c:pt idx="7">
                  <c:v>180</c:v>
                </c:pt>
                <c:pt idx="8">
                  <c:v>185</c:v>
                </c:pt>
                <c:pt idx="9">
                  <c:v>180</c:v>
                </c:pt>
                <c:pt idx="10">
                  <c:v>183</c:v>
                </c:pt>
                <c:pt idx="11">
                  <c:v>180</c:v>
                </c:pt>
                <c:pt idx="12">
                  <c:v>178</c:v>
                </c:pt>
                <c:pt idx="13">
                  <c:v>184</c:v>
                </c:pt>
                <c:pt idx="14">
                  <c:v>196</c:v>
                </c:pt>
                <c:pt idx="15">
                  <c:v>190</c:v>
                </c:pt>
                <c:pt idx="16">
                  <c:v>184</c:v>
                </c:pt>
                <c:pt idx="17">
                  <c:v>195</c:v>
                </c:pt>
                <c:pt idx="18">
                  <c:v>196</c:v>
                </c:pt>
                <c:pt idx="19">
                  <c:v>190</c:v>
                </c:pt>
                <c:pt idx="20">
                  <c:v>182</c:v>
                </c:pt>
                <c:pt idx="21">
                  <c:v>191</c:v>
                </c:pt>
                <c:pt idx="22">
                  <c:v>188</c:v>
                </c:pt>
                <c:pt idx="23">
                  <c:v>200</c:v>
                </c:pt>
                <c:pt idx="24">
                  <c:v>191</c:v>
                </c:pt>
                <c:pt idx="25">
                  <c:v>193</c:v>
                </c:pt>
                <c:pt idx="26">
                  <c:v>194</c:v>
                </c:pt>
                <c:pt idx="27">
                  <c:v>195</c:v>
                </c:pt>
                <c:pt idx="28">
                  <c:v>192</c:v>
                </c:pt>
                <c:pt idx="29">
                  <c:v>192</c:v>
                </c:pt>
                <c:pt idx="30">
                  <c:v>188</c:v>
                </c:pt>
                <c:pt idx="31">
                  <c:v>198</c:v>
                </c:pt>
                <c:pt idx="32">
                  <c:v>190</c:v>
                </c:pt>
                <c:pt idx="33">
                  <c:v>197</c:v>
                </c:pt>
                <c:pt idx="34">
                  <c:v>195</c:v>
                </c:pt>
                <c:pt idx="35">
                  <c:v>184</c:v>
                </c:pt>
                <c:pt idx="36">
                  <c:v>195</c:v>
                </c:pt>
                <c:pt idx="37">
                  <c:v>196</c:v>
                </c:pt>
                <c:pt idx="38">
                  <c:v>193</c:v>
                </c:pt>
                <c:pt idx="39">
                  <c:v>194</c:v>
                </c:pt>
                <c:pt idx="40">
                  <c:v>190</c:v>
                </c:pt>
                <c:pt idx="41">
                  <c:v>189</c:v>
                </c:pt>
                <c:pt idx="42">
                  <c:v>205</c:v>
                </c:pt>
                <c:pt idx="43">
                  <c:v>186</c:v>
                </c:pt>
                <c:pt idx="44">
                  <c:v>208</c:v>
                </c:pt>
                <c:pt idx="45">
                  <c:v>196</c:v>
                </c:pt>
                <c:pt idx="46">
                  <c:v>192</c:v>
                </c:pt>
                <c:pt idx="47">
                  <c:v>203</c:v>
                </c:pt>
                <c:pt idx="48">
                  <c:v>190</c:v>
                </c:pt>
                <c:pt idx="49">
                  <c:v>184</c:v>
                </c:pt>
                <c:pt idx="50">
                  <c:v>190</c:v>
                </c:pt>
                <c:pt idx="51">
                  <c:v>197</c:v>
                </c:pt>
                <c:pt idx="52">
                  <c:v>191</c:v>
                </c:pt>
                <c:pt idx="53">
                  <c:v>197</c:v>
                </c:pt>
                <c:pt idx="54">
                  <c:v>196</c:v>
                </c:pt>
                <c:pt idx="55">
                  <c:v>199</c:v>
                </c:pt>
                <c:pt idx="56">
                  <c:v>189</c:v>
                </c:pt>
                <c:pt idx="57">
                  <c:v>198</c:v>
                </c:pt>
                <c:pt idx="58">
                  <c:v>202</c:v>
                </c:pt>
                <c:pt idx="59">
                  <c:v>199</c:v>
                </c:pt>
                <c:pt idx="60">
                  <c:v>195</c:v>
                </c:pt>
                <c:pt idx="61">
                  <c:v>210</c:v>
                </c:pt>
                <c:pt idx="62">
                  <c:v>197</c:v>
                </c:pt>
                <c:pt idx="63">
                  <c:v>199</c:v>
                </c:pt>
                <c:pt idx="64">
                  <c:v>190</c:v>
                </c:pt>
                <c:pt idx="65">
                  <c:v>200</c:v>
                </c:pt>
                <c:pt idx="66">
                  <c:v>193</c:v>
                </c:pt>
                <c:pt idx="67">
                  <c:v>187</c:v>
                </c:pt>
                <c:pt idx="68">
                  <c:v>190</c:v>
                </c:pt>
                <c:pt idx="69">
                  <c:v>185</c:v>
                </c:pt>
                <c:pt idx="70">
                  <c:v>190</c:v>
                </c:pt>
                <c:pt idx="71">
                  <c:v>193</c:v>
                </c:pt>
                <c:pt idx="72">
                  <c:v>201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15"/>
          <c:min val="17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48"/>
          <c:min val="30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3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A  鳍长分布（毫米）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雌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strRef>
              <c:f>'Chart Data'!$A$2:$A$10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Data'!$B$2:$B$10</c:f>
              <c:numCache>
                <c:formatCode>General</c:formatCode>
                <c:ptCount val="9"/>
                <c:pt idx="0">
                  <c:v>2</c:v>
                </c:pt>
                <c:pt idx="1">
                  <c:v>3</c:v>
                </c:pt>
                <c:pt idx="2">
                  <c:v>11</c:v>
                </c:pt>
                <c:pt idx="3">
                  <c:v>27</c:v>
                </c:pt>
                <c:pt idx="4">
                  <c:v>21</c:v>
                </c:pt>
                <c:pt idx="5">
                  <c:v>8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v>雄</c:v>
          </c:tx>
          <c:spPr>
            <a:solidFill xmlns:a="http://schemas.openxmlformats.org/drawingml/2006/main">
              <a:srgbClr val="2C6D68"/>
            </a:solidFill>
            <a:ln xmlns:a="http://schemas.openxmlformats.org/drawingml/2006/main" w="23813">
              <a:solidFill>
                <a:srgbClr val="2C6D68"/>
              </a:solidFill>
            </a:ln>
          </c:spPr>
          <c:invertIfNegative val="0"/>
          <c:cat>
            <c:strRef>
              <c:f>'Chart Data'!$C$2:$C$10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Data'!$D$2:$D$10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10</c:v>
                </c:pt>
                <c:pt idx="3">
                  <c:v>8</c:v>
                </c:pt>
                <c:pt idx="4">
                  <c:v>24</c:v>
                </c:pt>
                <c:pt idx="5">
                  <c:v>22</c:v>
                </c:pt>
                <c:pt idx="6">
                  <c:v>5</c:v>
                </c:pt>
                <c:pt idx="7">
                  <c:v>2</c:v>
                </c:pt>
                <c:pt idx="8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B  各年组均鳍长（毫米）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雌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245B77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</c:numCache>
            </c:num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185.227272727</c:v>
                </c:pt>
                <c:pt idx="1">
                  <c:v>188.44</c:v>
                </c:pt>
                <c:pt idx="2">
                  <c:v>189.346153846</c:v>
                </c:pt>
              </c:numCache>
            </c:numRef>
          </c:val>
          <c:smooth val="0"/>
        </c:ser>
        <c:ser>
          <c:idx val="1"/>
          <c:order val="1"/>
          <c:tx>
            <c:v>雄</c:v>
          </c:tx>
          <c:spPr>
            <a:solidFill xmlns:a="http://schemas.openxmlformats.org/drawingml/2006/main">
              <a:srgbClr val="2C6D68"/>
            </a:solidFill>
            <a:ln xmlns:a="http://schemas.openxmlformats.org/drawingml/2006/main" w="23813">
              <a:solidFill>
                <a:srgbClr val="2C6D68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2C6D68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</c:numCache>
            </c:num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188.181818182</c:v>
                </c:pt>
                <c:pt idx="1">
                  <c:v>193.64</c:v>
                </c:pt>
                <c:pt idx="2">
                  <c:v>194.807692308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00"/>
          <c:min val="18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F9CBF5-214F-4122-9922-D9DAB8E68EF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286250" y="4929188"/>
            <a:ext cx="2000250" cy="1619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9725EA-899B-4EFA-9606-2DFCD12DEBC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286250" y="4929188"/>
            <a:ext cx="2000250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12D02B-DE5B-4F68-8EC2-8ECE61DD028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286250" y="3595688"/>
            <a:ext cx="2000250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412145-BD3D-40EE-888A-CDCCEB21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E2281C-FAD1-4238-A30D-52E38FA7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科研图表与技术路线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73B6B9-9B8B-42B7-9F61-2A62886F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D4640-CAA3-4673-AEB4-9B59CB16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图需要对应一个读者能回答的问题，并保留作出判断所需的依据。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65F96F-A14B-444F-B8C9-37457878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524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图要回答什么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DC437C-5D5A-49D1-8DC4-826F7329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数据图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7F1C84-30EC-4188-B8AD-89F8D612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343275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数值、分布、差异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D04D12-42F5-4BCE-BEE9-B9717871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67250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技术路线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13FBB6-D9F6-4A9B-9B4D-79FF07AF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819650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步骤、依赖、判断条件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B417BF-A0FF-4452-81F2-5F5B5ABF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143625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机制示意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BEAA5E-124C-434E-8118-30B03707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解释假说、待验证关系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72AA9B-7BB9-4AD4-9C36-2A475A87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数据、流程与假说的表达任务不同，来源与证据状态需随图保留。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DF2BBE-D1ED-4EAF-AE69-F2C7AB70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来源：UBC 2026，图形编码，pp.4/6/17；课程自编教学示例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6D9ADA-7D9F-4854-93BE-13CB409F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466179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34B827-AABD-4DC6-ACC4-127D4F9B563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286250" y="4929188"/>
            <a:ext cx="2000250" cy="1619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BDAF78-7D3F-485B-8491-0AC62E14299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286250" y="4929188"/>
            <a:ext cx="2000250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D71D52-F55A-4D91-AB3F-25CDBE49E23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286250" y="3595688"/>
            <a:ext cx="2000250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01C777-B231-4397-A71E-E3C2C8F6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2F2FD5-50C4-4ED5-82C2-53663604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研究问题与图型选择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B8EFF8-5BA7-4282-861B-A32048A9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41BFA4-C8AF-401A-8B45-D395AA14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比较分布、观察变量关系、展示时序和说明工作步骤，各有适合的表达方式。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E3688-A2EB-4DF2-9D3D-BE825EBE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524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读者需要比较什么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AA4BC-8A8C-4D41-ACF5-3DA5CA72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分布或变量关系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343C3A-21CB-4BCA-96E0-7165A77C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343275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频数图、散点图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4D5112-C065-4F9E-B3A8-EF1B092D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67250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年份或条件变化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6E7473-565C-4E08-8766-EE70AC1B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819650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有明确尺度的趋势图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799C56-3C95-4B84-951E-68C351CA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143625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研究步骤与依赖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D17ADB-2289-4FEF-8EA3-27FAFB8E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节点、连接与分支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279C07-912B-4A2D-9344-A9A7262C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选择依据是要比较什么、数据怎样组织，以及读者需要看清的关系。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98E604-AAFE-4EA6-BBEA-9249D0F0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来源：UBC 2026，图形编码，pp.4/6/17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86BA5E-AE86-414E-B3F4-228F9AB8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914057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BCDB76-0FA8-4E1A-AA98-4BA4CE6C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2B58E-B143-47A9-A424-E26F21F3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均值图与分布图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4CE476-C6E7-446F-997D-8D5C4FAE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14274-1E3B-4298-9637-27623142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相同的两组记录，均值图给出中心位置，分布图补充重叠、跨度和频数。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A5FCECE5-0160-4B27-A773-F90E1DD2FCEF}"/>
              </a:ext>
            </a:extLst>
          </p:cNvPr>
          <p:cNvGraphicFramePr/>
          <p:nvPr/>
        </p:nvGraphicFramePr>
        <p:xfrm>
          <a:off xmlns:a="http://schemas.openxmlformats.org/drawingml/2006/main" x="762000" y="3238500"/>
          <a:ext xmlns:a="http://schemas.openxmlformats.org/drawingml/2006/main" cx="5715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2bc957e032f4c83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D636D597-8662-47D7-9297-A1ED2BB16254}"/>
              </a:ext>
            </a:extLst>
          </p:cNvPr>
          <p:cNvGraphicFramePr/>
          <p:nvPr/>
        </p:nvGraphicFramePr>
        <p:xfrm>
          <a:off xmlns:a="http://schemas.openxmlformats.org/drawingml/2006/main" x="7524750" y="3238500"/>
          <a:ext xmlns:a="http://schemas.openxmlformats.org/drawingml/2006/main" cx="6953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825237fb1a9471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566DD4-6B92-4C25-AD0A-BE60296F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均值：187.79 / 192.41 mm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416103-7786-4A5A-B4F2-B8F48418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7239000"/>
            <a:ext cx="695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同一批数据，补充组间重叠与跨度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8124DD-B1BB-4A9B-AE63-FBAC88A0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公开观测二次分析。两图使用相同146条记录，图型改变不改变数据。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8B1932-2F23-42CF-9CDB-607AE752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来源：palmerpenguins公开数据，本课程重绘；UBC 2026，图形编码，pp.4/6/17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D8F492-D597-4F34-BBEB-48A4ED55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10381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995B94-1919-4355-81A4-57C22243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EA8B42-B926-40D9-A24E-B75403EF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纵轴范围与柱长比较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50EFA-ADDC-4CAA-A063-7BE301A2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E03F69-EB6D-4A4D-A21A-4552D23C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同样的均值，柱图从180开始时，两根柱子的高度比会显得更悬殊。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AEAECB08-481E-492F-B6E7-5AB9465BC4E1}"/>
              </a:ext>
            </a:extLst>
          </p:cNvPr>
          <p:cNvGraphicFramePr/>
          <p:nvPr/>
        </p:nvGraphicFramePr>
        <p:xfrm>
          <a:off xmlns:a="http://schemas.openxmlformats.org/drawingml/2006/main" x="762000" y="3238500"/>
          <a:ext xmlns:a="http://schemas.openxmlformats.org/drawingml/2006/main" cx="6477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1445c784b64034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3F2FCC2A-D15C-4776-AFDA-A9323C55C461}"/>
              </a:ext>
            </a:extLst>
          </p:cNvPr>
          <p:cNvGraphicFramePr/>
          <p:nvPr/>
        </p:nvGraphicFramePr>
        <p:xfrm>
          <a:off xmlns:a="http://schemas.openxmlformats.org/drawingml/2006/main" x="8001000" y="3238500"/>
          <a:ext xmlns:a="http://schemas.openxmlformats.org/drawingml/2006/main" cx="6477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3f0b5d683974472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7C31CB-7AD7-4187-B18C-47FCE28D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右图两根柱子的可见高度比，不能作为原始鳍长的比值。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8BD212-4708-457A-BFD3-373EB9AB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两图数据完全相同，差值仍为4.62毫米。右图用于说明截断纵轴的影响。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4C17DE-D431-4AE2-B37A-3C2F95B5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来源：palmerpenguins公开数据，本课程重绘；UBC课程可视化原则，p.4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BE9266-7228-4FA0-878A-B1025C57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219700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8AAF9E-BA46-4600-9EBF-E4298333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239F3-F6B3-49D3-B70C-DCDEA365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误差线的三种含义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96D190-966F-4A11-804A-7BE3F744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B5FCE1-F338-4F72-8AF6-259F9287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同一组均值旁的线段，可能表示个体分散、均值标准误或均值区间。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37D08A-28BB-4CC0-8B42-7383689B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示例：雌性73条，均值187.79 mm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BD4D71-8731-43C0-91E7-C2594C92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71247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52B7C1-BFFF-4339-9E30-35549495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71247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185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0932AB-0487-4875-BD73-D7872602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71247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190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5F1BE4-E092-4338-A136-BF69DE70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71247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195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B31AA4-B7E9-4687-93DB-C42DC3A7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71247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3853C8-2173-4C75-8DB7-65A43716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均值 ± SD：个体分散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0CBBCF-AB3E-45A6-8B41-7E5A9C46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004" y="3810000"/>
            <a:ext cx="4263416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45B7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10526F-CFDA-4305-A3CC-AAEDFDBA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7562" y="3752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D68"/>
          </a:solidFill>
          <a:ln xmlns:a="http://schemas.openxmlformats.org/drawingml/2006/main" w="9525">
            <a:solidFill>
              <a:srgbClr val="2C6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A0F341-4B65-468E-9643-EA0C65CB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43375"/>
            <a:ext cx="381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182.20—193.39 mm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0A69E4-91DD-41FC-BF68-3AC365DD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均值 ± SE：均值波动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F2495D-617D-4A58-9897-31957F0E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215" y="5000625"/>
            <a:ext cx="498995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45B7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4D9C8F-C69B-476D-A17E-01381270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7562" y="4943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D68"/>
          </a:solidFill>
          <a:ln xmlns:a="http://schemas.openxmlformats.org/drawingml/2006/main" w="9525">
            <a:solidFill>
              <a:srgbClr val="2C6D6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DBFAC7-A5D1-449E-8FB2-EFB75944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0"/>
            <a:ext cx="381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187.14—188.45 mm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228B28-F72B-44FB-B94C-D9CC7E45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均值的重抽样区间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5154C9-E7F5-497C-95DE-4D8D1B85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9329" y="6191250"/>
            <a:ext cx="965548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45B7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8D4D7B-B83A-4670-B791-764A2947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7562" y="6134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D68"/>
          </a:solidFill>
          <a:ln xmlns:a="http://schemas.openxmlformats.org/drawingml/2006/main" w="9525">
            <a:solidFill>
              <a:srgbClr val="2C6D6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7161BD-288A-4E7B-9CAD-F046AFEF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24625"/>
            <a:ext cx="381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186.52—189.05 mm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E64098-473C-4AC8-9693-412D7454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各线段定义必须写入图注；区间依赖抽样假设，不能只写“误差线”。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A2C449-576A-4649-A3BB-27C57E47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来源：palmerpenguins公开数据，本课程重绘；NIST统计手册 §1.3.5.2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DA6E58-65D5-4CD0-B37C-F4EA91BA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726139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0192C9-C7AC-4F72-92DD-B73A71FA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CFAEA5-B72D-48E2-9E0A-34EC9922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可独立阅读的数据图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ADD12C-1333-4E50-802F-518FA4F4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81A1AE-0693-4E73-AEF9-938EB44E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图题、坐标与单位、分组图例、样本范围和来源，共同限定读者能怎样解释图。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7625605C-4243-4890-963D-5E89B5F175CF}"/>
              </a:ext>
            </a:extLst>
          </p:cNvPr>
          <p:cNvGraphicFramePr/>
          <p:nvPr/>
        </p:nvGraphicFramePr>
        <p:xfrm>
          <a:off xmlns:a="http://schemas.openxmlformats.org/drawingml/2006/main" x="1619250" y="3143250"/>
          <a:ext xmlns:a="http://schemas.openxmlformats.org/drawingml/2006/main" cx="1152525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38223208a944fe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EC60C5-AF65-4DA5-B325-8D05BC51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721995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喙长（mm）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243377-A14C-488E-89E2-690B6722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鳍长（mm）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0D15C-A7BB-46BC-877B-F86DD321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Adelie完整记录146条。每点一条观测；未作因果解释或绘制拟合线。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CC6C2B-067A-491A-B860-6CA81B5C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来源：palmerpenguins公开数据，本课程重绘；UBC 2026，图形编码，pp.4/6/17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A5C10D-223D-40A7-959E-80BA3B65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777955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ABD919-82F6-4FC8-A6AC-7D125971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5F3416-B897-49BD-8411-4964EEE4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图注中的对象、符号与方法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E75D86-128D-452A-9044-9320556C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70EB27-2AFA-40F8-BE3E-4379A0D7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图注应让读者脱离正文，仍能认出研究对象、样本范围、符号含义和计算方式。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D6200B-97D9-4B09-9506-4D189084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图1　Adelie企鹅喙长与鳍长的观测关系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E0A151-6597-4CD5-8713-608E8761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1371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2007—2009年公开记录中，保留性别、喙长与鳍长均完整的146条Adelie观测，雌雄各73条。每点表示一条观测，蓝色圆点表示雌性，绿色方点表示雄性。两轴单位均为毫米，图中未绘制拟合线。数据来自palmerpenguins公开简化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709BC4-ECF4-4FA9-8BE7-EB0D1E92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809923-53E0-4EF0-856C-07C171E2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对象与样本范围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363DAE-5FE1-4884-99D7-01D87BF1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810375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点、颜色与单位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613DF1-707B-4BED-B060-C7C72523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810375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计算方式与来源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AEC7DF-5EDB-4106-A871-4AC4A465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图注示例中的数字、符号及来源均与配套图一致。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4C1262-8113-40C8-99CB-DD71B10F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来源：PLOS One，图注与图像要求；palmerpenguins公开数据，本课程重绘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EE0665-5694-45AF-AA3A-4CABAA7A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8824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64779D-5EBA-4138-B691-69FFD0AB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2BAB1-5B40-41C0-ADA4-10E8A4FB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多面板图的阅读顺序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4E57D9-8420-42B2-9F00-8F0099A0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571F33-EC22-4560-A3B2-F11F829E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一张组合图可以用A呈现分布、用B检查年份组成，两个面板分别回答一个问题。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57BBCD0F-5FC6-4FE0-A39A-02898B1D137D}"/>
              </a:ext>
            </a:extLst>
          </p:cNvPr>
          <p:cNvGraphicFramePr/>
          <p:nvPr/>
        </p:nvGraphicFramePr>
        <p:xfrm>
          <a:off xmlns:a="http://schemas.openxmlformats.org/drawingml/2006/main" x="762000" y="3238500"/>
          <a:ext xmlns:a="http://schemas.openxmlformats.org/drawingml/2006/main" cx="6477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af81bca8b6a4afa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B2C99532-1F33-4D1F-A066-83595BCC39E9}"/>
              </a:ext>
            </a:extLst>
          </p:cNvPr>
          <p:cNvGraphicFramePr/>
          <p:nvPr/>
        </p:nvGraphicFramePr>
        <p:xfrm>
          <a:off xmlns:a="http://schemas.openxmlformats.org/drawingml/2006/main" x="8001000" y="3238500"/>
          <a:ext xmlns:a="http://schemas.openxmlformats.org/drawingml/2006/main" cx="6477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77fe55352584877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AE0AB9-EFCF-4ECB-93A8-8916474D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纵轴：记录数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BE69DE-F471-4910-A98B-7FA8214A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239000"/>
            <a:ext cx="647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纵轴：毫米；每年每组n为22、25、26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A3765B-1EEA-400C-9145-F2F39695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A：鳍长分布；B：各年组均值。面板单位不同，分组颜色一致。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C124F3-B3D0-48E4-BE3B-78F9C73D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来源：palmerpenguins公开数据，本课程重绘；PLOS One，图注与图像要求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BC52DD-3C98-414A-9790-E34A495D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809552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0657C5-E791-46BF-912E-27483349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5E236B-6B3A-40C3-9270-94F1BFEA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颜色的类别与数量含义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F160F8-B35A-48B7-9E3F-030048AB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24EAA9-112C-46E3-8F64-A6FB9842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类别可用不同色相区分，数值高低需要有顺序的色阶，正负差异需要明确中心。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B7CA4-F700-47EA-8F14-851DAA6C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5334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类别：甲、乙、丙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89DCC1-1B85-4E2F-AC5C-1465F7FF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86125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77"/>
          </a:solidFill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841ECC-6F02-40A6-9343-17A22FF7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671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10DF67-178E-408D-A612-AE4FED40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86125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D68"/>
          </a:solidFill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640740-C747-474E-9528-6DCDB9D7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671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6580D4-BBA0-438F-85C0-22E1F933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286125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3F3C"/>
          </a:solidFill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7EBB64-79DD-4B6C-92CA-73C59601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0671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7927CA-B3BC-4556-9949-C9D76CAB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5334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顺序：低、中、高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F98F9F-265F-4BAC-9E00-24D95F01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14875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0"/>
          </a:solidFill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A5F8F9-7320-47D9-ADBB-748FB18F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959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C918C6-51E3-4510-BD2A-463B792A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14875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CC0"/>
          </a:solidFill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C45AAD-38D7-4A97-839C-A1217BA7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4959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988320-7687-4B53-9559-7D99231B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714875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77"/>
          </a:solidFill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32CA9D-8CC3-427D-B9C9-970E8EC9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4959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E79261-BE65-4216-9EA2-109DE3DF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5334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方向：负、零、正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D9940C-7BC5-4A13-A3D2-3313DA5C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143625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77"/>
          </a:solidFill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912C7F-AA9E-4154-9DC2-A3BA3254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9246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−1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068C47-2120-4918-9259-212BEF9C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143625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960418-6F6D-4B91-ADC1-1AFCC183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9246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EA4203-4014-4AE4-97E1-F5D32E78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143625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3F3C"/>
          </a:solidFill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6C79FE-67E9-4E23-87BB-EAF56671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9246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+1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9AF8B7-4ACE-4DA4-9944-002EA0C5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色块与甲乙丙、自设正负数均为教学示意，不是研究结果。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617801-6F34-4808-81F1-081B7EB8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来源：UBC课程颜色课件，pp.7/21；课程自编教学示例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F1B301-5549-4763-98F4-50497816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003024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958C7A-AC15-4F5E-8DC9-E4E923622389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3338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55ABA6-CD8A-4A1B-BC8A-F70658D1C028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3338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C274BD-22A7-428C-9C1C-BFDD3FC836B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3338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AA3F1D-9DB7-4D2F-A9BD-0E83577F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59A2F3-6205-44FD-9903-059A6B44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AI协助绘图的具体输入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6A1783-AD00-47C6-97E6-72261DBE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872F9-3488-46BE-B37A-48F23B5C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提供数据、字段含义、问题和限制后，要求AI给出可运行脚本、图和图注。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4A78F4-D157-483A-A375-3147085C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CSV与字段说明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5975AB-63DD-4BE1-B6D9-B4D52ED9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052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绘图要求与代码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6CC38A-1B16-4650-91E2-6019805C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052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实际图与图注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30A21E-4DBF-4BF3-8589-8FFD8770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9052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源数据复核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4BDEF9-D40B-4039-A902-DF2CA699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对象、单位与缺失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F2A592-BACE-449D-8AE7-C974532B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38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图型、尺度和限制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03208A-745C-4314-B636-8A16AB32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38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保留可编辑版本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CFE26C-7B79-47B3-831A-821F3861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238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点数、数值和标签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E534DB-0603-4FC1-921F-0CFB3648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8E8AAD-8587-4DF4-BE26-59E7F60A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2470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提示示例：保留全部观测，不连线、不加拟合，输出图注和数据来源。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21C912-DEB0-478E-9280-B4A27CCD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本地原生图已生成；AI写出绘图建议与实际运行结果分别核对。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EA1667-8C39-48EB-9D9F-BDE5DB58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来源：课程自编教学示例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FAE7E6-A980-4F5E-BED9-2771A9A7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562145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65E49C-7F8C-4282-B0DF-BB71EA68E1D6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12858750" y="5715000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5588ED-E96A-4474-A563-BA26EBB309C0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9620250" y="5191125"/>
            <a:ext cx="1619250" cy="2143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A3E2C5-5D1E-4A22-86DB-B7BD3F909D85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620250" y="4833938"/>
            <a:ext cx="1619250" cy="3571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3BD10D-7A34-4C80-B044-F5CEB1EF4F58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7715250" y="6715125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230D4C-73C1-42A6-8D73-2B0ABB7B119F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7715250" y="4143375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16B4E6-C3B8-4DE6-BDBA-7CDFDD67C80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095750" y="5238750"/>
            <a:ext cx="1714500" cy="1071563"/>
          </a:xfrm>
          <a:prstGeom xmlns:a="http://schemas.openxmlformats.org/drawingml/2006/main" prst="bentConnector3">
            <a:avLst>
              <a:gd name="adj1" fmla="val 86667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51B8B1-685E-4B99-B375-277226E6010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4095750" y="3738563"/>
            <a:ext cx="1714500" cy="15001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33B213-6AEF-4280-BE59-10A7510E7CA1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2428875" y="404812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DE6854-03B2-4DBA-AEDD-09692A73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D1204B-9C9E-49A7-A235-1177923A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拟议研究的技术路线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B9691D-8D92-4BE7-BDC8-8F9CAD3D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344BF2-2805-4EF6-A465-F0D829FC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题目、分配与过程记录分别留存；一周后按原组别测量无AI新题表现，再按预定方案比较。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80178-AE31-4FC0-89D2-71B4584B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3333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题目与评分规则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7C68CC-C0FA-4F77-8A40-8855F031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3333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材料预试与分配安排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980A3A-9456-4F49-893E-A8B00AF7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33750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分步提示条件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3ED95B-2106-47D3-BA90-FEED5A3D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905500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完整解答条件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9BEAD9-43DB-4771-9E31-EAF4BA65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29125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提示组过程记录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3B2E07-F911-445F-890C-0890AF50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7000875"/>
            <a:ext cx="3810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解答组过程记录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F622E0-1062-4237-B784-4321A62B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667250"/>
            <a:ext cx="3238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一周后无AI新题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按统一规则评分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EC5460-E8EB-4107-A277-FD11C832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762750"/>
            <a:ext cx="3238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按预定方案比较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E765C3-2023-46C3-B4B5-8FAAE664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0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用同一编号对应组别、过程与测验；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测量缺失和执行偏离单独登记。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AA8B60-066E-4FCF-A955-847F962E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教学方案，尚未实施。分配单位、样本依据、授权与评分规则均需另行确认。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33EE14-4D66-4CB0-843A-70E1D47C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来源：UBC课程节点关系，p.2；课程自编教学示例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703C66-9934-4560-A124-1CC5F2D9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22757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8ABC35-BABB-4B2C-810E-EFC13F3E3164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5" idx="2"/>
          </p:cNvCxnSpPr>
          <p:nvPr/>
        </p:nvCxnSpPr>
        <p:spPr>
          <a:xfrm xmlns:a="http://schemas.openxmlformats.org/drawingml/2006/main" flipH="1" flipV="1">
            <a:off x="2857500" y="4238625"/>
            <a:ext cx="3333750" cy="2405063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71B402-E503-4662-A856-460763187F7D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8096250" y="4238625"/>
            <a:ext cx="0" cy="1952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8B961B-1A3F-4FF0-B5ED-0B762DE9FC7D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0001250" y="3786188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B90642-BFEA-4679-9261-01CD0E0CF5B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953000" y="3786188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4A45AA-AFB0-4994-9D96-3C1316AF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DC9B81-F854-479D-8038-6DE06777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启动材料核对与返工回路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B972EA-C8E8-420C-BEAF-83B380B1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975BF-127C-47E3-B7A0-B1E849B6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判断分支要写清核对哪些材料；未确认时返回修订，补齐后再查。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8A4200-B6BB-4375-97A6-1AAF7CE0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191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预试材料与检查记录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E39DCA-3359-4EB7-A5DA-703361EB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3810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启动条件已核对？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48AF65-E2B8-46A1-BC1D-454E918D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333750"/>
            <a:ext cx="3048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按已定方案实施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ED7227-ACA1-489B-BBAC-5EBCF3E3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91250"/>
            <a:ext cx="3810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补材料／修订版本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F08F4D-BE8E-4386-A993-50F59D5C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476625"/>
            <a:ext cx="109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已确认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D1415C-94B1-49FD-A216-A0956019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00625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尚未确认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92ECDA-0291-49AC-B3BF-576AB4BE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修订后再查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EB4A81-B5F0-426A-92F6-33078E9B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095875"/>
            <a:ext cx="4095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核对材料：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评分规则与试评记录、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分配单位及样本依据、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招募与数据权限。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10DB5B-A06F-401A-BF36-9A48211E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0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返回箭头：补齐材料后重新核对；未确认的条件继续保留。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91DEBF-FB23-4AFE-85A9-68A7B3C5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教学拟议回路，尚未实施；图中的“已确认”分支不代表本项目已经满足条件。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63FD17-0E59-4BC7-882F-03A75BA1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来源：UBC课程节点关系，p.2；课程自编教学示例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EAF7F8-E647-4524-84EE-895FBB4F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3768334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0B6CEC-8C6F-4A57-AB39-6B212466B5C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10001250" y="4905375"/>
            <a:ext cx="1524000" cy="1738313"/>
          </a:xfrm>
          <a:prstGeom xmlns:a="http://schemas.openxmlformats.org/drawingml/2006/main" prst="bentConnector3">
            <a:avLst>
              <a:gd name="adj1" fmla="val 85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E5766C-9336-4E6C-87AE-FE9358A008F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001250" y="3690938"/>
            <a:ext cx="1524000" cy="1214438"/>
          </a:xfrm>
          <a:prstGeom xmlns:a="http://schemas.openxmlformats.org/drawingml/2006/main" prst="bentConnector3">
            <a:avLst>
              <a:gd name="adj1" fmla="val 85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40A77D-E584-41DD-8F14-378BA40DDDD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095750" y="4905375"/>
            <a:ext cx="2095500" cy="1738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9946BF-C72E-4ABA-ADED-32FF04E076D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095750" y="3690938"/>
            <a:ext cx="2095500" cy="1214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12D225-89A5-408E-B190-B65468C4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4528A5-0582-4BD9-A8B0-EFC7C132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并行研究任务与汇合依据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97F557-F6CB-485A-A90F-F04FBC78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A2963-F415-4295-BB44-35CA181F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并行分支要有各自输入和输出，汇合时说明要对照哪些证据。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5A506-5E29-408C-81CC-10AD6A70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3333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研究问题与假说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E907F5-EE2F-4514-9B9C-A8D86526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3810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作答过程记录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AC274D-8C94-4D48-8592-E3BF8B24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91250"/>
            <a:ext cx="3810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统一新题测验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69B050-AF6E-4E34-BD79-79C768BB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429125"/>
            <a:ext cx="2952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对照证据并解释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25549F-624F-4A13-8A2E-CA7131CA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29125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形成可核查的编码记录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B8E2E7-6526-4A81-ADA3-DB2438F8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28662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形成可复核的评分结果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CCFDD0-4A1A-4FEF-83DA-15787627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教学示意。两条证据路径可能一致，也可能相互矛盾，需如实解释。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63B514-66BF-49B8-BEC7-D4C9ED82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来源：UBC课程节点关系，p.2；课程自编教学示例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40F1E2-33B8-45E5-8787-51A11929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57558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15E659-90F3-4411-93A6-B9C630FCB374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2192000" y="5267325"/>
            <a:ext cx="0" cy="638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prstDash val="dash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B2A0B2-E86F-4D6B-81F0-B62842B6CA94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2192000" y="3886200"/>
            <a:ext cx="0" cy="638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prstDash val="dash"/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059712-6B37-4E20-91BE-03A31722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F42FC1-BBD0-4200-8BBD-897342E2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机制示意的完整任务与假说范围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BD704D-500D-4B72-8656-6910A4E1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C753F0-B4C8-4876-9A6C-ED3B8958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对象、布局和箭头含义写入任务，图中保留“待验证”的状态。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BEB882-8F17-4485-BFF3-AE6B5BA2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3367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关系核对图（可编辑）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87CAFE-2E41-441B-8491-8B02AE56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GPT Image任务示例（未执行）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5F0EE1-323B-4496-A907-3670191F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7524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请绘制一张供高校教师讲解的概念示意图，主题是“分步提示可能怎样影响独立解题”。白底，蓝绿配色，三个区域依次表示分步提示、作答中的尝试与修正、无AI的新题测验。区域间只用两条虚线箭头，图例写明“待验证关系”。不要添加成绩、提升百分比、实验照片或文献。图注写“教学假说示意，尚未取得机制证据”。中文标签须清楚可读，保留足够空间供后期编辑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6BB696-30EF-48FD-B4B5-EEF0F042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43250"/>
            <a:ext cx="457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分步提示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C51974-70DA-4EE2-8DDA-A17A427C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524375"/>
            <a:ext cx="457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尝试与修正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2180ED-34BC-48E8-8155-602BF32A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57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无AI新题测验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78DDEB-C574-4E31-A43F-09038654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048500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虚线：待验证关系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34595C-313B-4FBB-B53D-DC7AFDA8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其他解释仍需核对：既有水平、练习时间、题目难度和实施差异。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892017-7017-4447-B78F-3456845F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任务示例，未执行。原稿DALL·E 2/3 API已于2026-05-12下线。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E221C6-AA50-4924-A46D-D7B27ED5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来源：UBC课程节点关系，p.2；OpenAI图像指南，任务与编辑；OpenAI下线记录，2026-05-12；课程自编教学示例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662F8C-D2B4-4C92-A909-46ACD5AC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064457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A56DEE-5C3C-4250-B6F1-6AABB1F364B1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381375" y="60579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BCE03D-FDBD-4436-99F0-2A82D17FE11D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3381375" y="49720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F5CFB8-5B47-487A-A1C4-ABD76EECD5FC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381375" y="38862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D5F516-F617-46F6-BE5C-9CE0DF26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C7FAE1-2E07-4C52-92C2-7CCA40A0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数据图与路线图的编辑源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46CA7-72D3-4815-BB09-8222517E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173C7E-A716-424A-A159-7827756D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保留数据、脚本和原生图表，路线另存节点与连接，后续改稿才能追溯修改。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F7D269-6FC7-47D1-AC1C-712025B3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523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原始数据与计算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C1EAD0-0E32-4004-ADD9-AB4D4A83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19450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CSV、脚本、计算结果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92909-7CA1-4783-89A2-296B6BF8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523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原生图表与图注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DE466A-EEEB-4C7F-B8AF-7274BC76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05300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PPT对象与嵌入工作簿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C53AD2-56CA-46A4-98BC-16E2EAC6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523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路线节点与连接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EE385E-8F1D-47E0-B32A-9B35DDFE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91150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draw.io与route.json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D603C4-6A0A-4798-959F-845929B4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00800"/>
            <a:ext cx="523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PDF / SVG / PNG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6A8FD2-97BC-4C09-B869-6E8C1520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477000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预览、排版与矢量导出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968D41-C87D-4031-8F4E-77BD0C82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配套文件是可编辑教学成果；未声称已经通过特定期刊的投稿验收。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727578-270E-4668-979B-67784109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来源：PLOS One，图注与图像要求；课程自编教学示例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148101-C29C-4115-A27E-59F81372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6226332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D45E3E-6149-4E92-BB39-208381BDE605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2192000" y="5429250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F31BA4-3AC9-417B-A681-5ECBA5365945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2192000" y="4000500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84A3C8-C0BD-48F0-A9C8-3C13EAC8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48A6A3-F926-44AD-A974-E45002B9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Midjourney提示与示意图复核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EF21EB-B9A7-4B30-9981-AA4AA018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2F266E-605C-4185-B39A-7E749069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图像工具先接收清楚的画面描述，教师再逐项检查对象、标签和关系。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227A1B-A3CD-4C67-B0A9-EF87C10F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790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可复制的画面描述（未执行）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E515E-152C-40DA-ACC7-C3EC4058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7905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Flat academic concept illustration, three simple panels left to right: a worksheet with stepped hints, a student's solution revisions, a fresh problem sheet. Thin dashed arrows between adjacent panels, white background, muted blue and green, ample empty space for labels, landscape composition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--ar 16:9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FD3A77-6A68-4F1D-B804-C4D012FF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7905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中文含义：分步提示题单、作答修订、新题试卷，依次排列，以虚线连接。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0F944-EEAD-45FE-91E6-82980C9A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790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--ar 16:9只规定宽高比；中文标签、图注和编辑源另行核对。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EB603C-70AB-4EAB-959A-D735D6CB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0"/>
            <a:ext cx="457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检查对象与箭头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EB7BC0-1379-4631-9D3F-3597C26A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67250"/>
            <a:ext cx="457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核对文字与符号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409E95-F472-4E5D-998D-362AFE63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096000"/>
            <a:ext cx="457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保留可编辑定稿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9E5625-5984-4124-81FC-7B0C552A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23900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删去虚构成绩，标明假说范围。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F5A5CE-95EA-4127-8E75-C92D5A60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Midjourney提示示例，未执行；Nano Banana未接入。右侧为人工复核流程。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798DFA-6D3C-42E8-A886-77E7FC61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来源：Midjourney提示与宽高比文档；OpenAI图像指南，任务与编辑；课程自编教学示例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F4D452-B6A4-4706-B1E5-E45036F8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320616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2026-10-19T12:10:05.4230000Z</dcterms:created>
  <dcterms:modified xsi:type="dcterms:W3CDTF">2026-10-19T12:10:05.4230000Z</dcterms:modified>
</coreProperties>
</file>