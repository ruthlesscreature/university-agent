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796c21dbf4425" /><Relationship Type="http://schemas.openxmlformats.org/officeDocument/2006/relationships/extended-properties" Target="/docProps/app.xml" Id="R455a43014c7044d6" /><Relationship Type="http://schemas.openxmlformats.org/officeDocument/2006/relationships/officeDocument" Target="/ppt/presentation.xml" Id="Rd5976bd2afac4f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a23e416b448d0"/>
  </p:sldMasterIdLst>
  <p:notesMasterIdLst>
    <p:notesMasterId xmlns:r="http://schemas.openxmlformats.org/officeDocument/2006/relationships" r:id="R5582c514e7c745f6"/>
  </p:notesMasterIdLst>
  <p:sldIdLst>
    <p:sldId xmlns:r="http://schemas.openxmlformats.org/officeDocument/2006/relationships" id="256" r:id="R81941f441bb644fb"/>
    <p:sldId xmlns:r="http://schemas.openxmlformats.org/officeDocument/2006/relationships" id="257" r:id="R1f025bc6044f4349"/>
    <p:sldId xmlns:r="http://schemas.openxmlformats.org/officeDocument/2006/relationships" id="258" r:id="Rbc0590cbc0ed4a7c"/>
    <p:sldId xmlns:r="http://schemas.openxmlformats.org/officeDocument/2006/relationships" id="259" r:id="Rbaf8feebc5144334"/>
    <p:sldId xmlns:r="http://schemas.openxmlformats.org/officeDocument/2006/relationships" id="260" r:id="R336b2f5191c04703"/>
    <p:sldId xmlns:r="http://schemas.openxmlformats.org/officeDocument/2006/relationships" id="261" r:id="Rb7e9a5e84dc94591"/>
    <p:sldId xmlns:r="http://schemas.openxmlformats.org/officeDocument/2006/relationships" id="262" r:id="R59cbdd23170d4083"/>
    <p:sldId xmlns:r="http://schemas.openxmlformats.org/officeDocument/2006/relationships" id="263" r:id="Reda09fd39476407b"/>
    <p:sldId xmlns:r="http://schemas.openxmlformats.org/officeDocument/2006/relationships" id="264" r:id="R7d0293db7350486d"/>
    <p:sldId xmlns:r="http://schemas.openxmlformats.org/officeDocument/2006/relationships" id="265" r:id="Raee42f89b0cb4e64"/>
    <p:sldId xmlns:r="http://schemas.openxmlformats.org/officeDocument/2006/relationships" id="266" r:id="R164315ecbdf54c47"/>
    <p:sldId xmlns:r="http://schemas.openxmlformats.org/officeDocument/2006/relationships" id="267" r:id="Rfc1e893f87a04d3f"/>
    <p:sldId xmlns:r="http://schemas.openxmlformats.org/officeDocument/2006/relationships" id="268" r:id="R718ac77fd9154d6c"/>
    <p:sldId xmlns:r="http://schemas.openxmlformats.org/officeDocument/2006/relationships" id="269" r:id="Ra095cbe84cdc4ab1"/>
    <p:sldId xmlns:r="http://schemas.openxmlformats.org/officeDocument/2006/relationships" id="270" r:id="R5641d3e8dea9471e"/>
    <p:sldId xmlns:r="http://schemas.openxmlformats.org/officeDocument/2006/relationships" id="271" r:id="R96dba285f4a34f9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45751465284145" /><Relationship Type="http://schemas.openxmlformats.org/officeDocument/2006/relationships/slideMaster" Target="/ppt/slideMasters/slideMaster1.xml" Id="R77aa23e416b448d0" /><Relationship Type="http://schemas.openxmlformats.org/officeDocument/2006/relationships/notesMaster" Target="/ppt/notesMasters/notesMaster1.xml" Id="R5582c514e7c745f6" /><Relationship Type="http://schemas.openxmlformats.org/officeDocument/2006/relationships/presProps" Target="/ppt/presProps.xml" Id="Rc070a210f69e4f56" /><Relationship Type="http://schemas.openxmlformats.org/officeDocument/2006/relationships/tableStyles" Target="/ppt/tableStyles.xml" Id="R9020f12442ca46a9" /><Relationship Type="http://schemas.openxmlformats.org/officeDocument/2006/relationships/slide" Target="/ppt/slides/slide1.xml" Id="R81941f441bb644fb" /><Relationship Type="http://schemas.openxmlformats.org/officeDocument/2006/relationships/slide" Target="/ppt/slides/slide2.xml" Id="R1f025bc6044f4349" /><Relationship Type="http://schemas.openxmlformats.org/officeDocument/2006/relationships/slide" Target="/ppt/slides/slide3.xml" Id="Rbc0590cbc0ed4a7c" /><Relationship Type="http://schemas.openxmlformats.org/officeDocument/2006/relationships/slide" Target="/ppt/slides/slide4.xml" Id="Rbaf8feebc5144334" /><Relationship Type="http://schemas.openxmlformats.org/officeDocument/2006/relationships/slide" Target="/ppt/slides/slide5.xml" Id="R336b2f5191c04703" /><Relationship Type="http://schemas.openxmlformats.org/officeDocument/2006/relationships/slide" Target="/ppt/slides/slide6.xml" Id="Rb7e9a5e84dc94591" /><Relationship Type="http://schemas.openxmlformats.org/officeDocument/2006/relationships/slide" Target="/ppt/slides/slide7.xml" Id="R59cbdd23170d4083" /><Relationship Type="http://schemas.openxmlformats.org/officeDocument/2006/relationships/slide" Target="/ppt/slides/slide8.xml" Id="Reda09fd39476407b" /><Relationship Type="http://schemas.openxmlformats.org/officeDocument/2006/relationships/slide" Target="/ppt/slides/slide9.xml" Id="R7d0293db7350486d" /><Relationship Type="http://schemas.openxmlformats.org/officeDocument/2006/relationships/slide" Target="/ppt/slides/slide10.xml" Id="Raee42f89b0cb4e64" /><Relationship Type="http://schemas.openxmlformats.org/officeDocument/2006/relationships/slide" Target="/ppt/slides/slide11.xml" Id="R164315ecbdf54c47" /><Relationship Type="http://schemas.openxmlformats.org/officeDocument/2006/relationships/slide" Target="/ppt/slides/slide12.xml" Id="Rfc1e893f87a04d3f" /><Relationship Type="http://schemas.openxmlformats.org/officeDocument/2006/relationships/slide" Target="/ppt/slides/slide13.xml" Id="R718ac77fd9154d6c" /><Relationship Type="http://schemas.openxmlformats.org/officeDocument/2006/relationships/slide" Target="/ppt/slides/slide14.xml" Id="Ra095cbe84cdc4ab1" /><Relationship Type="http://schemas.openxmlformats.org/officeDocument/2006/relationships/slide" Target="/ppt/slides/slide15.xml" Id="R5641d3e8dea9471e" /><Relationship Type="http://schemas.openxmlformats.org/officeDocument/2006/relationships/slide" Target="/ppt/slides/slide16.xml" Id="R96dba285f4a34f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1f695779dc47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19db9681c478d" /><Relationship Type="http://schemas.openxmlformats.org/officeDocument/2006/relationships/notesMaster" Target="/ppt/notesMasters/notesMaster1.xml" Id="R478d1cf34ac546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3d544226df4d39" /><Relationship Type="http://schemas.openxmlformats.org/officeDocument/2006/relationships/notesMaster" Target="/ppt/notesMasters/notesMaster1.xml" Id="R8f6edb0d107d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b2a3515834788" /><Relationship Type="http://schemas.openxmlformats.org/officeDocument/2006/relationships/notesMaster" Target="/ppt/notesMasters/notesMaster1.xml" Id="Re4a6e76c17f8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ad6a025716414e" /><Relationship Type="http://schemas.openxmlformats.org/officeDocument/2006/relationships/notesMaster" Target="/ppt/notesMasters/notesMaster1.xml" Id="R74a800a9c28541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faf25b2cb249b5" /><Relationship Type="http://schemas.openxmlformats.org/officeDocument/2006/relationships/notesMaster" Target="/ppt/notesMasters/notesMaster1.xml" Id="Rf0bbb62095ee40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7b840fc7464ccd" /><Relationship Type="http://schemas.openxmlformats.org/officeDocument/2006/relationships/notesMaster" Target="/ppt/notesMasters/notesMaster1.xml" Id="R5f3131625ece43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60926b4a742a0" /><Relationship Type="http://schemas.openxmlformats.org/officeDocument/2006/relationships/notesMaster" Target="/ppt/notesMasters/notesMaster1.xml" Id="Rfc3a8ee5d8e44f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2f407d839a4e61" /><Relationship Type="http://schemas.openxmlformats.org/officeDocument/2006/relationships/notesMaster" Target="/ppt/notesMasters/notesMaster1.xml" Id="R031d2426e0d943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b763e315c04c6c" /><Relationship Type="http://schemas.openxmlformats.org/officeDocument/2006/relationships/notesMaster" Target="/ppt/notesMasters/notesMaster1.xml" Id="R0993a481893e43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237a9804b440d8" /><Relationship Type="http://schemas.openxmlformats.org/officeDocument/2006/relationships/notesMaster" Target="/ppt/notesMasters/notesMaster1.xml" Id="R9ef868f6f5694d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2aad0609554b53" /><Relationship Type="http://schemas.openxmlformats.org/officeDocument/2006/relationships/notesMaster" Target="/ppt/notesMasters/notesMaster1.xml" Id="Rc10e3d33884d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da696344eb4354" /><Relationship Type="http://schemas.openxmlformats.org/officeDocument/2006/relationships/notesMaster" Target="/ppt/notesMasters/notesMaster1.xml" Id="Rcb83f2f21e6a41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6c07768b12476e" /><Relationship Type="http://schemas.openxmlformats.org/officeDocument/2006/relationships/notesMaster" Target="/ppt/notesMasters/notesMaster1.xml" Id="Rb3a3a09e79cd40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4b7c7793db4994" /><Relationship Type="http://schemas.openxmlformats.org/officeDocument/2006/relationships/notesMaster" Target="/ppt/notesMasters/notesMaster1.xml" Id="R314110b3c9c140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20616a9e234ddf" /><Relationship Type="http://schemas.openxmlformats.org/officeDocument/2006/relationships/notesMaster" Target="/ppt/notesMasters/notesMaster1.xml" Id="Rec428c98e30547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2623f01dae4d6e" /><Relationship Type="http://schemas.openxmlformats.org/officeDocument/2006/relationships/notesMaster" Target="/ppt/notesMasters/notesMaster1.xml" Id="R25aa5d4c6926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讲设计选择及其理由，不把实验方案写成一串工具名称。AI可帮助检查方案一致性和资源缺口，不能代替现场条件、伦理审查或样本依据。实证研究既可能通过干预，也可能观察现象；应按问题选择路径，不是每个问题都能安排随机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根据Bastani等原文Experimental Design重绘：以班级为分配单位，设置无生成式AI资源、GPT Base、GPT Tutor三组。先进行有相应资源的练习，再进行无资源测验；先前教师授课环节相同。对照组仍有课本和笔记，不应写成无教学资源。这里借鉴比较和测量的组织，不直接照搬到本科课程。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定位：Experimental Design、Abstract，原文XML已在Section 5读取并保留来源哈希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拟议问题展开为可讨论的设计。假设以学生个体为独立分配单位，完成基线测量后，按1∶1随机分到逐步提示和完整解答两种条件。两组使用同类内容、相同时间规则与测量安排，记录同学间分享、额外帮助及缺席。个体独立和相互影响可忽略目前只是计算前提，启动前必须核查；如果最终以班级分配，本页人数不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结果拟为一周后无AI条件下的5道新题，总分0—100；每题0—20的评分规则、题目等值性与评分者一致性需先形成材料并试评。一周、题目数和分制均为教学拟议设定，不是从公开论文得到的已验证测量方案。基线只作先前水平记录，当场表现和使用时长为补充结果，不能在主要结果不理想后替换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上计划每组招募50人，来自第11页“差6分、标准差10分、双侧0.05、功效80%、假设保留90%”的条件计算。这里是展示参数怎样影响计划，不建议把该情景直接当作正式样本依据。预计每组保留45份完整主要结果并不保证实际一定达到45。若达到预定截止日仍不足，应说明实际精度和可检测范围，不能随结果边看边扩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分析拟比较分配两组的一周后评分均值差并报告区间；分配人员按原分组保留登记，未测到结果的人员标明缺失。当前功效计算只针对无聚类、等方差、两组独立t检验的简化情景，没有解决实际缺失处理、干扰或量表质量。正式分析方案需在结果出现前明确缺失与排除处理及敏感性分析，并由研究者审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量先用普通语言解释：输入是安排了什么，输出是观察到什么；其他同时变化的条件可能妨碍解释。随机分配不表示所有样本特征必然一样，也不消除实施差异。对不能控制的因素，应预先考虑记录和分析。工程实验参数范围需经专业与设备条件核定，不照抄公开课件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How do you select and scale the process variables?</a:t>
            </a:r>
          </a:p>
          <a:p xmlns:a="http://schemas.openxmlformats.org/drawingml/2006/main">
            <a:r>
              <a:t>https://www.itl.nist.gov/div898/handbook/pri/section3/pri32.htm</a:t>
            </a:r>
          </a:p>
          <a:p xmlns:a="http://schemas.openxmlformats.org/drawingml/2006/main">
            <a:r>
              <a:t>定位：输入、输出、参数范围及不可行组合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模拟的比较框架，不保证仅凭表格就能消除干扰。两组内容和测验等值性需核查。可以设置更多比较组，但新增组别会改变资源和样本需求。主动对照与无干预对照回答的问题不同，设计应明确对照提供了哪些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两天检测样品为模拟例子。如果A全部第一天测、B全部第二天测，处理与日期混在一起。区组把已知日期差异分开，在每天内随机分配或随机安排A/B。图上A/B是示意，真实排程需保存随机过程和种子或清单。还要考虑设备漂移、顺序效应及可行性。区组不是事后随意拆分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Randomized block designs</a:t>
            </a:r>
          </a:p>
          <a:p xmlns:a="http://schemas.openxmlformats.org/drawingml/2006/main">
            <a:r>
              <a:t>https://www.itl.nist.gov/div898/handbook/pri/section3/pri332.htm</a:t>
            </a:r>
          </a:p>
          <a:p xmlns:a="http://schemas.openxmlformats.org/drawingml/2006/main">
            <a:r>
              <a:t>定位：控制已知干扰因素与区组设计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三份独立制备试样，每份测三次，构成3份试样和9次读数。这个计数示例不代表样本量足够。若处理施加在整批材料上，独立分配单位可能是批次，不能自动以试样作为独立重复。技术重复和独立重复要按实际制备、分配及测量层级确定；分析可能需要处理嵌套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盲法需要具体说明隐藏谁的信息。授课者或受试者有时无法不知道干预方式，但评分者仍可能不知道分组。不要把仅做匿名编号写成所有参与者均盲。盲法破坏、例外处理和解码时间需要记录。本页为方法说明，不声称示例已经实施双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数值转录自UC Davis 2026因子设计课件PDF第9页pilot.a；第8页定义因素、单位并注明y是两次重复的均值，源教材为Box, Hunter &amp; Hunter 2005 §5.4。课件未给y的物理单位，不能擅自改成百分比。本表按原课件排列展示，不等于实际随机运行顺序。仅用于理解组合设计，不作为工艺操作建议。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第9页四行：C=20时，A在T=160/180分别为60/72；B分别为52/83。手算增量A=72-60=12，B=83-52=31，增量差=19。图用于解释交互作用的含义，不能仅凭两条不平行线宣称统计显著。只有组均值，未取得原始重复读数或误差方差，因此未画误差条，也未做显著性检验。y无物理单位，不转换为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原始分数解释参数：如果希望识别两组平均差4分，而个体分数的标准差假设为10分，标准化差异就是0.4；差6分、8分分别对应0.6和0.8。这三个差异与标准差均为教学假设，没有拿公开论文效果替代本课程的依据，也不称为领域默认的“小、中、大”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两组独立、样本数相等、共同标准差与正态模型等前提下，双侧显著性水平0.05、目标检验功效80%，本地R的power.t.test实际计算每组人数为99.0803、44.5858、25.5246，向上取整后为100、45、26。R代码使用strict=TRUE计入双侧两个拒绝区，另以卡方方差项的数值积分核对功效；再检查当前整数人数达到80%，少一人时未达到。计算源码、CSV、会话版本及哈希保存在design-pack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功效80%”的意思是在指定差异确实存在、模型和其他前提成立的重复研究中，按所定检验规则检出的概率为80%；它不是这次研究结论有80%的概率正确。0.05表示零差异前提下，按预定规则误报差异的概率控制目标；不是研究结果为假的概率。页面不要求初学者记住公式，重点是人数取决于希望识别的差异和波动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13页只用差6分的情景演示资源换算。正式研究需先论证差6分为什么值得识别、10分波动从何而来、个体分配是否可行。改为班级分配时需考虑独立班级数和组内相关；出现非正态、不同方差、重复测量、基线调整或实际缺失时也应按最终分析另算。不能为迎合现有预算倒填差异和波动，不能把计算能运行当作样本依据已获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Daniël Lakens. Sample Size Justification. Collabra: Psychology 8(1):33267, 2022. DOI:10.1525/collabra.33267</a:t>
            </a:r>
          </a:p>
          <a:p xmlns:a="http://schemas.openxmlformats.org/drawingml/2006/main">
            <a:r>
              <a:t>https://doi.org/10.1525/collabra.33267</a:t>
            </a:r>
          </a:p>
          <a:p xmlns:a="http://schemas.openxmlformats.org/drawingml/2006/main">
            <a:r>
              <a:t>定位：Abstract、Six Approaches to Justify Sample Sizes、inferential goals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先约定可以减少看结果后选择指标或排除样本的空间，但不保证设计正确。临时修改有时必要，应标明时间、理由及已知信息。测量工具需核查适用性、评分一致性、校准与量程；关键步骤先小规模试运行。注册或审查要求按实际学科与机构流程执行，本页不伪造任何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表从人数计算开始，而不是凭空列设备和经费。差6分情景每组45人、总计90份完整主要结果；假设有90%保留率，按45除以0.90向上取整为每组50人，合计招募容量100人。10%缺失只是教学预留，不能保证研究不受缺失偏倚影响。若退出与组别或结果有关，扩大人数也不能消除偏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基线、当场、一周后三个时点，各为计划100人预留测量，容量为300人次。这里不是把300条记录当成300名独立学生，实际采集数也不会预填为300。主要结果按100份答卷、两名不知道分组的评分者预留200份次评分；评分分歧的核查与处理规则需要另订。这是任务容量，不是已经付费或完成的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启动还需确认招募与数据权限、测验是否能安排在一周后、两名评分者可用时间、评分规则和试评材料，以及干预内容、记录存储与预算。原表中的设备量程、材料批次等工程研究条件仍可作为其他学科的资源检查条目；本页用课程研究例子示范怎样从样本和测量数推到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真实资源只容纳100人，而希望识别的差异是4分，不能把45人/组的数字照搬：第11页的条件计算需要每组100份完整结果。应重新讨论问题价值、估计精度和可检测范围，补数据依据或暂缓，而不是默默删对照、改主指标或放大预期效果。全例尚未招募、采集、评分、获批或形成真实研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设备稳定性不满足预先规定的标准时，暂停、校准和重测；不能为了得到预期结果反复筛选读数。核心数据无授权时，不把模拟数据写成真实数据，可以改成可获得资料支持的问题或暂缓。具体阈值必须来自测量要求和预先方案，本页不捏造通用标准。更换结果指标或样本会改变可回答的问题，应重新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要求AI检查：主要结果是否回答问题；分配单位与样本量是否一致；对照是否同时改变其他条件；重复读数是否误算为独立样本；备用方案是否改变结论范围。AI不得补造效应量、设备能力、实验结果或伦理批准。本页为流程示意，不是研究设计Agent真实执行截图。 本节附件新增完整设计示例与条件计算，可据其检查：独立分配单位是否与功效模型一致；90%的保留假设有无依据；300测量人次是否被当成人数；主要结果是否在看数据后改变。R实际运行仅完成条件功效与容量计算，没有研究设计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设计说明的教学样例、变量表、公开教材数据、图表和待确认清单。它们不代表已经通过伦理、设备或研究者审核。下一节进入数据处理和统计时，要沿用这里明确的独立单位、主要结果及分析规则，不能根据结果任意改变原问题。 本轮补入完整教学方案、样本情景R源码、真实运行CSV与工作量表。参数是教学假设，不能直接当作正式申报样本依据。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ab3a5e82249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aa5c5783c4b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1c5c8b4664f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1de72ac6c4c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7129b24e048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bbe7f5ecb49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9E84F8-AFA0-4755-807F-E60043262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08005E-48DB-482E-B33E-8B839EB2E5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FC76F3-BB71-4B27-8626-A1E86993D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F1857-CEA1-47CC-B26E-08FBE2AEC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1FE87D-F336-493D-991E-6E2784A16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623B59-8FBB-485D-93E5-9FC9C4090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86F7E2-E37B-4634-B304-BEC8020D1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9070E5-CDD2-42B6-AE19-66B9102A88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A47085-C948-41D6-9191-4D1865F53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4764AA-7F34-42CA-A65B-99FBB8063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3b12a1d733488f" /><Relationship Type="http://schemas.openxmlformats.org/officeDocument/2006/relationships/slideLayout" Target="/ppt/slideLayouts/slideLayout1.xml" Id="Rc0317f1fc660409b" /><Relationship Type="http://schemas.openxmlformats.org/officeDocument/2006/relationships/slideLayout" Target="/ppt/slideLayouts/slideLayout2.xml" Id="R3d1adc33d6c94ab9" /><Relationship Type="http://schemas.openxmlformats.org/officeDocument/2006/relationships/slideLayout" Target="/ppt/slideLayouts/slideLayout3.xml" Id="R13a8bdd6b50e44fe" /><Relationship Type="http://schemas.openxmlformats.org/officeDocument/2006/relationships/slideLayout" Target="/ppt/slideLayouts/slideLayout4.xml" Id="Rae83464734ab4636" /><Relationship Type="http://schemas.openxmlformats.org/officeDocument/2006/relationships/slideLayout" Target="/ppt/slideLayouts/slideLayout5.xml" Id="R27f6ecae223d4694" /><Relationship Type="http://schemas.openxmlformats.org/officeDocument/2006/relationships/slideLayout" Target="/ppt/slideLayouts/slideLayout6.xml" Id="R3d1efc8de6e441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17f1fc660409b"/>
    <p:sldLayoutId xmlns:r="http://schemas.openxmlformats.org/officeDocument/2006/relationships" id="2147483650" r:id="R3d1adc33d6c94ab9"/>
    <p:sldLayoutId xmlns:r="http://schemas.openxmlformats.org/officeDocument/2006/relationships" id="2147483651" r:id="R13a8bdd6b50e44fe"/>
    <p:sldLayoutId xmlns:r="http://schemas.openxmlformats.org/officeDocument/2006/relationships" id="2147483652" r:id="Rae83464734ab4636"/>
    <p:sldLayoutId xmlns:r="http://schemas.openxmlformats.org/officeDocument/2006/relationships" id="2147483653" r:id="R27f6ecae223d4694"/>
    <p:sldLayoutId xmlns:r="http://schemas.openxmlformats.org/officeDocument/2006/relationships" id="2147483654" r:id="R3d1efc8de6e4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528dc85ea4a4c" /><Relationship Type="http://schemas.openxmlformats.org/officeDocument/2006/relationships/notesSlide" Target="/ppt/notesSlides/notesSlide1.xml" Id="Reb6da6e6572246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ff2bb7fe34684" /><Relationship Type="http://schemas.openxmlformats.org/officeDocument/2006/relationships/notesSlide" Target="/ppt/notesSlides/notesSlide2.xml" Id="R9900cc3706de44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a6eff92094fb8" /><Relationship Type="http://schemas.openxmlformats.org/officeDocument/2006/relationships/notesSlide" Target="/ppt/notesSlides/notesSlide3.xml" Id="R6839dcaa86ce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68b17e3814057" /><Relationship Type="http://schemas.openxmlformats.org/officeDocument/2006/relationships/notesSlide" Target="/ppt/notesSlides/notesSlide4.xml" Id="R19cbef1d318548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12d0b9ff746de" /><Relationship Type="http://schemas.openxmlformats.org/officeDocument/2006/relationships/notesSlide" Target="/ppt/notesSlides/notesSlide5.xml" Id="R7baaf7d2289a49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ff25663ec4d40" /><Relationship Type="http://schemas.openxmlformats.org/officeDocument/2006/relationships/notesSlide" Target="/ppt/notesSlides/notesSlide6.xml" Id="Rc0c2069fd6f948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2dc05adb541a7" /><Relationship Type="http://schemas.openxmlformats.org/officeDocument/2006/relationships/notesSlide" Target="/ppt/notesSlides/notesSlide7.xml" Id="R3de5c993b3b342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45d2b48c143f1" /><Relationship Type="http://schemas.openxmlformats.org/officeDocument/2006/relationships/notesSlide" Target="/ppt/notesSlides/notesSlide8.xml" Id="Rb822efdd3c2b44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795d9cef5448e" /><Relationship Type="http://schemas.openxmlformats.org/officeDocument/2006/relationships/notesSlide" Target="/ppt/notesSlides/notesSlide9.xml" Id="R30fc51642f9645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681487aef4a08" /><Relationship Type="http://schemas.openxmlformats.org/officeDocument/2006/relationships/chart" Target="/ppt/slides/charts/chart1.xml" Id="R967e9199fa6b4071" /><Relationship Type="http://schemas.openxmlformats.org/officeDocument/2006/relationships/notesSlide" Target="/ppt/notesSlides/notesSlide10.xml" Id="R9b0a61daf55044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b939b271b445f" /><Relationship Type="http://schemas.openxmlformats.org/officeDocument/2006/relationships/chart" Target="/ppt/slides/charts/chart2.xml" Id="R7dc2c687cf2045a6" /><Relationship Type="http://schemas.openxmlformats.org/officeDocument/2006/relationships/notesSlide" Target="/ppt/notesSlides/notesSlide11.xml" Id="Rf2819c20995942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31c52abb0422e" /><Relationship Type="http://schemas.openxmlformats.org/officeDocument/2006/relationships/notesSlide" Target="/ppt/notesSlides/notesSlide12.xml" Id="Re9e2503c069d4c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8b8fcf55f646fe" /><Relationship Type="http://schemas.openxmlformats.org/officeDocument/2006/relationships/notesSlide" Target="/ppt/notesSlides/notesSlide13.xml" Id="R23ddab600c3741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864ac4d0b4231" /><Relationship Type="http://schemas.openxmlformats.org/officeDocument/2006/relationships/notesSlide" Target="/ppt/notesSlides/notesSlide14.xml" Id="R5efd1198f43341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2a0c8bed042df" /><Relationship Type="http://schemas.openxmlformats.org/officeDocument/2006/relationships/notesSlide" Target="/ppt/notesSlides/notesSlide15.xml" Id="R3cba79d426354f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e89bc43c74aae" /><Relationship Type="http://schemas.openxmlformats.org/officeDocument/2006/relationships/notesSlide" Target="/ppt/notesSlides/notesSlide16.xml" Id="R175ee54e64324d1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latin typeface="Microsoft YaHei"/>
                <a:ea typeface="Microsoft YaHei"/>
                <a:cs typeface="Microsoft YaHei"/>
              </a:rPr>
              <a:t>固定浓度C=20%时的响应y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催化剂A</c:v>
          </c:tx>
          <c:spPr>
            <a:ln xmlns:a="http://schemas.openxmlformats.org/drawingml/2006/main" w="28575">
              <a:solidFill>
                <a:srgbClr val="245B77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45B77"/>
              </a:solidFill>
            </c:spPr>
          </c:marker>
          <c:dLbls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60</c:v>
                </c:pt>
                <c:pt idx="1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v>催化剂B</c:v>
          </c:tx>
          <c:spPr>
            <a:ln xmlns:a="http://schemas.openxmlformats.org/drawingml/2006/main" w="28575">
              <a:solidFill>
                <a:srgbClr val="2C6D68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2C6D68"/>
              </a:solidFill>
            </c:spPr>
          </c:marker>
          <c:dLbls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52</c:v>
                </c:pt>
                <c:pt idx="1">
                  <c:v>83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所需人数（每组，向上取整）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每组人数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2768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差4分</c:v>
                </c:pt>
                <c:pt idx="1">
                  <c:v>差6分</c:v>
                </c:pt>
                <c:pt idx="2">
                  <c:v>差8分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D5DCE-4F71-4940-8034-69DA23B17A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415E2-7820-49E6-A3D0-34C24BD981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20050-F963-45F7-ACE7-47809037960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FA32F-0C0C-427C-8312-092EF62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F5445-A412-40C6-BB27-9B0503A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研究与实验方案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E72A9-77BD-4E10-968B-F9E9CAB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406F-06FE-42BB-A3F9-C2308F3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研究设计需要说明：比较谁、改变什么、测量什么，以及哪些差异会影响判断。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D8E16-EB72-4CFA-8CE3-BA2FE4F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727AD-D707-4138-9BBF-5C54085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55BD7-3001-4894-A971-0B3E9AE0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42A82-3B2B-4176-A642-4E1AF6BE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资源与风险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23918-AF97-4BC4-ABC9-58336C71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明确要估计的差异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DDDFE-B78A-4C01-B388-0974B485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规定分配单位和对照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7205A-3E2D-4FFA-BA44-F4F7669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记录指标、时点和规则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9769A-E419-4184-BF4D-E5498EE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确认授权、条件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与备用安排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6F66E-A76F-401C-9337-5909121F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51655-62F8-4742-ACE7-CEB21876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例如：比较两种提示方式，需要先统一内容和测验，再说明分配与实施差异。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C7C9C-5671-4505-B563-E5C5DD1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问题、指标和可获得的证据需要对应，后续分析才能解释结果。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ADE59-3227-4068-AF24-3C41C1C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B3C52-5713-4AF0-B2C4-C28B164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0651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FD947-6137-41C5-B62C-49664A4F754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2382500" y="538162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6A44F-ACC0-4DAB-8491-268BA6A792C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1714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97993-C74F-4BD7-879D-E5DE63D4D09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4953000"/>
            <a:ext cx="161925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367C0-D741-4AB6-8E7D-DB1DFBB41D3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554F0-88AD-483C-9F97-8B6F0251D3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4953000"/>
            <a:ext cx="161925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1BA20-AB12-4963-BA69-C60672EAC56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3667125"/>
            <a:ext cx="15240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6D2E5-94F8-4F7A-B689-D9ABF1DE26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3667125"/>
            <a:ext cx="161925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3E7C6-6EB0-49FB-B783-B3CB906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D6835-55FA-4913-AEEF-F2A51FA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公开研究中的分组与测量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2D70-A161-46D7-9B2A-F74D4709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7213-60F4-4320-8A46-E1D1FCF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高中数学研究把辅导方式与测量阶段分开，便于比较当场表现和独立掌握。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DA284-5CC7-416A-9C99-123FE1D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班级随机分配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8089-115A-4870-A94A-5A55520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按组条件完成练习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163FC-F21F-459D-A8F8-C181089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无生成式AI资源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C7132-4AA9-4DCC-A94E-00C06D9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常规AI答疑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（Base）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7B9ED-57E3-477A-8E8F-B60B7B1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96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教师预设提示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（Tutor）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7E50C-6136-4FC7-A9C1-9151169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293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统一无资源测验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AF54E-E6B1-46DE-8048-D6BDECFA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对照组仍可用课本和笔记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DAD1E-FB7E-4ED7-A66D-F259E520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公开真实研究的设计转述；班级分配，三组资源不同，测验条件一致。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20477-5D14-49DF-AFDE-364CFBA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2025，实验设计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ABB81-DF2B-459A-96D1-C7161E1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901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53CDE-E37A-466B-8DEB-032042015F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239250" y="4929188"/>
            <a:ext cx="180975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DAB49-73FA-4A6C-AAD5-B4D4A67B8A5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3714750"/>
            <a:ext cx="18097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302AF-45D4-462B-8F50-CCDADAB7E99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4905375"/>
            <a:ext cx="1809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18BB-1475-48B2-8CE1-93ABFB6E279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14750"/>
            <a:ext cx="18097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6757D-D628-40C2-9E60-0F80BF2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78F6-A00D-4760-910A-9154610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一份拟议研究的分配与测量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2CD9C-10FB-47C5-9A87-409805C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1FF32-E0EA-443C-BDED-38A6EC8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本科课程教学示例：比较逐步提示与完整解答，以一周后的无AI新题评分为主要结果。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A9CCB-600A-44A4-9C1D-E3C360DE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第0天：学习前测量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197C-24DA-4440-955A-F30B186C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学生随机1∶1分配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518BA-FB5D-4163-9AFA-EDA1FC81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2B27D-7F78-4C31-84E5-9FA058E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657B-1CB6-4BC8-A987-BB93147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0"/>
            <a:ext cx="342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主要结果0—100分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CCF6-DF16-427E-A608-67831EF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同类内容与时间规则；补充记录当场表现、用时及额外帮助。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0AF28-09E0-4D33-B5FB-DC9E6B78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教学模拟：50人/组来自第11页假设情景；尚未招募、采集或获批。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16B3A-7A06-4438-AF2E-10AC3FD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00044-BC2F-4AF0-9C0D-72F1033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4063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05BB-117C-48B9-8096-97108ADAC45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53000" y="659606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74B40-5E64-4725-B821-EE9DE340AF0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953000" y="5119688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5F4FD-7BC9-4FAD-B0D5-E7E8284C1E5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64331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134EF-9298-436E-8CAB-971C3DF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32C7-37E2-40B7-908B-42A97FA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变量与可能的干扰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D1DF0-608E-4E09-A7DA-B5EDA38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123FE-6328-493D-A32E-8EBBB880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方案需要区分研究者改变的条件、实际测量的结果，以及需要控制或记录的其他差异。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E8B5C-B02A-4077-ABD1-34B7F97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改变的条件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78DC7-2B5A-4154-9DF5-C550260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提示方式、使用规则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EDD4-9B3A-4A00-A74B-8A9D90F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观察的结果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4DFC5-EB0D-44C8-9EC9-175E93AF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新题评分、完成时间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0537-F711-451C-AEEF-A3FC16E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可能的干扰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B6112-938D-4B7A-A2EB-AFB4F05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基础水平、课程内容、额外帮助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1221B-ECB2-4FAD-8506-B36B92D2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同一变量在不同问题中可能扮演不同角色，先回到要回答的问题。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A6F4E-6DC5-4037-A002-E6383F79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来源：NIST手册§5.3.2；课程方法说明／教学模拟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3DE2D-82D6-4825-832B-22E484C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490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C3ACF-97F9-413A-94B0-8085DF1B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908DD-123A-453E-99F0-C0DF6CD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对照条件与一致条件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F0A50-80AA-4AEC-AB81-5BD2FC9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7960C-ECA2-43B8-BFE7-27ED9CC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比较提示方式时，若题目、时间和评分同时改变，就难以解释差异来自哪里。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F59F-078B-4794-BC8D-05EF86E1554A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逐步提示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完整解答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记录偏离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2460-E751-4809-BAB4-F90BB93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教学模拟：差异条件和共同安排分别写清，执行偏离另作记录。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D309-692C-426B-828B-8B5B6C1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D1A3F-807A-44F1-9045-3BE23A4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6236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368BC-0106-4880-97EF-CE74464C6A6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6310313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579DD-D924-4758-BB05-46DD2963822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001000" y="5834063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9E1DA-BA22-46F3-8233-88FD9824FFC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63103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925D1-3E28-4869-B059-81F64CD4037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3976688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8232B-DF1F-4C18-A8EB-C5DA4BFDC25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01000" y="3500438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EA44-BD80-4D5F-A9AD-19655A1E4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9766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E0CDE-4248-4296-92F0-0D12C12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8A8D-570D-4095-B6E8-02A4938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随机分配与区组安排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652BE-4E6C-42BC-B9DD-9C5C55B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7AAA-F409-4BB4-8C99-A351587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已知批次差异可在设计中分开处理，再在每个批次内安排不同处理。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9D537-AFE1-4CBB-A0F2-8E9FD12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DBCE2-E748-4F9A-97EC-CA8E8431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6CF69-A97C-461A-B3C3-466FEB6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7170-9137-45F1-9CBD-A5DC3DE0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A6C64-CD4A-40E3-91E9-A6FFA5B0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079D5-DA0F-47E0-B062-C39D1C2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A4280-F11F-485E-9818-9CA6B9F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D0B46-DFCD-4B68-A1A2-F9D9191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88124-C37D-4524-A562-4FE868B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教学示意：每天都有两种处理，具体样品数与分配表需按研究另定。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3E719-D7FA-4719-B2B7-B5CD514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2026，区组设计课件；NIST手册§5.3.3.2；课程方法说明／教学模拟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6F5EB-FCCF-4550-BEEE-EBFD6C3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6303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9B1A2-B34B-47D2-A82D-36F6AA54308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86750" y="654843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50B69-9284-42A7-8453-04D6FDC719E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3750" y="5119688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7C539-AD2D-4B77-85CD-B0EAD5363C7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5072063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0BC43-F139-4C30-B022-62DAEB6CB6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5072063"/>
            <a:ext cx="2095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FA0A7-2353-4E8B-8B34-5ED4477A498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35956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1566-91FC-4A66-A339-A0F50C3BF6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35956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20985-67E9-4897-8F1D-5782B80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8D4D-A5C7-459A-B2F8-70FF4B1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独立样本与重复读数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618CD-485B-4E49-88CA-C976B8C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9905D-9050-4677-A4B4-4E7EB4E4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同一试样读三次，可以检查测量稳定性；它仍然只提供一个独立试样。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A6DF-D2C9-4A87-8ADE-90D744F9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571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独立制备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2C0A2-C636-4D96-B5F1-5DB2EDD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BA4D-E404-4C71-ACA1-0E8D1831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9087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0CDA4-14A3-4E50-B64B-087CF58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C73D6-C86E-4620-979D-FA1C61E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F466C-41EC-494A-922B-983567E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436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594F8-6972-4B79-B445-DDC668A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4362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72B34-011E-4D24-8303-BFA3F8D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独立试样数：3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4153F-780D-4911-8B08-685738E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总读数：3 × 3 =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EC8F3-9204-4829-9B87-2D3FB23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教学模拟：图中3份独立试样、9次读数；不代表已完成样本量论证。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9DBF8-2A68-45EB-91D1-F052B74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E9E50-1BE3-44D5-9ED3-CB39792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2131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50696-1D3A-483B-88D9-920855D4317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98EB-0E2E-4265-A391-0C9584630C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F9990-296F-425F-B85E-CBE1E029F7F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D9FD2-CF95-465E-BB08-079A0FA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B7A88-1257-4D44-8775-8ED4C00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编码、盲法与评分偏差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4EC1-1966-47AD-B854-EF35EC3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4D625-80A6-4788-87E6-131677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知道组别可能影响操作或评分。能隐藏的信息和不能隐藏的环节都要在方案里交代。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95AB8-CE52-4ECE-A01E-8A3F40DC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样品或答卷编码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252E5-77BB-4589-8947-46C9132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477D6-C03E-4927-B703-5E8E7B62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独立保存组别表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31B41-85C0-4874-9B4D-CFAD7A4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分析后按规则解码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92472-895E-4047-8A2C-C0330CC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编号不直接显示组别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9A6C2-40D5-4F76-93BC-A8744E8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测量或评分者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尽量不知组别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553B-70D2-4823-9CDB-650A104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限制可访问人员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并留记录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F0716-B9C0-43A3-8FCB-271C436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说明谁在何时知道分组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6D7BB-8C8E-48F0-9310-FEADB17D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EAD13-2BC0-4797-9863-2D20FCF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编号、隐藏分组和解码由谁负责，应写入方案；盲法无法实施时说明原因。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9BB9F-0ABF-47EC-A251-590351B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可行性受研究任务影响，未能盲的环节也要明确报告。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3DD46-7254-4A16-8A7C-95E3C62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B0537-692F-4B88-8FFF-06EB233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2016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603F-E0C9-415F-806A-6AA14C3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42015-0A08-4461-81D6-6874E24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公开教材示例：三因素的全部组合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CFE4-F975-4329-97BD-AA1C44E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32F8B-499E-472A-B3FD-45D88EA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温度、浓度和催化剂各有两个水平，全部组合共8组。表中y是课件报告的响应。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2F59C-8092-435B-8764-7C3D447C771F}"/>
              </a:ext>
            </a:extLst>
          </p:cNvPr>
          <p:cNvGraphicFramePr/>
          <p:nvPr/>
        </p:nvGraphicFramePr>
        <p:xfrm>
          <a:off xmlns:a="http://schemas.openxmlformats.org/drawingml/2006/main" x="762000" y="3028950"/>
          <a:ext xmlns:a="http://schemas.openxmlformats.org/drawingml/2006/main" cx="137160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238500"/>
                <a:gridCol w="3238500"/>
                <a:gridCol w="2857500"/>
                <a:gridCol w="2857500"/>
              </a:tblGrid>
              <a:tr h="501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温度T（°C）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浓度C（%）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催化剂K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响应y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F5DE1-298D-4A22-BE63-8BC27B69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公开教材示例，非本项目实测；y为两次重复均值，原课件未标物理单位。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406DB-14F4-4DA1-B561-54B2F8DC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73D56-F3F5-4EAF-9FFC-59FE7B3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0366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2A796-5D61-4ACE-9682-E0600D8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A15C9-696F-4B93-A3A8-0EB50C3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一个因素的效果可能随另一个因素改变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B2E86-8E29-4210-9415-D944DDB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83596-206C-4C68-AF3C-E7D5F57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固定浓度C为20%，温度从160°C到180°C时，催化剂A与B对应的响应增量不同。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A368278-47E1-4EC4-A948-AE9874C5F0A5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8191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7e9199fa6b407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A381-ED4F-4BEC-9C6C-E85CD174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温度变化的响应增量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D7AE8-EC47-431C-B36C-626DB917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43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催化剂A：72 − 60 = 12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催化剂B：83 − 52 = 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C8CF-6458-4380-87D1-A3D381D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增量差：31 − 12 =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FF329-E69B-4EE7-9A92-E965AC5D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无原始重复读数，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不据此判断统计显著。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0ED5D-8810-414E-8066-71771A1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公开课件数据重绘；仅展示条件增量，未作显著性判断或工艺推广。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7FC26-A799-4BB4-A128-4DD1DAB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D4FAA-BA55-4CA6-988E-4028984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8868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2AA5E-4C84-4AF6-B918-831A220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2E532-2D9A-4C89-A366-A6B5491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样本量怎样随目标差异改变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FB2BB-E545-42A2-90B2-C8FF445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F383-D9C3-4230-9150-5E12E5C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教学计算：两组独立、等人数；假设标准差10分，双侧显著性水平0.05，检验功效80%。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22A02F8-9B5E-4BFB-95D4-BFCAE2B58B3C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382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2c687cf2045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0BB4C-B2DC-4582-993B-32CD2BD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差异与波动要有依据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871D6-285C-4713-89CD-3C2CB7F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标准差描述分数的分散。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10分和目标差都是教学假设。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91AA-B6F1-4118-A09C-6D45F7F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EA8D2-D150-4A15-8669-8FE210A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45人/组的适用条件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74865-9BB2-4CA4-951F-CDD8491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只对应本例“差6分”情景。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改为班级分配需重新计算。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09378-0E14-4C19-A1CE-133BA34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功效80%：若设定差异存在且前提成立，重复研究中约80%能检出。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D9535-6E74-4E0B-B522-356512F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参数为教学假设；本地R实际计算，未纳入班级相关或实际缺失机制。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A1FD8-3C16-45F9-8A6B-2D9BE3A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来源：Lakens，2022，样本量论证；R stats官方说明；本地计算2026-10-19；课程方法说明／教学模拟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D7B5E-73C7-4377-BF47-2E595F6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11222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38EBB-29B9-4A65-A044-9E75E35F65C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9ECE6-31DD-4C6E-A055-689399D2BE8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545A6-7077-4DA2-B244-51010D9714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0F15D-4A4F-4C20-848C-96DB0B5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0878C-3913-4D03-82CA-88DFD62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测量方案与预先约定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7BB7-649A-4A23-AF99-5E56E32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2A59-1ABF-45F8-8B2F-6AF900A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主要指标、时间点、排除规则和分析办法应在结果出来前写清，并保留修改版本。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2B1D4-8BCC-40D5-918D-FE9503B8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开始前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BAA1-7B4F-4EA9-BF92-0FA6D28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执行过程中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6C02-B63E-4ECB-A091-A6F682C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数据整理时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0BEC-F0D2-4DF6-8DE5-FFD24C6D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解释结果时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877C1-58DE-4FEF-BF41-522DFEC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确定指标、测量与分析规则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E8048-BA5E-4C1E-AD89-EC27F1D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记录偏离及原因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CCD6A-58D1-4556-815C-5A2D420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核对缺失、排除与版本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BF1BC-3755-4F7D-9D2D-16C8D1B2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按原计划和偏离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7B8FF-C0D9-4D9B-9F29-E737CC6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E12CD-2BCE-4D85-B82D-67458C7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指标与测量质量先核查，再确定排除及缺失处理，保留计划和修订记录。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0DF36-CC9D-4C13-AB48-A6315E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发现执行问题应留痕修订；原计划、偏离和探索性分析分别说明。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45F24-6E28-499B-A942-B231677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AB293-EC6F-4B06-B9A6-CC9C035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61769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4355-95C8-4F07-8B33-5A90DDA7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1FF31-CA3C-4F30-809A-785D08C7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样本计划怎样变成工作量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AA798-F399-4C01-9E50-845C7FD0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A8827-8050-4ED3-9101-2A3C3701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沿用“差6分”的教学情景：每组需45份完整主要结果，再估算招募、测量和评分容量。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B3B42-0A5E-4569-9188-9DF8BB13F0F1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810250"/>
                <a:gridCol w="5048250"/>
              </a:tblGrid>
              <a:tr h="9144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本例计算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仍需确认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完整主要结果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45人/组，合计90人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差6分情景；前提见第11页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招募预留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45÷0.90向上取整＝50人/组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保留率90%为教学假设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测量排程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100人×3时点＝300人次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基线、当场、一周后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评分任务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100份答卷×2名评分者＝200份次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按满额准备，尚未实际评分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8C21-E7BC-4639-8AF2-AFEA298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教学容量测算：人数、人次与评分份次各有含义；90%保留率未经实证验证。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F6B09-5FFA-47D6-AF2D-624869F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 stats官方说明；本地计算2026-10-19；课程方法说明／教学模拟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7F63-65E8-45B8-8A3A-495890CD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9010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E591-0FAC-484D-94ED-32092EE4EFE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CC44-02DA-4890-9C05-BE02C9047F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5384C-79A6-45F7-9917-B92A8754501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57750" y="4929188"/>
            <a:ext cx="21907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514D8-3F2A-48D6-91E4-414BDA653BA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595688"/>
            <a:ext cx="2190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D4CD3-1F5A-4E58-8550-131C4FF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21C5-5EB9-4C42-BABF-065DE05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失败触发条件与备用方案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542D-B5F1-43EE-8C71-A9BDE90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0638-7AD1-4414-B828-6D24F6B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备用方案应说明什么时候切换、保留什么问题，以及改变后还能得出什么结论。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8814B-DB2B-498F-AA6D-2E14F7D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关键条件无法满足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8F5C0-371B-4C7C-A6A9-15EBB1AC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设备或测量不稳定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9E5D-17C3-46A2-A4F2-085407F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暂停采集，校准后复核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030C8-E96A-456F-8F4D-6DA6962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核心数据无法取得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4096D-F8C1-435A-9499-F6362D0C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810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收窄问题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024F8-E0AB-4774-A1E1-5AB4E83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教学模拟：切换理由、时间和对结论的影响都应记录。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EC037-5BD4-44CF-B5E1-B86EABF4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0F024-534E-4329-921D-CA0E71B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75785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72FA7-CB47-4D4A-A97D-015E5C928FB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30482-5CAB-4B01-BC0A-E9374C461A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913E7-D2DA-4B05-A8D7-7F872CD47D3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63343-A49C-464E-9580-653B671A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3C154-6D2B-4800-899F-88869D02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AI协助检查研究方案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51A40-1FB3-4889-8828-7E54B16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83E65-889A-44DA-B67F-A9EE7CC2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把方案、材料依据和限制一起提供，要求AI定位矛盾与缺项，再由研究者处理。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3CD4F-63E2-4A69-A1A3-8E3D98D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问题与现有方案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38929-20FE-44F1-ACE3-BC2F4BF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变量和资源对照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83393-5D9E-4545-BAC8-F156474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矛盾与缺项清单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0EE03-8F6C-476D-AF84-74374BA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修订后的方案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8C352-0875-44E2-BBB7-2B7306C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附原文、设备与授权状态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B7144-AC4B-4428-A263-4C98673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逐项对应对象、指标和方法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C413-6222-4980-A6E4-A3A481B7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返回位置与理由，允许未知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54D15-63A3-449E-B952-04FBC87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保留处理意见及仍缺的证据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97D5B-9B03-4A30-965D-8EF379F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C27FB-15BC-4451-8010-B140941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检查实例：同一试样的重复读数，是否被误算成独立样本？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0CE7A-9980-4400-8749-57BE784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流程示意：模型提出检查意见，研究者依据原始材料确认与修改。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40266-EE51-4C86-92CB-834C1A9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5CFB1-A12B-40C3-9B91-E066847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645574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2EC2D-4924-4260-9E41-62240EEDA05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6365-D074-4564-8A8E-5FFB53C524E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C36E0-E3FC-4328-BA46-38937F79F0F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F1AA9-A773-4FA2-A5F0-12A43DD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7414F-885B-4381-ABB3-E709E4B5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一份可实施方案需要的材料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2028A-FE02-448E-A04C-8A5C7FB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09C38-067C-4659-AD8E-4AD639C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设计说明、测量规则、资源安排和风险处理应能相互对应，未确认事项继续保留。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0EEA-320F-41B7-A02B-5FE5296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研究对象与比较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8EE49-6128-4EBF-97F7-E229FCF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对象边界、对照与主要结果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E1444-2A09-40E0-8D90-DD44EF7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变量与测量表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BD27A-06B6-4A49-8C5F-A0F2D14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定义、单位、时点和质量要求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F25A1-3FEB-4C3A-98F5-F81A9CE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分配与分析安排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6F088-3DC6-4624-A8E3-112C61F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独立单位、样本依据和缺失处理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D13B8-7B2D-489D-B59D-19DC363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资源、风险和版本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17FB4-9C51-427A-870B-0220C5C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启动条件、备用方案与责任分工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3B31F-DF72-4FBA-B03C-9251CA94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下一节：检查原始数据、运行分析，并把数值与研究问题对应起来。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7C506-5131-46D2-ABBD-9DCA43C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65DA4-8963-4D13-8CE1-ABD8E8C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1186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2026-10-19T11:39:58.2050000Z</dcterms:created>
  <dcterms:modified xsi:type="dcterms:W3CDTF">2026-10-19T11:39:58.2050000Z</dcterms:modified>
</coreProperties>
</file>