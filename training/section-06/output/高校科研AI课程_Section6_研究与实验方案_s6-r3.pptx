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561ef25e6b4b70" /><Relationship Type="http://schemas.openxmlformats.org/officeDocument/2006/relationships/extended-properties" Target="/docProps/app.xml" Id="R14be2e99bd78405a" /><Relationship Type="http://schemas.openxmlformats.org/officeDocument/2006/relationships/officeDocument" Target="/ppt/presentation.xml" Id="R261cef311692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a0220323a4ee9"/>
  </p:sldMasterIdLst>
  <p:notesMasterIdLst>
    <p:notesMasterId xmlns:r="http://schemas.openxmlformats.org/officeDocument/2006/relationships" r:id="R10f5c4c369624574"/>
  </p:notesMasterIdLst>
  <p:sldIdLst>
    <p:sldId xmlns:r="http://schemas.openxmlformats.org/officeDocument/2006/relationships" id="256" r:id="Raabf17c0c62b4f45"/>
    <p:sldId xmlns:r="http://schemas.openxmlformats.org/officeDocument/2006/relationships" id="257" r:id="Rdcd938abf7564e16"/>
    <p:sldId xmlns:r="http://schemas.openxmlformats.org/officeDocument/2006/relationships" id="258" r:id="Rfea71db977564c80"/>
    <p:sldId xmlns:r="http://schemas.openxmlformats.org/officeDocument/2006/relationships" id="259" r:id="R499907d6ff264f25"/>
    <p:sldId xmlns:r="http://schemas.openxmlformats.org/officeDocument/2006/relationships" id="260" r:id="R0b1a2c026f3e48a8"/>
    <p:sldId xmlns:r="http://schemas.openxmlformats.org/officeDocument/2006/relationships" id="261" r:id="R6da08f1bf04d4790"/>
    <p:sldId xmlns:r="http://schemas.openxmlformats.org/officeDocument/2006/relationships" id="262" r:id="R292200c6a176403e"/>
    <p:sldId xmlns:r="http://schemas.openxmlformats.org/officeDocument/2006/relationships" id="263" r:id="Rf8f02e90f4bb4620"/>
    <p:sldId xmlns:r="http://schemas.openxmlformats.org/officeDocument/2006/relationships" id="264" r:id="Rf8c758ac027f439a"/>
    <p:sldId xmlns:r="http://schemas.openxmlformats.org/officeDocument/2006/relationships" id="265" r:id="R4a02dce69b92495c"/>
    <p:sldId xmlns:r="http://schemas.openxmlformats.org/officeDocument/2006/relationships" id="266" r:id="Rb3a86d28062d43ec"/>
    <p:sldId xmlns:r="http://schemas.openxmlformats.org/officeDocument/2006/relationships" id="267" r:id="R897e1307a77d4549"/>
    <p:sldId xmlns:r="http://schemas.openxmlformats.org/officeDocument/2006/relationships" id="268" r:id="Rb0dae42581bc431b"/>
    <p:sldId xmlns:r="http://schemas.openxmlformats.org/officeDocument/2006/relationships" id="269" r:id="Re673888c209d4f1b"/>
    <p:sldId xmlns:r="http://schemas.openxmlformats.org/officeDocument/2006/relationships" id="270" r:id="Rc68e507dba9b4371"/>
    <p:sldId xmlns:r="http://schemas.openxmlformats.org/officeDocument/2006/relationships" id="271" r:id="Re7128029af25402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7a3c2cc90a4bfe" /><Relationship Type="http://schemas.openxmlformats.org/officeDocument/2006/relationships/slideMaster" Target="/ppt/slideMasters/slideMaster1.xml" Id="Rd5da0220323a4ee9" /><Relationship Type="http://schemas.openxmlformats.org/officeDocument/2006/relationships/notesMaster" Target="/ppt/notesMasters/notesMaster1.xml" Id="R10f5c4c369624574" /><Relationship Type="http://schemas.openxmlformats.org/officeDocument/2006/relationships/presProps" Target="/ppt/presProps.xml" Id="R104ae96915094f47" /><Relationship Type="http://schemas.openxmlformats.org/officeDocument/2006/relationships/tableStyles" Target="/ppt/tableStyles.xml" Id="Rdddcf1f1608f450f" /><Relationship Type="http://schemas.openxmlformats.org/officeDocument/2006/relationships/slide" Target="/ppt/slides/slide1.xml" Id="Raabf17c0c62b4f45" /><Relationship Type="http://schemas.openxmlformats.org/officeDocument/2006/relationships/slide" Target="/ppt/slides/slide2.xml" Id="Rdcd938abf7564e16" /><Relationship Type="http://schemas.openxmlformats.org/officeDocument/2006/relationships/slide" Target="/ppt/slides/slide3.xml" Id="Rfea71db977564c80" /><Relationship Type="http://schemas.openxmlformats.org/officeDocument/2006/relationships/slide" Target="/ppt/slides/slide4.xml" Id="R499907d6ff264f25" /><Relationship Type="http://schemas.openxmlformats.org/officeDocument/2006/relationships/slide" Target="/ppt/slides/slide5.xml" Id="R0b1a2c026f3e48a8" /><Relationship Type="http://schemas.openxmlformats.org/officeDocument/2006/relationships/slide" Target="/ppt/slides/slide6.xml" Id="R6da08f1bf04d4790" /><Relationship Type="http://schemas.openxmlformats.org/officeDocument/2006/relationships/slide" Target="/ppt/slides/slide7.xml" Id="R292200c6a176403e" /><Relationship Type="http://schemas.openxmlformats.org/officeDocument/2006/relationships/slide" Target="/ppt/slides/slide8.xml" Id="Rf8f02e90f4bb4620" /><Relationship Type="http://schemas.openxmlformats.org/officeDocument/2006/relationships/slide" Target="/ppt/slides/slide9.xml" Id="Rf8c758ac027f439a" /><Relationship Type="http://schemas.openxmlformats.org/officeDocument/2006/relationships/slide" Target="/ppt/slides/slide10.xml" Id="R4a02dce69b92495c" /><Relationship Type="http://schemas.openxmlformats.org/officeDocument/2006/relationships/slide" Target="/ppt/slides/slide11.xml" Id="Rb3a86d28062d43ec" /><Relationship Type="http://schemas.openxmlformats.org/officeDocument/2006/relationships/slide" Target="/ppt/slides/slide12.xml" Id="R897e1307a77d4549" /><Relationship Type="http://schemas.openxmlformats.org/officeDocument/2006/relationships/slide" Target="/ppt/slides/slide13.xml" Id="Rb0dae42581bc431b" /><Relationship Type="http://schemas.openxmlformats.org/officeDocument/2006/relationships/slide" Target="/ppt/slides/slide14.xml" Id="Re673888c209d4f1b" /><Relationship Type="http://schemas.openxmlformats.org/officeDocument/2006/relationships/slide" Target="/ppt/slides/slide15.xml" Id="Rc68e507dba9b4371" /><Relationship Type="http://schemas.openxmlformats.org/officeDocument/2006/relationships/slide" Target="/ppt/slides/slide16.xml" Id="Re7128029af25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b7c1be9cb4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5afa2ebc4440c" /><Relationship Type="http://schemas.openxmlformats.org/officeDocument/2006/relationships/notesMaster" Target="/ppt/notesMasters/notesMaster1.xml" Id="Re475e133d2b045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3c01e084b6482a" /><Relationship Type="http://schemas.openxmlformats.org/officeDocument/2006/relationships/notesMaster" Target="/ppt/notesMasters/notesMaster1.xml" Id="Rd5c03037f28c41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9384695d94f07" /><Relationship Type="http://schemas.openxmlformats.org/officeDocument/2006/relationships/notesMaster" Target="/ppt/notesMasters/notesMaster1.xml" Id="R78ce61322b84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3e7cb17f084574" /><Relationship Type="http://schemas.openxmlformats.org/officeDocument/2006/relationships/notesMaster" Target="/ppt/notesMasters/notesMaster1.xml" Id="R9d8b913c5450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0b60f89b24417b" /><Relationship Type="http://schemas.openxmlformats.org/officeDocument/2006/relationships/notesMaster" Target="/ppt/notesMasters/notesMaster1.xml" Id="Re0798824dfc642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b77fd7690c4f03" /><Relationship Type="http://schemas.openxmlformats.org/officeDocument/2006/relationships/notesMaster" Target="/ppt/notesMasters/notesMaster1.xml" Id="R5c275bde1817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953fedac7c4eb1" /><Relationship Type="http://schemas.openxmlformats.org/officeDocument/2006/relationships/notesMaster" Target="/ppt/notesMasters/notesMaster1.xml" Id="R6074f9bc4cf547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ddb9caf50f433e" /><Relationship Type="http://schemas.openxmlformats.org/officeDocument/2006/relationships/notesMaster" Target="/ppt/notesMasters/notesMaster1.xml" Id="Rda1d8af7bc5a42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4f0f6d343c4095" /><Relationship Type="http://schemas.openxmlformats.org/officeDocument/2006/relationships/notesMaster" Target="/ppt/notesMasters/notesMaster1.xml" Id="Rcf2810da010445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42b93d1b14ad1" /><Relationship Type="http://schemas.openxmlformats.org/officeDocument/2006/relationships/notesMaster" Target="/ppt/notesMasters/notesMaster1.xml" Id="Rd603262811bd40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ecb91b190a443f" /><Relationship Type="http://schemas.openxmlformats.org/officeDocument/2006/relationships/notesMaster" Target="/ppt/notesMasters/notesMaster1.xml" Id="R9eaae79986bf4d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0f012788824dc3" /><Relationship Type="http://schemas.openxmlformats.org/officeDocument/2006/relationships/notesMaster" Target="/ppt/notesMasters/notesMaster1.xml" Id="R44999934db5c46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bd20274dd54226" /><Relationship Type="http://schemas.openxmlformats.org/officeDocument/2006/relationships/notesMaster" Target="/ppt/notesMasters/notesMaster1.xml" Id="R1f9d9e8cf64540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2aaf98ed1549ae" /><Relationship Type="http://schemas.openxmlformats.org/officeDocument/2006/relationships/notesMaster" Target="/ppt/notesMasters/notesMaster1.xml" Id="Rdbacf5f4219f43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9ac31ff7a7470a" /><Relationship Type="http://schemas.openxmlformats.org/officeDocument/2006/relationships/notesMaster" Target="/ppt/notesMasters/notesMaster1.xml" Id="R30369099c91440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ac0322d72e4f22" /><Relationship Type="http://schemas.openxmlformats.org/officeDocument/2006/relationships/notesMaster" Target="/ppt/notesMasters/notesMaster1.xml" Id="R199be4ed1bce4a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讲设计选择及其理由，不把实验方案写成一串工具名称。AI可帮助检查方案一致性和资源缺口，不能代替现场条件、伦理审查或样本依据。实证研究既可能通过干预，也可能观察现象；应按问题选择路径，不是每个问题都能安排随机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根据Bastani等原文Experimental Design重绘：以班级为分配单位，设置无生成式AI资源、GPT Base、GPT Tutor三组。先进行有相应资源的练习，再进行无资源测验；先前教师授课环节相同。对照组仍有课本和笔记，不应写成无教学资源。这里借鉴比较和测量的组织，不直接照搬到本科课程。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定位：Experimental Design、Abstract，原文XML已在Section 5读取并保留来源哈希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页是课程编写的拟议方案，尚未实施。为何采用一周、何种新题、怎样评分，需要根据课程目标和测量质量论证。主要结果先确定；补充结果可以帮助解释过程，但不应在主要结果不理想后悄悄改为主要结论。满意度与知识掌握回答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先用普通语言解释：输入是安排了什么，输出是观察到什么；其他同时变化的条件可能妨碍解释。随机分配不表示所有样本特征必然一样，也不消除实施差异。对不能控制的因素，应预先考虑记录和分析。工程实验参数范围需经专业与设备条件核定，不照抄公开课件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How do you select and scale the process variables?</a:t>
            </a:r>
          </a:p>
          <a:p xmlns:a="http://schemas.openxmlformats.org/drawingml/2006/main">
            <a:r>
              <a:t>https://www.itl.nist.gov/div898/handbook/pri/section3/pri32.htm</a:t>
            </a:r>
          </a:p>
          <a:p xmlns:a="http://schemas.openxmlformats.org/drawingml/2006/main">
            <a:r>
              <a:t>定位：输入、输出、参数范围及不可行组合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模拟的比较框架，不保证仅凭表格就能消除干扰。两组内容和测验等值性需核查。可以设置更多比较组，但新增组别会改变资源和样本需求。主动对照与无干预对照回答的问题不同，设计应明确对照提供了哪些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天检测样品为模拟例子。如果A全部第一天测、B全部第二天测，处理与日期混在一起。区组把已知日期差异分开，在每天内随机分配或随机安排A/B。图上A/B是示意，真实排程需保存随机过程和种子或清单。还要考虑设备漂移、顺序效应及可行性。区组不是事后随意拆分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Randomized Block Designs. UC Davis BIM283, 2026-01-28/02-02</a:t>
            </a:r>
          </a:p>
          <a:p xmlns:a="http://schemas.openxmlformats.org/drawingml/2006/main">
            <a:r>
              <a:t>https://dmrocke.ucdavis.edu/Class/BIM283.2026.Winter/Lecture07_Randomized_Block_Designs.pdf</a:t>
            </a:r>
          </a:p>
          <a:p xmlns:a="http://schemas.openxmlformats.org/drawingml/2006/main">
            <a:r>
              <a:t>定位：PDF第2、10、11页已渲染查看；设计、随机分配及已知干扰因素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NIST/SEMATECH. Randomized block designs</a:t>
            </a:r>
          </a:p>
          <a:p xmlns:a="http://schemas.openxmlformats.org/drawingml/2006/main">
            <a:r>
              <a:t>https://www.itl.nist.gov/div898/handbook/pri/section3/pri332.htm</a:t>
            </a:r>
          </a:p>
          <a:p xmlns:a="http://schemas.openxmlformats.org/drawingml/2006/main">
            <a:r>
              <a:t>定位：控制已知干扰因素与区组设计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三份独立制备试样，每份测三次，构成3份试样和9次读数。这个计数示例不代表样本量足够。若处理施加在整批材料上，独立分配单位可能是批次，不能自动以试样作为独立重复。技术重复和独立重复要按实际制备、分配及测量层级确定；分析可能需要处理嵌套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盲法需要具体说明隐藏谁的信息。授课者或受试者有时无法不知道干预方式，但评分者仍可能不知道分组。不要把仅做匿名编号写成所有参与者均盲。盲法破坏、例外处理和解码时间需要记录。本页为方法说明，不声称示例已经实施双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数值转录自UC Davis 2026因子设计课件PDF第9页pilot.a；第8页定义因素、单位并注明y是两次重复的均值，源教材为Box, Hunter &amp; Hunter 2005 §5.4。课件未给y的物理单位，不能擅自改成百分比。本表按原课件排列展示，不等于实际随机运行顺序。仅用于理解组合设计，不作为工艺操作建议。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第9页四行：C=20时，A在T=160/180分别为60/72；B分别为52/83。手算增量A=72-60=12，B=83-52=31，增量差=19。图用于解释交互作用的含义，不能仅凭两条不平行线宣称统计显著。只有组均值，未取得原始重复读数或误差方差，因此未画误差条，也未做显著性检验。y无物理单位，不转换为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David M. Rocke. Factorial Designs at Two Levels. UC Davis BIM283, 2026-02-09/18</a:t>
            </a:r>
          </a:p>
          <a:p xmlns:a="http://schemas.openxmlformats.org/drawingml/2006/main">
            <a:r>
              <a:t>https://dmrocke.ucdavis.edu/Class/BIM283.2026.Winter/Lecture09_Two_Level_Factorials.pdf</a:t>
            </a:r>
          </a:p>
          <a:p xmlns:a="http://schemas.openxmlformats.org/drawingml/2006/main">
            <a:r>
              <a:t>定位：PDF第2、8、9页已渲染查看；第8页定义T/C/K，第9页pilot.a给出8组响应，第8页注明两次重复的均值；来源教材Box, Hunter &amp; Hunter, Statistics for Experimenters (2005), §5.4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本量没有所有课题通用的门槛。可按检验能力、估计精度或资源约束作论证，具体计算取决于设计与目标。效应量与波动不能由模型编造。按班级或批次分配时需考虑组内相关；预计缺失的处理也应有依据。资源固定时，可以说明在这个样本下能识别什么范围的差异，不能倒填参数制造足够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Daniël Lakens. Sample Size Justification. Collabra: Psychology 8(1):33267, 2022. DOI:10.1525/collabra.33267</a:t>
            </a:r>
          </a:p>
          <a:p xmlns:a="http://schemas.openxmlformats.org/drawingml/2006/main">
            <a:r>
              <a:t>https://doi.org/10.1525/collabra.33267</a:t>
            </a:r>
          </a:p>
          <a:p xmlns:a="http://schemas.openxmlformats.org/drawingml/2006/main">
            <a:r>
              <a:t>定位：Abstract、Six Approaches to Justify Sample Sizes、inferential goals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先约定可以减少看结果后选择指标或排除样本的空间，但不保证设计正确。临时修改有时必要，应标明时间、理由及已知信息。测量工具需核查适用性、评分一致性、校准与量程；关键步骤先小规模试运行。注册或审查要求按实际学科与机构流程执行，本页不伪造任何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没有编造预算金额或仪器已可用的状态。成本应根据独立样本数、测量次数、试剂耗材和工时计算；这些是不同数量。不能把9次读数当作9份独立样本采购和分析。预算不足时调整问题和精度目标，不只删掉对照或独立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设备稳定性不满足预先规定的标准时，暂停、校准和重测；不能为了得到预期结果反复筛选读数。核心数据无授权时，不把模拟数据写成真实数据，可以改成可获得资料支持的问题或暂缓。具体阈值必须来自测量要求和预先方案，本页不捏造通用标准。更换结果指标或样本会改变可回答的问题，应重新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要求AI检查：主要结果是否回答问题；分配单位与样本量是否一致；对照是否同时改变其他条件；重复读数是否误算为独立样本；备用方案是否改变结论范围。AI不得补造效应量、设备能力、实验结果或伦理批准。本页为流程示意，不是研究设计Agent真实执行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交付设计说明的教学样例、变量表、公开教材数据、图表和待确认清单。它们不代表已经通过伦理、设备或研究者审核。下一节进入数据处理和统计时，要沿用这里明确的独立单位、主要结果及分析规则，不能根据结果任意改变原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课程编写：研究设计方法与教学模拟</a:t>
            </a:r>
          </a:p>
          <a:p xmlns:a="http://schemas.openxmlformats.org/drawingml/2006/main">
            <a:r>
              <a:t>local:方案示例与材料状态.md</a:t>
            </a:r>
          </a:p>
          <a:p xmlns:a="http://schemas.openxmlformats.org/drawingml/2006/main">
            <a:r>
              <a:t>定位：本科课程方案、区组示意、样本层级和资源安排未实施；没有实验结果或批准记录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00d97c5be4c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0682f0b1c47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f5565d1d14c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0995271ff4d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3f3724c2e49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219ff226e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EE5CE-B800-41F0-8A31-EFDD01B60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26919D-04C3-4169-8AEF-ADAC094103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92A011-F8F0-484A-ADE1-2E373411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28333-11D0-4D9F-9454-BDAC97ABA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1E60CB-EE65-4FF5-9D73-AD15063A9C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A920E8-3753-47C4-8BEA-6317271F08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5AB6D-AA06-47B6-B4D0-1346FB8C1A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70E0B3-1D91-48D7-8DE7-745F4FE0B5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58A4D-F5B8-4BD5-AA0C-A54B60F3D5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DE84BA-8CFD-48BA-9643-E82347259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fa5787c57464e" /><Relationship Type="http://schemas.openxmlformats.org/officeDocument/2006/relationships/slideLayout" Target="/ppt/slideLayouts/slideLayout1.xml" Id="R9ea378152edc4a8e" /><Relationship Type="http://schemas.openxmlformats.org/officeDocument/2006/relationships/slideLayout" Target="/ppt/slideLayouts/slideLayout2.xml" Id="R9575a32cf23a4d7b" /><Relationship Type="http://schemas.openxmlformats.org/officeDocument/2006/relationships/slideLayout" Target="/ppt/slideLayouts/slideLayout3.xml" Id="R5a81a40cf1da48ae" /><Relationship Type="http://schemas.openxmlformats.org/officeDocument/2006/relationships/slideLayout" Target="/ppt/slideLayouts/slideLayout4.xml" Id="R468cb7790bc14065" /><Relationship Type="http://schemas.openxmlformats.org/officeDocument/2006/relationships/slideLayout" Target="/ppt/slideLayouts/slideLayout5.xml" Id="R6f87a99ab5d5401b" /><Relationship Type="http://schemas.openxmlformats.org/officeDocument/2006/relationships/slideLayout" Target="/ppt/slideLayouts/slideLayout6.xml" Id="R4abe69980f61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a378152edc4a8e"/>
    <p:sldLayoutId xmlns:r="http://schemas.openxmlformats.org/officeDocument/2006/relationships" id="2147483650" r:id="R9575a32cf23a4d7b"/>
    <p:sldLayoutId xmlns:r="http://schemas.openxmlformats.org/officeDocument/2006/relationships" id="2147483651" r:id="R5a81a40cf1da48ae"/>
    <p:sldLayoutId xmlns:r="http://schemas.openxmlformats.org/officeDocument/2006/relationships" id="2147483652" r:id="R468cb7790bc14065"/>
    <p:sldLayoutId xmlns:r="http://schemas.openxmlformats.org/officeDocument/2006/relationships" id="2147483653" r:id="R6f87a99ab5d5401b"/>
    <p:sldLayoutId xmlns:r="http://schemas.openxmlformats.org/officeDocument/2006/relationships" id="2147483654" r:id="R4abe69980f61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8f1a927774afe" /><Relationship Type="http://schemas.openxmlformats.org/officeDocument/2006/relationships/notesSlide" Target="/ppt/notesSlides/notesSlide1.xml" Id="R9e8d606960ea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53bf2d91f470c" /><Relationship Type="http://schemas.openxmlformats.org/officeDocument/2006/relationships/notesSlide" Target="/ppt/notesSlides/notesSlide2.xml" Id="R1fc6f657d7df45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dcd629c17458e" /><Relationship Type="http://schemas.openxmlformats.org/officeDocument/2006/relationships/notesSlide" Target="/ppt/notesSlides/notesSlide3.xml" Id="R0ba17cfebfa442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ff15a7933405c" /><Relationship Type="http://schemas.openxmlformats.org/officeDocument/2006/relationships/notesSlide" Target="/ppt/notesSlides/notesSlide4.xml" Id="Re5ef03cbfd3d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681e9d3784f20" /><Relationship Type="http://schemas.openxmlformats.org/officeDocument/2006/relationships/notesSlide" Target="/ppt/notesSlides/notesSlide5.xml" Id="Rb51fe47d901244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cc76778064654" /><Relationship Type="http://schemas.openxmlformats.org/officeDocument/2006/relationships/notesSlide" Target="/ppt/notesSlides/notesSlide6.xml" Id="R56bd65bc5995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c2239e236e462d" /><Relationship Type="http://schemas.openxmlformats.org/officeDocument/2006/relationships/notesSlide" Target="/ppt/notesSlides/notesSlide7.xml" Id="R464bb07e797945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6261c2f0c4a8e" /><Relationship Type="http://schemas.openxmlformats.org/officeDocument/2006/relationships/notesSlide" Target="/ppt/notesSlides/notesSlide8.xml" Id="R4f9026c351424c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40020d2c240bd" /><Relationship Type="http://schemas.openxmlformats.org/officeDocument/2006/relationships/notesSlide" Target="/ppt/notesSlides/notesSlide9.xml" Id="Rb54d36e43de247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dcf73774845c2" /><Relationship Type="http://schemas.openxmlformats.org/officeDocument/2006/relationships/chart" Target="/ppt/slides/charts/chart1.xml" Id="R3791d36bbb53490f" /><Relationship Type="http://schemas.openxmlformats.org/officeDocument/2006/relationships/notesSlide" Target="/ppt/notesSlides/notesSlide10.xml" Id="Ree335010242648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a978c35c24009" /><Relationship Type="http://schemas.openxmlformats.org/officeDocument/2006/relationships/notesSlide" Target="/ppt/notesSlides/notesSlide11.xml" Id="R39e3ec2bacc14c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165c5f62e4286" /><Relationship Type="http://schemas.openxmlformats.org/officeDocument/2006/relationships/notesSlide" Target="/ppt/notesSlides/notesSlide12.xml" Id="Rba7b63bf1e0d49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f206893b04bb8" /><Relationship Type="http://schemas.openxmlformats.org/officeDocument/2006/relationships/notesSlide" Target="/ppt/notesSlides/notesSlide13.xml" Id="R53fb50630f1d44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e4441aa1141e8" /><Relationship Type="http://schemas.openxmlformats.org/officeDocument/2006/relationships/notesSlide" Target="/ppt/notesSlides/notesSlide14.xml" Id="R4381c00c42a940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395dfe2474851" /><Relationship Type="http://schemas.openxmlformats.org/officeDocument/2006/relationships/notesSlide" Target="/ppt/notesSlides/notesSlide15.xml" Id="R1b1c8e55e26a4a6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c97965e1f4434" /><Relationship Type="http://schemas.openxmlformats.org/officeDocument/2006/relationships/notesSlide" Target="/ppt/notesSlides/notesSlide16.xml" Id="Ra0e322cf5f5146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latin typeface="Microsoft YaHei"/>
                <a:ea typeface="Microsoft YaHei"/>
                <a:cs typeface="Microsoft YaHei"/>
              </a:rPr>
              <a:t>固定浓度C=20%时的响应y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催化剂A</c:v>
          </c:tx>
          <c:spPr>
            <a:ln xmlns:a="http://schemas.openxmlformats.org/drawingml/2006/main" w="28575">
              <a:solidFill>
                <a:srgbClr val="245B77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45B77"/>
              </a:solidFill>
            </c:spPr>
          </c:marker>
          <c:dLbls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60</c:v>
                </c:pt>
                <c:pt idx="1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v>催化剂B</c:v>
          </c:tx>
          <c:spPr>
            <a:ln xmlns:a="http://schemas.openxmlformats.org/drawingml/2006/main" w="28575">
              <a:solidFill>
                <a:srgbClr val="2C6D68"/>
              </a:solidFill>
            </a:ln>
          </c:spPr>
          <c:marker>
            <c:symbol val="square"/>
            <c:size val="9"/>
            <c:spPr>
              <a:solidFill xmlns:a="http://schemas.openxmlformats.org/drawingml/2006/main">
                <a:srgbClr val="2C6D68"/>
              </a:solidFill>
            </c:spPr>
          </c:marker>
          <c:dLbls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160°C</c:v>
                </c:pt>
                <c:pt idx="1">
                  <c:v>180°C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52</c:v>
                </c:pt>
                <c:pt idx="1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BE48F-3AD3-4BC5-A7C9-209B3050CC7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991DB-A533-44CD-8FC0-6129E141FC5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8CD3F-EB5F-45D2-9175-179D4B0EC03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AC547-D514-4963-9B52-12A052F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AB41F-B470-466B-B795-8FEE4893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研究与实验方案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61657-ABF4-47D6-AF4A-F4B598D4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B236-6FDB-43CA-9A79-AC3E5B3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研究设计需要说明：比较谁、改变什么、测量什么，以及哪些差异会影响判断。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11AB3-5A9D-4DF1-AA54-F622467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D64B0-F0F1-4256-9C0D-050D682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92E58-92FD-4444-8AC3-283EAE4D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6B7E9-5FCA-48C8-9296-9709BA5D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资源与风险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A9D85-84FC-4FFD-A941-11999032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明确要估计的差异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113DD-E5D4-47EB-B0EB-DC1A2EE3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规定分配单位和对照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F76DC-A8E3-4AFA-AF41-AA5902F2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记录指标、时点和规则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1FCBC-461A-4DB7-9254-0718052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确认授权、条件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与备用安排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E0F50-3F4C-486E-BB5F-4EC5BE9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B3CDF-63ED-4047-80DE-8B59F2E2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例如：比较两种提示方式，需要先统一内容和测验，再说明分配与实施差异。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4F3E6E-EC80-45F4-A4DB-AB9A5584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问题、指标和可获得的证据需要对应，后续分析才能解释结果。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0243A-9240-4DD8-91B4-0F70308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B0FA0-876B-48BC-B4CD-B78BD8D4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3916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B0B65-3EA7-41EC-88BC-4B6CAB8A72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538162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1BA48-6BC3-48A7-A5E4-0789624EB485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1714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47E99-F9BC-4859-A9F6-4717D12DA8B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4953000"/>
            <a:ext cx="161925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CA24E-F25C-42CA-985B-0C4130F71B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763000" y="4905375"/>
            <a:ext cx="15240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3E9C6-3396-4C2B-B8CA-61BB04767C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810000" y="4953000"/>
            <a:ext cx="1619250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205DF-3ADB-48CE-877F-20EEF81966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3667125"/>
            <a:ext cx="1524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FE9A7-8E1F-4B32-8EEE-379E86B8A24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3667125"/>
            <a:ext cx="16192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08D84-B269-4338-B6E0-981C34E6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15ED8-7F28-4AD4-92DA-C5CE868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公开研究中的分组与测量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03A9-2243-400D-832B-7E6FD442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47B0C-1E31-4DA3-96C5-4F30260F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高中数学研究把辅导方式与测量阶段分开，便于比较当场表现和独立掌握。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6379C-C3B7-492C-A47F-4436A1F2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班级随机分配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A125C-FA70-43C8-81B8-02789CC7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按组条件完成练习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F2260-3F1C-4DA7-BC0C-4F2CE23E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无生成式AI资源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34BD2-3004-470F-91C3-DA7DF057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19625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常规AI答疑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（Base）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83850-DCF5-4972-9711-943EB731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96000"/>
            <a:ext cx="3333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教师预设提示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（Tutor）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5E2FB-2CF0-43E7-B971-201AC40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293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统一无资源测验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69D0B-C799-48C0-87F0-44B35EFD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对照组仍可用课本和笔记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F0A87-1622-4FAA-BB50-E045B1F7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公开真实研究的设计转述；班级分配，三组资源不同，测验条件一致。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D062B-AE1D-43C0-9D70-5F444DA1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2025，实验设计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7A597-3302-47D7-A638-86749F4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374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E1314-E335-4BD4-BE81-372033D6942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59A99-6737-4267-9F97-E8B46568A6E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E7CA1-7210-4B8A-ABA9-B548FCBC2E5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E86A9-9340-4D2A-A7E2-9C3EB61C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C60DD-2118-4EE2-9E0D-14C38CB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拟议问题与主要结果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6A748-0787-4FA8-8F2F-AC35F5A4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6E794-71F0-419D-B17D-150E7FD2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以本科课程为例，比较逐步提示与完整解答，主要结果设为延后一周的独立新题表现。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E051D-8925-4844-BB2C-1B47E6E6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DCFEC-DB2D-401B-B4AD-D828A57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逐步提示与完整解答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50BE1-CB68-46B5-AB4B-33157A80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F8489-83E0-4D32-B98F-33BB06FE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一周后无AI的新题评分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DD555-CE42-4ED3-9268-DFBE9EB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补充结果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6300B-5424-410C-943D-97CC2597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当场表现、用时与使用记录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A32493-71A6-457F-97F2-ACA82652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教学模拟：对象、时间点和指标仍需论证，未形成已批准研究方案。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38F87-2ABC-483F-8D29-FC6B5DA1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BE389-801E-419C-860F-5FBE82F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8491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C9D26-A87D-49AD-A2F2-20DA219BC95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53000" y="659606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417C-E763-4E28-9005-9A90B90E899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953000" y="5119688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B5D69-A191-4AA1-A356-C8E8CAB5013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953000" y="3643313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EADDF-BFEA-4E84-BB34-C227EF1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58B00-9A6C-457B-8CAC-BBB2AD4D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变量与可能的干扰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F5DC5-FBDE-4035-AB81-F3C0A22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749F2-153B-48FB-9A2C-93BFC5A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方案需要区分研究者改变的条件、实际测量的结果，以及需要控制或记录的其他差异。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3F48-FC23-488F-9780-5210C4F4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改变的条件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3D8A1-D342-4598-A8E7-E0C90AEA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提示方式、使用规则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0F5C1-0FF1-40A4-9E84-0338DAA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观察的结果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F0C09-3AF8-4740-B51D-DFBFC1F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新题评分、完成时间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0D7A8-E2DD-4210-AB50-3EEC495F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191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可能的干扰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97C09-BF62-4766-9489-1BCA336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7239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基础水平、课程内容、额外帮助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880FD4-6FBB-45DB-95D5-CE6B3B59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同一变量在不同问题中可能扮演不同角色，先回到要回答的问题。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8FE4B-3EC7-465F-BE70-E877BB7B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来源：NIST手册§5.3.2；课程方法说明／教学模拟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92197-7E67-4841-9F43-52AE49BE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84032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A997C-A589-4304-9731-FC7C7575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75934-CEE3-4626-8333-657E1381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对照条件与一致条件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856A-AD7B-4B22-A67C-ACC19C5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422CA-B8AD-49FB-9781-24CDB42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比较提示方式时，若题目、时间和评分同时改变，就难以解释差异来自哪里。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03052-AA77-4540-8E42-96AA76330557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逐步提示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完整解答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共同安排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同类内容、相同时间规则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共同测量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延后新题、统一评分规则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记录偏离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额外帮助、缺席与执行差异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C6849-820A-46B6-B5CF-6F5235D0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教学模拟：差异条件和共同安排分别写清，执行偏离另作记录。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E639A-6550-4373-83C5-EB264C1F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1D049-4D05-4C1D-B50A-292E930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7061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23684-4680-4611-904A-7F51678FEC2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001000" y="6310313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3D34F-01B9-4906-A341-9532F20A1AC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001000" y="5834063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33732-0D60-4BA0-BD7A-E291A0608CD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63103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C16D9-1F6D-4223-9078-06B3FB9DC41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01000" y="3976688"/>
            <a:ext cx="2571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619D3-2C67-424E-9A60-C23B1292279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8001000" y="3500438"/>
            <a:ext cx="25717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FB413-2559-4367-93B5-5243C279A4B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976688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C5379-289A-4F94-9578-FC1444D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AE311-C144-4891-B12E-3C1378B3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随机分配与区组安排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7D06C-02F0-4DF5-8A94-497E16C2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35FEA-3237-47F8-8B6C-C3DC160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已知批次差异可在设计中分开处理，再在每个批次内安排不同处理。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B94DE-51D6-4B00-A58A-DCA8CAD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0CF6D-1BFD-449C-A25A-ADE2A674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4E119-4CD9-4239-8B46-DBB2279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52584-C729-4D29-A46B-1696895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9D3B8-6BCD-40B2-BF26-85C9BB8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47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0049A-2685-4476-98B3-BB87B238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日内随机安排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DE59F-6270-4623-81EF-BABE3546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476875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97EB0-B916-40C4-8846-F614A56E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72250"/>
            <a:ext cx="390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5337B-A6DA-41AE-8EE7-5E09CF88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教学示意：每天都有两种处理，具体样品数与分配表需按研究另定。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A4607-3BB7-48A7-B1F3-40BF32F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2026，区组设计课件；NIST手册§5.3.3.2；课程方法说明／教学模拟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785AE-334F-47DE-A1B6-302E1AA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8161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9D190-7033-4E5A-A44D-A2FC5CF70671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86750" y="654843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58317-81C3-4A90-AF9F-58243FA405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33750" y="5119688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26791-082F-4532-832F-0964DCC2DF6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5072063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B6C16-31FA-4939-8DC2-03D9F35E9A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333750" y="5072063"/>
            <a:ext cx="20955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9D911-D05A-4097-8E05-44EE974BEBE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86750" y="35956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09B91-48B4-4424-8C7C-F20379010B2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35956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FCEF2-AF11-4D86-9AB7-FAD08F5A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9CAF-1E56-4074-80F6-91B51F1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独立样本与重复读数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485F2-E3E8-4068-AB9B-2E675CE5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119FA-D41C-4F9F-8779-77DC1A03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同一试样读三次，可以检查测量稳定性；它仍然只提供一个独立试样。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E4CE0-CDC8-4E96-B5E1-3F322C19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571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独立制备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2213F-2107-4C3D-AEFD-806E7751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1A53D-A173-4B96-9420-28FA3E3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9087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6525D-D8BB-4F05-8690-29E52959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67250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3E855-875A-459A-B72D-8C8FF5BF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67250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1503A-826A-47F3-9D69-82C629C2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436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试样3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917F6-848F-40A5-89D4-7960659A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43625"/>
            <a:ext cx="4381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读数1    读数2    读数3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72538-33A2-4655-A90C-91F9D4EE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独立试样数：3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DB853-D888-4887-9DF4-CE0CA98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485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总读数：3 × 3 = 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240D5-D21E-4D71-A614-157210FD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教学模拟：图中3份独立试样、9次读数；不代表已完成样本量论证。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B0502-B2AF-4C76-9F2D-00F5285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5828D-7313-4A33-87F3-62A010BF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8921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D01D9-151B-43A4-A805-2C0209D5AC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0F19D-A5C8-4E15-81DB-7A534228828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973A3-D35D-4E7D-875B-0EA3F31B2AC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678C9-99D3-4E66-9333-0AF0D8EB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A7F11-A1FF-4C94-859A-1FB179A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编码、盲法与评分偏差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D6B18-F825-4F8C-8133-310A5AF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594B1-D4E9-4BA2-8B0E-22B5F245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知道组别可能影响操作或评分。能隐藏的信息和不能隐藏的环节都要在方案里交代。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F1B39-63F9-45E1-9351-E75D8A6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样品或答卷编码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9707-4DFE-4289-BB5F-DD10BFD4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按统一规则测量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0AF4E-52E8-4703-A288-8AD5345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独立保存组别表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60565-1B82-477B-B853-00B19667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分析后按规则解码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6D653-B9EB-4106-AF9C-C4A7E309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编号不直接显示组别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D047E-39DB-4535-BC72-9B317D4F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测量或评分者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尽量不知组别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3410E-229A-41EC-8521-157BA445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限制可访问人员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并留记录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A06F5-4FB8-412A-B482-A340C77C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说明谁在何时知道分组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61CD9-3AED-47CE-BEFF-A2B77291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0AF08-2006-4805-B042-A336776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编号、隐藏分组和解码由谁负责，应写入方案；盲法无法实施时说明原因。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5FA97-4D6D-4EEE-A131-81E6FDD3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可行性受研究任务影响，未能盲的环节也要明确报告。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C097A-212A-41A8-8A67-A998780F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47EF2-8DDB-4B02-9BF9-DD040819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02508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ABAE0-C453-4382-A039-D0967DF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F08C1-7E79-47FE-8390-6365558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公开教材示例：三因素的全部组合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B901-550D-437E-B200-A0178329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F3930-587B-4A01-8541-7C5751C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温度、浓度和催化剂各有两个水平，全部组合共8组。表中y是课件报告的响应。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2A972-515D-4107-978F-989077D5A333}"/>
              </a:ext>
            </a:extLst>
          </p:cNvPr>
          <p:cNvGraphicFramePr/>
          <p:nvPr/>
        </p:nvGraphicFramePr>
        <p:xfrm>
          <a:off xmlns:a="http://schemas.openxmlformats.org/drawingml/2006/main" x="762000" y="3028950"/>
          <a:ext xmlns:a="http://schemas.openxmlformats.org/drawingml/2006/main" cx="137160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238500"/>
                <a:gridCol w="3238500"/>
                <a:gridCol w="2857500"/>
                <a:gridCol w="2857500"/>
              </a:tblGrid>
              <a:tr h="501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温度T（°C）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浓度C（%）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催化剂K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响应y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C5490-34AD-4D81-BD4A-71A9BC6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公开教材示例，非本项目实测；y为两次重复均值，原课件未标物理单位。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9D42B-A4FD-4002-9C07-3E12C72C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A6D99-36FC-4E2A-950E-22F757BC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7122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3703C-7654-4586-A2EA-34871FF6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38E23-556A-4AAC-8863-A97B753B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一个因素的效果可能随另一个因素改变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33BC5-0C06-43A1-9815-013EF62C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09936-0494-4841-AA73-0B686AB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固定浓度C为20%，温度从160°C到180°C时，催化剂A与B对应的响应增量不同。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41777B4-40A7-4FCB-844D-DF0EA955DA6B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8191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91d36bbb5349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F24B8-98E7-4B91-9DE0-B8FDFAA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温度变化的响应增量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D6F9E-9047-493B-B410-3D8F9976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43375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催化剂A：72 − 60 = 12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催化剂B：83 − 52 = 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6A1D-8C38-4D8F-9206-9B96AB0B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增量差：31 − 12 =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2D887-F8BD-4E62-92B4-4749FD45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无原始重复读数，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不据此判断统计显著。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59845-0727-4462-8F7C-A3E4EEF8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公开课件数据重绘；仅展示条件增量，未作显著性判断或工艺推广。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D5EEE-790E-4459-91EE-172DBBB8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Davis 2026，因子设计课件pp.8–9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4318F-F5B1-4316-824F-6FB81A5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1013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7E644-A960-41F9-AACB-1CEAD4B3372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A3E57-2EDD-4257-87E6-54387A2B77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7FE65-F7E2-4496-9CC6-AA9DB4C9C28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EB6C8-6757-47FB-A6A3-4E6275D5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4D573-8075-49F1-A524-770144A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样本量的论证依据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D60F8-F4BF-4929-93FA-64D4161C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C67E4-0A0E-45B0-BEB0-570AAE3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先说明想识别多大差异或达到多高精度，再结合波动、分配层级和可用资源计算。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C1CE-07D7-4D35-AB99-EEE8FDD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DC376-137A-4C2D-AF89-37857BC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已有波动信息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B69F7-885B-4DFF-8430-7C94A70F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设计与相关性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A98D8-5C04-4796-B57E-B7D85BF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可行性与敏感性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42790-68C4-466F-BD32-C3BBDBAD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关心的最小差异或估计精度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5F0DE-E95E-48FF-9D74-C48A9BCA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取自相近数据并说明依据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4C405-3403-4773-8754-28D8B1E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个体／班级／批次与重复测量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F4750-2536-4B30-AD80-5EDC25C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预计缺失、资源上限和可检测范围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CAB13-DC95-40C0-BF95-48F8AD8A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60DD2-8BE6-4771-A9C1-42CB2092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效应、波动与相关性需要材料依据，模型不能凭空补数。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F2316-E286-4F3F-B0CF-9D0E2425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缺少效应与波动依据时，先补资料或做预研究，保留不确定性。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3D028-430F-419D-A9B5-0CA823D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来源：Lakens，2022，样本量论证；课程方法说明／教学模拟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D139C-B627-4EEC-80CF-EEB02068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77157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4EC0D-1D4F-4B6A-9B49-E6F61213E40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E82A1-BD34-46FE-BFEC-1AFC4404519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F863F-C38A-4BF4-8B87-B9320C1F19F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15694-D428-4CD9-97D5-75B9CD9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CAA00-79AD-4E8A-97FF-E61D81E9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测量方案与预先约定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C1E19-330A-4E20-8A69-5FDAF539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0B686-FEA7-46C0-A04A-0D5C5DB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主要指标、时间点、排除规则和分析办法应在结果出来前写清，并保留修改版本。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59D58-7FD7-4466-861F-AB4F45F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开始前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0013C-2A0C-49E2-A6D3-184387B6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执行过程中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88624-5314-48D8-A462-9AF8C0BF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数据整理时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1F58A-FD30-4FF1-BB96-0AA73203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解释结果时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928F-C500-4550-B662-CA4D0B4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确定指标、测量与分析规则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30232-40E2-476B-B140-FAA2139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记录偏离及原因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1E827-F9C3-41A0-B438-01687DFF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核对缺失、排除与版本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FFBED-8CFF-4AF4-BA5C-D59D63E7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按原计划和偏离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分别说明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218A-7530-4FE1-BD58-60DA8828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D6963-7187-4BF3-817D-270FC655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指标与测量质量先核查，再确定排除及缺失处理，保留计划和修订记录。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B8E24-5732-4D00-9049-228084F6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发现执行问题应留痕修订；原计划、偏离和探索性分析分别说明。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B94AF-9CBA-481D-AAA1-5D47C3B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E1893-018A-4ED3-9662-64F6E633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4992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5DF77-835E-4811-A5B3-2AE6BC99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95F5C-C2E9-4695-A2C1-13F59140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时间、设备与预算的对应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5BE33-A06C-4BC4-9478-C7AC2008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95448-D1DC-4378-B377-4D378BDA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资源表需要关联到具体测量和重复安排，才能发现“方案写了、条件没有”的地方。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E44C8-BE5D-447A-A617-2040667A6CC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381500"/>
                <a:gridCol w="6191250"/>
              </a:tblGrid>
              <a:tr h="8667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需要的条件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对应任务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启动前需确认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设备与校准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测量主要结果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可用时段、量程与稳定性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独立样本与材料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完成分组及重复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来源、批次与损耗依据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人员与授权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操作、评分、数据管理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能力、分工、权限及审查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时间与费用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预研究、正式采集和复核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工期、报价、预留与责任人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8F02A-D00A-4F8D-A58D-61B5CBD8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资源缺口进入问题清单；对照、独立重复和核心测量不能默默删去。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AA785-0753-4473-A7EA-41A5A5FE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1CAA2-9F79-4FA1-91A9-C3234DE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8517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F5BC3-191C-4F67-99DA-3389FCC3396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858500" y="635793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80E50-7E6E-45B2-AD43-60626F33701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858500" y="3595688"/>
            <a:ext cx="7620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20C49-59B3-4501-A30C-07BE0EEC673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57750" y="4929188"/>
            <a:ext cx="219075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C28F2-832B-4288-8260-ADD3260EF4C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857750" y="3595688"/>
            <a:ext cx="21907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33904-0C2C-47F6-AF3C-817F055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16B44-CFD5-4B44-ABDF-925F35D4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失败触发条件与备用方案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EA001-3BCC-43A2-B0FD-6EE6AEAE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52C5C-3674-4AAA-A2C3-0AF807F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备用方案应说明什么时候切换、保留什么问题，以及改变后还能得出什么结论。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8CA73-1934-442C-BFD2-074AAC40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095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关键条件无法满足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C9A95-5559-4A6C-9B24-85103AA4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设备或测量不稳定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9E58A-A819-44E4-8DF8-93BEEAE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04800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暂停采集，校准后复核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7EBF6-AE69-49E7-A801-E27B81C0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核心数据无法取得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62225-AA4E-4298-8243-3992CC90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8102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收窄问题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543BA-65D9-42D8-9766-05182786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教学模拟：切换理由、时间和对结论的影响都应记录。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BC6AA-FA9B-451E-8ED6-83DD937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BD782-34E9-46A7-BC17-1DBDF6F6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0880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DA6D1-46CF-4E5A-B7EE-3B2D28F6316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70134-B6D6-4BAC-808E-60FECF7988B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D459C-A166-43FB-B85B-B0A315070A8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6D8CA-42F4-4792-89A0-259E507E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9233D-F2E1-49C1-B2B4-EF10360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AI协助检查研究方案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3CB9C-85FA-4180-9046-778217D3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1958A-3202-452F-A481-B834DF2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把方案、材料依据和限制一起提供，要求AI定位矛盾与缺项，再由研究者处理。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68FED-634A-4EE1-9F58-592CD96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问题与现有方案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CB199-A7C8-4BF5-89A2-161FA0B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变量和资源对照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51EBF-5CF2-4F76-BFD5-DDB956A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矛盾与缺项清单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D1CE0-8417-4787-8298-CB239008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修订后的方案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5F3DB-CDC0-41A3-A68F-3B31CE2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附原文、设备与授权状态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4CD72-3FB3-48E7-B315-C00E463D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逐项对应对象、指标和方法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F7C29-0D35-4418-8445-0F4CE46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返回位置与理由，允许未知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D8AA1-17C9-45A6-B221-B6B5152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保留处理意见及仍缺的证据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91AC2-0083-451D-97E6-123D3017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FE3AA-D51A-4304-9C9A-27D1A74B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检查实例：同一试样的重复读数，是否被误算成独立样本？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B8963-CDCD-4C2D-8700-8CD45A4C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流程示意：模型提出检查意见，研究者依据原始材料确认与修改。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22620-921A-48F9-A294-8C66755E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A4682-E77F-4A16-88BA-5DC13C4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4566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00747-8C25-4A06-917E-AD1A99A541E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96ACC-C3C1-4450-A2FB-42676C6B3A2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43250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2BED9-1A78-49D6-81F0-3B983E78E78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143250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61203-A07E-49BC-AB59-83F6B9CC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  研究与实验方案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3163A-629F-42FA-98FA-DC3C012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一份可实施方案需要的材料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FAFAF-0ED0-499E-A07C-3003DF1F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934FB-41AA-4C21-BA4A-193C840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设计说明、测量规则、资源安排和风险处理应能相互对应，未确认事项继续保留。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A0AF2-526C-427B-81BA-07F7362D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研究对象与比较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6058C-4698-467D-9F67-1133771B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对象边界、对照与主要结果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9FC3F-2EF1-4C06-B093-901947FD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变量与测量表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8A6F0-6251-447F-875E-7E023610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定义、单位、时点和质量要求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F8682-9B30-416A-B65D-E2D71760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分配与分析安排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82654-27A4-4396-9906-4E3E1033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9115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独立单位、样本依据和缺失处理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814D3-6DA9-4E29-A396-689E60D3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资源、风险和版本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3CE6E-7F3B-4DBF-9AD0-D5BF94A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77000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启动条件、备用方案与责任分工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36B61-BF52-4605-86A7-AF5524A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下一节：检查原始数据、运行分析，并把数值与研究问题对应起来。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D9BF4-BF99-4912-8434-9DC18454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来源：课程方法说明／教学模拟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F4264-A2F3-42E2-809C-0A96D2D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77090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2026-10-17T15:45:16.9940000Z</dcterms:created>
  <dcterms:modified xsi:type="dcterms:W3CDTF">2026-10-17T15:45:16.9950000Z</dcterms:modified>
</coreProperties>
</file>