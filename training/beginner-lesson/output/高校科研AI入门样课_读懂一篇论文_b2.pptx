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d29e32d0034675" /><Relationship Type="http://schemas.openxmlformats.org/officeDocument/2006/relationships/extended-properties" Target="/docProps/app.xml" Id="R715ff07c9c9f4bfb" /><Relationship Type="http://schemas.openxmlformats.org/officeDocument/2006/relationships/officeDocument" Target="/ppt/presentation.xml" Id="R9d2c14fe50614d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9d9d3ad7244da3"/>
  </p:sldMasterIdLst>
  <p:notesMasterIdLst>
    <p:notesMasterId xmlns:r="http://schemas.openxmlformats.org/officeDocument/2006/relationships" r:id="Ra003da207ed9407e"/>
  </p:notesMasterIdLst>
  <p:sldIdLst>
    <p:sldId xmlns:r="http://schemas.openxmlformats.org/officeDocument/2006/relationships" id="256" r:id="R26e1ce6c58a746a9"/>
    <p:sldId xmlns:r="http://schemas.openxmlformats.org/officeDocument/2006/relationships" id="257" r:id="R4ebc0fa021a64d18"/>
    <p:sldId xmlns:r="http://schemas.openxmlformats.org/officeDocument/2006/relationships" id="258" r:id="R8b7c54c1bbfc4afa"/>
    <p:sldId xmlns:r="http://schemas.openxmlformats.org/officeDocument/2006/relationships" id="259" r:id="R3caa537bbcc349c3"/>
    <p:sldId xmlns:r="http://schemas.openxmlformats.org/officeDocument/2006/relationships" id="260" r:id="Rfe223a279f97428f"/>
    <p:sldId xmlns:r="http://schemas.openxmlformats.org/officeDocument/2006/relationships" id="261" r:id="R5ce2d53fded24d1e"/>
    <p:sldId xmlns:r="http://schemas.openxmlformats.org/officeDocument/2006/relationships" id="262" r:id="R51462151ebd245be"/>
    <p:sldId xmlns:r="http://schemas.openxmlformats.org/officeDocument/2006/relationships" id="263" r:id="R380305be9e894038"/>
    <p:sldId xmlns:r="http://schemas.openxmlformats.org/officeDocument/2006/relationships" id="264" r:id="R0a2297bf2e974324"/>
    <p:sldId xmlns:r="http://schemas.openxmlformats.org/officeDocument/2006/relationships" id="265" r:id="R11f4da0d13974cde"/>
    <p:sldId xmlns:r="http://schemas.openxmlformats.org/officeDocument/2006/relationships" id="266" r:id="R7f5b7584a23e4123"/>
    <p:sldId xmlns:r="http://schemas.openxmlformats.org/officeDocument/2006/relationships" id="267" r:id="R14de78f6f92a453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819a4412d64ec9" /><Relationship Type="http://schemas.openxmlformats.org/officeDocument/2006/relationships/slideMaster" Target="/ppt/slideMasters/slideMaster1.xml" Id="R4b9d9d3ad7244da3" /><Relationship Type="http://schemas.openxmlformats.org/officeDocument/2006/relationships/notesMaster" Target="/ppt/notesMasters/notesMaster1.xml" Id="Ra003da207ed9407e" /><Relationship Type="http://schemas.openxmlformats.org/officeDocument/2006/relationships/presProps" Target="/ppt/presProps.xml" Id="R9d2fc76bd4034d46" /><Relationship Type="http://schemas.openxmlformats.org/officeDocument/2006/relationships/tableStyles" Target="/ppt/tableStyles.xml" Id="Re3dcdddef2d84c7f" /><Relationship Type="http://schemas.openxmlformats.org/officeDocument/2006/relationships/slide" Target="/ppt/slides/slide1.xml" Id="R26e1ce6c58a746a9" /><Relationship Type="http://schemas.openxmlformats.org/officeDocument/2006/relationships/slide" Target="/ppt/slides/slide2.xml" Id="R4ebc0fa021a64d18" /><Relationship Type="http://schemas.openxmlformats.org/officeDocument/2006/relationships/slide" Target="/ppt/slides/slide3.xml" Id="R8b7c54c1bbfc4afa" /><Relationship Type="http://schemas.openxmlformats.org/officeDocument/2006/relationships/slide" Target="/ppt/slides/slide4.xml" Id="R3caa537bbcc349c3" /><Relationship Type="http://schemas.openxmlformats.org/officeDocument/2006/relationships/slide" Target="/ppt/slides/slide5.xml" Id="Rfe223a279f97428f" /><Relationship Type="http://schemas.openxmlformats.org/officeDocument/2006/relationships/slide" Target="/ppt/slides/slide6.xml" Id="R5ce2d53fded24d1e" /><Relationship Type="http://schemas.openxmlformats.org/officeDocument/2006/relationships/slide" Target="/ppt/slides/slide7.xml" Id="R51462151ebd245be" /><Relationship Type="http://schemas.openxmlformats.org/officeDocument/2006/relationships/slide" Target="/ppt/slides/slide8.xml" Id="R380305be9e894038" /><Relationship Type="http://schemas.openxmlformats.org/officeDocument/2006/relationships/slide" Target="/ppt/slides/slide9.xml" Id="R0a2297bf2e974324" /><Relationship Type="http://schemas.openxmlformats.org/officeDocument/2006/relationships/slide" Target="/ppt/slides/slide10.xml" Id="R11f4da0d13974cde" /><Relationship Type="http://schemas.openxmlformats.org/officeDocument/2006/relationships/slide" Target="/ppt/slides/slide11.xml" Id="R7f5b7584a23e4123" /><Relationship Type="http://schemas.openxmlformats.org/officeDocument/2006/relationships/slide" Target="/ppt/slides/slide12.xml" Id="R14de78f6f92a45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63770de22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707dd26fc24a76" /><Relationship Type="http://schemas.openxmlformats.org/officeDocument/2006/relationships/notesMaster" Target="/ppt/notesMasters/notesMaster1.xml" Id="R630b5abcf16948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c06859ae1d46ec" /><Relationship Type="http://schemas.openxmlformats.org/officeDocument/2006/relationships/notesMaster" Target="/ppt/notesMasters/notesMaster1.xml" Id="Re7ea858f5950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437a4273d54c67" /><Relationship Type="http://schemas.openxmlformats.org/officeDocument/2006/relationships/notesMaster" Target="/ppt/notesMasters/notesMaster1.xml" Id="R0f64aaa394494f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f9bcf0df7b4b37" /><Relationship Type="http://schemas.openxmlformats.org/officeDocument/2006/relationships/notesMaster" Target="/ppt/notesMasters/notesMaster1.xml" Id="Rbea124e139fe4b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abd3d56f54760" /><Relationship Type="http://schemas.openxmlformats.org/officeDocument/2006/relationships/notesMaster" Target="/ppt/notesMasters/notesMaster1.xml" Id="R24450faf6ca846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ad5b77dd6344cc" /><Relationship Type="http://schemas.openxmlformats.org/officeDocument/2006/relationships/notesMaster" Target="/ppt/notesMasters/notesMaster1.xml" Id="R5d154e545e4241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992d1745954c34" /><Relationship Type="http://schemas.openxmlformats.org/officeDocument/2006/relationships/notesMaster" Target="/ppt/notesMasters/notesMaster1.xml" Id="Rc7a71d05e927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ed218cef50486e" /><Relationship Type="http://schemas.openxmlformats.org/officeDocument/2006/relationships/notesMaster" Target="/ppt/notesMasters/notesMaster1.xml" Id="Re8aa8d8fc7354e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3547387dc94b93" /><Relationship Type="http://schemas.openxmlformats.org/officeDocument/2006/relationships/notesMaster" Target="/ppt/notesMasters/notesMaster1.xml" Id="R085feece513d42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d922d1b9b24df4" /><Relationship Type="http://schemas.openxmlformats.org/officeDocument/2006/relationships/notesMaster" Target="/ppt/notesMasters/notesMaster1.xml" Id="R31035609bae447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c4dc1488734e0d" /><Relationship Type="http://schemas.openxmlformats.org/officeDocument/2006/relationships/notesMaster" Target="/ppt/notesMasters/notesMaster1.xml" Id="R6199fa12359a41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52c8644ce4463a" /><Relationship Type="http://schemas.openxmlformats.org/officeDocument/2006/relationships/notesMaster" Target="/ppt/notesMasters/notesMaster1.xml" Id="Rd4eadba88ff2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问题交给学员：如果要在自己的课上试用AI批改作业，你最想知道什么？本段只演示读一篇论文和检查回答，不介绍算法。告诉学员最后要留下的东西：问题、答案、原文位置和论文出处。这里的操作话术与回答为课堂示例，没有接入外部模型或伪造执行截图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英文标题和作者信息来自原PDF首页，保持原文，裁剪已记录。中文题意是课程译述。DOI就是论文的固定编号，点击会跳到出版页面。不要把AI说得像真的当作论文确实存在的证明，也不要只记录一个中文译名。来源公开、CC BY4.0。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>https://doi.org/10.1371/journal.pone.0328041</a:t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这不是检验AI知识有多广，而是确定这次阅读要回答什么。论文可能很有价值，但价值不一定与当前问题相同。请学员把自己的宽泛问题改成一句能通过原文检查的话。本页两种问法是课程示例。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可复制的提问文本，不是聊天执行截图。解释给初学者：附件提供材料，问题限定任务，原文位置方便核对，“没有找到”防止补写。不同工具界面不同，本页没有虚构一个通用上传按钮。涉及未公开或敏感材料时使用获准工具，本课用公开论文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列出的提示模板共有五部分，包括任务说明。本页把任务说明并入下方一句话，另外四项分别列出，便于看清AI拿到了什么。不要据此说模型只看一份学生答案就能照着老师的标准评分。本页是原文中文归纳，没有展示本项目实际调用模型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>https://doi.org/10.1371/journal.pone.0328041</a:t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问法是课堂解释，不是对论文问卷的逐字翻译。论文确实评价了学生对反馈的帮助感，但并未直接检验学习结果。此处暂不介绍回归或显著性，让学员先分清两个日常问题。不能由“觉得有用”直接推成“已经学会”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>https://doi.org/10.1371/journal.pone.0328041</a:t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为原文连续短语，不补写作者没有说的话。原完整句还涉及批判性思维，本节围绕学习成绩，摘出与问题直接有关的部分。纸面页码与文件页序均为2/11。本课已下载并从PDF定位这段话，位置记录在source-locations.json。给初学者演示Ctrl+F输入learning outcomes，若软件的PDF文本不能搜索，可在网页Introduction小节查找。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>https://doi.org/10.1371/journal.pone.0328041</a:t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错误句是人为编写的课堂反例，不是实际模型输出，不归咎于论文作者。让学员指出错误从哪几个字开始，再读下一句。这里的修改没有说AI一定无效，只说明这一篇论文不足以支持所写结论。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>https://doi.org/10.1371/journal.pone.0328041</a:t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这是一条已根据公开原文整理的课堂笔记，不是系统综述，也不代表读完该领域的所有论文。它同时保存问题和不支持提分结论的理由。请学员看：只保存一个AI摘要，下次很难知道结论从哪里来。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>https://doi.org/10.1371/journal.pone.0328041</a:t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两段都是课堂编写的回答示例，没有冒充真实模型运行。此处解释一个具体检查动作：点开出处，而不是笼统地说“做好核验”。工具若只显示搜索摘要，也不能自动等同于已读全文。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左侧为本课实际生成并渲染的Word文件，内容与第9页一致。文件明确标记AI辅助整理与教学用途，没有伪装成外部模型或Agent完成记录。Word只是保存形式；重要的是问题和依据没有分开。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员带一篇有权使用的论文操作。第一次练习不要求读懂所有统计，只要求把一个问题与一处真实依据对应起来。如果没有找到足够证据，就把“尚不能回答”写入笔记。讲师检查能否定位和是否写过头，不按笔记字数评分。</a:t>
            </a:r>
          </a:p>
          <a:p xmlns:a="http://schemas.openxmlformats.org/drawingml/2006/main">
            <a:r>
              <a:t>材料：公开论文与课堂操作示例。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5079383db4c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bc49c5fb74c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32e93285e44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caf520f7348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894e4687343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fa429dd3a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4EBD38-5139-4C12-AC86-13D974873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0C94BD-8855-44C8-9242-5A790420C3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5BA3B-193F-494E-9FEC-3D03F6B15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F812EA-37D6-44BD-B6BF-98D56EB72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47622A-80CB-42FC-A66B-151E78153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96EB08-9DE4-4ED5-9273-5ADFBA066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60103F-28AA-4DEB-B109-E1F09D3A8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816D33-DB72-492D-9A87-6EFF357C24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3F26CC-384D-43CF-B4C3-FC9F3CC06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492140-4AD0-495A-B05C-D9987DF8D9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418de1a92b474e" /><Relationship Type="http://schemas.openxmlformats.org/officeDocument/2006/relationships/slideLayout" Target="/ppt/slideLayouts/slideLayout1.xml" Id="R5374c87fb1594043" /><Relationship Type="http://schemas.openxmlformats.org/officeDocument/2006/relationships/slideLayout" Target="/ppt/slideLayouts/slideLayout2.xml" Id="Rc1768b577ab24fab" /><Relationship Type="http://schemas.openxmlformats.org/officeDocument/2006/relationships/slideLayout" Target="/ppt/slideLayouts/slideLayout3.xml" Id="R3c495b615c3c466b" /><Relationship Type="http://schemas.openxmlformats.org/officeDocument/2006/relationships/slideLayout" Target="/ppt/slideLayouts/slideLayout4.xml" Id="R89809ee62ce2401d" /><Relationship Type="http://schemas.openxmlformats.org/officeDocument/2006/relationships/slideLayout" Target="/ppt/slideLayouts/slideLayout5.xml" Id="Rb5ad83f0216a4f53" /><Relationship Type="http://schemas.openxmlformats.org/officeDocument/2006/relationships/slideLayout" Target="/ppt/slideLayouts/slideLayout6.xml" Id="R0273efb8b06e44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74c87fb1594043"/>
    <p:sldLayoutId xmlns:r="http://schemas.openxmlformats.org/officeDocument/2006/relationships" id="2147483650" r:id="Rc1768b577ab24fab"/>
    <p:sldLayoutId xmlns:r="http://schemas.openxmlformats.org/officeDocument/2006/relationships" id="2147483651" r:id="R3c495b615c3c466b"/>
    <p:sldLayoutId xmlns:r="http://schemas.openxmlformats.org/officeDocument/2006/relationships" id="2147483652" r:id="R89809ee62ce2401d"/>
    <p:sldLayoutId xmlns:r="http://schemas.openxmlformats.org/officeDocument/2006/relationships" id="2147483653" r:id="Rb5ad83f0216a4f53"/>
    <p:sldLayoutId xmlns:r="http://schemas.openxmlformats.org/officeDocument/2006/relationships" id="2147483654" r:id="R0273efb8b06e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df39854904ae2" /><Relationship Type="http://schemas.openxmlformats.org/officeDocument/2006/relationships/notesSlide" Target="/ppt/notesSlides/notesSlide1.xml" Id="Rf596dea844604e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0b94974e14379" /><Relationship Type="http://schemas.openxmlformats.org/officeDocument/2006/relationships/image" Target="/ppt/media/image.png" Id="R66b37f6226ad40b4" /><Relationship Type="http://schemas.openxmlformats.org/officeDocument/2006/relationships/hyperlink" Target="https://doi.org/10.1371/journal.pone.0328041" TargetMode="External" Id="R780db0e9fd234ddb" /><Relationship Type="http://schemas.openxmlformats.org/officeDocument/2006/relationships/notesSlide" Target="/ppt/notesSlides/notesSlide2.xml" Id="R7ead3100978742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a3fc0f5a548e5" /><Relationship Type="http://schemas.openxmlformats.org/officeDocument/2006/relationships/notesSlide" Target="/ppt/notesSlides/notesSlide3.xml" Id="Raa2939e966e34a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5ad46340c4c23" /><Relationship Type="http://schemas.openxmlformats.org/officeDocument/2006/relationships/notesSlide" Target="/ppt/notesSlides/notesSlide4.xml" Id="R164bd677a5834c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69dcbbe9d45cd" /><Relationship Type="http://schemas.openxmlformats.org/officeDocument/2006/relationships/notesSlide" Target="/ppt/notesSlides/notesSlide5.xml" Id="R30f6114f52ca43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9dea6d0f74f50" /><Relationship Type="http://schemas.openxmlformats.org/officeDocument/2006/relationships/notesSlide" Target="/ppt/notesSlides/notesSlide6.xml" Id="R91d09f6e977642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af64dbfb34980" /><Relationship Type="http://schemas.openxmlformats.org/officeDocument/2006/relationships/notesSlide" Target="/ppt/notesSlides/notesSlide7.xml" Id="R7458092b927443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dd707b0c249e4" /><Relationship Type="http://schemas.openxmlformats.org/officeDocument/2006/relationships/notesSlide" Target="/ppt/notesSlides/notesSlide8.xml" Id="R42667bb10bb545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4891dbcb84032" /><Relationship Type="http://schemas.openxmlformats.org/officeDocument/2006/relationships/notesSlide" Target="/ppt/notesSlides/notesSlide9.xml" Id="Rbc4f6553bea141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26c81d1374ea1" /><Relationship Type="http://schemas.openxmlformats.org/officeDocument/2006/relationships/notesSlide" Target="/ppt/notesSlides/notesSlide10.xml" Id="R1b35a47d210445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6e12afdda4293" /><Relationship Type="http://schemas.openxmlformats.org/officeDocument/2006/relationships/image" Target="/ppt/media/image2.png" Id="R3da5f714f027442d" /><Relationship Type="http://schemas.openxmlformats.org/officeDocument/2006/relationships/notesSlide" Target="/ppt/notesSlides/notesSlide11.xml" Id="Rf4eb44c84abe48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dad5492f1421f" /><Relationship Type="http://schemas.openxmlformats.org/officeDocument/2006/relationships/notesSlide" Target="/ppt/notesSlides/notesSlide12.xml" Id="R8f434ebfeaef47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D9194-5958-4A37-A44D-73963A42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拿到一篇论文，怎样让 AI 帮你读明白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398DB-6EB9-4BF4-90DC-D7E8591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F9752-347C-4370-8CE7-CD4F4FBE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课堂操作示例，提问与回答未经外部模型实测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43A36-15DA-47D9-A8D3-1E43AA23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6658D-C390-46CF-91BD-9E312618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3716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AI 帮老师批作业，</a:t>
            </a:r>
          </a:p>
          <a:p xmlns:a="http://schemas.openxmlformats.org/drawingml/2006/main">
            <a:pPr>
              <a:def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能让学生成绩提高吗？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CA5E5-EA25-4A0D-B2C1-F46806DA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343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今天带着这个问题读一篇真实论文。</a:t>
            </a:r>
          </a:p>
          <a:p xmlns:a="http://schemas.openxmlformats.org/drawingml/2006/main">
            <a: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最后留下：一句有原文依据的回答，一份能再次找到出处的笔记。</a:t>
            </a:r>
          </a:p>
        </p:txBody>
      </p:sp>
    </p:spTree>
    <p:extLst>
      <p:ext uri="{BB962C8B-B14F-4D97-AF65-F5344CB8AC3E}">
        <p14:creationId xmlns:p14="http://schemas.microsoft.com/office/powerpoint/2010/main" val="1928264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E4959-65B9-47EE-943F-E184FBB8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今天读的论文是哪一篇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3F2DC-10BA-48A5-93A8-6292F59E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99BD4-7767-49B0-852E-EE91EC29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来源：Heinrich 等，PLOS ONE（2025），10.1371/journal.pone.0328041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620A4-93D1-4E66-AE1D-81DCDA24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98862-BBAA-48A4-AC62-D45F2D1594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37f6226ad40b4"/>
          <a:stretch xmlns:a="http://schemas.openxmlformats.org/drawingml/2006/main"/>
        </p:blipFill>
        <p:spPr>
          <a:xfrm xmlns:a="http://schemas.openxmlformats.org/drawingml/2006/main">
            <a:off x="3176102" y="1952625"/>
            <a:ext cx="8887795" cy="2762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39417-F54D-4924-A625-FFEE059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中文题意：大班政治学课程中的 AI 辅助评分与个性化反馈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80D9F-AF24-4157-B0B9-192BC15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371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t>作者与年份：Heinrich 等，2025 年</a:t>
            </a:r>
            <a:br/>
            <a:r>
              <a:t>期刊：PLOS ONE</a:t>
            </a:r>
            <a:br/>
            <a:r>
              <a:t>固定编号（DOI）：</a:t>
            </a:r>
            <a:r>
              <a:rPr u="sng">
                <a:solidFill>
                  <a:srgbClr val="24675E"/>
                </a:solidFill>
                <a:hlinkClick xmlns:r="http://schemas.openxmlformats.org/officeDocument/2006/relationships" r:id="R780db0e9fd234ddb"/>
              </a:rPr>
              <a:t>10.1371/journal.pone.0328041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C2B93-1F3A-452E-9586-5F7CA615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点击固定编号可以找到这篇论文。以后核对时，要回到同一篇原文。</a:t>
            </a:r>
          </a:p>
        </p:txBody>
      </p:sp>
    </p:spTree>
    <p:extLst>
      <p:ext uri="{BB962C8B-B14F-4D97-AF65-F5344CB8AC3E}">
        <p14:creationId xmlns:p14="http://schemas.microsoft.com/office/powerpoint/2010/main" val="289954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7A317-DEE3-4BFE-9B75-E41B846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先问清楚：我想从论文里知道什么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C43B9-245E-4CF1-9BCD-C3E2C091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E7D93-0896-4C12-A5BF-C1D5B8DE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课堂操作示例，提问与回答未经外部模型实测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3151-6E01-4EED-9097-5FD77A9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1239E-B2F3-4B31-951C-886BF952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太宽的问题：AI 在教育中有什么用？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F710B-2A5D-4B1F-9349-80742BD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这篇论文有没有检查：</a:t>
            </a:r>
          </a:p>
          <a:p xmlns:a="http://schemas.openxmlformats.org/drawingml/2006/main">
            <a:pPr>
              <a:def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学生拿到 AI 评语以后，成绩是否提高？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27979-C1CD-45F0-AB07-A185B0C9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371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如果论文只研究“评语像不像老师写的”，就不能拿它证明“学生学得更好”。我们要在原文里找的是学习成绩的测量和比较。</a:t>
            </a:r>
          </a:p>
        </p:txBody>
      </p:sp>
    </p:spTree>
    <p:extLst>
      <p:ext uri="{BB962C8B-B14F-4D97-AF65-F5344CB8AC3E}">
        <p14:creationId xmlns:p14="http://schemas.microsoft.com/office/powerpoint/2010/main" val="653640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CA90B-D243-4237-8109-D5540966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把论文和这段要求一起交给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B016B-C64C-46F8-AE74-E857342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F6F03-7986-4D34-8DCB-928EED7E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课堂操作示例，提问与回答未经外部模型实测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C70C5-F117-466D-8199-547EB51E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E1DF7-18C5-49A2-9160-C869DDE1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附件：paper.pdf（这篇论文的原始 PDF）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545D2-88CF-4BF3-B2C6-1602A110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7160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请只根据附件回答：</a:t>
            </a:r>
          </a:p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这篇论文有没有检查，学生拿到 AI 评语以后成绩是否提高？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请告诉我作者实际研究了什么，并给出原文小节名和 PDF 页码。</a:t>
            </a:r>
          </a:p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找到关键句后，把它译成中文。</a:t>
            </a:r>
          </a:p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没有找到的内容请写“没有找到”，不要用其他论文或常识补充。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3E907-D9BC-43CE-B036-1C89408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770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0E42A-A38F-43D0-A1BD-7EAA8A76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能上传附件的工具就上传 PDF；只能输入文字的工具，先粘贴相关原文。只有标题时，暂不要求它判断研究结果。</a:t>
            </a:r>
          </a:p>
        </p:txBody>
      </p:sp>
    </p:spTree>
    <p:extLst>
      <p:ext uri="{BB962C8B-B14F-4D97-AF65-F5344CB8AC3E}">
        <p14:creationId xmlns:p14="http://schemas.microsoft.com/office/powerpoint/2010/main" val="130256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C8AD9-E200-441D-AD08-266F74F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先看作者到底让 AI 做了什么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7B224-0E27-4642-A25D-927949CE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02726-D075-4D7A-A070-0CA1E71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来源：Heinrich 等，PLOS ONE（2025），10.1371/journal.pone.0328041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89B23-1830-444B-8123-1CD4AD3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D17A5-188D-4F92-AE03-169C988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原文位置：Research design，PDF 第 3 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CF9F1-B4A3-450E-BB62-DB756A6C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Research design 的意思是“研究怎么做”。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9077B-D9FC-4C42-9B36-991F58FD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D4C88-62BD-413C-83F9-8F09A45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老师给出的题目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86840-5A4C-46EF-BDE3-078EB0E6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07B83-5BAF-4EB0-86D7-A6A5832F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老师的评分标准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F107B-6E03-49CA-B5D6-384EDB98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3D218-6576-4099-BAFE-ED517DE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720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老师已经批过的答案与评语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27FA7-DFB8-48CE-BE41-45540034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E5584-B7DA-4DF9-B968-8D787539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769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一份尚未批改的新答案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A257E-54F1-4B3C-9002-D2C2688C8519}"/>
              </a:ext>
            </a:extLst>
          </p:cNvPr>
          <p:cNvCxnSpPr/>
          <p:nvPr/>
        </p:nvCxnSpPr>
        <p:spPr>
          <a:xfrm xmlns:a="http://schemas.openxmlformats.org/drawingml/2006/main">
            <a:off x="8858250" y="45720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75E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DD3ED-C9E3-4F16-9F59-1112D82A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57625"/>
            <a:ext cx="3905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AI 参照这些材料，</a:t>
            </a:r>
          </a:p>
          <a:p xmlns:a="http://schemas.openxmlformats.org/drawingml/2006/main">
            <a: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给新答案打分，</a:t>
            </a:r>
          </a:p>
          <a:p xmlns:a="http://schemas.openxmlformats.org/drawingml/2006/main">
            <a: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并写出评语。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ED1AA-6317-4783-A8AF-2B7AE0E7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读到这里，我们知道它在研究辅助批改。还需要继续查，作者有没有测学生收到反馈后的学习结果。</a:t>
            </a:r>
          </a:p>
        </p:txBody>
      </p:sp>
    </p:spTree>
    <p:extLst>
      <p:ext uri="{BB962C8B-B14F-4D97-AF65-F5344CB8AC3E}">
        <p14:creationId xmlns:p14="http://schemas.microsoft.com/office/powerpoint/2010/main" val="207972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3B7FE-0D82-4C6A-A7C1-6DA2238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“觉得有帮助”和“成绩提高”怎样区分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7B3F0-4542-4EF6-9F04-3F1F2036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8B8FB-EB05-4168-8905-A63B2BC6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来源：Heinrich 等，PLOS ONE（2025），10.1371/journal.pone.0328041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699B7-6EE3-4C46-A130-8C769715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1A084-169B-4E89-A1A7-5D8132B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学生觉得评语有帮助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2F17C-A429-482F-B668-5FF0DA03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7572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问学生：这段评语对你有帮助吗？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F8779-94B1-4C10-B0B6-0B472D6D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757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回答的是学生的感受。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5DFF6-7F7E-4F5E-A135-3AC1E30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C2B03-CB90-4B0D-82EA-F5D33109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学生的学习成绩提高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FDBEC-8744-4AE6-AD75-D8121764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57675"/>
            <a:ext cx="7572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例如：比较基础相近的学生，在两种反馈后做同一测验的成绩。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20C3E-9200-42F8-80C1-886808EB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05425"/>
            <a:ext cx="757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回答的是学习结果。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A68E7-538F-4612-A89F-84D45323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6575"/>
            <a:ext cx="1371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学生可能觉得评语写得清楚，却仍然不会独立解题。读论文时，先看作者实际问了什么、测了什么，再决定结论能写到哪里。</a:t>
            </a:r>
          </a:p>
        </p:txBody>
      </p:sp>
    </p:spTree>
    <p:extLst>
      <p:ext uri="{BB962C8B-B14F-4D97-AF65-F5344CB8AC3E}">
        <p14:creationId xmlns:p14="http://schemas.microsoft.com/office/powerpoint/2010/main" val="743027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BBE62-65E8-4AB9-9E85-D76F2C8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作者在第 2 页直接说明了这一点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10476-7036-4C02-A4DF-4E647142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909E1-63B4-423E-A61C-C53CDFC0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来源：Heinrich 等，PLOS ONE（2025），10.1371/journal.pone.0328041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11269-B561-42D7-A031-7079D685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547C6-ADBD-4C07-A9A3-D31CFBC7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打开 paper.pdf，按 Ctrl+F，输入 learning outcomes。</a:t>
            </a:r>
          </a:p>
          <a:p xmlns:a="http://schemas.openxmlformats.org/drawingml/2006/main">
            <a: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在第 2 页的 Introduction（引言）中核对这句话。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9AA7F-A8D8-4660-BF03-175A408B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does not directly assess student learning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7139D-7C52-4332-802D-B4117C04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意思是：没有直接检查，学生是否学得更好。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8BD13-4FD4-4216-8057-33F81135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所以，刚才那个“成绩是否提高”的问题，这篇论文本身没有直接回答。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3A6E4-7567-4466-B1EC-9C141C38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533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AI 给出的页码和原文要亲自打开核对。能找到这句话以后，再把它记进笔记。</a:t>
            </a:r>
          </a:p>
        </p:txBody>
      </p:sp>
    </p:spTree>
    <p:extLst>
      <p:ext uri="{BB962C8B-B14F-4D97-AF65-F5344CB8AC3E}">
        <p14:creationId xmlns:p14="http://schemas.microsoft.com/office/powerpoint/2010/main" val="1189461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7E074-21B0-4387-96D3-48FA29AB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这句读书笔记，哪里写过头了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858E3-4FAC-4AA2-BFBD-789EF950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350D3-07CE-4D87-88DA-C496634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来源：Heinrich 等，PLOS ONE（2025），10.1371/journal.pone.0328041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49B3F-68F1-4CF7-A8D3-F1A7278B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5F789-60BF-4F52-9823-5292E9C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rPr>
              <a:t>写过头的句子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08316-01DD-40A7-89B6-1F67459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rPr>
              <a:t>“研究证明，AI 批作业能提高大学生学习成绩。”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D851E-42A9-4C18-B6BA-ADAAF9C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要说“成绩提高”，就要看到成绩的测量和比较。作者没有直接检验这一点。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B0B55-BB89-4996-A197-6324ED9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核对原文后可以这样写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E7985-49DD-4249-A86C-028808D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“这篇论文研究 AI 辅助评分与反馈，</a:t>
            </a:r>
          </a:p>
          <a:p xmlns:a="http://schemas.openxmlformats.org/drawingml/2006/main">
            <a:pPr>
              <a:def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不能据此判断学生的学习成绩是否提高。”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B9CE2-0060-46D6-9B8F-D5B992E8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修改后保留了这篇论文真正讨论的内容，也交代了它不能回答的问题。</a:t>
            </a:r>
          </a:p>
        </p:txBody>
      </p:sp>
    </p:spTree>
    <p:extLst>
      <p:ext uri="{BB962C8B-B14F-4D97-AF65-F5344CB8AC3E}">
        <p14:creationId xmlns:p14="http://schemas.microsoft.com/office/powerpoint/2010/main" val="2039579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8C061-4C8A-410E-8C40-C675FACE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一条下次还能找到出处的笔记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4C1D0-95F2-40E7-9960-FCE2F42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4C1B-39EF-4796-8F57-B93B0CF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来源：Heinrich 等，PLOS ONE（2025），10.1371/journal.pone.0328041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A07E9-A0B8-481B-ABCF-8723F79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C4D40-9544-40F9-A9FB-0816B7EB51AD}"/>
              </a:ext>
            </a:extLst>
          </p:cNvPr>
          <p:cNvGraphicFramePr/>
          <p:nvPr/>
        </p:nvGraphicFramePr>
        <p:xfrm>
          <a:off xmlns:a="http://schemas.openxmlformats.org/drawingml/2006/main" x="762000" y="2162175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10810875"/>
              </a:tblGrid>
              <a:tr h="10953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我问的问题</a:t>
                      </a:r>
                    </a:p>
                  </a:txBody>
                  <a:tcPr marL="190500" marR="190500" marT="171450" marB="152400" anchor="t">
                    <a:lnL w="9525">
                      <a:solidFill>
                        <a:srgbClr val="D7DDE0"/>
                      </a:solidFill>
                    </a:lnL>
                    <a:lnR w="9525">
                      <a:solidFill>
                        <a:srgbClr val="D7DDE0"/>
                      </a:solidFill>
                    </a:lnR>
                    <a:lnT w="9525">
                      <a:solidFill>
                        <a:srgbClr val="D7DDE0"/>
                      </a:solidFill>
                    </a:lnT>
                    <a:lnB w="9525">
                      <a:solidFill>
                        <a:srgbClr val="D7DDE0"/>
                      </a:solidFill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评语能让学生成绩提高吗？</a:t>
                      </a:r>
                    </a:p>
                  </a:txBody>
                  <a:tcPr marL="190500" marR="190500" marT="171450" marB="152400" anchor="t">
                    <a:lnR w="9525">
                      <a:solidFill>
                        <a:srgbClr val="D7DDE0"/>
                      </a:solidFill>
                    </a:lnR>
                    <a:lnT w="9525">
                      <a:solidFill>
                        <a:srgbClr val="D7DDE0"/>
                      </a:solidFill>
                    </a:lnT>
                    <a:lnB w="9525">
                      <a:solidFill>
                        <a:srgbClr val="D7DD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核对后的回答</a:t>
                      </a:r>
                    </a:p>
                  </a:txBody>
                  <a:tcPr marL="190500" marR="190500" marT="171450" marB="152400" anchor="t">
                    <a:lnL w="9525">
                      <a:solidFill>
                        <a:srgbClr val="D7DDE0"/>
                      </a:solidFill>
                    </a:lnL>
                    <a:lnR w="9525">
                      <a:solidFill>
                        <a:srgbClr val="D7DDE0"/>
                      </a:solidFill>
                    </a:lnR>
                    <a:lnB w="9525">
                      <a:solidFill>
                        <a:srgbClr val="D7DDE0"/>
                      </a:solidFill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作者没有直接检查学生是否学得更好，不能用这篇论文证明提分。</a:t>
                      </a:r>
                    </a:p>
                  </a:txBody>
                  <a:tcPr marL="190500" marR="190500" marT="171450" marB="152400" anchor="t">
                    <a:lnR w="9525">
                      <a:solidFill>
                        <a:srgbClr val="D7DDE0"/>
                      </a:solidFill>
                    </a:lnR>
                    <a:lnB w="9525">
                      <a:solidFill>
                        <a:srgbClr val="D7DD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原文在哪里</a:t>
                      </a:r>
                    </a:p>
                  </a:txBody>
                  <a:tcPr marL="190500" marR="190500" marT="171450" marB="152400" anchor="t">
                    <a:lnL w="9525">
                      <a:solidFill>
                        <a:srgbClr val="D7DDE0"/>
                      </a:solidFill>
                    </a:lnL>
                    <a:lnR w="9525">
                      <a:solidFill>
                        <a:srgbClr val="D7DDE0"/>
                      </a:solidFill>
                    </a:lnR>
                    <a:lnB w="9525">
                      <a:solidFill>
                        <a:srgbClr val="D7DDE0"/>
                      </a:solidFill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第 2 页，Introduction；搜索 learning outcomes。</a:t>
                      </a:r>
                    </a:p>
                  </a:txBody>
                  <a:tcPr marL="190500" marR="190500" marT="171450" marB="152400" anchor="t">
                    <a:lnR w="9525">
                      <a:solidFill>
                        <a:srgbClr val="D7DDE0"/>
                      </a:solidFill>
                    </a:lnR>
                    <a:lnB w="9525">
                      <a:solidFill>
                        <a:srgbClr val="D7DD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论文是哪篇</a:t>
                      </a:r>
                    </a:p>
                  </a:txBody>
                  <a:tcPr marL="190500" marR="190500" marT="171450" marB="152400" anchor="t">
                    <a:lnL w="9525">
                      <a:solidFill>
                        <a:srgbClr val="D7DDE0"/>
                      </a:solidFill>
                    </a:lnL>
                    <a:lnR w="9525">
                      <a:solidFill>
                        <a:srgbClr val="D7DDE0"/>
                      </a:solidFill>
                    </a:lnR>
                    <a:lnB w="9525">
                      <a:solidFill>
                        <a:srgbClr val="D7DDE0"/>
                      </a:solidFill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82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Heinrich 等，PLOS ONE，2025；固定编号 10.1371/journal.pone.0328041。</a:t>
                      </a:r>
                    </a:p>
                  </a:txBody>
                  <a:tcPr marL="190500" marR="190500" marT="171450" marB="152400" anchor="t">
                    <a:lnR w="9525">
                      <a:solidFill>
                        <a:srgbClr val="D7DDE0"/>
                      </a:solidFill>
                    </a:lnR>
                    <a:lnB w="9525">
                      <a:solidFill>
                        <a:srgbClr val="D7DD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A5ED8-D20F-4805-9927-244FD03D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以后写综述或准备课题时，先沿这条记录回到原文，再决定是否引用。</a:t>
            </a:r>
          </a:p>
        </p:txBody>
      </p:sp>
    </p:spTree>
    <p:extLst>
      <p:ext uri="{BB962C8B-B14F-4D97-AF65-F5344CB8AC3E}">
        <p14:creationId xmlns:p14="http://schemas.microsoft.com/office/powerpoint/2010/main" val="975260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ECC24-51AD-461A-95DB-E74A095E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没有读到原文时，回答应该停在哪里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6454F-2AC3-481B-981F-BD8BAE34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CBF4B-35BD-4D7A-A9FA-A5BC905C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课堂操作示例，提问与回答未经外部模型实测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00045-C477-474E-AB67-BFB9DCB4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7DED1-7BFB-4B56-B7F3-283CD36F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现在只给 AI 一条论文标题，没有正文或附件。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ACB22-9CA5-4A19-A26A-8593D857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9C3734"/>
                </a:solidFill>
                <a:latin typeface="Microsoft YaHei"/>
                <a:ea typeface="Microsoft YaHei"/>
                <a:cs typeface="Microsoft YaHei"/>
              </a:rPr>
              <a:t>不该补写：“这类研究通常能提高成绩，所以本篇也有类似结果。”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2246B-297A-4441-8C27-06502CE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716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可接受的回答：“我还没有读到这篇论文的正文，不能确认它是否测了学习成绩。请提供全文或相关段落。”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89DA4-8F09-4E9D-B01D-423E9FE6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485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即使一个工具能够联网，也要先看它是否真的打开了这篇论文，以及引用的位置能不能找到。</a:t>
            </a:r>
          </a:p>
        </p:txBody>
      </p:sp>
    </p:spTree>
    <p:extLst>
      <p:ext uri="{BB962C8B-B14F-4D97-AF65-F5344CB8AC3E}">
        <p14:creationId xmlns:p14="http://schemas.microsoft.com/office/powerpoint/2010/main" val="1761585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DE122-3ACA-46ED-9659-6F9501C1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把核对过的内容存成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120B-86E1-4EFC-B6FA-5D42F3F2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EB8B2-D3E4-48E1-9C8C-EBCFBBDB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课堂操作示例，提问与回答未经外部模型实测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B9485-163C-4747-9920-4D7C11A1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2454E-ECF8-4839-B833-A7C1714489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5f714f027442d"/>
          <a:stretch xmlns:a="http://schemas.openxmlformats.org/drawingml/2006/main"/>
        </p:blipFill>
        <p:spPr>
          <a:xfrm xmlns:a="http://schemas.openxmlformats.org/drawingml/2006/main">
            <a:off x="1229320" y="1952625"/>
            <a:ext cx="4208859" cy="5953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D135A-5A41-4F5B-A0BE-62826ABF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747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已保存：论文阅读笔记.docx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1C725-8888-42A1-B0F2-9782EC09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24275"/>
            <a:ext cx="7477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1. 问题和回答放在一起。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72BE9-07E7-4900-B813-C8694D62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7477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2. 页码、搜索词和论文编号保留下来。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4D596-31CC-435A-A079-48A945AA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57825"/>
            <a:ext cx="7477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3. 写明这篇论文还不能回答什么。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27A8A-E441-4B31-AC00-ACEF89BE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981825"/>
            <a:ext cx="7477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这里已经保存了一份可编辑的笔记。你可以把同样的四项用在自己的论文上。</a:t>
            </a:r>
          </a:p>
        </p:txBody>
      </p:sp>
    </p:spTree>
    <p:extLst>
      <p:ext uri="{BB962C8B-B14F-4D97-AF65-F5344CB8AC3E}">
        <p14:creationId xmlns:p14="http://schemas.microsoft.com/office/powerpoint/2010/main" val="9777550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73E5F-B15C-4487-A314-CBDDC09C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现在用你的一篇论文试一次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A0D96-F19E-436B-BC7C-B9203F03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DE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84CB5-6B55-4351-9AC8-CC6AA43E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课堂操作示例，提问与回答未经外部模型实测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5855C-C2AD-4C75-82FA-C7EED0AA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200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4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D5084-A49A-488A-B283-114BBACD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F394B-8889-46FF-96AC-D91DDF63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66925"/>
            <a:ext cx="1252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选一个你真的想知道的问题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7D8C8-1766-4064-AE73-9C4A7867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95575"/>
            <a:ext cx="1252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例如：作者有没有测量长期学习效果？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8B69B-D02B-4FB3-AEA8-F9F7B93D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1DC48-D66A-414C-8F32-03EB98EF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29000"/>
            <a:ext cx="1252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找到论文里对应的位置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D984A-DEDE-44BD-959E-A1627558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57650"/>
            <a:ext cx="1252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记录小节名、PDF 页码和关键句。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F266F-58C6-4397-8879-996FA116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DFE4F-19F7-4B89-ABEA-81448D41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91075"/>
            <a:ext cx="1252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写一句这篇论文能支持的话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6165A-08BE-439C-ACB8-BDA55B0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19725"/>
            <a:ext cx="1252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再写清它还不能回答什么。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0A7DC-D465-4CE5-8165-B4E10A32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1BFA6-65EE-4FAC-8F46-0A213B5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153150"/>
            <a:ext cx="1252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把问题、回答和出处放在一起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90583-E434-422F-A8C2-FC91E072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781800"/>
            <a:ext cx="1252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E3D"/>
                </a:solidFill>
                <a:latin typeface="Microsoft YaHei"/>
                <a:ea typeface="Microsoft YaHei"/>
                <a:cs typeface="Microsoft YaHei"/>
              </a:rPr>
              <a:t>让旁边的人沿你的记录找到同一句原文。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FDA55-DE76-49F1-A2D2-E7F774E9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620000"/>
            <a:ext cx="1247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675E"/>
                </a:solidFill>
                <a:latin typeface="Microsoft YaHei"/>
                <a:ea typeface="Microsoft YaHei"/>
                <a:cs typeface="Microsoft YaHei"/>
              </a:rPr>
              <a:t>找不到依据时，把“还不能回答”留在笔记里。补齐后再改。</a:t>
            </a:r>
          </a:p>
        </p:txBody>
      </p:sp>
    </p:spTree>
    <p:extLst>
      <p:ext uri="{BB962C8B-B14F-4D97-AF65-F5344CB8AC3E}">
        <p14:creationId xmlns:p14="http://schemas.microsoft.com/office/powerpoint/2010/main" val="91746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2026-10-17T03:57:36.9490000Z</dcterms:created>
  <dcterms:modified xsi:type="dcterms:W3CDTF">2026-10-17T03:57:36.9490000Z</dcterms:modified>
</coreProperties>
</file>