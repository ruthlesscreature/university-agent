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38ca8e3b974909" /><Relationship Type="http://schemas.openxmlformats.org/officeDocument/2006/relationships/extended-properties" Target="/docProps/app.xml" Id="R212364f394594a89" /><Relationship Type="http://schemas.openxmlformats.org/officeDocument/2006/relationships/officeDocument" Target="/ppt/presentation.xml" Id="Rae98e7b384924a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0b29e80274022"/>
  </p:sldMasterIdLst>
  <p:notesMasterIdLst>
    <p:notesMasterId xmlns:r="http://schemas.openxmlformats.org/officeDocument/2006/relationships" r:id="Rdbfe4aa696624a1b"/>
  </p:notesMasterIdLst>
  <p:sldIdLst>
    <p:sldId xmlns:r="http://schemas.openxmlformats.org/officeDocument/2006/relationships" id="256" r:id="Rc4b8e4bfe2174227"/>
    <p:sldId xmlns:r="http://schemas.openxmlformats.org/officeDocument/2006/relationships" id="257" r:id="Re2e5714419814780"/>
    <p:sldId xmlns:r="http://schemas.openxmlformats.org/officeDocument/2006/relationships" id="258" r:id="R2d0bbfc2a8924407"/>
    <p:sldId xmlns:r="http://schemas.openxmlformats.org/officeDocument/2006/relationships" id="259" r:id="R82da566c1ba946e3"/>
    <p:sldId xmlns:r="http://schemas.openxmlformats.org/officeDocument/2006/relationships" id="260" r:id="Re38373b864ff424a"/>
    <p:sldId xmlns:r="http://schemas.openxmlformats.org/officeDocument/2006/relationships" id="261" r:id="R725cd66defb94ed0"/>
    <p:sldId xmlns:r="http://schemas.openxmlformats.org/officeDocument/2006/relationships" id="262" r:id="R18f30fe8ed514137"/>
    <p:sldId xmlns:r="http://schemas.openxmlformats.org/officeDocument/2006/relationships" id="263" r:id="R7abf4592d25543fd"/>
    <p:sldId xmlns:r="http://schemas.openxmlformats.org/officeDocument/2006/relationships" id="264" r:id="R2b4749d401fb4a4b"/>
    <p:sldId xmlns:r="http://schemas.openxmlformats.org/officeDocument/2006/relationships" id="265" r:id="R878aa03cff934f6e"/>
    <p:sldId xmlns:r="http://schemas.openxmlformats.org/officeDocument/2006/relationships" id="266" r:id="R8ea757bf62484cc2"/>
    <p:sldId xmlns:r="http://schemas.openxmlformats.org/officeDocument/2006/relationships" id="267" r:id="R07944b724548485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e95c340f1e4682" /><Relationship Type="http://schemas.openxmlformats.org/officeDocument/2006/relationships/slideMaster" Target="/ppt/slideMasters/slideMaster1.xml" Id="R5630b29e80274022" /><Relationship Type="http://schemas.openxmlformats.org/officeDocument/2006/relationships/notesMaster" Target="/ppt/notesMasters/notesMaster1.xml" Id="Rdbfe4aa696624a1b" /><Relationship Type="http://schemas.openxmlformats.org/officeDocument/2006/relationships/presProps" Target="/ppt/presProps.xml" Id="Re4f6206a47b34f08" /><Relationship Type="http://schemas.openxmlformats.org/officeDocument/2006/relationships/tableStyles" Target="/ppt/tableStyles.xml" Id="R9fb8f255f1024a7d" /><Relationship Type="http://schemas.openxmlformats.org/officeDocument/2006/relationships/slide" Target="/ppt/slides/slide1.xml" Id="Rc4b8e4bfe2174227" /><Relationship Type="http://schemas.openxmlformats.org/officeDocument/2006/relationships/slide" Target="/ppt/slides/slide2.xml" Id="Re2e5714419814780" /><Relationship Type="http://schemas.openxmlformats.org/officeDocument/2006/relationships/slide" Target="/ppt/slides/slide3.xml" Id="R2d0bbfc2a8924407" /><Relationship Type="http://schemas.openxmlformats.org/officeDocument/2006/relationships/slide" Target="/ppt/slides/slide4.xml" Id="R82da566c1ba946e3" /><Relationship Type="http://schemas.openxmlformats.org/officeDocument/2006/relationships/slide" Target="/ppt/slides/slide5.xml" Id="Re38373b864ff424a" /><Relationship Type="http://schemas.openxmlformats.org/officeDocument/2006/relationships/slide" Target="/ppt/slides/slide6.xml" Id="R725cd66defb94ed0" /><Relationship Type="http://schemas.openxmlformats.org/officeDocument/2006/relationships/slide" Target="/ppt/slides/slide7.xml" Id="R18f30fe8ed514137" /><Relationship Type="http://schemas.openxmlformats.org/officeDocument/2006/relationships/slide" Target="/ppt/slides/slide8.xml" Id="R7abf4592d25543fd" /><Relationship Type="http://schemas.openxmlformats.org/officeDocument/2006/relationships/slide" Target="/ppt/slides/slide9.xml" Id="R2b4749d401fb4a4b" /><Relationship Type="http://schemas.openxmlformats.org/officeDocument/2006/relationships/slide" Target="/ppt/slides/slide10.xml" Id="R878aa03cff934f6e" /><Relationship Type="http://schemas.openxmlformats.org/officeDocument/2006/relationships/slide" Target="/ppt/slides/slide11.xml" Id="R8ea757bf62484cc2" /><Relationship Type="http://schemas.openxmlformats.org/officeDocument/2006/relationships/slide" Target="/ppt/slides/slide12.xml" Id="R07944b72454848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8bb6fded7648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49426e208a48d7" /><Relationship Type="http://schemas.openxmlformats.org/officeDocument/2006/relationships/notesMaster" Target="/ppt/notesMasters/notesMaster1.xml" Id="R94da0db0794340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d9d332dbaf45f2" /><Relationship Type="http://schemas.openxmlformats.org/officeDocument/2006/relationships/notesMaster" Target="/ppt/notesMasters/notesMaster1.xml" Id="Rf97a51cbde0b4b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2f05c4e92a4569" /><Relationship Type="http://schemas.openxmlformats.org/officeDocument/2006/relationships/notesMaster" Target="/ppt/notesMasters/notesMaster1.xml" Id="Rc43617393a8242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3c13b4d66b4402" /><Relationship Type="http://schemas.openxmlformats.org/officeDocument/2006/relationships/notesMaster" Target="/ppt/notesMasters/notesMaster1.xml" Id="R3ec3e123ba524b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4e2dc7cb9445aa" /><Relationship Type="http://schemas.openxmlformats.org/officeDocument/2006/relationships/notesMaster" Target="/ppt/notesMasters/notesMaster1.xml" Id="R060d03caaf284a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c1b6945b6a407b" /><Relationship Type="http://schemas.openxmlformats.org/officeDocument/2006/relationships/notesMaster" Target="/ppt/notesMasters/notesMaster1.xml" Id="R220cbcb3284642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4772c09c6b4fa8" /><Relationship Type="http://schemas.openxmlformats.org/officeDocument/2006/relationships/notesMaster" Target="/ppt/notesMasters/notesMaster1.xml" Id="Re80c62ca56fe4e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aa065309274aa1" /><Relationship Type="http://schemas.openxmlformats.org/officeDocument/2006/relationships/notesMaster" Target="/ppt/notesMasters/notesMaster1.xml" Id="R118f9f45a50e47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aafb9670354777" /><Relationship Type="http://schemas.openxmlformats.org/officeDocument/2006/relationships/notesMaster" Target="/ppt/notesMasters/notesMaster1.xml" Id="R3dc23f63a4f342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5e39dd06814486" /><Relationship Type="http://schemas.openxmlformats.org/officeDocument/2006/relationships/notesMaster" Target="/ppt/notesMasters/notesMaster1.xml" Id="Re6ecf501cbe74c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381862a2fc42fc" /><Relationship Type="http://schemas.openxmlformats.org/officeDocument/2006/relationships/notesMaster" Target="/ppt/notesMasters/notesMaster1.xml" Id="R33654a29fa3343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26817372ee43e7" /><Relationship Type="http://schemas.openxmlformats.org/officeDocument/2006/relationships/notesMaster" Target="/ppt/notesMasters/notesMaster1.xml" Id="R00ea07c082c942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本页讲解预算：2分钟，含讨论。</a:t>
            </a:r>
          </a:p>
          <a:p xmlns:a="http://schemas.openxmlformats.org/drawingml/2006/main">
            <a:r>
              <a:t>请学员先想一个自己做过的检索任务：耗时主要发生在检索、去重、初筛还是全文判断？本段只讨论题名和摘要筛选。主动学习使用人工反馈调整排序，与让大模型直接写综述是不同任务。最后要求学员交出一页研究设计工作底稿，不生成基金申请书。</a:t>
            </a:r>
          </a:p>
          <a:p xmlns:a="http://schemas.openxmlformats.org/drawingml/2006/main">
            <a:r>
              <a:t>材料属性：course-authored teaching case; no experimental results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本课程编写的教学情境、方法推演与算例。无真实实验结果。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本页讲解预算：4分钟，含讨论。</a:t>
            </a:r>
          </a:p>
          <a:p xmlns:a="http://schemas.openxmlformats.org/drawingml/2006/main">
            <a:r>
              <a:t>投影中的原文来自2026年度申请规定，印刷页16，四（二）第8项。请学员注意“人工核实”“如实声明”和不得直接生成申请书的要求。人工点击批准不能自动改变内容的来源，也不能把模型代写变成申请人本人撰写。本节的Word是内部教学工作底稿，包含待验证设计，不能当成可提交申请书。不同资助机构要求应分别核查。</a:t>
            </a:r>
          </a:p>
          <a:p xmlns:a="http://schemas.openxmlformats.org/drawingml/2006/main">
            <a:r>
              <a:t>材料属性：public-source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https://www.nsfc.gov.cn/u/cms/www/202601/190844586k0w.pdf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本页讲解预算：4分钟，含讨论。</a:t>
            </a:r>
          </a:p>
          <a:p xmlns:a="http://schemas.openxmlformats.org/drawingml/2006/main">
            <a:r>
              <a:t>官方改版消息发表于2025-12-30，适用对象明确是面上与青C。不要把三部分推广为所有类型基金的统一模板。技术路线、目标和指标仍然要讲清，但无需机械复制旧的六个独立标题。表中案例落点是课堂解释，不是基金委给出的评分标准。原项目的六节教学模板只是一份模拟文件，不能用作2026面上正式模板。</a:t>
            </a:r>
          </a:p>
          <a:p xmlns:a="http://schemas.openxmlformats.org/drawingml/2006/main">
            <a:r>
              <a:t>材料属性：public-source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https://www.nsfc.gov.cn/p1/3381/2821/99242.html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本页讲解预算：5分钟，含讨论。</a:t>
            </a:r>
          </a:p>
          <a:p xmlns:a="http://schemas.openxmlformats.org/drawingml/2006/main">
            <a:r>
              <a:t>先让学员读原稿，只问：评审能否据此判断方案成败？“显著”需要统计设计和结果支撑；拟开展研究时不能预写效果。本页改写仍不构成完整方案，还缺数据来源、纳入标准和具体比较方法，后续逐页补足。上下两段均为课程编写的示例，没有对应真实申报或结果。</a:t>
            </a:r>
          </a:p>
          <a:p xmlns:a="http://schemas.openxmlformats.org/drawingml/2006/main">
            <a:r>
              <a:t>材料属性：course-authored teaching case; no experimental results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本课程编写的教学情境、方法推演与算例。无真实实验结果。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本页讲解预算：5分钟，含讨论。</a:t>
            </a:r>
          </a:p>
          <a:p xmlns:a="http://schemas.openxmlformats.org/drawingml/2006/main">
            <a:r>
              <a:t>左图为van de Schoot等2021年论文Fig.1的主动学习循环局部，保留人工与计算机图标，未重绘。原完整图随来源材料保存。指着Screen record text和Provide label解释人的作用。完整流程在循环之后还有停止标注，停止后可能留有尚未判读的记录。不能从该图推出LLM可以自动完成综述。原文说明默认配置在实际应用中需检查。本页提出的主题差异问题只是教学选题，未完成系统查新，不宣称首次研究或方法创新。原图CC BY4.0，裁剪已标注。</a:t>
            </a:r>
          </a:p>
          <a:p xmlns:a="http://schemas.openxmlformats.org/drawingml/2006/main">
            <a:r>
              <a:t>材料属性：public-source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https://doi.org/10.1038/s42256-020-00287-7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本页讲解预算：6分钟，含讨论。</a:t>
            </a:r>
          </a:p>
          <a:p xmlns:a="http://schemas.openxmlformats.org/drawingml/2006/main">
            <a:r>
              <a:t>这是拟议离线研究设计，没有实施实验。路径A用于量化随机排序下的筛选工作，不能把它叫作所有专家人工行为的替代。多次随机顺序和不同初始标签分别构成重复来源，应按数据集汇总，并展示变异。参考标签来自独立标注与仲裁，标签也可能存在误差。评价脚本可使用全部参考答案，排序过程不能使用尚未揭示的答案。</a:t>
            </a:r>
          </a:p>
          <a:p xmlns:a="http://schemas.openxmlformats.org/drawingml/2006/main">
            <a:r>
              <a:t>材料属性：course-authored teaching case; no experimental results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本课程编写的教学情境、方法推演与算例。无真实实验结果。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本页讲解预算：5分钟，含讨论。</a:t>
            </a:r>
          </a:p>
          <a:p xmlns:a="http://schemas.openxmlformats.org/drawingml/2006/main">
            <a:r>
              <a:t>不要把95%说成通用合格线，也不要预写可节约多少人力。优先按数据集和重复运行报告分布，数据集之间是否适合合并需要额外论证。时间指标必须说明是否含人工阅读、模型运算和核对成本。漏检的影响还取决于研究内容，少数决定性研究的漏失可能改变结论。</a:t>
            </a:r>
          </a:p>
          <a:p xmlns:a="http://schemas.openxmlformats.org/drawingml/2006/main">
            <a:r>
              <a:t>材料属性：course-authored teaching case; no experimental results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本课程编写的教学情境、方法推演与算例。无真实实验结果。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本页讲解预算：6分钟，含讨论。</a:t>
            </a:r>
          </a:p>
          <a:p xmlns:a="http://schemas.openxmlformats.org/drawingml/2006/main">
            <a:r>
              <a:t>全部数字为教学设定，图中四个计数分别为95、205、5、695，合计1000。请学员先独立算95/300，再讨论为何这不是召回率。总工时还包含前期标签建立、模型配置、推断等待和复核，因此不能用条数直接代替工时。此例没有置信区间、显著性检验或实际研究结果。</a:t>
            </a:r>
          </a:p>
          <a:p xmlns:a="http://schemas.openxmlformats.org/drawingml/2006/main">
            <a:r>
              <a:t>材料属性：course-authored teaching case; no experimental results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本课程编写的教学情境、方法推演与算例。无真实实验结果。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本页讲解预算：5分钟，含讨论。</a:t>
            </a:r>
          </a:p>
          <a:p xmlns:a="http://schemas.openxmlformats.org/drawingml/2006/main">
            <a:r>
              <a:t>参考回答：不能。缺少剩余总体的相关情况、抽取方式、记录之间的依赖及规则校准证据。主动学习排序后的连续50条不是简单随机样本，不能套用普通随机抽样直觉。可研究独立审计样本或经外部验证的停止策略，但本课未验证具体策略。把这部分写成待研究的方法条件，而非给出普适保证。</a:t>
            </a:r>
          </a:p>
          <a:p xmlns:a="http://schemas.openxmlformats.org/drawingml/2006/main">
            <a:r>
              <a:t>材料属性：course-authored teaching case; no experimental results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本课程编写的教学情境、方法推演与算例。无真实实验结果。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本页讲解预算：6分钟，含讨论。</a:t>
            </a:r>
          </a:p>
          <a:p xmlns:a="http://schemas.openxmlformats.org/drawingml/2006/main">
            <a:r>
              <a:t>沿每个阶段问输入在哪里、谁作判断、输出怎样核对。箭头表达前后依赖，无法取得可用标签时就不能跳到召回评价。初始标注、调参和测试标签隔离是最容易漏写的控制条件。阶段并非固定月份承诺，真实申请需结合经费、人员及数据条件安排。右侧输出均为计划交付，不能冒充已经完成的产物。</a:t>
            </a:r>
          </a:p>
          <a:p xmlns:a="http://schemas.openxmlformats.org/drawingml/2006/main">
            <a:r>
              <a:t>材料属性：course-authored teaching case; no experimental results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本课程编写的教学情境、方法推演与算例。无真实实验结果。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本页讲解预算：5分钟，含讨论。</a:t>
            </a:r>
          </a:p>
          <a:p xmlns:a="http://schemas.openxmlformats.org/drawingml/2006/main">
            <a:r>
              <a:t>这三段是AI辅助编写的课堂说明，不是申请人本人撰写的申报正文。不要把已有软件功能改写成自己的创新点，不把拟研究的效果写成前期结果。请学员逐句问：这句话依赖哪一条来源？表示事实、假设还是计划？能否从文献定位原意？全文读后仍应补充后续文献，2021年的论文不能代表2026年研究全貌。</a:t>
            </a:r>
          </a:p>
          <a:p xmlns:a="http://schemas.openxmlformats.org/drawingml/2006/main">
            <a:r>
              <a:t>材料属性：course-authored teaching case; no experimental results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https://doi.org/10.1038/s42256-020-00287-7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本页讲解预算：5分钟，含讨论。</a:t>
            </a:r>
          </a:p>
          <a:p xmlns:a="http://schemas.openxmlformats.org/drawingml/2006/main">
            <a:r>
              <a:t>左侧为本课程实际生成的Word工作底稿页面，不是Agent执行成功截图。文档标注教学用途与AI辅助编写，包含未验证条件，不能用于基金申报。学员填写自己的内容时由本人负责研究判断与撰写。讲师检查时只要发现关键输入未落实，就把它记为开放问题，不能用润色掩盖。建议最后选一位学员用两分钟说明其对照和分母。</a:t>
            </a:r>
          </a:p>
          <a:p xmlns:a="http://schemas.openxmlformats.org/drawingml/2006/main">
            <a:r>
              <a:t>材料属性：course-authored teaching case; no experimental results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本课程编写的教学情境、方法推演与算例。无真实实验结果。</a:t>
            </a:r>
          </a:p>
          <a:p xmlns:a="http://schemas.openxmlformats.org/drawingml/2006/main">
            <a:r>
              <a:t>本课程含AI辅助编写，待讲师审阅。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bc9d516fd47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fa57b1b3147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82b55b61e48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52cba5cb24b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e985679e794b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3635ac0ab41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64489F-5246-4E9A-BE29-EF04C2F732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46DFA8-07FA-4604-AAA5-126672CAE3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1096D3-E867-46A4-BAE4-8D4FE35FE2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8FD73-1607-4007-9CCE-5A1970D02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C21757F-A205-473F-BF12-39EF85307D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11A4BC-6AE5-4244-9D3B-EFC180056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B75D28-BACC-4C23-81A3-4B76AD66FE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681182-F755-48E4-8240-D7918A3E2A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D1FE91-3ADB-45E8-B55A-31830ED5F5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686E43-5DF4-42AE-AC76-4F294984E0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f8f512fa92439f" /><Relationship Type="http://schemas.openxmlformats.org/officeDocument/2006/relationships/slideLayout" Target="/ppt/slideLayouts/slideLayout1.xml" Id="R61a1744ae7be4276" /><Relationship Type="http://schemas.openxmlformats.org/officeDocument/2006/relationships/slideLayout" Target="/ppt/slideLayouts/slideLayout2.xml" Id="R57b91eb4ebbe445f" /><Relationship Type="http://schemas.openxmlformats.org/officeDocument/2006/relationships/slideLayout" Target="/ppt/slideLayouts/slideLayout3.xml" Id="Ra788e03b3ab24c0a" /><Relationship Type="http://schemas.openxmlformats.org/officeDocument/2006/relationships/slideLayout" Target="/ppt/slideLayouts/slideLayout4.xml" Id="R59d331651c8149e1" /><Relationship Type="http://schemas.openxmlformats.org/officeDocument/2006/relationships/slideLayout" Target="/ppt/slideLayouts/slideLayout5.xml" Id="R483505e354764d96" /><Relationship Type="http://schemas.openxmlformats.org/officeDocument/2006/relationships/slideLayout" Target="/ppt/slideLayouts/slideLayout6.xml" Id="Rad241c81e8574e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a1744ae7be4276"/>
    <p:sldLayoutId xmlns:r="http://schemas.openxmlformats.org/officeDocument/2006/relationships" id="2147483650" r:id="R57b91eb4ebbe445f"/>
    <p:sldLayoutId xmlns:r="http://schemas.openxmlformats.org/officeDocument/2006/relationships" id="2147483651" r:id="Ra788e03b3ab24c0a"/>
    <p:sldLayoutId xmlns:r="http://schemas.openxmlformats.org/officeDocument/2006/relationships" id="2147483652" r:id="R59d331651c8149e1"/>
    <p:sldLayoutId xmlns:r="http://schemas.openxmlformats.org/officeDocument/2006/relationships" id="2147483653" r:id="R483505e354764d96"/>
    <p:sldLayoutId xmlns:r="http://schemas.openxmlformats.org/officeDocument/2006/relationships" id="2147483654" r:id="Rad241c81e8574e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6609ee9bb4e3a" /><Relationship Type="http://schemas.openxmlformats.org/officeDocument/2006/relationships/notesSlide" Target="/ppt/notesSlides/notesSlide1.xml" Id="R326849156cd84e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27565b342e4d7b" /><Relationship Type="http://schemas.openxmlformats.org/officeDocument/2006/relationships/image" Target="/ppt/media/image.png" Id="R9c57f1d59c9d40bb" /><Relationship Type="http://schemas.openxmlformats.org/officeDocument/2006/relationships/notesSlide" Target="/ppt/notesSlides/notesSlide2.xml" Id="R0331949830424f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3dbd18e7714daa" /><Relationship Type="http://schemas.openxmlformats.org/officeDocument/2006/relationships/notesSlide" Target="/ppt/notesSlides/notesSlide3.xml" Id="R6bf10a4f92934f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48e6c8643476b" /><Relationship Type="http://schemas.openxmlformats.org/officeDocument/2006/relationships/notesSlide" Target="/ppt/notesSlides/notesSlide4.xml" Id="R393112e8e0ef4f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9e304d9d784269" /><Relationship Type="http://schemas.openxmlformats.org/officeDocument/2006/relationships/image" Target="/ppt/media/image2.png" Id="R628091b0089d41bf" /><Relationship Type="http://schemas.openxmlformats.org/officeDocument/2006/relationships/notesSlide" Target="/ppt/notesSlides/notesSlide5.xml" Id="R9bdc6eb0ab8c43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8f6817b90b4c6e" /><Relationship Type="http://schemas.openxmlformats.org/officeDocument/2006/relationships/notesSlide" Target="/ppt/notesSlides/notesSlide6.xml" Id="R21ec564eeebd4a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c47190f2c64986" /><Relationship Type="http://schemas.openxmlformats.org/officeDocument/2006/relationships/notesSlide" Target="/ppt/notesSlides/notesSlide7.xml" Id="Rccb0c349567f4f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7e955058184415" /><Relationship Type="http://schemas.openxmlformats.org/officeDocument/2006/relationships/chart" Target="/ppt/slides/charts/chart1.xml" Id="Rb3245014b1d24b0c" /><Relationship Type="http://schemas.openxmlformats.org/officeDocument/2006/relationships/notesSlide" Target="/ppt/notesSlides/notesSlide8.xml" Id="R6fc547a2113947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fab35b5bb4c81" /><Relationship Type="http://schemas.openxmlformats.org/officeDocument/2006/relationships/notesSlide" Target="/ppt/notesSlides/notesSlide9.xml" Id="R8f2bd5836c624a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20279aaeac4df0" /><Relationship Type="http://schemas.openxmlformats.org/officeDocument/2006/relationships/notesSlide" Target="/ppt/notesSlides/notesSlide10.xml" Id="R0830ac6a00e84d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40414b6154830" /><Relationship Type="http://schemas.openxmlformats.org/officeDocument/2006/relationships/notesSlide" Target="/ppt/notesSlides/notesSlide11.xml" Id="Rd22c9968c3214c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662fdc4854445c" /><Relationship Type="http://schemas.openxmlformats.org/officeDocument/2006/relationships/image" Target="/ppt/media/image3.png" Id="Rd6c5a3c30b6e4771" /><Relationship Type="http://schemas.openxmlformats.org/officeDocument/2006/relationships/notesSlide" Target="/ppt/notesSlides/notesSlide12.xml" Id="Reefd6bcda44947d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相关</c:v>
          </c:tx>
          <c:spPr>
            <a:solidFill xmlns:a="http://schemas.openxmlformats.org/drawingml/2006/main">
              <a:srgbClr val="8D3538"/>
            </a:solidFill>
          </c:spPr>
          <c:invertIfNegative val="0"/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已筛选 300 条</c:v>
                </c:pt>
                <c:pt idx="1">
                  <c:v>未筛选 700 条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v>不相关</c:v>
          </c:tx>
          <c:spPr>
            <a:solidFill xmlns:a="http://schemas.openxmlformats.org/drawingml/2006/main">
              <a:srgbClr val="B9C7CC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已筛选 300 条</c:v>
                </c:pt>
                <c:pt idx="1">
                  <c:v>未筛选 700 条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205</c:v>
                </c:pt>
                <c:pt idx="1">
                  <c:v>695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75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2E6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latin typeface="Microsoft YaHei"/>
                    <a:ea typeface="Microsoft YaHei"/>
                    <a:cs typeface="Microsoft YaHei"/>
                  </a:rPr>
                  <a:t>记录数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I 辅助文献筛选的研究设计">
            <a:extLst xmlns:a="http://schemas.openxmlformats.org/drawingml/2006/main">
              <a:ext uri="{FF2B5EF4-FFF2-40B4-BE49-F238E27FC236}">
                <a16:creationId xmlns:a16="http://schemas.microsoft.com/office/drawing/2014/main" id="{EC721801-5BB8-4F4C-8061-6DB86430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AI 辅助文献筛选的研究设计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D0E23-C6E5-41DF-A814-57BB0A7C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课堂研究设计案例，无实测结果">
            <a:extLst xmlns:a="http://schemas.openxmlformats.org/drawingml/2006/main">
              <a:ext uri="{FF2B5EF4-FFF2-40B4-BE49-F238E27FC236}">
                <a16:creationId xmlns:a16="http://schemas.microsoft.com/office/drawing/2014/main" id="{F40BE0B1-7AA0-44D1-97D5-29693F44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课堂研究设计案例，无实测结果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A4D4ED44-3813-4BC3-8EAF-4F8156EE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文献更快排到前面以后，&#10;怎样知道关键证据没有漏掉？">
            <a:extLst xmlns:a="http://schemas.openxmlformats.org/drawingml/2006/main">
              <a:ext uri="{FF2B5EF4-FFF2-40B4-BE49-F238E27FC236}">
                <a16:creationId xmlns:a16="http://schemas.microsoft.com/office/drawing/2014/main" id="{D0743AB1-84D2-4F15-9ABC-336FA9C7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3620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文献更快排到前面以后，</a:t>
            </a:r>
          </a:p>
          <a:p xmlns:a="http://schemas.openxmlformats.org/drawingml/2006/main">
            <a:pPr>
              <a:def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怎样知道关键证据没有漏掉？</a:t>
            </a:r>
          </a:p>
        </p:txBody>
      </p:sp>
      <p:sp>
        <p:nvSpPr>
          <p:cNvPr id="6" name="贯穿案例：主动学习辅助题名与摘要筛选&#10;讨论对象：研究问题、比">
            <a:extLst xmlns:a="http://schemas.openxmlformats.org/drawingml/2006/main">
              <a:ext uri="{FF2B5EF4-FFF2-40B4-BE49-F238E27FC236}">
                <a16:creationId xmlns:a16="http://schemas.microsoft.com/office/drawing/2014/main" id="{E2AA7553-950D-47DF-88C8-CA8ED15D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53075"/>
            <a:ext cx="1333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贯穿案例：主动学习辅助题名与摘要筛选</a:t>
            </a:r>
          </a:p>
          <a:p xmlns:a="http://schemas.openxmlformats.org/drawingml/2006/main">
            <a:pPr>
              <a:def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讨论对象：研究问题、比较设计、停止规则与来源核对</a:t>
            </a:r>
          </a:p>
        </p:txBody>
      </p:sp>
      <p:sp>
        <p:nvSpPr>
          <p:cNvPr id="7" name="基金申报中的研究论证与 AI 辅助核查">
            <a:extLst xmlns:a="http://schemas.openxmlformats.org/drawingml/2006/main">
              <a:ext uri="{FF2B5EF4-FFF2-40B4-BE49-F238E27FC236}">
                <a16:creationId xmlns:a16="http://schemas.microsoft.com/office/drawing/2014/main" id="{56A6B5D2-2338-4858-8197-AC73CAB1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172325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基金申报中的研究论证与 AI 辅助核查</a:t>
            </a:r>
          </a:p>
        </p:txBody>
      </p:sp>
    </p:spTree>
    <p:extLst>
      <p:ext uri="{BB962C8B-B14F-4D97-AF65-F5344CB8AC3E}">
        <p14:creationId xmlns:p14="http://schemas.microsoft.com/office/powerpoint/2010/main" val="1928006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基金申请中的 AI 使用规定">
            <a:extLst xmlns:a="http://schemas.openxmlformats.org/drawingml/2006/main">
              <a:ext uri="{FF2B5EF4-FFF2-40B4-BE49-F238E27FC236}">
                <a16:creationId xmlns:a16="http://schemas.microsoft.com/office/drawing/2014/main" id="{114F080D-D31E-4FAB-9B53-EE2BC5D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基金申请中的 AI 使用规定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5F424-625E-4B47-BB8F-CE6B0BBF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来源：2026 年度国家自然科学基金项目指南，申请规定第 1">
            <a:extLst xmlns:a="http://schemas.openxmlformats.org/drawingml/2006/main">
              <a:ext uri="{FF2B5EF4-FFF2-40B4-BE49-F238E27FC236}">
                <a16:creationId xmlns:a16="http://schemas.microsoft.com/office/drawing/2014/main" id="{634A61E4-E6A5-4F20-BF58-F68BF3FE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来源：2026 年度国家自然科学基金项目指南，申请规定第 16 页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F6E361BD-DB17-4BC2-A968-56827EB4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78C66-3828-4CA0-AA36-B3A00FED6B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7f1d59c9d40bb"/>
          <a:stretch xmlns:a="http://schemas.openxmlformats.org/drawingml/2006/main"/>
        </p:blipFill>
        <p:spPr>
          <a:xfrm xmlns:a="http://schemas.openxmlformats.org/drawingml/2006/main">
            <a:off x="781050" y="1955650"/>
            <a:ext cx="13668375" cy="2613325"/>
          </a:xfrm>
          <a:prstGeom xmlns:a="http://schemas.openxmlformats.org/drawingml/2006/main" prst="rect">
            <a:avLst/>
          </a:prstGeom>
        </p:spPr>
      </p:pic>
      <p:sp>
        <p:nvSpPr>
          <p:cNvPr id="6" name="材料整理与核实">
            <a:extLst xmlns:a="http://schemas.openxmlformats.org/drawingml/2006/main">
              <a:ext uri="{FF2B5EF4-FFF2-40B4-BE49-F238E27FC236}">
                <a16:creationId xmlns:a16="http://schemas.microsoft.com/office/drawing/2014/main" id="{7ED4B856-B63E-4DA5-8238-03A44E27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材料整理与核实</a:t>
            </a:r>
          </a:p>
        </p:txBody>
      </p:sp>
      <p:sp>
        <p:nvSpPr>
          <p:cNvPr id="7" name="借助 AI 跟踪动态、整理参考文献后，申请人仍须逐项核实真实">
            <a:extLst xmlns:a="http://schemas.openxmlformats.org/drawingml/2006/main">
              <a:ext uri="{FF2B5EF4-FFF2-40B4-BE49-F238E27FC236}">
                <a16:creationId xmlns:a16="http://schemas.microsoft.com/office/drawing/2014/main" id="{8C17EEC8-43C4-4BF4-A9D9-561FCB4A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053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借助 AI 跟踪动态、整理参考文献后，申请人仍须逐项核实真实性与准确性，并如实声明使用情况。</a:t>
            </a:r>
          </a:p>
        </p:txBody>
      </p:sp>
      <p:sp>
        <p:nvSpPr>
          <p:cNvPr id="8" name="本节课的操作范围">
            <a:extLst xmlns:a="http://schemas.openxmlformats.org/drawingml/2006/main">
              <a:ext uri="{FF2B5EF4-FFF2-40B4-BE49-F238E27FC236}">
                <a16:creationId xmlns:a16="http://schemas.microsoft.com/office/drawing/2014/main" id="{16DEF0A1-AE3B-4FF3-85FF-FA363B45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9775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本节课的操作范围</a:t>
            </a:r>
          </a:p>
        </p:txBody>
      </p:sp>
      <p:sp>
        <p:nvSpPr>
          <p:cNvPr id="9" name="读取公开规定，核对来源，检查研究设计。研究者本人形成学术判断">
            <a:extLst xmlns:a="http://schemas.openxmlformats.org/drawingml/2006/main">
              <a:ext uri="{FF2B5EF4-FFF2-40B4-BE49-F238E27FC236}">
                <a16:creationId xmlns:a16="http://schemas.microsoft.com/office/drawing/2014/main" id="{79F1081C-16AF-4F54-B3BD-4FE953CF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197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读取公开规定，核对来源，检查研究设计。研究者本人形成学术判断与申请书正文。</a:t>
            </a:r>
          </a:p>
        </p:txBody>
      </p:sp>
      <p:sp>
        <p:nvSpPr>
          <p:cNvPr id="10" name="Word 文件的用途">
            <a:extLst xmlns:a="http://schemas.openxmlformats.org/drawingml/2006/main">
              <a:ext uri="{FF2B5EF4-FFF2-40B4-BE49-F238E27FC236}">
                <a16:creationId xmlns:a16="http://schemas.microsoft.com/office/drawing/2014/main" id="{59FA72DD-8E5D-4E7A-8B9F-0E59F68C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734175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Word 文件的用途</a:t>
            </a:r>
          </a:p>
        </p:txBody>
      </p:sp>
      <p:sp>
        <p:nvSpPr>
          <p:cNvPr id="11" name="把已确认的材料整理成研究设计工作底稿。不得将 AI 直接生成">
            <a:extLst xmlns:a="http://schemas.openxmlformats.org/drawingml/2006/main">
              <a:ext uri="{FF2B5EF4-FFF2-40B4-BE49-F238E27FC236}">
                <a16:creationId xmlns:a16="http://schemas.microsoft.com/office/drawing/2014/main" id="{3B1E7D0B-87ED-4F33-B201-DD7EEAE0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7341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把已确认的材料整理成研究设计工作底稿。不得将 AI 直接生成的申请书用于申报。</a:t>
            </a:r>
          </a:p>
        </p:txBody>
      </p:sp>
    </p:spTree>
    <p:extLst>
      <p:ext uri="{BB962C8B-B14F-4D97-AF65-F5344CB8AC3E}">
        <p14:creationId xmlns:p14="http://schemas.microsoft.com/office/powerpoint/2010/main" val="16347568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2026 年正文结构与研究论证">
            <a:extLst xmlns:a="http://schemas.openxmlformats.org/drawingml/2006/main">
              <a:ext uri="{FF2B5EF4-FFF2-40B4-BE49-F238E27FC236}">
                <a16:creationId xmlns:a16="http://schemas.microsoft.com/office/drawing/2014/main" id="{7A932B65-B542-42E1-9631-91E3478B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2026 年正文结构与研究论证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9E158-917B-4E2C-B6B9-21A402BD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来源：国家自然科学基金委《关注！！！2026 年申请书改版》">
            <a:extLst xmlns:a="http://schemas.openxmlformats.org/drawingml/2006/main">
              <a:ext uri="{FF2B5EF4-FFF2-40B4-BE49-F238E27FC236}">
                <a16:creationId xmlns:a16="http://schemas.microsoft.com/office/drawing/2014/main" id="{33F4E2C9-457A-4C75-8B41-7F33E0DB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来源：国家自然科学基金委《关注！！！2026 年申请书改版》，2025-12-30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3834524F-0CC4-487A-8151-99C5E145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DA30620E-98AC-41F8-BEDF-3EF94D89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80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立项依据">
            <a:extLst xmlns:a="http://schemas.openxmlformats.org/drawingml/2006/main">
              <a:ext uri="{FF2B5EF4-FFF2-40B4-BE49-F238E27FC236}">
                <a16:creationId xmlns:a16="http://schemas.microsoft.com/office/drawing/2014/main" id="{83FE7EE2-F802-43ED-B7AC-FA6FB950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955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立项依据</a:t>
            </a:r>
          </a:p>
        </p:txBody>
      </p:sp>
      <p:sp>
        <p:nvSpPr>
          <p:cNvPr id="7" name="已有方法解决到哪里？&#10;本研究还需要回答什么？">
            <a:extLst xmlns:a="http://schemas.openxmlformats.org/drawingml/2006/main">
              <a:ext uri="{FF2B5EF4-FFF2-40B4-BE49-F238E27FC236}">
                <a16:creationId xmlns:a16="http://schemas.microsoft.com/office/drawing/2014/main" id="{B7ABFF59-712F-415D-9AF3-84C62DF5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已有方法解决到哪里？</a:t>
            </a:r>
          </a:p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本研究还需要回答什么？</a:t>
            </a:r>
          </a:p>
        </p:txBody>
      </p:sp>
      <p:sp>
        <p:nvSpPr>
          <p:cNvPr id="8" name="辅助排序在何种情境下会漏检，是否有可检验的解释。">
            <a:extLst xmlns:a="http://schemas.openxmlformats.org/drawingml/2006/main">
              <a:ext uri="{FF2B5EF4-FFF2-40B4-BE49-F238E27FC236}">
                <a16:creationId xmlns:a16="http://schemas.microsoft.com/office/drawing/2014/main" id="{803771CE-D7F2-4319-AED5-C9235D31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辅助排序在何种情境下会漏检，是否有可检验的解释。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E2CE7-0995-40C4-AA7A-855E0FCF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44805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</a:ln>
        </p:spPr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7A45908A-1AE8-4598-A6F5-56F17759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80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研究内容">
            <a:extLst xmlns:a="http://schemas.openxmlformats.org/drawingml/2006/main">
              <a:ext uri="{FF2B5EF4-FFF2-40B4-BE49-F238E27FC236}">
                <a16:creationId xmlns:a16="http://schemas.microsoft.com/office/drawing/2014/main" id="{08B45E6A-2AD5-4BD2-8114-4A8E2EE3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74332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研究内容</a:t>
            </a:r>
          </a:p>
        </p:txBody>
      </p:sp>
      <p:sp>
        <p:nvSpPr>
          <p:cNvPr id="12" name="通过哪些比较和观测&#10;回答这个问题？">
            <a:extLst xmlns:a="http://schemas.openxmlformats.org/drawingml/2006/main">
              <a:ext uri="{FF2B5EF4-FFF2-40B4-BE49-F238E27FC236}">
                <a16:creationId xmlns:a16="http://schemas.microsoft.com/office/drawing/2014/main" id="{D2D03D37-04E3-411A-822F-5715A533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433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通过哪些比较和观测</a:t>
            </a:r>
          </a:p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回答这个问题？</a:t>
            </a:r>
          </a:p>
        </p:txBody>
      </p:sp>
      <p:sp>
        <p:nvSpPr>
          <p:cNvPr id="13" name="固定参考集、对照方法与停止规则，评价召回和筛选量。">
            <a:extLst xmlns:a="http://schemas.openxmlformats.org/drawingml/2006/main">
              <a:ext uri="{FF2B5EF4-FFF2-40B4-BE49-F238E27FC236}">
                <a16:creationId xmlns:a16="http://schemas.microsoft.com/office/drawing/2014/main" id="{7470C4E0-7DB1-4748-BA8B-FAE51E59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43325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固定参考集、对照方法与停止规则，评价召回和筛选量。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EC253-9096-4C51-80E6-B91A7579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55D76763-DCEB-4C57-BE84-5B6B4917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809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研究基础">
            <a:extLst xmlns:a="http://schemas.openxmlformats.org/drawingml/2006/main">
              <a:ext uri="{FF2B5EF4-FFF2-40B4-BE49-F238E27FC236}">
                <a16:creationId xmlns:a16="http://schemas.microsoft.com/office/drawing/2014/main" id="{FC5722A2-F952-46EF-A50A-1C194416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911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研究基础</a:t>
            </a:r>
          </a:p>
        </p:txBody>
      </p:sp>
      <p:sp>
        <p:nvSpPr>
          <p:cNvPr id="17" name="哪些前期工作能够&#10;支撑这项设计？">
            <a:extLst xmlns:a="http://schemas.openxmlformats.org/drawingml/2006/main">
              <a:ext uri="{FF2B5EF4-FFF2-40B4-BE49-F238E27FC236}">
                <a16:creationId xmlns:a16="http://schemas.microsoft.com/office/drawing/2014/main" id="{EDB66145-7166-4991-888C-34940FC1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9115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哪些前期工作能够</a:t>
            </a:r>
          </a:p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支撑这项设计？</a:t>
            </a:r>
          </a:p>
        </p:txBody>
      </p:sp>
      <p:sp>
        <p:nvSpPr>
          <p:cNvPr id="18" name="如实提供可用数据、标注经验和代码；缺失条件列入风险。">
            <a:extLst xmlns:a="http://schemas.openxmlformats.org/drawingml/2006/main">
              <a:ext uri="{FF2B5EF4-FFF2-40B4-BE49-F238E27FC236}">
                <a16:creationId xmlns:a16="http://schemas.microsoft.com/office/drawing/2014/main" id="{678437D6-9852-4AC4-AAC8-01F25E36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9115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如实提供可用数据、标注经验和代码；缺失条件列入风险。</a:t>
            </a:r>
          </a:p>
        </p:txBody>
      </p:sp>
      <p:sp>
        <p:nvSpPr>
          <p:cNvPr id="19" name="面上项目、青年科学基金项目（C 类）正文调整为三部分，篇幅原">
            <a:extLst xmlns:a="http://schemas.openxmlformats.org/drawingml/2006/main">
              <a:ext uri="{FF2B5EF4-FFF2-40B4-BE49-F238E27FC236}">
                <a16:creationId xmlns:a16="http://schemas.microsoft.com/office/drawing/2014/main" id="{51B77269-BA4F-413B-83FD-AD70BE11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229475"/>
            <a:ext cx="1252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面上项目、青年科学基金项目（C 类）正文调整为三部分，篇幅原则上不超过 30 页。研究内容可依研究逻辑自主组织。</a:t>
            </a:r>
          </a:p>
        </p:txBody>
      </p:sp>
    </p:spTree>
    <p:extLst>
      <p:ext uri="{BB962C8B-B14F-4D97-AF65-F5344CB8AC3E}">
        <p14:creationId xmlns:p14="http://schemas.microsoft.com/office/powerpoint/2010/main" val="44495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“提高筛选效率”还缺少哪些条件">
            <a:extLst xmlns:a="http://schemas.openxmlformats.org/drawingml/2006/main">
              <a:ext uri="{FF2B5EF4-FFF2-40B4-BE49-F238E27FC236}">
                <a16:creationId xmlns:a16="http://schemas.microsoft.com/office/drawing/2014/main" id="{FA87B070-4B7A-4C57-88BA-D97E7326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“提高筛选效率”还缺少哪些条件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232B4-B499-4793-860A-88FB9C2E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课堂研究设计案例，无实测结果">
            <a:extLst xmlns:a="http://schemas.openxmlformats.org/drawingml/2006/main">
              <a:ext uri="{FF2B5EF4-FFF2-40B4-BE49-F238E27FC236}">
                <a16:creationId xmlns:a16="http://schemas.microsoft.com/office/drawing/2014/main" id="{0D2FC659-E543-4338-B345-AD91E7A7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课堂研究设计案例，无实测结果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90E9FD0E-02FE-4C24-BB47-95EC93F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原稿">
            <a:extLst xmlns:a="http://schemas.openxmlformats.org/drawingml/2006/main">
              <a:ext uri="{FF2B5EF4-FFF2-40B4-BE49-F238E27FC236}">
                <a16:creationId xmlns:a16="http://schemas.microsoft.com/office/drawing/2014/main" id="{CE5AF411-42CE-4481-8C8C-057BE27B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原稿</a:t>
            </a:r>
          </a:p>
        </p:txBody>
      </p:sp>
      <p:sp>
        <p:nvSpPr>
          <p:cNvPr id="6" name="本项目拟构建智能文献筛选系统，①显著提升筛选效率，②保证筛选">
            <a:extLst xmlns:a="http://schemas.openxmlformats.org/drawingml/2006/main">
              <a:ext uri="{FF2B5EF4-FFF2-40B4-BE49-F238E27FC236}">
                <a16:creationId xmlns:a16="http://schemas.microsoft.com/office/drawing/2014/main" id="{C3470E3B-CAE4-4415-B61B-A0EF4FC5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8715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本项目拟构建智能文献筛选系统，</a:t>
            </a:r>
            <a:r>
              <a:rPr u="sng">
                <a:solidFill>
                  <a:srgbClr val="8D3538"/>
                </a:solidFill>
              </a:rPr>
              <a:t>①显著提升筛选效率，</a:t>
            </a:r>
            <a:r>
              <a:rPr u="sng">
                <a:solidFill>
                  <a:srgbClr val="8D3538"/>
                </a:solidFill>
              </a:rPr>
              <a:t>②保证筛选准确性，</a:t>
            </a:r>
            <a:r>
              <a:rPr u="sng">
                <a:solidFill>
                  <a:srgbClr val="8D3538"/>
                </a:solidFill>
              </a:rPr>
              <a:t>③形成可推广的方法，</a:t>
            </a:r>
            <a:r>
              <a:rPr u="sng">
                <a:solidFill>
                  <a:srgbClr val="8D3538"/>
                </a:solidFill>
              </a:rPr>
              <a:t>④为科研工作提供有力支撑。</a:t>
            </a:r>
          </a:p>
        </p:txBody>
      </p:sp>
      <p:sp>
        <p:nvSpPr>
          <p:cNvPr id="7" name="① 与谁相比">
            <a:extLst xmlns:a="http://schemas.openxmlformats.org/drawingml/2006/main">
              <a:ext uri="{FF2B5EF4-FFF2-40B4-BE49-F238E27FC236}">
                <a16:creationId xmlns:a16="http://schemas.microsoft.com/office/drawing/2014/main" id="{9BFD6970-D25E-485E-927F-EB65D845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57400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① 与谁相比</a:t>
            </a:r>
          </a:p>
        </p:txBody>
      </p:sp>
      <p:sp>
        <p:nvSpPr>
          <p:cNvPr id="8" name="人工顺序筛选，还是&#10;已有主动学习方法？">
            <a:extLst xmlns:a="http://schemas.openxmlformats.org/drawingml/2006/main">
              <a:ext uri="{FF2B5EF4-FFF2-40B4-BE49-F238E27FC236}">
                <a16:creationId xmlns:a16="http://schemas.microsoft.com/office/drawing/2014/main" id="{42414B72-3231-4632-AE21-C36302ED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66975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人工顺序筛选，还是</a:t>
            </a:r>
          </a:p>
          <a:p xmlns:a="http://schemas.openxmlformats.org/drawingml/2006/main">
            <a: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已有主动学习方法？</a:t>
            </a:r>
          </a:p>
        </p:txBody>
      </p:sp>
      <p:sp>
        <p:nvSpPr>
          <p:cNvPr id="9" name="② 怎样算准确">
            <a:extLst xmlns:a="http://schemas.openxmlformats.org/drawingml/2006/main">
              <a:ext uri="{FF2B5EF4-FFF2-40B4-BE49-F238E27FC236}">
                <a16:creationId xmlns:a16="http://schemas.microsoft.com/office/drawing/2014/main" id="{70370017-9257-411A-AA59-081FA7A9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90875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② 怎样算准确</a:t>
            </a:r>
          </a:p>
        </p:txBody>
      </p:sp>
      <p:sp>
        <p:nvSpPr>
          <p:cNvPr id="10" name="漏掉了多少相关研究？&#10;分母是什么？">
            <a:extLst xmlns:a="http://schemas.openxmlformats.org/drawingml/2006/main">
              <a:ext uri="{FF2B5EF4-FFF2-40B4-BE49-F238E27FC236}">
                <a16:creationId xmlns:a16="http://schemas.microsoft.com/office/drawing/2014/main" id="{A68B0B92-5F95-42B8-A3D0-17AC44C3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00450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漏掉了多少相关研究？</a:t>
            </a:r>
          </a:p>
          <a:p xmlns:a="http://schemas.openxmlformats.org/drawingml/2006/main">
            <a: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分母是什么？</a:t>
            </a:r>
          </a:p>
        </p:txBody>
      </p:sp>
      <p:sp>
        <p:nvSpPr>
          <p:cNvPr id="11" name="③ 推广到哪里">
            <a:extLst xmlns:a="http://schemas.openxmlformats.org/drawingml/2006/main">
              <a:ext uri="{FF2B5EF4-FFF2-40B4-BE49-F238E27FC236}">
                <a16:creationId xmlns:a16="http://schemas.microsoft.com/office/drawing/2014/main" id="{EBB27250-85B7-4137-9101-8BA462C5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24350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③ 推广到哪里</a:t>
            </a:r>
          </a:p>
        </p:txBody>
      </p:sp>
      <p:sp>
        <p:nvSpPr>
          <p:cNvPr id="12" name="哪个学科？摘要是否完整？&#10;任务难度是否相同？">
            <a:extLst xmlns:a="http://schemas.openxmlformats.org/drawingml/2006/main">
              <a:ext uri="{FF2B5EF4-FFF2-40B4-BE49-F238E27FC236}">
                <a16:creationId xmlns:a16="http://schemas.microsoft.com/office/drawing/2014/main" id="{4CE3C934-86EF-4D41-9BF0-7C644720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33925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哪个学科？摘要是否完整？</a:t>
            </a:r>
          </a:p>
          <a:p xmlns:a="http://schemas.openxmlformats.org/drawingml/2006/main">
            <a: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任务难度是否相同？</a:t>
            </a:r>
          </a:p>
        </p:txBody>
      </p:sp>
      <p:sp>
        <p:nvSpPr>
          <p:cNvPr id="13" name="④ 产出如何检验">
            <a:extLst xmlns:a="http://schemas.openxmlformats.org/drawingml/2006/main">
              <a:ext uri="{FF2B5EF4-FFF2-40B4-BE49-F238E27FC236}">
                <a16:creationId xmlns:a16="http://schemas.microsoft.com/office/drawing/2014/main" id="{E20665F2-1DB2-424F-B09F-148B353D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57825"/>
            <a:ext cx="4143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④ 产出如何检验</a:t>
            </a:r>
          </a:p>
        </p:txBody>
      </p:sp>
      <p:sp>
        <p:nvSpPr>
          <p:cNvPr id="14" name="使用什么输入？&#10;谁能重复得到哪些结果？">
            <a:extLst xmlns:a="http://schemas.openxmlformats.org/drawingml/2006/main">
              <a:ext uri="{FF2B5EF4-FFF2-40B4-BE49-F238E27FC236}">
                <a16:creationId xmlns:a16="http://schemas.microsoft.com/office/drawing/2014/main" id="{44D72F48-F031-4986-B48C-1A454A71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867400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使用什么输入？</a:t>
            </a:r>
          </a:p>
          <a:p xmlns:a="http://schemas.openxmlformats.org/drawingml/2006/main">
            <a:pPr>
              <a:def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谁能重复得到哪些结果？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608BA-A09B-4236-A4C5-13F2E863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</a:ln>
        </p:spPr>
      </p:sp>
      <p:sp>
        <p:nvSpPr>
          <p:cNvPr id="16" name="可检验的表述：在具有独立纳入标签的文献集合上，比较固定停止规">
            <a:extLst xmlns:a="http://schemas.openxmlformats.org/drawingml/2006/main">
              <a:ext uri="{FF2B5EF4-FFF2-40B4-BE49-F238E27FC236}">
                <a16:creationId xmlns:a16="http://schemas.microsoft.com/office/drawing/2014/main" id="{E8EB6A02-3905-4A13-98BB-FD95B979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可检验的表述：在具有独立纳入标签的文献集合上，比较固定停止规则下的召回率与筛选量，并按主题和摘要完整度分析漏检记录。</a:t>
            </a:r>
          </a:p>
        </p:txBody>
      </p:sp>
    </p:spTree>
    <p:extLst>
      <p:ext uri="{BB962C8B-B14F-4D97-AF65-F5344CB8AC3E}">
        <p14:creationId xmlns:p14="http://schemas.microsoft.com/office/powerpoint/2010/main" val="1742344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SReview 的人工反馈循环">
            <a:extLst xmlns:a="http://schemas.openxmlformats.org/drawingml/2006/main">
              <a:ext uri="{FF2B5EF4-FFF2-40B4-BE49-F238E27FC236}">
                <a16:creationId xmlns:a16="http://schemas.microsoft.com/office/drawing/2014/main" id="{437BE9E0-4707-43ED-8F08-DE808AA5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ASReview 的人工反馈循环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88A53-0693-4D1B-B910-386AE068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van de Schoot et al. (2021), F">
            <a:extLst xmlns:a="http://schemas.openxmlformats.org/drawingml/2006/main">
              <a:ext uri="{FF2B5EF4-FFF2-40B4-BE49-F238E27FC236}">
                <a16:creationId xmlns:a16="http://schemas.microsoft.com/office/drawing/2014/main" id="{441CE3F7-1789-43A3-884E-BBB7C881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van de Schoot et al. (2021), Fig. 1. DOI: 10.1038/s42256-020-00287-7. CC BY 4.0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C35B7239-1576-42F7-A9DC-F41F9231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人工判读与标签反馈（原图局部）">
            <a:extLst xmlns:a="http://schemas.openxmlformats.org/drawingml/2006/main">
              <a:ext uri="{FF2B5EF4-FFF2-40B4-BE49-F238E27FC236}">
                <a16:creationId xmlns:a16="http://schemas.microsoft.com/office/drawing/2014/main" id="{479053E3-AAF8-4121-B781-FAA67D12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人工判读与标签反馈（原图局部）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F5572-5EE3-4ECE-B060-A18F4FC13B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091b0089d41bf"/>
          <a:stretch xmlns:a="http://schemas.openxmlformats.org/drawingml/2006/main"/>
        </p:blipFill>
        <p:spPr>
          <a:xfrm xmlns:a="http://schemas.openxmlformats.org/drawingml/2006/main">
            <a:off x="1033764" y="2571750"/>
            <a:ext cx="7552721" cy="5191125"/>
          </a:xfrm>
          <a:prstGeom xmlns:a="http://schemas.openxmlformats.org/drawingml/2006/main" prst="rect">
            <a:avLst/>
          </a:prstGeom>
        </p:spPr>
      </p:pic>
      <p:sp>
        <p:nvSpPr>
          <p:cNvPr id="7" name="模型决定下一条先看什么">
            <a:extLst xmlns:a="http://schemas.openxmlformats.org/drawingml/2006/main">
              <a:ext uri="{FF2B5EF4-FFF2-40B4-BE49-F238E27FC236}">
                <a16:creationId xmlns:a16="http://schemas.microsoft.com/office/drawing/2014/main" id="{F3EDB223-C7F0-45E9-86DC-785082D8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模型决定下一条先看什么</a:t>
            </a:r>
          </a:p>
        </p:txBody>
      </p:sp>
      <p:sp>
        <p:nvSpPr>
          <p:cNvPr id="8" name="软件根据既有标签更新排序，呈现下一条记录。筛选者作出相关性判">
            <a:extLst xmlns:a="http://schemas.openxmlformats.org/drawingml/2006/main">
              <a:ext uri="{FF2B5EF4-FFF2-40B4-BE49-F238E27FC236}">
                <a16:creationId xmlns:a16="http://schemas.microsoft.com/office/drawing/2014/main" id="{9EC0B449-1024-4DDD-BFDF-C9A6C089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7652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软件根据既有标签更新排序，呈现下一条记录。筛选者作出相关性判断。</a:t>
            </a:r>
          </a:p>
        </p:txBody>
      </p:sp>
      <p:sp>
        <p:nvSpPr>
          <p:cNvPr id="9" name="停止时仍可能有未判读记录">
            <a:extLst xmlns:a="http://schemas.openxmlformats.org/drawingml/2006/main">
              <a:ext uri="{FF2B5EF4-FFF2-40B4-BE49-F238E27FC236}">
                <a16:creationId xmlns:a16="http://schemas.microsoft.com/office/drawing/2014/main" id="{5717207A-BDC9-426B-B011-FDDE4D4C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停止时仍可能有未判读记录</a:t>
            </a:r>
          </a:p>
        </p:txBody>
      </p:sp>
      <p:sp>
        <p:nvSpPr>
          <p:cNvPr id="10" name="停止后，剩余记录仍无真实标签。低优先级不能直接等同于“不相关">
            <a:extLst xmlns:a="http://schemas.openxmlformats.org/drawingml/2006/main">
              <a:ext uri="{FF2B5EF4-FFF2-40B4-BE49-F238E27FC236}">
                <a16:creationId xmlns:a16="http://schemas.microsoft.com/office/drawing/2014/main" id="{36655DD7-ACD8-4083-9504-A608868D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8152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停止后，剩余记录仍无真实标签。低优先级不能直接等同于“不相关”。</a:t>
            </a:r>
          </a:p>
        </p:txBody>
      </p:sp>
      <p:sp>
        <p:nvSpPr>
          <p:cNvPr id="11" name="由此提出的课堂研究问题">
            <a:extLst xmlns:a="http://schemas.openxmlformats.org/drawingml/2006/main">
              <a:ext uri="{FF2B5EF4-FFF2-40B4-BE49-F238E27FC236}">
                <a16:creationId xmlns:a16="http://schemas.microsoft.com/office/drawing/2014/main" id="{0D0765F9-508F-4E5E-9D14-0C9D3BB2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由此提出的课堂研究问题</a:t>
            </a:r>
          </a:p>
        </p:txBody>
      </p:sp>
      <p:sp>
        <p:nvSpPr>
          <p:cNvPr id="12" name="初始样本与待筛文献的主题差异，是否影响早停时的漏检分布？需要">
            <a:extLst xmlns:a="http://schemas.openxmlformats.org/drawingml/2006/main">
              <a:ext uri="{FF2B5EF4-FFF2-40B4-BE49-F238E27FC236}">
                <a16:creationId xmlns:a16="http://schemas.microsoft.com/office/drawing/2014/main" id="{132D4FC8-DBDA-4B1A-808C-CE26363D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86525"/>
            <a:ext cx="4953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初始样本与待筛文献的主题差异，是否影响早停时的漏检分布？需要在独立数据上检验。</a:t>
            </a:r>
          </a:p>
        </p:txBody>
      </p:sp>
    </p:spTree>
    <p:extLst>
      <p:ext uri="{BB962C8B-B14F-4D97-AF65-F5344CB8AC3E}">
        <p14:creationId xmlns:p14="http://schemas.microsoft.com/office/powerpoint/2010/main" val="1084671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比较设计：同一参考集，两条筛选路径">
            <a:extLst xmlns:a="http://schemas.openxmlformats.org/drawingml/2006/main">
              <a:ext uri="{FF2B5EF4-FFF2-40B4-BE49-F238E27FC236}">
                <a16:creationId xmlns:a16="http://schemas.microsoft.com/office/drawing/2014/main" id="{F78A43BA-FFE3-4009-A332-DE5050A1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比较设计：同一参考集，两条筛选路径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E691A-8046-4145-B832-B882A29D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课堂研究设计案例，无实测结果">
            <a:extLst xmlns:a="http://schemas.openxmlformats.org/drawingml/2006/main">
              <a:ext uri="{FF2B5EF4-FFF2-40B4-BE49-F238E27FC236}">
                <a16:creationId xmlns:a16="http://schemas.microsoft.com/office/drawing/2014/main" id="{3F3FED62-48F1-4DFA-ACF4-7E59795C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课堂研究设计案例，无实测结果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84BB85AB-B799-4957-9560-5737755F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独立参考集包含每条记录的纳入判定。运行时，系统只能看到已筛记">
            <a:extLst xmlns:a="http://schemas.openxmlformats.org/drawingml/2006/main">
              <a:ext uri="{FF2B5EF4-FFF2-40B4-BE49-F238E27FC236}">
                <a16:creationId xmlns:a16="http://schemas.microsoft.com/office/drawing/2014/main" id="{43E3C453-874E-4DB9-84EE-5BC78ADA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独立参考集包含每条记录的纳入判定。运行时，系统只能看到已筛记录的标签。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77FEE-4147-4095-A24A-BA0EE5ED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62B3A"/>
            </a:solidFill>
          </a:ln>
        </p:spPr>
      </p:sp>
      <p:sp>
        <p:nvSpPr>
          <p:cNvPr id="7" name="同一文献集合&#10;独立参考标签">
            <a:extLst xmlns:a="http://schemas.openxmlformats.org/drawingml/2006/main">
              <a:ext uri="{FF2B5EF4-FFF2-40B4-BE49-F238E27FC236}">
                <a16:creationId xmlns:a16="http://schemas.microsoft.com/office/drawing/2014/main" id="{30D8D12F-FDC6-4104-9B5D-F6ECBD69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76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同一文献集合</a:t>
            </a:r>
          </a:p>
          <a:p xmlns:a="http://schemas.openxmlformats.org/drawingml/2006/main">
            <a: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独立参考标签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03DE1-B1B6-4F9C-8E73-565A59EC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8953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62B3A"/>
            </a:solidFill>
          </a:ln>
        </p:spPr>
      </p:sp>
      <p:sp>
        <p:nvSpPr>
          <p:cNvPr id="9" name="路径 A：随机顺序筛选&#10;多个顺序种子，记录累计筛选量">
            <a:extLst xmlns:a="http://schemas.openxmlformats.org/drawingml/2006/main">
              <a:ext uri="{FF2B5EF4-FFF2-40B4-BE49-F238E27FC236}">
                <a16:creationId xmlns:a16="http://schemas.microsoft.com/office/drawing/2014/main" id="{2BEAC3E6-1730-4E1C-9B35-0D57A8A5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路径 A：随机顺序筛选</a:t>
            </a:r>
          </a:p>
          <a:p xmlns:a="http://schemas.openxmlformats.org/drawingml/2006/main">
            <a: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多个顺序种子，记录累计筛选量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4308A-A603-40F6-BB5F-5B10F307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33875"/>
            <a:ext cx="8953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62B3A"/>
            </a:solidFill>
          </a:ln>
        </p:spPr>
      </p:sp>
      <p:sp>
        <p:nvSpPr>
          <p:cNvPr id="11" name="路径 B：主动学习排序&#10;固定初始标签、模型配置与停止规则">
            <a:extLst xmlns:a="http://schemas.openxmlformats.org/drawingml/2006/main">
              <a:ext uri="{FF2B5EF4-FFF2-40B4-BE49-F238E27FC236}">
                <a16:creationId xmlns:a16="http://schemas.microsoft.com/office/drawing/2014/main" id="{583E7E25-A002-4DA6-B3E8-AC62C0C6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05325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路径 B：主动学习排序</a:t>
            </a:r>
          </a:p>
          <a:p xmlns:a="http://schemas.openxmlformats.org/drawingml/2006/main">
            <a: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固定初始标签、模型配置与停止规则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360F1-8806-4DE3-8024-7A21D79C5484}"/>
              </a:ext>
            </a:extLst>
          </p:cNvPr>
          <p:cNvCxnSpPr/>
          <p:nvPr/>
        </p:nvCxnSpPr>
        <p:spPr>
          <a:xfrm xmlns:a="http://schemas.openxmlformats.org/drawingml/2006/main">
            <a:off x="4048125" y="35242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C7A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D9ED26-F1A7-4FB2-BA40-1C0EEDD7FF4C}"/>
              </a:ext>
            </a:extLst>
          </p:cNvPr>
          <p:cNvCxnSpPr/>
          <p:nvPr/>
        </p:nvCxnSpPr>
        <p:spPr>
          <a:xfrm xmlns:a="http://schemas.openxmlformats.org/drawingml/2006/main">
            <a:off x="4048125" y="44767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C7A"/>
            </a:solidFill>
            <a:tailEnd type="arrow" w="med" len="med"/>
          </a:ln>
        </p:spPr>
      </p:cxnSp>
      <p:sp>
        <p:nvSpPr>
          <p:cNvPr id="14" name="离线评价：各自到达预定召回水平时，需要筛选多少记录？">
            <a:extLst xmlns:a="http://schemas.openxmlformats.org/drawingml/2006/main">
              <a:ext uri="{FF2B5EF4-FFF2-40B4-BE49-F238E27FC236}">
                <a16:creationId xmlns:a16="http://schemas.microsoft.com/office/drawing/2014/main" id="{2F8AEC28-8430-4C7D-9F3B-A2DB1B0D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离线评价：各自到达预定召回水平时，需要筛选多少记录？</a:t>
            </a:r>
          </a:p>
        </p:txBody>
      </p:sp>
      <p:sp>
        <p:nvSpPr>
          <p:cNvPr id="15" name="1. 同一集合配对比较，完整记录每次随机种子。&#10;2. 评估脚">
            <a:extLst xmlns:a="http://schemas.openxmlformats.org/drawingml/2006/main">
              <a:ext uri="{FF2B5EF4-FFF2-40B4-BE49-F238E27FC236}">
                <a16:creationId xmlns:a16="http://schemas.microsoft.com/office/drawing/2014/main" id="{933A94C4-CFD4-499D-9FAF-EA89E95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8655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1. 同一集合配对比较，完整记录每次随机种子。</a:t>
            </a:r>
          </a:p>
          <a:p xmlns:a="http://schemas.openxmlformats.org/drawingml/2006/main">
            <a: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2. 评估脚本读取参考标签，排序引擎不得提前访问。</a:t>
            </a:r>
          </a:p>
          <a:p xmlns:a="http://schemas.openxmlformats.org/drawingml/2006/main">
            <a:pPr>
              <a:def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3. 新增模型或调参使用开发集，最终测试集独立保留。</a:t>
            </a:r>
          </a:p>
        </p:txBody>
      </p:sp>
    </p:spTree>
    <p:extLst>
      <p:ext uri="{BB962C8B-B14F-4D97-AF65-F5344CB8AC3E}">
        <p14:creationId xmlns:p14="http://schemas.microsoft.com/office/powerpoint/2010/main" val="1425460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研究目标、观测量与结论范围">
            <a:extLst xmlns:a="http://schemas.openxmlformats.org/drawingml/2006/main">
              <a:ext uri="{FF2B5EF4-FFF2-40B4-BE49-F238E27FC236}">
                <a16:creationId xmlns:a16="http://schemas.microsoft.com/office/drawing/2014/main" id="{FD515BD6-9C92-448E-BF3C-CAF8B333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研究目标、观测量与结论范围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BA7B5-4D4C-41CA-BC9F-D51E451C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课堂研究设计案例，无实测结果">
            <a:extLst xmlns:a="http://schemas.openxmlformats.org/drawingml/2006/main">
              <a:ext uri="{FF2B5EF4-FFF2-40B4-BE49-F238E27FC236}">
                <a16:creationId xmlns:a16="http://schemas.microsoft.com/office/drawing/2014/main" id="{E43F87D3-D545-42B6-94EF-E16B5983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课堂研究设计案例，无实测结果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5ABB2A19-F35C-4F3A-B43F-F9346FAA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B2B1B-9098-4754-9258-788DFB644CD3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5715000"/>
                <a:gridCol w="5476875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评价问题</a:t>
                      </a:r>
                    </a:p>
                  </a:txBody>
                  <a:tcPr marL="171450" marR="171450" marT="133350" marB="114300" anchor="t">
                    <a:lnL w="9525">
                      <a:solidFill>
                        <a:srgbClr val="D8D9D5"/>
                      </a:solidFill>
                    </a:lnL>
                    <a:lnR w="9525">
                      <a:solidFill>
                        <a:srgbClr val="D8D9D5"/>
                      </a:solidFill>
                    </a:lnR>
                    <a:lnT w="9525">
                      <a:solidFill>
                        <a:srgbClr val="D8D9D5"/>
                      </a:solidFill>
                    </a:lnT>
                    <a:lnB w="9525">
                      <a:solidFill>
                        <a:srgbClr val="D8D9D5"/>
                      </a:solidFill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怎样观测</a:t>
                      </a:r>
                    </a:p>
                  </a:txBody>
                  <a:tcPr marL="171450" marR="171450" marT="133350" marB="114300" anchor="t">
                    <a:lnR w="9525">
                      <a:solidFill>
                        <a:srgbClr val="D8D9D5"/>
                      </a:solidFill>
                    </a:lnR>
                    <a:lnT w="9525">
                      <a:solidFill>
                        <a:srgbClr val="D8D9D5"/>
                      </a:solidFill>
                    </a:lnT>
                    <a:lnB w="9525">
                      <a:solidFill>
                        <a:srgbClr val="D8D9D5"/>
                      </a:solidFill>
                    </a:lnB>
                    <a:solidFill>
                      <a:srgbClr val="ED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解释所需条件</a:t>
                      </a:r>
                    </a:p>
                  </a:txBody>
                  <a:tcPr marL="171450" marR="171450" marT="133350" marB="114300" anchor="t">
                    <a:lnR w="9525">
                      <a:solidFill>
                        <a:srgbClr val="D8D9D5"/>
                      </a:solidFill>
                    </a:lnR>
                    <a:lnT w="9525">
                      <a:solidFill>
                        <a:srgbClr val="D8D9D5"/>
                      </a:solidFill>
                    </a:lnT>
                    <a:lnB w="9525">
                      <a:solidFill>
                        <a:srgbClr val="D8D9D5"/>
                      </a:solidFill>
                    </a:lnB>
                    <a:solidFill>
                      <a:srgbClr val="EDF2F2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筛选工作量</a:t>
                      </a:r>
                    </a:p>
                  </a:txBody>
                  <a:tcPr marL="171450" marR="171450" marT="133350" marB="114300" anchor="t">
                    <a:lnL w="9525">
                      <a:solidFill>
                        <a:srgbClr val="D8D9D5"/>
                      </a:solidFill>
                    </a:lnL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达到预定召回时的已筛条数 ÷ 总条数</a:t>
                      </a:r>
                    </a:p>
                  </a:txBody>
                  <a:tcPr marL="171450" marR="171450" marT="133350" marB="114300" anchor="t"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预先给出召回目标；记录未达目标的运行。</a:t>
                      </a:r>
                    </a:p>
                  </a:txBody>
                  <a:tcPr marL="171450" marR="171450" marT="133350" marB="114300" anchor="t"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漏检风险</a:t>
                      </a:r>
                    </a:p>
                  </a:txBody>
                  <a:tcPr marL="171450" marR="171450" marT="133350" marB="114300" anchor="t">
                    <a:lnL w="9525">
                      <a:solidFill>
                        <a:srgbClr val="D8D9D5"/>
                      </a:solidFill>
                    </a:lnL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停止时尚未找出的相关记录数</a:t>
                      </a:r>
                    </a:p>
                  </a:txBody>
                  <a:tcPr marL="171450" marR="171450" marT="133350" marB="114300" anchor="t"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报告分母、参考标签来源及漏检主题。</a:t>
                      </a:r>
                    </a:p>
                  </a:txBody>
                  <a:tcPr marL="171450" marR="171450" marT="133350" marB="114300" anchor="t"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条件差异</a:t>
                      </a:r>
                    </a:p>
                  </a:txBody>
                  <a:tcPr marL="171450" marR="171450" marT="133350" marB="114300" anchor="t">
                    <a:lnL w="9525">
                      <a:solidFill>
                        <a:srgbClr val="D8D9D5"/>
                      </a:solidFill>
                    </a:lnL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初始样本、主题构成、摘要缺失情况</a:t>
                      </a:r>
                    </a:p>
                  </a:txBody>
                  <a:tcPr marL="171450" marR="171450" marT="133350" marB="114300" anchor="t"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每次只改变计划中的因素，保留配置与种子。</a:t>
                      </a:r>
                    </a:p>
                  </a:txBody>
                  <a:tcPr marL="171450" marR="171450" marT="133350" marB="114300" anchor="t"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可重复性</a:t>
                      </a:r>
                    </a:p>
                  </a:txBody>
                  <a:tcPr marL="171450" marR="171450" marT="133350" marB="114300" anchor="t">
                    <a:lnL w="9525">
                      <a:solidFill>
                        <a:srgbClr val="D8D9D5"/>
                      </a:solidFill>
                    </a:lnL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输入快照、代码版本和逐条判读日志</a:t>
                      </a:r>
                    </a:p>
                  </a:txBody>
                  <a:tcPr marL="171450" marR="171450" marT="133350" marB="114300" anchor="t"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62B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由独立人员复跑，核对记录序列与统计结果。</a:t>
                      </a:r>
                    </a:p>
                  </a:txBody>
                  <a:tcPr marL="171450" marR="171450" marT="133350" marB="114300" anchor="t">
                    <a:lnR w="9525">
                      <a:solidFill>
                        <a:srgbClr val="D8D9D5"/>
                      </a:solidFill>
                    </a:lnR>
                    <a:lnB w="9525">
                      <a:solidFill>
                        <a:srgbClr val="D8D9D5"/>
                      </a:solidFill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6" name="课堂设计暂取 95% 为评价点。这个数值是教学假设，须由真实">
            <a:extLst xmlns:a="http://schemas.openxmlformats.org/drawingml/2006/main">
              <a:ext uri="{FF2B5EF4-FFF2-40B4-BE49-F238E27FC236}">
                <a16:creationId xmlns:a16="http://schemas.microsoft.com/office/drawing/2014/main" id="{D8FFE0D6-AA4D-4E1C-88CE-AE504814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24675"/>
            <a:ext cx="13573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课堂设计暂取 95% 为评价点。这个数值是教学假设，须由真实任务的风险和用途论证。</a:t>
            </a:r>
          </a:p>
        </p:txBody>
      </p:sp>
    </p:spTree>
    <p:extLst>
      <p:ext uri="{BB962C8B-B14F-4D97-AF65-F5344CB8AC3E}">
        <p14:creationId xmlns:p14="http://schemas.microsoft.com/office/powerpoint/2010/main" val="2017725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召回率与筛选量的课堂算例">
            <a:extLst xmlns:a="http://schemas.openxmlformats.org/drawingml/2006/main">
              <a:ext uri="{FF2B5EF4-FFF2-40B4-BE49-F238E27FC236}">
                <a16:creationId xmlns:a16="http://schemas.microsoft.com/office/drawing/2014/main" id="{A7C0F775-4CF4-4457-B31A-5DA1AC23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召回率与筛选量的课堂算例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55D77-2D6D-4229-A508-530C0999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课堂研究设计案例，无实测结果">
            <a:extLst xmlns:a="http://schemas.openxmlformats.org/drawingml/2006/main">
              <a:ext uri="{FF2B5EF4-FFF2-40B4-BE49-F238E27FC236}">
                <a16:creationId xmlns:a16="http://schemas.microsoft.com/office/drawing/2014/main" id="{57FE8C0C-08EC-4403-B39C-0C8C3B59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课堂研究设计案例，无实测结果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5BFE9E02-23F2-4A24-8471-63CDBDAD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假设共 1,000 条记录，独立参考标签中有 100 条相关">
            <a:extLst xmlns:a="http://schemas.openxmlformats.org/drawingml/2006/main">
              <a:ext uri="{FF2B5EF4-FFF2-40B4-BE49-F238E27FC236}">
                <a16:creationId xmlns:a16="http://schemas.microsoft.com/office/drawing/2014/main" id="{EED5FFC8-11C8-4ABA-8056-BE87B512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3668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假设共 1,000 条记录，独立参考标签中有 100 条相关。停止时已筛 300 条，其中 95 条相关。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BA5FA28-BBE2-4A7A-A0AF-8437A78DF32E}"/>
              </a:ext>
            </a:extLst>
          </p:cNvPr>
          <p:cNvGraphicFramePr/>
          <p:nvPr/>
        </p:nvGraphicFramePr>
        <p:xfrm>
          <a:off xmlns:a="http://schemas.openxmlformats.org/drawingml/2006/main" x="619125" y="3143250"/>
          <a:ext xmlns:a="http://schemas.openxmlformats.org/drawingml/2006/main" cx="8286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245014b1d24b0c"/>
          </a:graphicData>
        </a:graphic>
      </p:graphicFrame>
      <p:sp>
        <p:nvSpPr>
          <p:cNvPr id="7" name="召回率">
            <a:extLst xmlns:a="http://schemas.openxmlformats.org/drawingml/2006/main">
              <a:ext uri="{FF2B5EF4-FFF2-40B4-BE49-F238E27FC236}">
                <a16:creationId xmlns:a16="http://schemas.microsoft.com/office/drawing/2014/main" id="{D4C74230-211E-45BC-A522-362DBE8C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9562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召回率</a:t>
            </a:r>
          </a:p>
        </p:txBody>
      </p:sp>
      <p:sp>
        <p:nvSpPr>
          <p:cNvPr id="8" name="95 ÷ 100 = 95%">
            <a:extLst xmlns:a="http://schemas.openxmlformats.org/drawingml/2006/main">
              <a:ext uri="{FF2B5EF4-FFF2-40B4-BE49-F238E27FC236}">
                <a16:creationId xmlns:a16="http://schemas.microsoft.com/office/drawing/2014/main" id="{B16CBBE4-6095-430E-961D-57E9B801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48050"/>
            <a:ext cx="4810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95 ÷ 100 = 95%</a:t>
            </a:r>
          </a:p>
        </p:txBody>
      </p:sp>
      <p:sp>
        <p:nvSpPr>
          <p:cNvPr id="9" name="已筛记录中的相关比例">
            <a:extLst xmlns:a="http://schemas.openxmlformats.org/drawingml/2006/main">
              <a:ext uri="{FF2B5EF4-FFF2-40B4-BE49-F238E27FC236}">
                <a16:creationId xmlns:a16="http://schemas.microsoft.com/office/drawing/2014/main" id="{2D1CE3AD-5F81-4B2D-8832-5304EA80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9097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已筛记录中的相关比例</a:t>
            </a:r>
          </a:p>
        </p:txBody>
      </p:sp>
      <p:sp>
        <p:nvSpPr>
          <p:cNvPr id="10" name="95 ÷ 300 ≈ 31.7%">
            <a:extLst xmlns:a="http://schemas.openxmlformats.org/drawingml/2006/main">
              <a:ext uri="{FF2B5EF4-FFF2-40B4-BE49-F238E27FC236}">
                <a16:creationId xmlns:a16="http://schemas.microsoft.com/office/drawing/2014/main" id="{1EDD00DD-F1E5-4A7F-BB2B-6D3569F7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43400"/>
            <a:ext cx="4810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95 ÷ 300 ≈ 31.7%</a:t>
            </a:r>
          </a:p>
        </p:txBody>
      </p:sp>
      <p:sp>
        <p:nvSpPr>
          <p:cNvPr id="11" name="筛选比例">
            <a:extLst xmlns:a="http://schemas.openxmlformats.org/drawingml/2006/main">
              <a:ext uri="{FF2B5EF4-FFF2-40B4-BE49-F238E27FC236}">
                <a16:creationId xmlns:a16="http://schemas.microsoft.com/office/drawing/2014/main" id="{0F4F5956-AFB3-41F4-AA95-B390B9EC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8632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筛选比例</a:t>
            </a:r>
          </a:p>
        </p:txBody>
      </p:sp>
      <p:sp>
        <p:nvSpPr>
          <p:cNvPr id="12" name="300 ÷ 1,000 = 30%">
            <a:extLst xmlns:a="http://schemas.openxmlformats.org/drawingml/2006/main">
              <a:ext uri="{FF2B5EF4-FFF2-40B4-BE49-F238E27FC236}">
                <a16:creationId xmlns:a16="http://schemas.microsoft.com/office/drawing/2014/main" id="{9597694B-94A7-4348-9A1E-5D20EE2B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38750"/>
            <a:ext cx="4810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300 ÷ 1,000 = 30%</a:t>
            </a:r>
          </a:p>
        </p:txBody>
      </p:sp>
      <p:sp>
        <p:nvSpPr>
          <p:cNvPr id="13" name="尚未找出的相关记录">
            <a:extLst xmlns:a="http://schemas.openxmlformats.org/drawingml/2006/main">
              <a:ext uri="{FF2B5EF4-FFF2-40B4-BE49-F238E27FC236}">
                <a16:creationId xmlns:a16="http://schemas.microsoft.com/office/drawing/2014/main" id="{4E95EF3D-E0F4-4B22-9EA8-819EA273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81675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尚未找出的相关记录</a:t>
            </a:r>
          </a:p>
        </p:txBody>
      </p:sp>
      <p:sp>
        <p:nvSpPr>
          <p:cNvPr id="14" name="100 − 95 = 5 条">
            <a:extLst xmlns:a="http://schemas.openxmlformats.org/drawingml/2006/main">
              <a:ext uri="{FF2B5EF4-FFF2-40B4-BE49-F238E27FC236}">
                <a16:creationId xmlns:a16="http://schemas.microsoft.com/office/drawing/2014/main" id="{9D8C0FE6-1344-4F80-9F00-AF0D7BC7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34100"/>
            <a:ext cx="4810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100 − 95 = 5 条</a:t>
            </a:r>
          </a:p>
        </p:txBody>
      </p:sp>
      <p:sp>
        <p:nvSpPr>
          <p:cNvPr id="15" name="相关记录：已筛 95 条，未筛 5 条（教学设定）">
            <a:extLst xmlns:a="http://schemas.openxmlformats.org/drawingml/2006/main">
              <a:ext uri="{FF2B5EF4-FFF2-40B4-BE49-F238E27FC236}">
                <a16:creationId xmlns:a16="http://schemas.microsoft.com/office/drawing/2014/main" id="{A8FA05C5-821A-4195-ADF6-22E52566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667500"/>
            <a:ext cx="809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相关记录：已筛 95 条，未筛 5 条（教学设定）</a:t>
            </a:r>
          </a:p>
        </p:txBody>
      </p:sp>
      <p:sp>
        <p:nvSpPr>
          <p:cNvPr id="16" name="算例中的未筛 700 条仍含 5 条相关记录。减少 70% ">
            <a:extLst xmlns:a="http://schemas.openxmlformats.org/drawingml/2006/main">
              <a:ext uri="{FF2B5EF4-FFF2-40B4-BE49-F238E27FC236}">
                <a16:creationId xmlns:a16="http://schemas.microsoft.com/office/drawing/2014/main" id="{28402F6A-A28C-4B6F-86ED-A1638CF6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66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算例中的未筛 700 条仍含 5 条相关记录。减少 70% 的筛选条数，不等于已经实测节约 70% 的总工时。</a:t>
            </a:r>
          </a:p>
        </p:txBody>
      </p:sp>
    </p:spTree>
    <p:extLst>
      <p:ext uri="{BB962C8B-B14F-4D97-AF65-F5344CB8AC3E}">
        <p14:creationId xmlns:p14="http://schemas.microsoft.com/office/powerpoint/2010/main" val="847769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停止规则与未知的漏检量">
            <a:extLst xmlns:a="http://schemas.openxmlformats.org/drawingml/2006/main">
              <a:ext uri="{FF2B5EF4-FFF2-40B4-BE49-F238E27FC236}">
                <a16:creationId xmlns:a16="http://schemas.microsoft.com/office/drawing/2014/main" id="{870E5CBA-F768-42D3-AFBD-CE2A00B6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停止规则与未知的漏检量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EB67E-B024-4CA4-9F15-75892BE4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课堂研究设计案例，无实测结果">
            <a:extLst xmlns:a="http://schemas.openxmlformats.org/drawingml/2006/main">
              <a:ext uri="{FF2B5EF4-FFF2-40B4-BE49-F238E27FC236}">
                <a16:creationId xmlns:a16="http://schemas.microsoft.com/office/drawing/2014/main" id="{37681694-D883-41C2-9128-067F9EC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课堂研究设计案例，无实测结果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C9953BC1-AE3B-4551-AC13-91EC3859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离线回放：参考答案已知">
            <a:extLst xmlns:a="http://schemas.openxmlformats.org/drawingml/2006/main">
              <a:ext uri="{FF2B5EF4-FFF2-40B4-BE49-F238E27FC236}">
                <a16:creationId xmlns:a16="http://schemas.microsoft.com/office/drawing/2014/main" id="{9541AEFA-D2D0-49F0-AA58-35FB6F90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642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离线回放：参考答案已知</a:t>
            </a:r>
          </a:p>
        </p:txBody>
      </p:sp>
      <p:sp>
        <p:nvSpPr>
          <p:cNvPr id="6" name="独立评价脚本能够计算每一步的召回率，并比较不同规则的结果。&#10;">
            <a:extLst xmlns:a="http://schemas.openxmlformats.org/drawingml/2006/main">
              <a:ext uri="{FF2B5EF4-FFF2-40B4-BE49-F238E27FC236}">
                <a16:creationId xmlns:a16="http://schemas.microsoft.com/office/drawing/2014/main" id="{1CEE1CC3-1214-4CB0-AFD2-41E845BB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独立评价脚本能够计算每一步的召回率，并比较不同规则的结果。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如果利用测试集的完整答案来决定真实筛选何时停止，就引入了答案信息。</a:t>
            </a:r>
          </a:p>
        </p:txBody>
      </p:sp>
      <p:sp>
        <p:nvSpPr>
          <p:cNvPr id="7" name="实际使用：相关总数未知">
            <a:extLst xmlns:a="http://schemas.openxmlformats.org/drawingml/2006/main">
              <a:ext uri="{FF2B5EF4-FFF2-40B4-BE49-F238E27FC236}">
                <a16:creationId xmlns:a16="http://schemas.microsoft.com/office/drawing/2014/main" id="{9637D5DF-D847-4E6A-BCF4-5E9BE408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实际使用：相关总数未知</a:t>
            </a:r>
          </a:p>
        </p:txBody>
      </p:sp>
      <p:sp>
        <p:nvSpPr>
          <p:cNvPr id="8" name="“连续若干条未发现相关”只能描述最近的观察，不能直接证明剩余">
            <a:extLst xmlns:a="http://schemas.openxmlformats.org/drawingml/2006/main">
              <a:ext uri="{FF2B5EF4-FFF2-40B4-BE49-F238E27FC236}">
                <a16:creationId xmlns:a16="http://schemas.microsoft.com/office/drawing/2014/main" id="{83180B30-3EE9-489B-BB49-212BB944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6191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“连续若干条未发现相关”只能描述最近的观察，不能直接证明剩余集合没有相关研究。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停止规则及未筛集合的复核办法需要预先说明，再用独立数据评价。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DAAB0-0347-434B-88E0-80250344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</a:ln>
        </p:spPr>
      </p:sp>
      <p:sp>
        <p:nvSpPr>
          <p:cNvPr id="10" name="讨论：连续 50 条均不相关，能否据此声称“召回率达到 95">
            <a:extLst xmlns:a="http://schemas.openxmlformats.org/drawingml/2006/main">
              <a:ext uri="{FF2B5EF4-FFF2-40B4-BE49-F238E27FC236}">
                <a16:creationId xmlns:a16="http://schemas.microsoft.com/office/drawing/2014/main" id="{D799899E-CBD7-4B60-8BC9-E674948B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866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讨论：连续 50 条均不相关，能否据此声称“召回率达到 95%”？还缺哪些信息？</a:t>
            </a:r>
          </a:p>
        </p:txBody>
      </p:sp>
    </p:spTree>
    <p:extLst>
      <p:ext uri="{BB962C8B-B14F-4D97-AF65-F5344CB8AC3E}">
        <p14:creationId xmlns:p14="http://schemas.microsoft.com/office/powerpoint/2010/main" val="15327296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技术路线中的输入、判断与输出">
            <a:extLst xmlns:a="http://schemas.openxmlformats.org/drawingml/2006/main">
              <a:ext uri="{FF2B5EF4-FFF2-40B4-BE49-F238E27FC236}">
                <a16:creationId xmlns:a16="http://schemas.microsoft.com/office/drawing/2014/main" id="{88411BBD-8AF7-4F79-ACE7-952A39C9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技术路线中的输入、判断与输出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46164-F19D-4DB6-87BE-C423217C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课堂研究设计案例，无实测结果">
            <a:extLst xmlns:a="http://schemas.openxmlformats.org/drawingml/2006/main">
              <a:ext uri="{FF2B5EF4-FFF2-40B4-BE49-F238E27FC236}">
                <a16:creationId xmlns:a16="http://schemas.microsoft.com/office/drawing/2014/main" id="{D9DCB9C2-295A-472E-A217-D0A9D8E2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课堂研究设计案例，无实测结果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227FFBBC-1FB7-43EE-9FD1-619F6012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C1E47003-C6D6-49E9-9984-A870FB5D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资料与标准">
            <a:extLst xmlns:a="http://schemas.openxmlformats.org/drawingml/2006/main">
              <a:ext uri="{FF2B5EF4-FFF2-40B4-BE49-F238E27FC236}">
                <a16:creationId xmlns:a16="http://schemas.microsoft.com/office/drawing/2014/main" id="{8F8F58C8-5BF0-42B9-B8FB-E9F8D53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资料与标准</a:t>
            </a:r>
          </a:p>
        </p:txBody>
      </p:sp>
      <p:sp>
        <p:nvSpPr>
          <p:cNvPr id="7" name="公开数据和许可核查&#10;制定纳入标准、独立标注">
            <a:extLst xmlns:a="http://schemas.openxmlformats.org/drawingml/2006/main">
              <a:ext uri="{FF2B5EF4-FFF2-40B4-BE49-F238E27FC236}">
                <a16:creationId xmlns:a16="http://schemas.microsoft.com/office/drawing/2014/main" id="{CE7A9451-F167-49FA-8A18-DE8B7EDF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公开数据和许可核查</a:t>
            </a:r>
          </a:p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制定纳入标准、独立标注</a:t>
            </a:r>
          </a:p>
        </p:txBody>
      </p:sp>
      <p:sp>
        <p:nvSpPr>
          <p:cNvPr id="8" name="交付：数据字典、标签与分歧记录">
            <a:extLst xmlns:a="http://schemas.openxmlformats.org/drawingml/2006/main">
              <a:ext uri="{FF2B5EF4-FFF2-40B4-BE49-F238E27FC236}">
                <a16:creationId xmlns:a16="http://schemas.microsoft.com/office/drawing/2014/main" id="{B92BE5EC-BA6E-4075-9042-FD7F6A7D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rPr>
              <a:t>交付：数据字典、标签与分歧记录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02274-B6A2-42E0-A220-3DE37B0453BC}"/>
              </a:ext>
            </a:extLst>
          </p:cNvPr>
          <p:cNvCxnSpPr/>
          <p:nvPr/>
        </p:nvCxnSpPr>
        <p:spPr>
          <a:xfrm xmlns:a="http://schemas.openxmlformats.org/drawingml/2006/main">
            <a:off x="4857750" y="3238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C7A"/>
            </a:solidFill>
            <a:tailEnd type="arrow" w="med" len="med"/>
          </a:ln>
        </p:spPr>
      </p:cxn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956ECAE9-4F3E-45FC-98A5-3F1BAAD6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431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冻结与比较">
            <a:extLst xmlns:a="http://schemas.openxmlformats.org/drawingml/2006/main">
              <a:ext uri="{FF2B5EF4-FFF2-40B4-BE49-F238E27FC236}">
                <a16:creationId xmlns:a16="http://schemas.microsoft.com/office/drawing/2014/main" id="{F02E1AB8-9069-4B7A-8487-BFCB894E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003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冻结与比较</a:t>
            </a:r>
          </a:p>
        </p:txBody>
      </p:sp>
      <p:sp>
        <p:nvSpPr>
          <p:cNvPr id="12" name="划分开发集和测试集&#10;固定模型、种子及停止规则">
            <a:extLst xmlns:a="http://schemas.openxmlformats.org/drawingml/2006/main">
              <a:ext uri="{FF2B5EF4-FFF2-40B4-BE49-F238E27FC236}">
                <a16:creationId xmlns:a16="http://schemas.microsoft.com/office/drawing/2014/main" id="{D4A0E9B6-723C-4C68-B541-136DF314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14775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划分开发集和测试集</a:t>
            </a:r>
          </a:p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固定模型、种子及停止规则</a:t>
            </a:r>
          </a:p>
        </p:txBody>
      </p:sp>
      <p:sp>
        <p:nvSpPr>
          <p:cNvPr id="13" name="交付：配置文件与逐条筛选日志">
            <a:extLst xmlns:a="http://schemas.openxmlformats.org/drawingml/2006/main">
              <a:ext uri="{FF2B5EF4-FFF2-40B4-BE49-F238E27FC236}">
                <a16:creationId xmlns:a16="http://schemas.microsoft.com/office/drawing/2014/main" id="{F49404D1-9FA6-4B5E-B79D-E999E5A8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911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rPr>
              <a:t>交付：配置文件与逐条筛选日志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BB790A-06E9-4656-8D7B-A646FEB6C783}"/>
              </a:ext>
            </a:extLst>
          </p:cNvPr>
          <p:cNvCxnSpPr/>
          <p:nvPr/>
        </p:nvCxnSpPr>
        <p:spPr>
          <a:xfrm xmlns:a="http://schemas.openxmlformats.org/drawingml/2006/main">
            <a:off x="9715500" y="3238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6C7A"/>
            </a:solidFill>
            <a:tailEnd type="arrow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C9A7436B-E911-4DBE-88F7-3D60E956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431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评价与解释">
            <a:extLst xmlns:a="http://schemas.openxmlformats.org/drawingml/2006/main">
              <a:ext uri="{FF2B5EF4-FFF2-40B4-BE49-F238E27FC236}">
                <a16:creationId xmlns:a16="http://schemas.microsoft.com/office/drawing/2014/main" id="{38B0A8F1-63FC-458E-9E03-6BB5A48E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0037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评价与解释</a:t>
            </a:r>
          </a:p>
        </p:txBody>
      </p:sp>
      <p:sp>
        <p:nvSpPr>
          <p:cNvPr id="17" name="复算召回和筛选量&#10;核对漏检主题及标签争议">
            <a:extLst xmlns:a="http://schemas.openxmlformats.org/drawingml/2006/main">
              <a:ext uri="{FF2B5EF4-FFF2-40B4-BE49-F238E27FC236}">
                <a16:creationId xmlns:a16="http://schemas.microsoft.com/office/drawing/2014/main" id="{BBDACFF2-BC10-4C21-9AFA-E4674D5B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14775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复算召回和筛选量</a:t>
            </a:r>
          </a:p>
          <a:p xmlns:a="http://schemas.openxmlformats.org/drawingml/2006/main">
            <a:pPr>
              <a:def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核对漏检主题及标签争议</a:t>
            </a:r>
          </a:p>
        </p:txBody>
      </p:sp>
      <p:sp>
        <p:nvSpPr>
          <p:cNvPr id="18" name="交付：统计脚本、图表与限制说明">
            <a:extLst xmlns:a="http://schemas.openxmlformats.org/drawingml/2006/main">
              <a:ext uri="{FF2B5EF4-FFF2-40B4-BE49-F238E27FC236}">
                <a16:creationId xmlns:a16="http://schemas.microsoft.com/office/drawing/2014/main" id="{399A53F1-03FA-4944-B175-9C7CC12E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911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rPr>
              <a:t>交付：统计脚本、图表与限制说明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BB906F-B36C-48B8-A5F5-830E9A80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57975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</a:ln>
        </p:spPr>
      </p:sp>
      <p:sp>
        <p:nvSpPr>
          <p:cNvPr id="20" name="研究者负责：纳入标准、争议仲裁、风险判断与结论">
            <a:extLst xmlns:a="http://schemas.openxmlformats.org/drawingml/2006/main">
              <a:ext uri="{FF2B5EF4-FFF2-40B4-BE49-F238E27FC236}">
                <a16:creationId xmlns:a16="http://schemas.microsoft.com/office/drawing/2014/main" id="{3CF0401B-05E1-4E72-8FF6-8F33F7A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66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研究者负责：纳入标准、争议仲裁、风险判断与结论</a:t>
            </a:r>
          </a:p>
        </p:txBody>
      </p:sp>
      <p:sp>
        <p:nvSpPr>
          <p:cNvPr id="21" name="程序负责：读取授权输入、按配置运行、保存记录与复算">
            <a:extLst xmlns:a="http://schemas.openxmlformats.org/drawingml/2006/main">
              <a:ext uri="{FF2B5EF4-FFF2-40B4-BE49-F238E27FC236}">
                <a16:creationId xmlns:a16="http://schemas.microsoft.com/office/drawing/2014/main" id="{B8B43CCE-FFA9-4BEE-9845-0ABBBA5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1366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程序负责：读取授权输入、按配置运行、保存记录与复算</a:t>
            </a:r>
          </a:p>
        </p:txBody>
      </p:sp>
    </p:spTree>
    <p:extLst>
      <p:ext uri="{BB962C8B-B14F-4D97-AF65-F5344CB8AC3E}">
        <p14:creationId xmlns:p14="http://schemas.microsoft.com/office/powerpoint/2010/main" val="12801178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证据怎样支撑研究者的论述">
            <a:extLst xmlns:a="http://schemas.openxmlformats.org/drawingml/2006/main">
              <a:ext uri="{FF2B5EF4-FFF2-40B4-BE49-F238E27FC236}">
                <a16:creationId xmlns:a16="http://schemas.microsoft.com/office/drawing/2014/main" id="{9E0B512F-F207-4B84-ACD4-C827DCD9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证据怎样支撑研究者的论述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C0B10-7E19-4D83-B3DE-9937BE3C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方法依据：van de Schoot et al. (202">
            <a:extLst xmlns:a="http://schemas.openxmlformats.org/drawingml/2006/main">
              <a:ext uri="{FF2B5EF4-FFF2-40B4-BE49-F238E27FC236}">
                <a16:creationId xmlns:a16="http://schemas.microsoft.com/office/drawing/2014/main" id="{7540BD44-DDBB-461C-A38F-CFC68988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方法依据：van de Schoot et al. (2021)。研究问题与方案为课堂示例，尚未实验或完成查新。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BE8911CA-60B2-40FD-9DD7-FF81911E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已知事实">
            <a:extLst xmlns:a="http://schemas.openxmlformats.org/drawingml/2006/main">
              <a:ext uri="{FF2B5EF4-FFF2-40B4-BE49-F238E27FC236}">
                <a16:creationId xmlns:a16="http://schemas.microsoft.com/office/drawing/2014/main" id="{C2D826BE-CAB3-4705-BDC6-D9C37256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rPr>
              <a:t>已知事实</a:t>
            </a:r>
          </a:p>
        </p:txBody>
      </p:sp>
      <p:sp>
        <p:nvSpPr>
          <p:cNvPr id="6" name="ASReview 将人工判读纳入主动学习循环，依据反馈调整记">
            <a:extLst xmlns:a="http://schemas.openxmlformats.org/drawingml/2006/main">
              <a:ext uri="{FF2B5EF4-FFF2-40B4-BE49-F238E27FC236}">
                <a16:creationId xmlns:a16="http://schemas.microsoft.com/office/drawing/2014/main" id="{E02704A8-ED13-4F20-8A70-83AB5297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43125"/>
            <a:ext cx="10715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ASReview 将人工判读纳入主动学习循环，依据反馈调整记录的呈现顺序。该文提供软件与复现实验资源。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538FE-F4AC-490C-AA10-E05C7F77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5757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</a:ln>
        </p:spPr>
      </p:sp>
      <p:sp>
        <p:nvSpPr>
          <p:cNvPr id="8" name="拟研究的问题">
            <a:extLst xmlns:a="http://schemas.openxmlformats.org/drawingml/2006/main">
              <a:ext uri="{FF2B5EF4-FFF2-40B4-BE49-F238E27FC236}">
                <a16:creationId xmlns:a16="http://schemas.microsoft.com/office/drawing/2014/main" id="{64D36931-5508-4ABE-992D-60D582D1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6C7A"/>
                </a:solidFill>
                <a:latin typeface="Microsoft YaHei"/>
                <a:ea typeface="Microsoft YaHei"/>
                <a:cs typeface="Microsoft YaHei"/>
              </a:rPr>
              <a:t>拟研究的问题</a:t>
            </a:r>
          </a:p>
        </p:txBody>
      </p:sp>
      <p:sp>
        <p:nvSpPr>
          <p:cNvPr id="9" name="本课堂方案关注初始样本的主题覆盖与停止时漏检分布的关系，拟在">
            <a:extLst xmlns:a="http://schemas.openxmlformats.org/drawingml/2006/main">
              <a:ext uri="{FF2B5EF4-FFF2-40B4-BE49-F238E27FC236}">
                <a16:creationId xmlns:a16="http://schemas.microsoft.com/office/drawing/2014/main" id="{11CDA176-4A75-4CF6-8C78-0219125F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05225"/>
            <a:ext cx="10715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本课堂方案关注初始样本的主题覆盖与停止时漏检分布的关系，拟在独立标注集合上作配对比较。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AB9AD-F14E-4CF7-A084-A6C7DCDA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19675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9D5"/>
            </a:solidFill>
          </a:ln>
        </p:spPr>
      </p:sp>
      <p:sp>
        <p:nvSpPr>
          <p:cNvPr id="11" name="尚待补齐的依据">
            <a:extLst xmlns:a="http://schemas.openxmlformats.org/drawingml/2006/main">
              <a:ext uri="{FF2B5EF4-FFF2-40B4-BE49-F238E27FC236}">
                <a16:creationId xmlns:a16="http://schemas.microsoft.com/office/drawing/2014/main" id="{57FC0DE3-EC76-4FC3-9AC5-F942FD81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尚待补齐的依据</a:t>
            </a:r>
          </a:p>
        </p:txBody>
      </p:sp>
      <p:sp>
        <p:nvSpPr>
          <p:cNvPr id="12" name="相关停止策略与跨主题评估文献是否已有相同设计？数据集是否适合">
            <a:extLst xmlns:a="http://schemas.openxmlformats.org/drawingml/2006/main">
              <a:ext uri="{FF2B5EF4-FFF2-40B4-BE49-F238E27FC236}">
                <a16:creationId xmlns:a16="http://schemas.microsoft.com/office/drawing/2014/main" id="{4C9A5F55-23CF-443B-800F-64E6B414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267325"/>
            <a:ext cx="10715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相关停止策略与跨主题评估文献是否已有相同设计？数据集是否适合本问题？这些问题须查证后再谈创新性。</a:t>
            </a:r>
          </a:p>
        </p:txBody>
      </p:sp>
      <p:sp>
        <p:nvSpPr>
          <p:cNvPr id="13" name="第一段有文献依据；第二段是拟议设计；第三段列出查新与可行性缺">
            <a:extLst xmlns:a="http://schemas.openxmlformats.org/drawingml/2006/main">
              <a:ext uri="{FF2B5EF4-FFF2-40B4-BE49-F238E27FC236}">
                <a16:creationId xmlns:a16="http://schemas.microsoft.com/office/drawing/2014/main" id="{1F46437F-767E-4DBD-B0F0-557C9C90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第一段有文献依据；第二段是拟议设计；第三段列出查新与可行性缺口。三种证据状态分别表述。</a:t>
            </a:r>
          </a:p>
        </p:txBody>
      </p:sp>
    </p:spTree>
    <p:extLst>
      <p:ext uri="{BB962C8B-B14F-4D97-AF65-F5344CB8AC3E}">
        <p14:creationId xmlns:p14="http://schemas.microsoft.com/office/powerpoint/2010/main" val="17415994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研究设计工作底稿的核对">
            <a:extLst xmlns:a="http://schemas.openxmlformats.org/drawingml/2006/main">
              <a:ext uri="{FF2B5EF4-FFF2-40B4-BE49-F238E27FC236}">
                <a16:creationId xmlns:a16="http://schemas.microsoft.com/office/drawing/2014/main" id="{B3033399-8A1C-41DB-9129-FC219EFC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"/>
            <a:ext cx="13525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研究设计工作底稿的核对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EE898-65EB-4139-9503-85832FC1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B3A"/>
            </a:solidFill>
          </a:ln>
        </p:spPr>
      </p:sp>
      <p:sp>
        <p:nvSpPr>
          <p:cNvPr id="3" name="课堂研究设计案例，无实测结果">
            <a:extLst xmlns:a="http://schemas.openxmlformats.org/drawingml/2006/main">
              <a:ext uri="{FF2B5EF4-FFF2-40B4-BE49-F238E27FC236}">
                <a16:creationId xmlns:a16="http://schemas.microsoft.com/office/drawing/2014/main" id="{447E28ED-F778-4457-A5E8-A8BA533E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10525"/>
            <a:ext cx="1290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课堂研究设计案例，无实测结果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380EAEB5-6594-485C-8198-64CD920F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79724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707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6C1E3-92FC-4BC3-AC8F-3B3681E63C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5a3c30b6e4771"/>
          <a:stretch xmlns:a="http://schemas.openxmlformats.org/drawingml/2006/main"/>
        </p:blipFill>
        <p:spPr>
          <a:xfrm xmlns:a="http://schemas.openxmlformats.org/drawingml/2006/main">
            <a:off x="1246156" y="1952625"/>
            <a:ext cx="4175188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问题能否回答">
            <a:extLst xmlns:a="http://schemas.openxmlformats.org/drawingml/2006/main">
              <a:ext uri="{FF2B5EF4-FFF2-40B4-BE49-F238E27FC236}">
                <a16:creationId xmlns:a16="http://schemas.microsoft.com/office/drawing/2014/main" id="{1F7BBDE6-4FB4-4C88-938D-B556BE26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问题能否回答</a:t>
            </a:r>
          </a:p>
        </p:txBody>
      </p:sp>
      <p:sp>
        <p:nvSpPr>
          <p:cNvPr id="7" name="比较对象、目标召回和停止条件是否明确。">
            <a:extLst xmlns:a="http://schemas.openxmlformats.org/drawingml/2006/main">
              <a:ext uri="{FF2B5EF4-FFF2-40B4-BE49-F238E27FC236}">
                <a16:creationId xmlns:a16="http://schemas.microsoft.com/office/drawing/2014/main" id="{E4A24342-A371-48F3-BBCB-BF3A2901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5747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比较对象、目标召回和停止条件是否明确。</a:t>
            </a:r>
          </a:p>
        </p:txBody>
      </p:sp>
      <p:sp>
        <p:nvSpPr>
          <p:cNvPr id="8" name="数据能否取得">
            <a:extLst xmlns:a="http://schemas.openxmlformats.org/drawingml/2006/main">
              <a:ext uri="{FF2B5EF4-FFF2-40B4-BE49-F238E27FC236}">
                <a16:creationId xmlns:a16="http://schemas.microsoft.com/office/drawing/2014/main" id="{CB980F12-623D-4890-9AA3-D95005AB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数据能否取得</a:t>
            </a:r>
          </a:p>
        </p:txBody>
      </p:sp>
      <p:sp>
        <p:nvSpPr>
          <p:cNvPr id="9" name="许可、参考标签、标注分歧与开发测试划分是否落实。">
            <a:extLst xmlns:a="http://schemas.openxmlformats.org/drawingml/2006/main">
              <a:ext uri="{FF2B5EF4-FFF2-40B4-BE49-F238E27FC236}">
                <a16:creationId xmlns:a16="http://schemas.microsoft.com/office/drawing/2014/main" id="{6A70872F-2AF3-4297-8771-3FC3FBF0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95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许可、参考标签、标注分歧与开发测试划分是否落实。</a:t>
            </a:r>
          </a:p>
        </p:txBody>
      </p:sp>
      <p:sp>
        <p:nvSpPr>
          <p:cNvPr id="10" name="推理是否成立">
            <a:extLst xmlns:a="http://schemas.openxmlformats.org/drawingml/2006/main">
              <a:ext uri="{FF2B5EF4-FFF2-40B4-BE49-F238E27FC236}">
                <a16:creationId xmlns:a16="http://schemas.microsoft.com/office/drawing/2014/main" id="{8C3BCE44-55F8-4455-85DF-78247B41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推理是否成立</a:t>
            </a:r>
          </a:p>
        </p:txBody>
      </p:sp>
      <p:sp>
        <p:nvSpPr>
          <p:cNvPr id="11" name="筛选比例、召回率和工时是否混用，有无答案泄漏。">
            <a:extLst xmlns:a="http://schemas.openxmlformats.org/drawingml/2006/main">
              <a:ext uri="{FF2B5EF4-FFF2-40B4-BE49-F238E27FC236}">
                <a16:creationId xmlns:a16="http://schemas.microsoft.com/office/drawing/2014/main" id="{8269D9BD-DADE-4809-BDE1-E092E587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8157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筛选比例、召回率和工时是否混用，有无答案泄漏。</a:t>
            </a:r>
          </a:p>
        </p:txBody>
      </p:sp>
      <p:sp>
        <p:nvSpPr>
          <p:cNvPr id="12" name="文字是否有依据">
            <a:extLst xmlns:a="http://schemas.openxmlformats.org/drawingml/2006/main">
              <a:ext uri="{FF2B5EF4-FFF2-40B4-BE49-F238E27FC236}">
                <a16:creationId xmlns:a16="http://schemas.microsoft.com/office/drawing/2014/main" id="{D6BCAA45-EBDC-4B1D-929F-963171B4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578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文字是否有依据</a:t>
            </a:r>
          </a:p>
        </p:txBody>
      </p:sp>
      <p:sp>
        <p:nvSpPr>
          <p:cNvPr id="13" name="逐句区分公开事实、研究假设与计划，不填写不存在的前期成果。">
            <a:extLst xmlns:a="http://schemas.openxmlformats.org/drawingml/2006/main">
              <a:ext uri="{FF2B5EF4-FFF2-40B4-BE49-F238E27FC236}">
                <a16:creationId xmlns:a16="http://schemas.microsoft.com/office/drawing/2014/main" id="{A1CDEDE4-388F-4147-89F5-4BF5C9F1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143625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B3A"/>
                </a:solidFill>
                <a:latin typeface="Microsoft YaHei"/>
                <a:ea typeface="Microsoft YaHei"/>
                <a:cs typeface="Microsoft YaHei"/>
              </a:rPr>
              <a:t>逐句区分公开事实、研究假设与计划，不填写不存在的前期成果。</a:t>
            </a:r>
          </a:p>
        </p:txBody>
      </p:sp>
      <p:sp>
        <p:nvSpPr>
          <p:cNvPr id="14" name="课堂任务：用自己的一个研究题目填写工作底稿。先补齐设计条件，">
            <a:extLst xmlns:a="http://schemas.openxmlformats.org/drawingml/2006/main">
              <a:ext uri="{FF2B5EF4-FFF2-40B4-BE49-F238E27FC236}">
                <a16:creationId xmlns:a16="http://schemas.microsoft.com/office/drawing/2014/main" id="{E189724E-03B9-4283-9EF0-754AC827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067550"/>
            <a:ext cx="7429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D3538"/>
                </a:solidFill>
                <a:latin typeface="Microsoft YaHei"/>
                <a:ea typeface="Microsoft YaHei"/>
                <a:cs typeface="Microsoft YaHei"/>
              </a:rPr>
              <a:t>课堂任务：用自己的一个研究题目填写工作底稿。先补齐设计条件，再决定是否需要 AI 协助整理。</a:t>
            </a:r>
          </a:p>
        </p:txBody>
      </p:sp>
    </p:spTree>
    <p:extLst>
      <p:ext uri="{BB962C8B-B14F-4D97-AF65-F5344CB8AC3E}">
        <p14:creationId xmlns:p14="http://schemas.microsoft.com/office/powerpoint/2010/main" val="887096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2026-10-17T03:45:33.8130000Z</dcterms:created>
  <dcterms:modified xsi:type="dcterms:W3CDTF">2026-10-17T03:45:33.8130000Z</dcterms:modified>
</coreProperties>
</file>