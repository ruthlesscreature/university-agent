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99ad3fbca4109" /><Relationship Type="http://schemas.openxmlformats.org/officeDocument/2006/relationships/extended-properties" Target="/docProps/app.xml" Id="Ra20bc57654794949" /><Relationship Type="http://schemas.openxmlformats.org/officeDocument/2006/relationships/officeDocument" Target="/ppt/presentation.xml" Id="Rc599df4d7f6340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8978798753464b"/>
  </p:sldMasterIdLst>
  <p:notesMasterIdLst>
    <p:notesMasterId xmlns:r="http://schemas.openxmlformats.org/officeDocument/2006/relationships" r:id="Rd64b9f4187894286"/>
  </p:notesMasterIdLst>
  <p:sldIdLst>
    <p:sldId xmlns:r="http://schemas.openxmlformats.org/officeDocument/2006/relationships" id="256" r:id="Reb8c963302f04365"/>
    <p:sldId xmlns:r="http://schemas.openxmlformats.org/officeDocument/2006/relationships" id="257" r:id="Rb5dd0e99081447dc"/>
    <p:sldId xmlns:r="http://schemas.openxmlformats.org/officeDocument/2006/relationships" id="258" r:id="R7912c5f0929440be"/>
    <p:sldId xmlns:r="http://schemas.openxmlformats.org/officeDocument/2006/relationships" id="259" r:id="Rb2201a5113174ba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6880600854969" /><Relationship Type="http://schemas.openxmlformats.org/officeDocument/2006/relationships/slideMaster" Target="/ppt/slideMasters/slideMaster1.xml" Id="R9b8978798753464b" /><Relationship Type="http://schemas.openxmlformats.org/officeDocument/2006/relationships/notesMaster" Target="/ppt/notesMasters/notesMaster1.xml" Id="Rd64b9f4187894286" /><Relationship Type="http://schemas.openxmlformats.org/officeDocument/2006/relationships/presProps" Target="/ppt/presProps.xml" Id="Rfbdecd3c5f254525" /><Relationship Type="http://schemas.openxmlformats.org/officeDocument/2006/relationships/tableStyles" Target="/ppt/tableStyles.xml" Id="R9533033b1135433b" /><Relationship Type="http://schemas.openxmlformats.org/officeDocument/2006/relationships/slide" Target="/ppt/slides/slide1.xml" Id="Reb8c963302f04365" /><Relationship Type="http://schemas.openxmlformats.org/officeDocument/2006/relationships/slide" Target="/ppt/slides/slide2.xml" Id="Rb5dd0e99081447dc" /><Relationship Type="http://schemas.openxmlformats.org/officeDocument/2006/relationships/slide" Target="/ppt/slides/slide3.xml" Id="R7912c5f0929440be" /><Relationship Type="http://schemas.openxmlformats.org/officeDocument/2006/relationships/slide" Target="/ppt/slides/slide4.xml" Id="Rb2201a511317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ce9acc4e94a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e15ec7a6d4aea" /><Relationship Type="http://schemas.openxmlformats.org/officeDocument/2006/relationships/notesMaster" Target="/ppt/notesMasters/notesMaster1.xml" Id="Rd6e8b4f43ed24e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beaa297e4042b9" /><Relationship Type="http://schemas.openxmlformats.org/officeDocument/2006/relationships/notesMaster" Target="/ppt/notesMasters/notesMaster1.xml" Id="R86286902c9a940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e687334b2344c9" /><Relationship Type="http://schemas.openxmlformats.org/officeDocument/2006/relationships/notesMaster" Target="/ppt/notesMasters/notesMaster1.xml" Id="Rba3429bfeeb9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77c78fa93a4d0f" /><Relationship Type="http://schemas.openxmlformats.org/officeDocument/2006/relationships/notesMaster" Target="/ppt/notesMasters/notesMaster1.xml" Id="Rbd96e8aace5a41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请学员带入一件自己的科研任务，例如读论文、处理数据或准备项目材料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共14个内容章节，另有本节课程导入。新增的概念与Humanizer分别占独立章节。概念章先用同一任务比较“给建议”和“执行工具得到文件”，再解释Agentic AI、Agent、Workflow、Skill、MCP与Harness。不能把ChatGPT和Codex直接当作两种互斥概念。Harness在第2章解释框架，在第14章结合真实流程讲运行、记录与恢复。此页是全课规划，不表示后续章节已制作或验收。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时段上午180分钟，下午210分钟，合计390分钟；扣除两次10分钟短休，授课370分钟。另备110分钟延伸材料，备课总量480分钟。约240页包含备用案例、演示和练习，不把所有页面都算作现场必讲。具体章节边界和演示时长随彩排调整，此页不构成已完成彩排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三件具体工作说明课堂怎样学，不要求学员现在打开文件。读论文：核对AI摘出的原文是否支持结论，保留成立条件；处理数据：先检查，再统计和画图，解释差异；整理申报材料：按要求对应研究者已有内容，标出缺口，不凭空补写成果。三件事是全课中的代表任务，不是全部课程。具体案例和材料来源到相应章节再介绍。本项目现有公开论文、公开企鹅数据及TEACH-GRANT-01教学任务可供后续选用，它们彼此不是同一项研究；现有指南与Word模板属于教学模拟，不可称作正式申报材料。Humanizer用于表达修订时必须保留事实、证据和限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fab4da24740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03dde5b9240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03cf60b864e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91ffeb3ca4b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f7287ab464f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f2062f3f541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AAD14-FD9F-4EA0-91C7-3089158AF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756BCE-1318-4460-898B-661F4F75A9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9010BD-09F8-479C-80D3-3B8830671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6258DD-D5A0-4C15-8686-AD9ACB2E6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42D5B6-6AA1-4EE6-B358-D1BBB45542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57DE23-D11D-41BA-9E52-06E53054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0A7F13-A144-4EE9-8735-020D632DE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E27C94-A5BB-4A3C-8505-A6A2428788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EF2498-142A-4CA5-BAF4-1217CC3D8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547327-F711-45E1-BAE2-2DB5EB2945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f960d92394e2d" /><Relationship Type="http://schemas.openxmlformats.org/officeDocument/2006/relationships/slideLayout" Target="/ppt/slideLayouts/slideLayout1.xml" Id="R032b21817c0f4ad6" /><Relationship Type="http://schemas.openxmlformats.org/officeDocument/2006/relationships/slideLayout" Target="/ppt/slideLayouts/slideLayout2.xml" Id="R3682462378cb48f6" /><Relationship Type="http://schemas.openxmlformats.org/officeDocument/2006/relationships/slideLayout" Target="/ppt/slideLayouts/slideLayout3.xml" Id="R2e9b3c8f7df64f72" /><Relationship Type="http://schemas.openxmlformats.org/officeDocument/2006/relationships/slideLayout" Target="/ppt/slideLayouts/slideLayout4.xml" Id="Rb1a983b2a7f84ea3" /><Relationship Type="http://schemas.openxmlformats.org/officeDocument/2006/relationships/slideLayout" Target="/ppt/slideLayouts/slideLayout5.xml" Id="R5390304c08964216" /><Relationship Type="http://schemas.openxmlformats.org/officeDocument/2006/relationships/slideLayout" Target="/ppt/slideLayouts/slideLayout6.xml" Id="R5c664eccca66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b21817c0f4ad6"/>
    <p:sldLayoutId xmlns:r="http://schemas.openxmlformats.org/officeDocument/2006/relationships" id="2147483650" r:id="R3682462378cb48f6"/>
    <p:sldLayoutId xmlns:r="http://schemas.openxmlformats.org/officeDocument/2006/relationships" id="2147483651" r:id="R2e9b3c8f7df64f72"/>
    <p:sldLayoutId xmlns:r="http://schemas.openxmlformats.org/officeDocument/2006/relationships" id="2147483652" r:id="Rb1a983b2a7f84ea3"/>
    <p:sldLayoutId xmlns:r="http://schemas.openxmlformats.org/officeDocument/2006/relationships" id="2147483653" r:id="R5390304c08964216"/>
    <p:sldLayoutId xmlns:r="http://schemas.openxmlformats.org/officeDocument/2006/relationships" id="2147483654" r:id="R5c664eccca66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34c240e564643" /><Relationship Type="http://schemas.openxmlformats.org/officeDocument/2006/relationships/notesSlide" Target="/ppt/notesSlides/notesSlide1.xml" Id="Rabf4ddca443a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0c95aae674738" /><Relationship Type="http://schemas.openxmlformats.org/officeDocument/2006/relationships/notesSlide" Target="/ppt/notesSlides/notesSlide2.xml" Id="Rbd5b76afda60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eb2e535124839" /><Relationship Type="http://schemas.openxmlformats.org/officeDocument/2006/relationships/notesSlide" Target="/ppt/notesSlides/notesSlide3.xml" Id="Ra0160f8be496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1c3575b28414f" /><Relationship Type="http://schemas.openxmlformats.org/officeDocument/2006/relationships/notesSlide" Target="/ppt/notesSlides/notesSlide4.xml" Id="Rba458d62abd8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45E0B-32CD-4FB5-9402-04A67DFB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03E50-FA4B-4A24-83A8-62F3CF37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5A11E-1B43-4E9A-855A-D693DBEA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BA1D4-0206-4C21-ABD6-0029B01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3055A-1D0F-404C-9230-5EF981E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328862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BED4DE-E57E-46A4-A908-6B98330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这门课按什么顺序学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5A456-4360-405D-AA06-40447D2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92B54-DE97-4AC8-BFA3-0C44D809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98A27-6F74-4B5F-ADDF-04FD83A5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56B13-6849-4A5C-A49D-9607B82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基础与研究准备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FB6AB-6646-4728-AEAF-B4A4D877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成果制作与完整流程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5253E-8636-4A94-9D40-986B765A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7F262-4D22-43B7-8C21-D01E3F2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670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 AI 上手与基本原理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0826-BEC2-45E1-B057-725782A3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提问、提供材料，理解常见失误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5A1DE-AF8E-4A9E-83DB-87A8AF4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23CDD-EB29-425F-90FF-4EB4D80F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认识会做事的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6FD6F-C806-4B99-9E48-59CFE41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719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ChatGPT、Codex、Agent 与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284C0-DEAF-4690-A023-E84196A3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1A2E6-4936-44F0-B3B9-B9221053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Humanizer：把话写清楚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656BA-429F-4EF1-B244-EF523A42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672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论文、PPT、报告怎样写得自然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AB0D7-2A2A-4A21-A937-807AA7C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01776-5402-4BDA-B6C7-A257DAD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5297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01C7B-4333-4A0B-8A07-90AB049E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比较候选方向，提出具体问题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F313-3CB0-4BCF-BE46-D3026F9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8BD22-5389-41C4-AFEF-73093F21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483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7CF1E-1810-4EF0-AAE3-061141AB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578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找到论文，读原文，比较结论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12B09-6902-4B74-B542-90EF36C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A9900-3EE0-4C8F-A3CE-CCBEEDF9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436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6A547-F81D-4ED9-8F7E-22923B2D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5532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确定对象、比较办法与测量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F5011-3A69-4691-BBD5-A850E02D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5FF78-B847-4CC5-8744-7416324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8389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34AB5-DE75-4541-B6E5-B0DE274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2485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检查数据，运行代码，解释结果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E9D4A-F22A-4990-B611-1EAF710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1E609-BEBC-4FCB-8C8D-0AE0D81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5DB65-0BE6-4B4A-85FC-1FB619C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数据图、示意图与可编辑路线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4716A-CE59-47B6-889A-69C9EFE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623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FF32B-724A-49FC-8AF1-63A84116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623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0A9FC-B3D8-40DE-9DFF-11456F15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组织证据，修改段落，回应意见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2C0A0-4DF4-4FCC-AB86-6B942774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36C5F-2D6F-4A3B-91A7-C96B3EBD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576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基金申报与 Grant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DBAFA-AE0E-44B0-AE50-3A67AD23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672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指南、研究者材料与 Word 文件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BDEE78-2D41-4A13-A874-22C9327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529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7D0CD1-E4AC-4584-8F35-2987ABCE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F3D9B-0B43-43F0-8E09-EEB1E677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6255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已有技术、实施办法与附图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F88137-5F24-487F-B39C-0D28733D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C70A77-1357-47CA-9C72-7FF7A6A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483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B7B6B0-CB61-480A-B47F-83596F3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8578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进展、成果与证明材料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19761-E3AF-401F-8178-C3199F9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43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430132-1B91-450D-B7C9-740CFA7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1436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A0A6AE-208F-40D5-AA89-4C3D2EE7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532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组会、答辩、项目汇报与介绍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609B68-B5D3-4EF7-B8AA-04B5A7FF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389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60FA21-4DCE-4281-9832-9E718B2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8389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本地与云端 Agent 实操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731782-A898-4798-904C-EEE2CAEE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2485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同一套 Skill，连续执行与恢复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B7DA6F-F3C3-4612-BDD9-00FC71FB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1371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Agent：能调用工具、分步执行任务的 AI 助手。相关概念会用同一个例子逐步解释。</a:t>
            </a:r>
          </a:p>
        </p:txBody>
      </p:sp>
    </p:spTree>
    <p:extLst>
      <p:ext uri="{BB962C8B-B14F-4D97-AF65-F5344CB8AC3E}">
        <p14:creationId xmlns:p14="http://schemas.microsoft.com/office/powerpoint/2010/main" val="1021684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1BECE-F646-43F9-BE46-898CFF8C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当天怎样安排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81746-D5E2-4F76-88B9-B9EBF09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7FFF8-B4B8-4973-B0AF-E23FB88E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38D02-A8C4-4E67-AA11-161F983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304F-2750-4915-B285-B9F25CF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37014-3251-4692-A38C-0D5E294C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862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EBA2C-07B7-4208-B50F-6EE0466E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862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AI 的用法与原理、常见概念与 Humanizer；</a:t>
            </a:r>
          </a:p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选题、文献阅读和研究方案。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58C72-A449-473A-8FB9-77AE025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732B8-8FF3-456E-AFD4-089289CE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61C52-5DF1-4016-B7D8-3E9F6FCA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862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A55C-6637-4026-9D49-A3A4ECA9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10250"/>
            <a:ext cx="862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数据分析、科研图表、论文、申报与专利；</a:t>
            </a:r>
          </a:p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项目结题、科研汇报和完整 Agent 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E21D5-339C-4D12-9473-87C11EB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10:20–10:30、15:00–15:10 休息。12:00–13:30 午间休息。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A7036-8D25-4395-8496-5A02FC4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9525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 370 分钟，另备 110 分钟延伸案例与练习，共 8 小时素材。</a:t>
            </a:r>
          </a:p>
        </p:txBody>
      </p:sp>
    </p:spTree>
    <p:extLst>
      <p:ext uri="{BB962C8B-B14F-4D97-AF65-F5344CB8AC3E}">
        <p14:creationId xmlns:p14="http://schemas.microsoft.com/office/powerpoint/2010/main" val="18429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A6220-3EE4-43C5-8786-2AA25B1D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今天会跟着做哪些事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84428-B411-4003-A8F9-4725ABF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2B1AD-F13F-4BC3-A211-A69D98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2506E-ED3F-45BE-8B33-65C8C13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EDB9A-A68B-486D-B2D3-60D1089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5971A-3B19-451D-9B4E-427705A6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336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读论文，查证一句结论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02F1A-29DA-4A59-9566-8698114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2892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从论文原文开始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3C5F-F5B8-4BD0-9F45-F8D35C9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请 AI 找出支持结论的段落，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自己回到原文核对，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记下这句话在什么条件下成立。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C068E-D841-42F9-8CAF-ACBA9DB3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33775"/>
            <a:ext cx="12620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1E533-5431-4DE4-9FEC-7B43D22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61547-05DF-4097-AF77-2E3C7C2D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290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处理数据，做一张图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E5E80-11F1-4FCD-8B6B-FD0B823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从一份原始数据表开始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F8697-CFE4-4786-AE0D-DE86AC1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先检查缺失值和异常记录，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再做统计、画图，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说明图中的差异能支持什么判断。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99F8B-6C1C-4CC4-BDFD-818F103E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29225"/>
            <a:ext cx="12620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7D3D8-F8BD-4914-83E2-239700E3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E92C1-DCE1-4675-8634-4E8A01E7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245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对照申报要求，整理材料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1E513-7A04-40AD-BEE6-9E9D01B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1982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从指南与研究者已有材料开始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947C4-7A79-404C-BFC7-F330F6EB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逐项找出要求，匹配已有内容；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缺证据的地方明确标出，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最后整理成可以继续修改的 Word。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AA12B-F3A5-4C05-B599-0F0924D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39025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讲到对应章节时，再介绍案例背景、材料来源，并带着大家操作。</a:t>
            </a:r>
          </a:p>
        </p:txBody>
      </p:sp>
    </p:spTree>
    <p:extLst>
      <p:ext uri="{BB962C8B-B14F-4D97-AF65-F5344CB8AC3E}">
        <p14:creationId xmlns:p14="http://schemas.microsoft.com/office/powerpoint/2010/main" val="1104947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2026-10-17T08:35:14.2500000Z</dcterms:created>
  <dcterms:modified xsi:type="dcterms:W3CDTF">2026-10-17T08:35:14.2510000Z</dcterms:modified>
</coreProperties>
</file>