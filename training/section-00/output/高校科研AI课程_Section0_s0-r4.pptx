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6105ef8324a34" /><Relationship Type="http://schemas.openxmlformats.org/officeDocument/2006/relationships/extended-properties" Target="/docProps/app.xml" Id="R58fb5efab3d34882" /><Relationship Type="http://schemas.openxmlformats.org/officeDocument/2006/relationships/officeDocument" Target="/ppt/presentation.xml" Id="Rdd8ac56428d446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c6cd4a7784e83"/>
  </p:sldMasterIdLst>
  <p:notesMasterIdLst>
    <p:notesMasterId xmlns:r="http://schemas.openxmlformats.org/officeDocument/2006/relationships" r:id="R4c0e0022f4da4bf9"/>
  </p:notesMasterIdLst>
  <p:sldIdLst>
    <p:sldId xmlns:r="http://schemas.openxmlformats.org/officeDocument/2006/relationships" id="256" r:id="R0c0efe8b412c4546"/>
    <p:sldId xmlns:r="http://schemas.openxmlformats.org/officeDocument/2006/relationships" id="257" r:id="R632bb435d69244bb"/>
    <p:sldId xmlns:r="http://schemas.openxmlformats.org/officeDocument/2006/relationships" id="258" r:id="R670de42da71f40b5"/>
    <p:sldId xmlns:r="http://schemas.openxmlformats.org/officeDocument/2006/relationships" id="259" r:id="R64a57dcb957543a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1664252a1c4272" /><Relationship Type="http://schemas.openxmlformats.org/officeDocument/2006/relationships/slideMaster" Target="/ppt/slideMasters/slideMaster1.xml" Id="R297c6cd4a7784e83" /><Relationship Type="http://schemas.openxmlformats.org/officeDocument/2006/relationships/notesMaster" Target="/ppt/notesMasters/notesMaster1.xml" Id="R4c0e0022f4da4bf9" /><Relationship Type="http://schemas.openxmlformats.org/officeDocument/2006/relationships/presProps" Target="/ppt/presProps.xml" Id="Refb448780a594984" /><Relationship Type="http://schemas.openxmlformats.org/officeDocument/2006/relationships/tableStyles" Target="/ppt/tableStyles.xml" Id="R8ee8950d3df342d5" /><Relationship Type="http://schemas.openxmlformats.org/officeDocument/2006/relationships/slide" Target="/ppt/slides/slide1.xml" Id="R0c0efe8b412c4546" /><Relationship Type="http://schemas.openxmlformats.org/officeDocument/2006/relationships/slide" Target="/ppt/slides/slide2.xml" Id="R632bb435d69244bb" /><Relationship Type="http://schemas.openxmlformats.org/officeDocument/2006/relationships/slide" Target="/ppt/slides/slide3.xml" Id="R670de42da71f40b5" /><Relationship Type="http://schemas.openxmlformats.org/officeDocument/2006/relationships/slide" Target="/ppt/slides/slide4.xml" Id="R64a57dcb9575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4187a6e1ff43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0634f2ae5d4f9f" /><Relationship Type="http://schemas.openxmlformats.org/officeDocument/2006/relationships/notesMaster" Target="/ppt/notesMasters/notesMaster1.xml" Id="R82c31d9bb50f43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65f24599224e18" /><Relationship Type="http://schemas.openxmlformats.org/officeDocument/2006/relationships/notesMaster" Target="/ppt/notesMasters/notesMaster1.xml" Id="Re53363e2abd848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8e24c2febc4bd5" /><Relationship Type="http://schemas.openxmlformats.org/officeDocument/2006/relationships/notesMaster" Target="/ppt/notesMasters/notesMaster1.xml" Id="Rd2060dfce0564a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1fb7856ef44e8a" /><Relationship Type="http://schemas.openxmlformats.org/officeDocument/2006/relationships/notesMaster" Target="/ppt/notesMasters/notesMaster1.xml" Id="R50f229cd0aa149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高校教师常见的文献、数据和项目材料介绍课程。全程讲授和讲师演示，不安排学员操作或提交。课程既讲操作，也解释为什么这样做。原理以帮助选择工具、组织任务和检查结果为限。约240页含延伸材料，不能按页数承诺授课效果。培训单位、讲师姓名和日期未获确认，不虚构这些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模块对应客户原课程。第一模块解释AI能力、常见失误、Agent概念和Humanizer。第二模块沿选题、文献、方案、数据和图表展开。第三模块将证据组织成论文、申报材料和技术交底。第四模块讲项目执行、结题、汇报和传播，再用本地与云端流程贯通前面的内容。这里只介绍课程位置，不逐项念标题。Humanizer单独成章，也用于其他章节的文字；Harness指任务执行管理，第2节讲框架，第14节看实际记录。箭头表示本课程讲授顺序，不表示科学研究不能返回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参考：Dawn Song，UC Berkeley CS294/194-196 Agentic AI，Fall 2025，Introduction，物理页6、10、19。</a:t>
            </a:r>
          </a:p>
          <a:p xmlns:a="http://schemas.openxmlformats.org/drawingml/2006/main">
            <a:r>
              <a:t>https://rdi.berkeley.edu/agentic-ai/slides/introduction_25.pdf</a:t>
            </a:r>
          </a:p>
          <a:p xmlns:a="http://schemas.openxmlformats.org/drawingml/2006/main">
            <a:r>
              <a:t>借鉴主题分组、动作反馈与可复查过程的组织；未采用旧产品状态、排名、预测、作业或考核。中文安排为本课程编写。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午180分钟，下午210分钟，合计390分钟。扣除两次10分钟短休，正式授课370分钟；午间90分钟不计入授课。另备110分钟延伸讲授，包括补充案例解释、图表读解和讲师演示，合计480分钟素材。不安排课堂练习、分组任务、账户操作或学员提交。240页包括正式讲授和延伸材料，现场按讲师节奏选择深度。分钟分配是备课安排，不能当作真人彩排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依据：客户指定时段和8小时备课要求；本课程安排两次10分钟短休，分钟按时段计算。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条材料到结果的路径说明讲师会展示什么。文献演示回到原文，判断摘录能否支持结论。数据演示从公开CSV开始，检查缺失、比较对象和方法，再算结果、做图。申报演示从适用指南、已有研究材料和模板开始，将要求对应到内容，保留缺口。三条路径不是同一项研究，也不要求学员现场打开材料。案例到对应章节再介绍背景和来源。公开论文、公开企鹅数据和自编指南分别登记；TEACH-GRANT-01不是官方基金指南。AI编写与修订的文字另注明属性。图表示演示组织，不冒充执行截图；实际运行情况看对应章节记录和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参考：Dawn Song，UC Berkeley CS294/194-196 Agentic AI，Fall 2025，Introduction，物理页6、10、19。</a:t>
            </a:r>
          </a:p>
          <a:p xmlns:a="http://schemas.openxmlformats.org/drawingml/2006/main">
            <a:r>
              <a:t>https://rdi.berkeley.edu/agentic-ai/slides/introduction_25.pdf</a:t>
            </a:r>
          </a:p>
          <a:p xmlns:a="http://schemas.openxmlformats.org/drawingml/2006/main">
            <a:r>
              <a:t>借鉴主题分组、动作反馈与可复查过程的组织；未采用旧产品状态、排名、预测、作业或考核。中文安排为本课程编写。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1e529c9a849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b1a42612f544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6cd09d87341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8eebfc40540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e464adf824a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e8456056b43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F238E2-675F-4B5B-A6EC-A4E3D56AA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EE0AF1-31BC-4C96-A470-B9E8F46B1C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78B181-7C6C-46F4-9A71-0C88177F14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D230D4-78BB-4FF2-A19F-7D1E61665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8C9CD9-A756-4F98-96FA-A33915B012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65EB5F-0118-497C-9575-D0E243F64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87E910-A170-41AD-BAD0-D3F14A2C25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4873A1-8380-4B29-9FE9-98D4FA9C3A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4DA7A4-0FDE-481B-BE65-E6A238D4EB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15C58D-B4D9-4FC9-977C-BCACEEE6F6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63ac80370648fe" /><Relationship Type="http://schemas.openxmlformats.org/officeDocument/2006/relationships/slideLayout" Target="/ppt/slideLayouts/slideLayout1.xml" Id="R55112bdfc9ea4354" /><Relationship Type="http://schemas.openxmlformats.org/officeDocument/2006/relationships/slideLayout" Target="/ppt/slideLayouts/slideLayout2.xml" Id="R18c1a84417ee4bcc" /><Relationship Type="http://schemas.openxmlformats.org/officeDocument/2006/relationships/slideLayout" Target="/ppt/slideLayouts/slideLayout3.xml" Id="R7c9b5c82e6fb44be" /><Relationship Type="http://schemas.openxmlformats.org/officeDocument/2006/relationships/slideLayout" Target="/ppt/slideLayouts/slideLayout4.xml" Id="R19954ec689eb45f0" /><Relationship Type="http://schemas.openxmlformats.org/officeDocument/2006/relationships/slideLayout" Target="/ppt/slideLayouts/slideLayout5.xml" Id="R61038b1b8a8c41f4" /><Relationship Type="http://schemas.openxmlformats.org/officeDocument/2006/relationships/slideLayout" Target="/ppt/slideLayouts/slideLayout6.xml" Id="R13f4429bae7c44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112bdfc9ea4354"/>
    <p:sldLayoutId xmlns:r="http://schemas.openxmlformats.org/officeDocument/2006/relationships" id="2147483650" r:id="R18c1a84417ee4bcc"/>
    <p:sldLayoutId xmlns:r="http://schemas.openxmlformats.org/officeDocument/2006/relationships" id="2147483651" r:id="R7c9b5c82e6fb44be"/>
    <p:sldLayoutId xmlns:r="http://schemas.openxmlformats.org/officeDocument/2006/relationships" id="2147483652" r:id="R19954ec689eb45f0"/>
    <p:sldLayoutId xmlns:r="http://schemas.openxmlformats.org/officeDocument/2006/relationships" id="2147483653" r:id="R61038b1b8a8c41f4"/>
    <p:sldLayoutId xmlns:r="http://schemas.openxmlformats.org/officeDocument/2006/relationships" id="2147483654" r:id="R13f4429bae7c44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cb1319838e4d36" /><Relationship Type="http://schemas.openxmlformats.org/officeDocument/2006/relationships/notesSlide" Target="/ppt/notesSlides/notesSlide1.xml" Id="R923e717eccc140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9fb4281d684fe3" /><Relationship Type="http://schemas.openxmlformats.org/officeDocument/2006/relationships/notesSlide" Target="/ppt/notesSlides/notesSlide2.xml" Id="R861b3935e8ff43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b8b0a2646f4c86" /><Relationship Type="http://schemas.openxmlformats.org/officeDocument/2006/relationships/notesSlide" Target="/ppt/notesSlides/notesSlide3.xml" Id="R05e4e5a610214c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2b22e213ad4787" /><Relationship Type="http://schemas.openxmlformats.org/officeDocument/2006/relationships/notesSlide" Target="/ppt/notesSlides/notesSlide4.xml" Id="R736e21b9851a4c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268D5-5030-4FD0-9A38-520533FF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高校科研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3E6CB-F670-4DEB-860A-3954939A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实务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A2ECE-CD35-4B6A-B0CD-70ADCE8D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文献、数据、论文与项目材料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8FFEB-9A88-466C-BD7F-C6754B77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1285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面向高校教师与科研人员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03302-5874-46E2-B94A-0A0660D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143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SECTION 0</a:t>
            </a:r>
          </a:p>
        </p:txBody>
      </p:sp>
    </p:spTree>
    <p:extLst>
      <p:ext uri="{BB962C8B-B14F-4D97-AF65-F5344CB8AC3E}">
        <p14:creationId xmlns:p14="http://schemas.microsoft.com/office/powerpoint/2010/main" val="878627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78BDF-1A20-4789-A92D-BFBBAD861AA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37385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F3EF0-F758-476E-8F03-E70016E1A5D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239000" y="37385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D6D3D-A086-45F7-A1AF-83586BF3C95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7385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9006C-8DB2-43DA-BB6D-3D5FCB5A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课程顺序与四个模块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D41B7-491F-4FF1-865C-725BB22F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681E3-79D3-4697-84F1-AEFD5B91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ACA6A-DE83-4F7D-A48B-7CD5112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9422E-3B81-4C64-B4FF-89A7C4C9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先理解用法与限制，再沿科研过程展开，最后查看完整文件流程。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8F33C-A3E5-4EAB-A167-1CD0DA1F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一  AI科研基本功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0A433-5EC4-43F5-9E84-E8038AC1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二  科研全流程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44EE5-8A90-40D5-AA72-577FE23F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三  论文与项目产出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923DA-9122-4C79-8985-33EA8C93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四  结题与影响力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1D8B2-51D0-4DF4-964E-8F8F510F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01  能力、原理与边界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02  Agent与工作流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03  Humanizer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49F59-D77A-41E9-A535-CC7883C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05  文献检索与综述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07  数据处理与统计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08  科研图表与路线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73545-BC69-4EE6-AB5A-32D056D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09  论文、投稿与返修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10  基金申报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11  专利与技术交底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1DEF2-2916-4FF4-9322-E201062D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13  科研汇报与传播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14  本地与云端演示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9D175-37A9-40C7-88E0-58E0CC29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Harness在第2节解释执行管理，在第14节结合输入、运行记录和文件演示。</a:t>
            </a:r>
          </a:p>
        </p:txBody>
      </p:sp>
    </p:spTree>
    <p:extLst>
      <p:ext uri="{BB962C8B-B14F-4D97-AF65-F5344CB8AC3E}">
        <p14:creationId xmlns:p14="http://schemas.microsoft.com/office/powerpoint/2010/main" val="1051000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A4F98-5DCC-4332-81AA-09E80EA6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当天时段与八小时备课素材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CE48B-4927-4965-9DA5-70F8467C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AEEF2-6B32-44FB-A7CC-AE4C2A16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41BB2-0EE3-4624-BF7B-D2EC54A3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26DB8-8279-4975-95FB-D4779D7C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现场时段按09:00–12:00、13:30–17:00安排；延伸内容供讲师按进度选讲。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1F2A6-6D79-4B04-B547-F48F0B5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09:00–12:00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62E96-5A1C-4221-A625-41D9B152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13:30–17:00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10AB2-434D-4FB3-994E-8E9F2476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38500"/>
            <a:ext cx="928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科研基本功与研究准备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8766B-B8C4-4FA1-83B5-6318FA04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48125"/>
            <a:ext cx="928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原理与常见概念、Humanizer；选题、文献与研究方案。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C2093-A01F-4E65-8C92-2B268219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43500"/>
            <a:ext cx="928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数据分析与科研成果制作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18F9E-2369-4741-95E1-8CBEEF80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53125"/>
            <a:ext cx="928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数据与图表、论文、申报、专利、结题、传播与完整流程。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34B37-4C50-41AF-8CA7-16EF229B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短休：10:20–10:30、15:00–15:10；午间：12:00–13:30。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0FF0A-F955-4B72-9603-B5E65EE6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正式授课370分钟 ＋ 延伸讲授110分钟 ＝ 480分钟备课素材</a:t>
            </a:r>
          </a:p>
        </p:txBody>
      </p:sp>
    </p:spTree>
    <p:extLst>
      <p:ext uri="{BB962C8B-B14F-4D97-AF65-F5344CB8AC3E}">
        <p14:creationId xmlns:p14="http://schemas.microsoft.com/office/powerpoint/2010/main" val="883690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B9A1A-85BA-48AF-8E5F-A19528A32D3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239250" y="6596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3F691-70F0-4EE8-8AE1-07F61F0F8F6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191000" y="6596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BAEC3-CE6B-4BD9-82BE-3FBBA33CC8B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39250" y="51673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FDC5D-6BEE-476A-8216-C4D56DE6AF1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91000" y="51673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0B5C7-640D-4ECC-8803-08DCBAC0606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39250" y="37385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2887B-C281-434E-93E7-85A37A9AA16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91000" y="37385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32B6F-00D0-4123-9699-9A31682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讲师演示中的材料、动作与结果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F6196-C936-4B1E-84C9-C00A5C7A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01930-BD2F-4623-AF60-B5D5C7B3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83BE3-E54F-40CC-9F1A-1AF8B5E4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2C570-B5E7-4A00-9C87-E4E4FD8A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每个演示都说明材料来自哪里、工具实际做了什么，以及结果怎样检查。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31C90-251D-4E4B-926A-5769D4E4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论文原文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2240E-9666-4DAD-AEBB-D93654A0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定位支持结论的段落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BE956-ACC3-4595-A133-80B4CAB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摘录、原文位置与适用条件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4F937-DA41-42B0-B4CA-DA08F373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公开数据表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6F951-EC3B-4988-BEB4-B067D83E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检查数据、计算与绘图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9267C-4E7D-48C8-94ED-2AE914EC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可复算结果与可编辑数据图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4A31F-30E2-43EA-B35B-08B689B9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指南、材料与模板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F02EE-4D3F-4089-9CEC-EC62B289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1912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逐项对应并整理章节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94548-DA56-4650-9AD4-8C1101AB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Word草稿、来源与缺口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33A22-41F1-494E-9F19-CC55AB68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72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公开原件、教学模拟和AI草稿分别注明；生成文件后，仍需核对科学内容。</a:t>
            </a:r>
          </a:p>
        </p:txBody>
      </p:sp>
    </p:spTree>
    <p:extLst>
      <p:ext uri="{BB962C8B-B14F-4D97-AF65-F5344CB8AC3E}">
        <p14:creationId xmlns:p14="http://schemas.microsoft.com/office/powerpoint/2010/main" val="2041014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2026-10-19T01:58:27.5900000Z</dcterms:created>
  <dcterms:modified xsi:type="dcterms:W3CDTF">2026-10-19T01:58:27.5900000Z</dcterms:modified>
</coreProperties>
</file>