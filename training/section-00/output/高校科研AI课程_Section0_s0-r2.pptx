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cae0fd790c4a90" /><Relationship Type="http://schemas.openxmlformats.org/officeDocument/2006/relationships/extended-properties" Target="/docProps/app.xml" Id="R03faf8e488954714" /><Relationship Type="http://schemas.openxmlformats.org/officeDocument/2006/relationships/officeDocument" Target="/ppt/presentation.xml" Id="Rd9d3943717664f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404039fc9b4384"/>
  </p:sldMasterIdLst>
  <p:notesMasterIdLst>
    <p:notesMasterId xmlns:r="http://schemas.openxmlformats.org/officeDocument/2006/relationships" r:id="R073e2b323ff64432"/>
  </p:notesMasterIdLst>
  <p:sldIdLst>
    <p:sldId xmlns:r="http://schemas.openxmlformats.org/officeDocument/2006/relationships" id="256" r:id="R79a0340b03624780"/>
    <p:sldId xmlns:r="http://schemas.openxmlformats.org/officeDocument/2006/relationships" id="257" r:id="R976a0b9a18e94805"/>
    <p:sldId xmlns:r="http://schemas.openxmlformats.org/officeDocument/2006/relationships" id="258" r:id="R25399638988c4c66"/>
    <p:sldId xmlns:r="http://schemas.openxmlformats.org/officeDocument/2006/relationships" id="259" r:id="R04d3dfc2adca425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216287f5cb42e1" /><Relationship Type="http://schemas.openxmlformats.org/officeDocument/2006/relationships/slideMaster" Target="/ppt/slideMasters/slideMaster1.xml" Id="R59404039fc9b4384" /><Relationship Type="http://schemas.openxmlformats.org/officeDocument/2006/relationships/notesMaster" Target="/ppt/notesMasters/notesMaster1.xml" Id="R073e2b323ff64432" /><Relationship Type="http://schemas.openxmlformats.org/officeDocument/2006/relationships/presProps" Target="/ppt/presProps.xml" Id="R10cc3a3104a3491f" /><Relationship Type="http://schemas.openxmlformats.org/officeDocument/2006/relationships/tableStyles" Target="/ppt/tableStyles.xml" Id="Rac3a339a94fe48e7" /><Relationship Type="http://schemas.openxmlformats.org/officeDocument/2006/relationships/slide" Target="/ppt/slides/slide1.xml" Id="R79a0340b03624780" /><Relationship Type="http://schemas.openxmlformats.org/officeDocument/2006/relationships/slide" Target="/ppt/slides/slide2.xml" Id="R976a0b9a18e94805" /><Relationship Type="http://schemas.openxmlformats.org/officeDocument/2006/relationships/slide" Target="/ppt/slides/slide3.xml" Id="R25399638988c4c66" /><Relationship Type="http://schemas.openxmlformats.org/officeDocument/2006/relationships/slide" Target="/ppt/slides/slide4.xml" Id="R04d3dfc2adca42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127e0bb69842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4605958cda494c" /><Relationship Type="http://schemas.openxmlformats.org/officeDocument/2006/relationships/notesMaster" Target="/ppt/notesMasters/notesMaster1.xml" Id="R1b34730936af49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7fd014682f4589" /><Relationship Type="http://schemas.openxmlformats.org/officeDocument/2006/relationships/notesMaster" Target="/ppt/notesMasters/notesMaster1.xml" Id="R45f1574d1aed46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2cbbb3cbfa4997" /><Relationship Type="http://schemas.openxmlformats.org/officeDocument/2006/relationships/notesMaster" Target="/ppt/notesMasters/notesMaster1.xml" Id="Re98b3918190444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82d5d2e55a4fb7" /><Relationship Type="http://schemas.openxmlformats.org/officeDocument/2006/relationships/notesMaster" Target="/ppt/notesMasters/notesMaster1.xml" Id="R64089ae969454e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请学员带入一件自己的科研任务，例如读论文、处理数据或准备项目材料。课程既讲操作，也解释为什么这样做。原理以帮助选择工具、组织任务和检查结果为限。约240页含延伸材料，不能按页数承诺授课效果。培训单位、讲师姓名和日期未获确认，不虚构这些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共14个内容章节，另有本节课程导入。新增的概念与Humanizer分别占独立章节。概念章先用同一任务比较“给建议”和“执行工具得到文件”，再解释Agentic AI、Agent、Workflow、Skill、MCP与Harness。不能把ChatGPT和Codex直接当作两种互斥概念。Harness在第2章解释框架，在第14章结合真实流程讲运行、记录与恢复。此页是全课规划，不表示后续章节已制作或验收。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时段上午180分钟，下午210分钟，合计390分钟；扣除两次10分钟短休，授课370分钟。另备110分钟延伸材料，备课总量480分钟。约240页包含备用案例、演示和练习，不把所有页面都算作现场必讲。具体章节边界和演示时长随彩排调整，此页不构成已完成彩排的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本节材料包实际包含：公开PLOS ONE论文Heinrich等2025，DOI 10.1371/journal.pone.0328041，CC BY4.0；palmerpenguins公开CSV，CC0；项目已有TEACH-GRANT-01教学指南JSON与DOCX练习模板。JSON是任务说明文件，本节先认识用途，Grant章节提供读得懂的呈现，不要求学员手写代码。模板六个章节仅属教学模拟，不是2026面上或青C正式申请模板。涉及真实未发表材料时另按所在单位要求选择工具，不把个人材料上传到本节公开示例中。来源及文件哈希随materials-manifest.json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7c8b48fcb48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d4cd8bb4943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428f1f8194c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d204d3de545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df5c4dbbf41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61898694d40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F57B64-BA52-4B9C-B66B-670D3B17F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F1B9CF-25BC-4F2A-BA77-91453BFC50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99A455-8800-4BEE-BFEE-9C4FA997E5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235040-DC3A-47B5-ACBF-CBE42A5FED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088647-A91B-4A4C-B9BC-9AD21FA9B2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0859CA-312C-439A-9C71-378B698A6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1B8EDF-3AA6-4D1A-8B48-A438AB1BB7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6E545B-EFE6-4EE8-83AD-090CD26C64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C9319B-C758-46C6-82A3-D1A97EB25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2209B1-037F-4AC2-AD19-11910451DA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7a333aca32472a" /><Relationship Type="http://schemas.openxmlformats.org/officeDocument/2006/relationships/slideLayout" Target="/ppt/slideLayouts/slideLayout1.xml" Id="R09adec96efbb4a2e" /><Relationship Type="http://schemas.openxmlformats.org/officeDocument/2006/relationships/slideLayout" Target="/ppt/slideLayouts/slideLayout2.xml" Id="Red3ded88ff924bbf" /><Relationship Type="http://schemas.openxmlformats.org/officeDocument/2006/relationships/slideLayout" Target="/ppt/slideLayouts/slideLayout3.xml" Id="Rdb3359ec391c4e2c" /><Relationship Type="http://schemas.openxmlformats.org/officeDocument/2006/relationships/slideLayout" Target="/ppt/slideLayouts/slideLayout4.xml" Id="Rce525ec974bf4e51" /><Relationship Type="http://schemas.openxmlformats.org/officeDocument/2006/relationships/slideLayout" Target="/ppt/slideLayouts/slideLayout5.xml" Id="Rc985a9577e4c4a50" /><Relationship Type="http://schemas.openxmlformats.org/officeDocument/2006/relationships/slideLayout" Target="/ppt/slideLayouts/slideLayout6.xml" Id="Ra4a6193ab0b24a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dec96efbb4a2e"/>
    <p:sldLayoutId xmlns:r="http://schemas.openxmlformats.org/officeDocument/2006/relationships" id="2147483650" r:id="Red3ded88ff924bbf"/>
    <p:sldLayoutId xmlns:r="http://schemas.openxmlformats.org/officeDocument/2006/relationships" id="2147483651" r:id="Rdb3359ec391c4e2c"/>
    <p:sldLayoutId xmlns:r="http://schemas.openxmlformats.org/officeDocument/2006/relationships" id="2147483652" r:id="Rce525ec974bf4e51"/>
    <p:sldLayoutId xmlns:r="http://schemas.openxmlformats.org/officeDocument/2006/relationships" id="2147483653" r:id="Rc985a9577e4c4a50"/>
    <p:sldLayoutId xmlns:r="http://schemas.openxmlformats.org/officeDocument/2006/relationships" id="2147483654" r:id="Ra4a6193ab0b24a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5ff9119684b37" /><Relationship Type="http://schemas.openxmlformats.org/officeDocument/2006/relationships/notesSlide" Target="/ppt/notesSlides/notesSlide1.xml" Id="Rb4495924b70843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d8b79ee344748" /><Relationship Type="http://schemas.openxmlformats.org/officeDocument/2006/relationships/notesSlide" Target="/ppt/notesSlides/notesSlide2.xml" Id="Ra457b3b40dcf44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2683aafc642fa" /><Relationship Type="http://schemas.openxmlformats.org/officeDocument/2006/relationships/notesSlide" Target="/ppt/notesSlides/notesSlide3.xml" Id="R5bb6726ea2e349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e6feace1946e4" /><Relationship Type="http://schemas.openxmlformats.org/officeDocument/2006/relationships/notesSlide" Target="/ppt/notesSlides/notesSlide4.xml" Id="R6f32514e9b6f4b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77275-4A58-4A90-BCE8-558231E7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高校科研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DE55B-0378-41F9-ADB9-C94D0977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实务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DDF90-DCAC-4E5E-B0A1-CFCFFE58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文献、数据、论文与项目材料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47514-73E9-4231-BCBD-D8877523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96125"/>
            <a:ext cx="1285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面向高校教师与科研人员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7E78D-50C7-4000-AE2C-2C2D256E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143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DE8ED"/>
                </a:solidFill>
                <a:latin typeface="Microsoft YaHei"/>
                <a:ea typeface="Microsoft YaHei"/>
                <a:cs typeface="Microsoft YaHei"/>
              </a:rPr>
              <a:t>SECTION 0</a:t>
            </a:r>
          </a:p>
        </p:txBody>
      </p:sp>
    </p:spTree>
    <p:extLst>
      <p:ext uri="{BB962C8B-B14F-4D97-AF65-F5344CB8AC3E}">
        <p14:creationId xmlns:p14="http://schemas.microsoft.com/office/powerpoint/2010/main" val="901395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DF3D8F-E066-4EDA-9A1F-918ACBA4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这门课按什么顺序学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21256-5582-476C-9985-8EDCF913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3BACA-807C-4D94-926A-C6FD948F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47296-ECB2-45D1-BBB3-B2B891BD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4A9D2-C720-40EE-8972-DFACF6FF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基础与研究准备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516F5-BB4D-4665-A19A-7CF7ECF9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9775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成果制作与完整流程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C8C25-AE53-42D6-A296-CD5483AA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ABB69-9772-4A46-B4C6-CF782B72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6700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 AI 上手与基本原理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5DD55-364C-49C9-AEAD-0290532F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提问、提供材料，理解常见失误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4DF2F-757D-4298-9055-8C556C28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06341-8625-4E3F-91E0-09171EAC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6232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认识会做事的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9F004-9479-4A1F-9CF0-2EB67682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7190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ChatGPT、Codex、Agent 与 Harness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B286A-8909-4F09-8280-E3C1F474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1163F-687F-449B-A580-89F3D3A1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Humanizer：把话写清楚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98F54-2ED0-4F8E-B30B-00ABD1D6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6722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论文、PPT、报告怎样写得自然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ACCEE-6649-4F4F-A26D-A4B553A4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684CC-5155-402F-A126-F50539D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5297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选题与研究问题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E2B49-7948-474F-B56B-6A477D74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6255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比较候选方向，提出具体问题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94729-03F6-420D-A868-98704963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A265A-A67D-4297-BB59-C9CCAA74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4830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文献检索、阅读与综述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E0D47-FB3B-4BCD-9704-DC458013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5787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找到论文，读原文，比较结论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0B62F-39E2-4414-BE18-75220A0B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24D7D-88D5-47FB-9969-B4DDD4E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14362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研究与实验方案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1B581-49B4-4AA2-8D99-7F1DECFF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55320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确定对象、比较办法与测量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2CDBB-AE14-4BED-8E86-6C6398B0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89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C8287-2678-4FE5-9C57-379D6350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83895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数据处理与统计分析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5D179-1858-4BEA-9893-B61680F4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24852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检查数据，运行代码，解释结果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0C9C78-5826-4B11-AA8A-7FA0E847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791116-9149-489B-9C8E-3C3C2F4C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6700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科研图表与技术路线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51C10B-EF3F-414E-820E-3895D94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数据图、示意图与可编辑路线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CE895-8EE0-401A-AA78-8CCEFF5F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623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93298E-CB37-421A-9094-6D92E986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6232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论文写作、投稿与返修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375AF1-6A5C-47DC-8F96-0268919B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7190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组织证据，修改段落，回应意见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C0D1F9-0A40-4FAE-97EF-220FC376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5B7117-0052-4363-8FA8-82C3398D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5765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基金申报与 Grant Agent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3EE43B-4542-4933-819E-991CB17F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6722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指南、研究者材料与 Word 文件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44422C-98FA-401B-BF58-8E9F15EE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529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3555C7-373B-4FC9-80FC-D1B3222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专利挖掘与技术交底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E07006-4714-496D-B799-17F774C4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6255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已有技术、实施办法与附图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CDD98F-0D48-4244-AA77-234ADC4F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113890-F5D2-42B7-8ADE-24689E6A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4830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项目执行与结题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11A736-899E-44A9-9718-7C512E43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85787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进展、成果与证明材料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970089-1B67-41BC-A597-DE2C0EF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436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EFDBA3-D937-4459-B5F6-520A0403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143625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科研汇报与成果传播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D3AF15-EB83-4716-B6CA-56889A9C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53200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组会、答辩、项目汇报与介绍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CDE1E9-88CE-4E6E-829D-71A3BD9D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8389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868A66-F6D9-4179-965B-DD020A8D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838950"/>
            <a:ext cx="557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本地与云端 Agent 实操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419813-FBE6-4730-B89D-FB1A398C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248525"/>
            <a:ext cx="557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同一套 Skill，连续执行与恢复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200C7C-3712-49A2-B6B9-35052BFC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15250"/>
            <a:ext cx="1371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Agent：能调用工具、分步执行任务的 AI 助手。相关概念会用同一个例子逐步解释。</a:t>
            </a:r>
          </a:p>
        </p:txBody>
      </p:sp>
    </p:spTree>
    <p:extLst>
      <p:ext uri="{BB962C8B-B14F-4D97-AF65-F5344CB8AC3E}">
        <p14:creationId xmlns:p14="http://schemas.microsoft.com/office/powerpoint/2010/main" val="1118822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DC857-4D11-4BD9-8215-0538EF2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当天怎样安排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EB0AF-59EB-4726-8D89-A2110B59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D7B56-AB3E-4D8A-B07E-2FDC8EA0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99096-A9B6-4D3A-8F95-AD832EFA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F15B0-BE5C-487A-823E-D2B45345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423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09:00–12:00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28C9C-CE3E-4452-996C-D0A32316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8620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科研基本功与研究准备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59E4E-A49F-484E-B715-8FD4DAB6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862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AI 的用法与原理、常见概念与 Humanizer；</a:t>
            </a:r>
          </a:p>
          <a:p xmlns:a="http://schemas.openxmlformats.org/drawingml/2006/main">
            <a: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选题、文献阅读和研究方案。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3062B-1D0E-4AEC-8F2E-3DCE87E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EC6F1-AA37-4E0E-ABE6-133CA096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4238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2D40"/>
                </a:solidFill>
                <a:latin typeface="Microsoft YaHei"/>
                <a:ea typeface="Microsoft YaHei"/>
                <a:cs typeface="Microsoft YaHei"/>
              </a:rPr>
              <a:t>13:30–17:00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D3ED7-0B84-497D-B425-170A8CEB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8620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数据分析与科研成果制作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ABBD9-D837-4375-A840-4DA9BD8E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10250"/>
            <a:ext cx="862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数据分析、科研图表、论文、申报与专利；</a:t>
            </a:r>
          </a:p>
          <a:p xmlns:a="http://schemas.openxmlformats.org/drawingml/2006/main">
            <a:pPr>
              <a:def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项目结题、科研汇报和完整 Agent 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30D06-D4C0-4448-A2AE-37914A12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10:20–10:30、15:00–15:10 休息。12:00–13:30 午间休息。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8F639-AF9A-4F68-A271-7A696C53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9525"/>
            <a:ext cx="1371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正式授课 370 分钟，另备 110 分钟延伸案例与练习，共 8 小时素材。</a:t>
            </a:r>
          </a:p>
        </p:txBody>
      </p:sp>
    </p:spTree>
    <p:extLst>
      <p:ext uri="{BB962C8B-B14F-4D97-AF65-F5344CB8AC3E}">
        <p14:creationId xmlns:p14="http://schemas.microsoft.com/office/powerpoint/2010/main" val="1524453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CD37A-E2D2-456D-8CF6-96542FE3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课前打开这三组材料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F05FB-09D1-402A-9350-FB82A17F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B8BE3-1A20-4C05-A60D-ACB21A27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1257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课程导入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748A1-681E-484D-986C-CD369CB6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99147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0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31F35-C58A-43AD-B9DD-E6EA09C8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37C6F-4924-4912-AFEF-CE91EE7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3360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公开论文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58C46-029C-487D-A732-B4E03AA9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28925"/>
            <a:ext cx="547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paper.pdf · PLOS ONE（2025）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A1D4C-46B9-489A-8745-CF55D9F5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6334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打开原文，核对 AI 回答中的说法。</a:t>
            </a:r>
          </a:p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再把有依据的内容存成阅读笔记。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C8554-BDA3-4E2F-87EA-B0403D7C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33775"/>
            <a:ext cx="12620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BAE37-0051-4035-9A89-E36AF70D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F1DAB-79F7-433E-A24F-DB3B9F60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2905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公开数据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8C5CE-1A77-4B96-913C-A8FFCC01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24375"/>
            <a:ext cx="547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penguins.csv · palmerpenguins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B6345-D223-4580-A07D-C4CD5280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6334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用企鹅观测记录练习检查缺失值，</a:t>
            </a:r>
          </a:p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运行统计，再画出有数据依据的图。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C9454-9950-4CDB-981D-6BF6E91F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29225"/>
            <a:ext cx="12620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3DD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65421-91AB-4393-B82F-395F67E5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9442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1E7AA-CFA4-437B-AFB8-8BB7BAA7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2450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教学任务与 Word 模板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FD7A4-9DA9-4292-836D-30326ADE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219825"/>
            <a:ext cx="547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707A"/>
                </a:solidFill>
                <a:latin typeface="Microsoft YaHei"/>
                <a:ea typeface="Microsoft YaHei"/>
                <a:cs typeface="Microsoft YaHei"/>
              </a:rPr>
              <a:t>guide.json、template.docx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76A4F-D80D-4259-9A44-1F1EA0A3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6334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对照任务要求，认识 Word 中的章节。</a:t>
            </a:r>
          </a:p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两份材料均为教学模拟，</a:t>
            </a:r>
          </a:p>
          <a:p xmlns:a="http://schemas.openxmlformats.org/drawingml/2006/main">
            <a: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不能用作正式申报指南与模板。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A02D1-BDC7-4AF3-A57B-6876468A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39025"/>
            <a:ext cx="13716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6D66"/>
                </a:solidFill>
                <a:latin typeface="Microsoft YaHei"/>
                <a:ea typeface="Microsoft YaHei"/>
                <a:cs typeface="Microsoft YaHei"/>
              </a:rPr>
              <a:t>先解压课程材料，用 PDF 阅读器、表格软件和 Word 分别打开。练习可从提供的示例开始。</a:t>
            </a:r>
          </a:p>
        </p:txBody>
      </p:sp>
    </p:spTree>
    <p:extLst>
      <p:ext uri="{BB962C8B-B14F-4D97-AF65-F5344CB8AC3E}">
        <p14:creationId xmlns:p14="http://schemas.microsoft.com/office/powerpoint/2010/main" val="1895186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2026-10-17T08:28:44.2670000Z</dcterms:created>
  <dcterms:modified xsi:type="dcterms:W3CDTF">2026-10-17T08:28:44.2680000Z</dcterms:modified>
</coreProperties>
</file>