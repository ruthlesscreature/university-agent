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84b1ac09b4ff7" /><Relationship Type="http://schemas.openxmlformats.org/officeDocument/2006/relationships/extended-properties" Target="/docProps/app.xml" Id="R21bd401845514c7d" /><Relationship Type="http://schemas.openxmlformats.org/officeDocument/2006/relationships/officeDocument" Target="/ppt/presentation.xml" Id="Ra170c0d4bca842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66f9f263004650"/>
  </p:sldMasterIdLst>
  <p:notesMasterIdLst>
    <p:notesMasterId xmlns:r="http://schemas.openxmlformats.org/officeDocument/2006/relationships" r:id="Rd870a9696d3840aa"/>
  </p:notesMasterIdLst>
  <p:sldIdLst>
    <p:sldId xmlns:r="http://schemas.openxmlformats.org/officeDocument/2006/relationships" id="256" r:id="Rd3e730326b9d439d"/>
    <p:sldId xmlns:r="http://schemas.openxmlformats.org/officeDocument/2006/relationships" id="257" r:id="R26fcaa36aede4135"/>
    <p:sldId xmlns:r="http://schemas.openxmlformats.org/officeDocument/2006/relationships" id="258" r:id="Rf8eb51c957a6464f"/>
    <p:sldId xmlns:r="http://schemas.openxmlformats.org/officeDocument/2006/relationships" id="259" r:id="R77d08ed503334fc6"/>
    <p:sldId xmlns:r="http://schemas.openxmlformats.org/officeDocument/2006/relationships" id="260" r:id="R13dad0facd8c43a9"/>
    <p:sldId xmlns:r="http://schemas.openxmlformats.org/officeDocument/2006/relationships" id="261" r:id="Reea0b43e08e34695"/>
    <p:sldId xmlns:r="http://schemas.openxmlformats.org/officeDocument/2006/relationships" id="262" r:id="Rc798f267d62c4b90"/>
    <p:sldId xmlns:r="http://schemas.openxmlformats.org/officeDocument/2006/relationships" id="263" r:id="R4aa94901b2c74979"/>
    <p:sldId xmlns:r="http://schemas.openxmlformats.org/officeDocument/2006/relationships" id="264" r:id="R475184445f5c4c62"/>
    <p:sldId xmlns:r="http://schemas.openxmlformats.org/officeDocument/2006/relationships" id="265" r:id="R0037ba6af9034107"/>
    <p:sldId xmlns:r="http://schemas.openxmlformats.org/officeDocument/2006/relationships" id="266" r:id="R96c235d6ea9d4723"/>
    <p:sldId xmlns:r="http://schemas.openxmlformats.org/officeDocument/2006/relationships" id="267" r:id="R35af342f5b004a78"/>
    <p:sldId xmlns:r="http://schemas.openxmlformats.org/officeDocument/2006/relationships" id="268" r:id="R2154261b976f477f"/>
    <p:sldId xmlns:r="http://schemas.openxmlformats.org/officeDocument/2006/relationships" id="269" r:id="R7b14e9c710df483e"/>
    <p:sldId xmlns:r="http://schemas.openxmlformats.org/officeDocument/2006/relationships" id="270" r:id="R30a70f15352f4050"/>
    <p:sldId xmlns:r="http://schemas.openxmlformats.org/officeDocument/2006/relationships" id="271" r:id="Re60168426967456a"/>
    <p:sldId xmlns:r="http://schemas.openxmlformats.org/officeDocument/2006/relationships" id="272" r:id="R82454d0e762144fc"/>
    <p:sldId xmlns:r="http://schemas.openxmlformats.org/officeDocument/2006/relationships" id="273" r:id="Rb2176ddd6544491d"/>
    <p:sldId xmlns:r="http://schemas.openxmlformats.org/officeDocument/2006/relationships" id="274" r:id="R7b821fe2c279414e"/>
    <p:sldId xmlns:r="http://schemas.openxmlformats.org/officeDocument/2006/relationships" id="275" r:id="R7fe15e5a9549427a"/>
    <p:sldId xmlns:r="http://schemas.openxmlformats.org/officeDocument/2006/relationships" id="276" r:id="R70c843f0b66e4b8f"/>
    <p:sldId xmlns:r="http://schemas.openxmlformats.org/officeDocument/2006/relationships" id="277" r:id="R4f3a66cc8e9545e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58898a5f394d8c" /><Relationship Type="http://schemas.openxmlformats.org/officeDocument/2006/relationships/slideMaster" Target="/ppt/slideMasters/slideMaster1.xml" Id="Rdc66f9f263004650" /><Relationship Type="http://schemas.openxmlformats.org/officeDocument/2006/relationships/notesMaster" Target="/ppt/notesMasters/notesMaster1.xml" Id="Rd870a9696d3840aa" /><Relationship Type="http://schemas.openxmlformats.org/officeDocument/2006/relationships/presProps" Target="/ppt/presProps.xml" Id="Rd882bc6437914e18" /><Relationship Type="http://schemas.openxmlformats.org/officeDocument/2006/relationships/tableStyles" Target="/ppt/tableStyles.xml" Id="R8745f95d20734def" /><Relationship Type="http://schemas.openxmlformats.org/officeDocument/2006/relationships/slide" Target="/ppt/slides/slide1.xml" Id="Rd3e730326b9d439d" /><Relationship Type="http://schemas.openxmlformats.org/officeDocument/2006/relationships/slide" Target="/ppt/slides/slide2.xml" Id="R26fcaa36aede4135" /><Relationship Type="http://schemas.openxmlformats.org/officeDocument/2006/relationships/slide" Target="/ppt/slides/slide3.xml" Id="Rf8eb51c957a6464f" /><Relationship Type="http://schemas.openxmlformats.org/officeDocument/2006/relationships/slide" Target="/ppt/slides/slide4.xml" Id="R77d08ed503334fc6" /><Relationship Type="http://schemas.openxmlformats.org/officeDocument/2006/relationships/slide" Target="/ppt/slides/slide5.xml" Id="R13dad0facd8c43a9" /><Relationship Type="http://schemas.openxmlformats.org/officeDocument/2006/relationships/slide" Target="/ppt/slides/slide6.xml" Id="Reea0b43e08e34695" /><Relationship Type="http://schemas.openxmlformats.org/officeDocument/2006/relationships/slide" Target="/ppt/slides/slide7.xml" Id="Rc798f267d62c4b90" /><Relationship Type="http://schemas.openxmlformats.org/officeDocument/2006/relationships/slide" Target="/ppt/slides/slide8.xml" Id="R4aa94901b2c74979" /><Relationship Type="http://schemas.openxmlformats.org/officeDocument/2006/relationships/slide" Target="/ppt/slides/slide9.xml" Id="R475184445f5c4c62" /><Relationship Type="http://schemas.openxmlformats.org/officeDocument/2006/relationships/slide" Target="/ppt/slides/slide10.xml" Id="R0037ba6af9034107" /><Relationship Type="http://schemas.openxmlformats.org/officeDocument/2006/relationships/slide" Target="/ppt/slides/slide11.xml" Id="R96c235d6ea9d4723" /><Relationship Type="http://schemas.openxmlformats.org/officeDocument/2006/relationships/slide" Target="/ppt/slides/slide12.xml" Id="R35af342f5b004a78" /><Relationship Type="http://schemas.openxmlformats.org/officeDocument/2006/relationships/slide" Target="/ppt/slides/slide13.xml" Id="R2154261b976f477f" /><Relationship Type="http://schemas.openxmlformats.org/officeDocument/2006/relationships/slide" Target="/ppt/slides/slide14.xml" Id="R7b14e9c710df483e" /><Relationship Type="http://schemas.openxmlformats.org/officeDocument/2006/relationships/slide" Target="/ppt/slides/slide15.xml" Id="R30a70f15352f4050" /><Relationship Type="http://schemas.openxmlformats.org/officeDocument/2006/relationships/slide" Target="/ppt/slides/slide16.xml" Id="Re60168426967456a" /><Relationship Type="http://schemas.openxmlformats.org/officeDocument/2006/relationships/slide" Target="/ppt/slides/slide17.xml" Id="R82454d0e762144fc" /><Relationship Type="http://schemas.openxmlformats.org/officeDocument/2006/relationships/slide" Target="/ppt/slides/slide18.xml" Id="Rb2176ddd6544491d" /><Relationship Type="http://schemas.openxmlformats.org/officeDocument/2006/relationships/slide" Target="/ppt/slides/slide19.xml" Id="R7b821fe2c279414e" /><Relationship Type="http://schemas.openxmlformats.org/officeDocument/2006/relationships/slide" Target="/ppt/slides/slide20.xml" Id="R7fe15e5a9549427a" /><Relationship Type="http://schemas.openxmlformats.org/officeDocument/2006/relationships/slide" Target="/ppt/slides/slide21.xml" Id="R70c843f0b66e4b8f" /><Relationship Type="http://schemas.openxmlformats.org/officeDocument/2006/relationships/slide" Target="/ppt/slides/slide22.xml" Id="R4f3a66cc8e9545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f92ebae70a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8a6c2650847a3" /><Relationship Type="http://schemas.openxmlformats.org/officeDocument/2006/relationships/notesMaster" Target="/ppt/notesMasters/notesMaster1.xml" Id="R31fcc7bcf11e4d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b01690bb344c44" /><Relationship Type="http://schemas.openxmlformats.org/officeDocument/2006/relationships/notesMaster" Target="/ppt/notesMasters/notesMaster1.xml" Id="R1699e184b053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de16fbbd9e4f2a" /><Relationship Type="http://schemas.openxmlformats.org/officeDocument/2006/relationships/notesMaster" Target="/ppt/notesMasters/notesMaster1.xml" Id="R81f7c314016d43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5c945fa5bd40fc" /><Relationship Type="http://schemas.openxmlformats.org/officeDocument/2006/relationships/notesMaster" Target="/ppt/notesMasters/notesMaster1.xml" Id="R9085bf7bfa3548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eb5a7a2ae04f2f" /><Relationship Type="http://schemas.openxmlformats.org/officeDocument/2006/relationships/notesMaster" Target="/ppt/notesMasters/notesMaster1.xml" Id="Rdbbb004a83844f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b37bc2a90547dd" /><Relationship Type="http://schemas.openxmlformats.org/officeDocument/2006/relationships/notesMaster" Target="/ppt/notesMasters/notesMaster1.xml" Id="Ra3195e24bd1341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edf868dd714e96" /><Relationship Type="http://schemas.openxmlformats.org/officeDocument/2006/relationships/notesMaster" Target="/ppt/notesMasters/notesMaster1.xml" Id="R6abd5d493c3446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b5102f326149ab" /><Relationship Type="http://schemas.openxmlformats.org/officeDocument/2006/relationships/notesMaster" Target="/ppt/notesMasters/notesMaster1.xml" Id="Rb702cc9d30164a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cbca6caea6452d" /><Relationship Type="http://schemas.openxmlformats.org/officeDocument/2006/relationships/notesMaster" Target="/ppt/notesMasters/notesMaster1.xml" Id="R8e64dfa525e141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ada53111f04e1d" /><Relationship Type="http://schemas.openxmlformats.org/officeDocument/2006/relationships/notesMaster" Target="/ppt/notesMasters/notesMaster1.xml" Id="R3691813669ff48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be241e032840a4" /><Relationship Type="http://schemas.openxmlformats.org/officeDocument/2006/relationships/notesMaster" Target="/ppt/notesMasters/notesMaster1.xml" Id="R4c2d8bd7774243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6c59ec351c4f2b" /><Relationship Type="http://schemas.openxmlformats.org/officeDocument/2006/relationships/notesMaster" Target="/ppt/notesMasters/notesMaster1.xml" Id="Rd72a59a8182d4c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7d52d5dee448ec" /><Relationship Type="http://schemas.openxmlformats.org/officeDocument/2006/relationships/notesMaster" Target="/ppt/notesMasters/notesMaster1.xml" Id="Rbce72fdb1b4349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0ae8f8d95f436d" /><Relationship Type="http://schemas.openxmlformats.org/officeDocument/2006/relationships/notesMaster" Target="/ppt/notesMasters/notesMaster1.xml" Id="R4a306224a45440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bbc3f762fd4b90" /><Relationship Type="http://schemas.openxmlformats.org/officeDocument/2006/relationships/notesMaster" Target="/ppt/notesMasters/notesMaster1.xml" Id="R9a0c0366330047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60cb2622dd4d67" /><Relationship Type="http://schemas.openxmlformats.org/officeDocument/2006/relationships/notesMaster" Target="/ppt/notesMasters/notesMaster1.xml" Id="Ra1e44785fd9c4f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2c5b4ab939461d" /><Relationship Type="http://schemas.openxmlformats.org/officeDocument/2006/relationships/notesMaster" Target="/ppt/notesMasters/notesMaster1.xml" Id="Re5fce33903c34b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c949ff93a94b51" /><Relationship Type="http://schemas.openxmlformats.org/officeDocument/2006/relationships/notesMaster" Target="/ppt/notesMasters/notesMaster1.xml" Id="Raaec552051bf4a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933d4aab0f4a7b" /><Relationship Type="http://schemas.openxmlformats.org/officeDocument/2006/relationships/notesMaster" Target="/ppt/notesMasters/notesMaster1.xml" Id="Ra0453e2c2f8747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d9ddf2799f4950" /><Relationship Type="http://schemas.openxmlformats.org/officeDocument/2006/relationships/notesMaster" Target="/ppt/notesMasters/notesMaster1.xml" Id="R514be7d07ad149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b848767f1446f9" /><Relationship Type="http://schemas.openxmlformats.org/officeDocument/2006/relationships/notesMaster" Target="/ppt/notesMasters/notesMaster1.xml" Id="Rf640eb41ad2e48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88b0d3ba3845c9" /><Relationship Type="http://schemas.openxmlformats.org/officeDocument/2006/relationships/notesMaster" Target="/ppt/notesMasters/notesMaster1.xml" Id="R306062987694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写作从研究问题和可核查材料开始。先形成主张与证据对应，再组织段落、选择适当期刊、检查提交材料。审稿后逐项回应，保留修改位置与仍未完成的工作。此处无真实投稿或评审，示例是公开数据教学稿。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用上一节数据逐条对应：146条及73/73来自过滤，4.62mm来自均值计算；因果与普遍外推没有相应设计证据。把证据缺口留在论证中，不靠修辞升级成发现。此图中的状态只反映本例材料。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RaD是常见经验研究组织方式，分别对应Introduction、Methods、Results、Discussion。理论论文、方法论文和不同学科的组织会变化，需按论证和目标刊调整。哥廷根课件展示了不同计算机研究方向的差异，不能强套统一章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示例有三句：纳入146条、雌雄各73；均值与差异；说明本例未作因果推断。句子之间有证据关系，而非每句换一个宏大概念。用数字锚点连接方法与图。讲师可以与后续方法段落比较，分清结果和处理过程。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本页中文摘要对应style-packet/abstract-en.txt英文教学改稿。左侧保留纳入范围、各组均值、差值、重抽样和条件区间；右侧原生均值图只帮助读数，不显示分布、误差线或显著性。英文改稿依据PLOS One Language与Abstract条目的部分要求：英文、不超过300词、不含引文、尽量避免缩写，说明目的、概括做法、主要结果及意义。没有将教学用途虚构为科研贡献。完整任务和逐句来源在style-packet；没有期刊审查或投稿。全文其他报告规范尚未逐项核对。本轮参考哥廷根原课件第8、19、21页的摘要、过度推断和简洁语言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领域背景、已有研究、当前问题、研究目标组织。Gorman2014是公开数据原研究；本例没有新颖性检索或新增采样，因此只提出教学分析问题，不声称填补空白。正式研究需要明确与既有工作的区别并提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Introduction</a:t>
            </a:r>
          </a:p>
          <a:p xmlns:a="http://schemas.openxmlformats.org/drawingml/2006/main">
            <a:r>
              <a:t>https://mitcommlab.mit.edu/broad/commkit/journal-article-introduction/</a:t>
            </a:r>
          </a:p>
          <a:p xmlns:a="http://schemas.openxmlformats.org/drawingml/2006/main">
            <a:r>
              <a:t>定位：Structure/Background/Question等指导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记录原始344、Adelie152、所需列完整146，排除6条且未插补。M2写方向male减female、分组有放回10000次、种子20261018与linear分位点。未执行的方法、仪器和实验不写进已完成叙述。页面只保留方法段核心，完整参数在教学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同一146条完整记录的5mm分箱频数。正文描述均值差4.62mm并指出分布重叠，不把两组记录当作同一个体前后测。未报告P值，也未通过图形判断显著性。完整统计量来自第7节实际计算并随本节保留证据副本。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Results</a:t>
            </a:r>
          </a:p>
          <a:p xmlns:a="http://schemas.openxmlformats.org/drawingml/2006/main">
            <a:r>
              <a:t>https://mitcommlab.mit.edu/broad/commkit/journal-article-results/</a:t>
            </a:r>
          </a:p>
          <a:p xmlns:a="http://schemas.openxmlformats.org/drawingml/2006/main">
            <a:r>
              <a:t>定位：Decide on figures、organized results、claims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定位：公开CSV、CC0及原始资料；数据哈希与实算结果见writing-packet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完整记录均值差出发，检查年份和岛屿组成、缺失机制、巢内依赖及总体定义。当前数据不能支持机制结论。提出未来采样与模型检查是下一步建议，不能写成已完成验证。图中分支只是解释路径，不是实证因果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Broad Communication Lab，Journal Article: Discussion</a:t>
            </a:r>
          </a:p>
          <a:p xmlns:a="http://schemas.openxmlformats.org/drawingml/2006/main">
            <a:r>
              <a:t>https://mitcommlab.mit.edu/broad/commkit/journal-article-discussion/</a:t>
            </a:r>
          </a:p>
          <a:p xmlns:a="http://schemas.openxmlformats.org/drawingml/2006/main">
            <a:r>
              <a:t>定位：interpretation、context、limitations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原段落故意设置显著优于、证明决定和推广价值等问题，明确不作为事实。修订后保留对象与均值差，删除未经检验的显著性、价值排序与因果表述。Humanizer不改变真实数字，也不以规避检测为目标。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Göttingen，Lorenz Glißmann，Scientific Writing and Structure Your Work，2026-01-08</a:t>
            </a:r>
          </a:p>
          <a:p xmlns:a="http://schemas.openxmlformats.org/drawingml/2006/main">
            <a:r>
              <a:t>https://hps.vi4io.org/_media/teaching/autumn_term_2025/bam/06-scientific-writing-and-structure-your-work.pdf</a:t>
            </a:r>
          </a:p>
          <a:p xmlns:a="http://schemas.openxmlformats.org/drawingml/2006/main">
            <a:r>
              <a:t>定位：PDF第4、8、9、16、19、21页已逐页渲染查看；印刷页码可能不同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Gorman2014真实论文为例，标题、作者和DOI可以确认身份；要支持关于采样、对象和结论的具体句子，还需回到摘要、方法与结果相应位置。当前课程二次分析的4.62mm来自自己的计算，不归到原文名下。模型返回的DOI不能直接当作核验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Gorman KB, Williams TD, Fraser WR. Ecological Sexual Dimorphism and Environmental Variability within a Community of Antarctic Penguins (Genus Pygoscelis). PLOS ONE. 2014;9(3):e90081.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定位：标题、作者、摘要、方法；本例二次计算不冒充原文结果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示例：只根据附带CSV计算记录和研究说明写方法与结果；保留数字、单位和条件，未知信息列出；每段标注所用材料位置，不补造实验、文献或显著性。Harness承接材料版本、执行记录与核对规则，在写作任务中仍由研究者判断主张。此页为方法框架，未冒充云端执行截图。</a:t>
            </a:r>
          </a:p>
          <a:p xmlns:a="http://schemas.openxmlformats.org/drawingml/2006/main">
            <a:r>
              <a:t>ICMJE医学期刊建议AI不能署为作者，作者承担准确性等责任，并按要求披露AI用途。不得把该建议当成所有学科完全一致的规定。记录真实工具名称和版本、日期、任务、输入输出及人工核查；不补填本来没有保存的版本号。语言修订不能取消披露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ICMJE，Use of AI by Authors</a:t>
            </a:r>
          </a:p>
          <a:p xmlns:a="http://schemas.openxmlformats.org/drawingml/2006/main">
            <a:r>
              <a:t>https://icmje.org/recommendations/browse/artificial-intelligence/ai-use-by-authors.html</a:t>
            </a:r>
          </a:p>
          <a:p xmlns:a="http://schemas.openxmlformats.org/drawingml/2006/main">
            <a:r>
              <a:t>定位：2026-10-18核查；医学期刊建议，具体采用以目标刊规定为准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以直接使用的中文任务，实际改稿、原摘要、逐句事实依据和差异文件均位于style-packet。讲师先打开官方Language与Abstract条目，再读任务中哪些部分来自期刊，哪些来自本例材料。300个英文词是上限，不必凑足；不能改成300个汉字。右侧流程说明：官方格式要求与原摘要事实一同约束改稿，输出后再回查英文词数、引文、保留的数字与限定。案例有本轮Codex实际改稿，但没有外部期刊或模型服务运行截图。选刊还须判断范围、研究贡献、文章类型与数据报告要求；本教学复算稿没有取得投稿适格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Submission Guidelines：Language与Abstract</a:t>
            </a:r>
          </a:p>
          <a:p xmlns:a="http://schemas.openxmlformats.org/drawingml/2006/main">
            <a:r>
              <a:t>https://journals.plos.org/plosone/s/submission-guidelines#loc-abstract</a:t>
            </a:r>
          </a:p>
          <a:p xmlns:a="http://schemas.openxmlformats.org/drawingml/2006/main">
            <a:r>
              <a:t>定位：2026-10-19读官方Language与Abstract：英文，摘要不超过300词，不放引文，尽量避免缩写，说明目的、做法、主要结果与意义。只核对示例涉及条目。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One，Criteria for Publication</a:t>
            </a:r>
          </a:p>
          <a:p xmlns:a="http://schemas.openxmlformats.org/drawingml/2006/main">
            <a:r>
              <a:t>https://journals.plos.org/plosone/s/criteria-for-publication</a:t>
            </a:r>
          </a:p>
          <a:p xmlns:a="http://schemas.openxmlformats.org/drawingml/2006/main">
            <a:r>
              <a:t>定位：2026-10-18核查：original research、supported conclusions、reporting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以PLOS One的投稿指南说明主稿与投稿信等材料。作者、贡献、数据说明等需真实确认。页面不代填不存在的伦理编号、作者同意或研究贡献。教学稿未执行投稿。正式提交前核对题目、样本数、图号和声明，避免系统字段与主稿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One，Submission Guidelines</a:t>
            </a:r>
          </a:p>
          <a:p xmlns:a="http://schemas.openxmlformats.org/drawingml/2006/main">
            <a:r>
              <a:t>https://journals.plos.org/plosone/s/submission-guidelines</a:t>
            </a:r>
          </a:p>
          <a:p xmlns:a="http://schemas.openxmlformats.org/drawingml/2006/main">
            <a:r>
              <a:t>定位：2026-10-18核查Manuscript Organization、Cover letter、Abstract；具体期刊示例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按PLOS One官网转述初检、编辑评估、外审、编辑决定及修订。送审不等于接受；审稿意见是编辑判断的重要输入，决定由编辑作出。不同期刊阶段命名不同，不照搬为所有期刊同一状态机。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模拟三条意见对应材料已补全、表述已修改和新增样本未完成。把意见拆为可执行动作并设证据位置。不是每项都能靠改写完成；需要新研究时如实保留状态，不把未来计划说成完成。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模拟R1.1要求说明来源、缺失和样本量。实际manuscript-r1.md的M1已补充344→152→146、排除6条及来源，没有插补。回复锚点M1存在。不能仅写“已按意见修改”却找不到对应文字。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模拟R1.2针对性别决定鳍长。实际删除原稿中的证明决定、普遍规律和生长机制，R1保留4.62mm描述，D1加入范围限制。回复同时指出修改与未做的研究，避免把删除强结论说成增加实证证据。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模拟R2.1要求新增样本和巢内相关验证。本轮未完成这些研究，L1已明示。回复不保证编辑接受现有范围，研究目标若要求该证据，就需要补材料或调整研究。不是所有分歧都能靠措辞解决。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PLOS One返修要求逐条回复、标记稿和清稿。课程提供Markdown原稿、修订稿及unified diff，演示版本对应，不把diff冒充Word Track Changes。R1.1和R1.2对应实际修改，R2.1仍未补研究。正式提交格式要按目标刊转换并复核。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One，Revising Your Manuscript</a:t>
            </a:r>
          </a:p>
          <a:p xmlns:a="http://schemas.openxmlformats.org/drawingml/2006/main">
            <a:r>
              <a:t>https://journals.plos.org/plosone/s/revising-your-manuscript</a:t>
            </a:r>
          </a:p>
          <a:p xmlns:a="http://schemas.openxmlformats.org/drawingml/2006/main">
            <a:r>
              <a:t>定位：Submission Instructions：逐条回复、标记稿与清稿，2026-10-18核查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流程区分范围不符、方法证据不足和事实争议；更换期刊不能修复研究缺陷。申诉仅在符合目标刊程序且有材料时考虑。PLOS One申诉期间稿件仍在正式考虑中，不另投。这里没有替用户投稿、申诉或发送信件。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One，Editorial and Peer Review Process</a:t>
            </a:r>
          </a:p>
          <a:p xmlns:a="http://schemas.openxmlformats.org/drawingml/2006/main">
            <a:r>
              <a:t>https://journals.plos.org/plosone/s/editorial-and-peer-review-process</a:t>
            </a:r>
          </a:p>
          <a:p xmlns:a="http://schemas.openxmlformats.org/drawingml/2006/main">
            <a:r>
              <a:t>定位：Initial Checks、Editorial Review、Decisions、Revisions、Appeals，2026-10-18核查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本节交付原始CSV与哈希、实算证据摘要、r0故意错误教学稿、r1修订稿、真实差异文件、模拟意见矩阵及回复。三条意见的状态可核。下一节基金申报与Grant Agent进一步把指南、结构、材料与Word成果对应。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课程自编教学稿与模拟审稿回复</a:t>
            </a:r>
          </a:p>
          <a:p xmlns:a="http://schemas.openxmlformats.org/drawingml/2006/main">
            <a:r>
              <a:t>local:training/section-09/writing-packet/manuscript-r1.md</a:t>
            </a:r>
          </a:p>
          <a:p xmlns:a="http://schemas.openxmlformats.org/drawingml/2006/main">
            <a:r>
              <a:t>定位：实际可编辑教学稿、revision.diff与response-matrix.csv；未投稿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bc21862b54d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fb04e445f4c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0cc3f63c149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6c523f0e54c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22695a39147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7be46b280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8FCE0-405F-4561-A6AD-F96893F40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DA8EFD-23B4-4EAC-8490-D0D9BDB839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31102A-B0EE-4F18-BFE4-E14F66AFE3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47BE93-7E50-4C82-A375-47BDA6A60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DD8FFC-D2D4-4CE1-BD77-3A3BA32DA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D4CBFC-0EFC-493A-AD18-3C7D89F228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B08D15-79A6-4C04-B694-2E38004FD5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A9B895-ED51-441E-8861-B0A27C4661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37F600-005C-459F-8038-C8407CDCE2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5F6400-D476-4D4A-8414-1BE36456FB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70fb7e39c4afe" /><Relationship Type="http://schemas.openxmlformats.org/officeDocument/2006/relationships/slideLayout" Target="/ppt/slideLayouts/slideLayout1.xml" Id="R1fb4bfc8f6224cb1" /><Relationship Type="http://schemas.openxmlformats.org/officeDocument/2006/relationships/slideLayout" Target="/ppt/slideLayouts/slideLayout2.xml" Id="Rc25e4370959f4d9d" /><Relationship Type="http://schemas.openxmlformats.org/officeDocument/2006/relationships/slideLayout" Target="/ppt/slideLayouts/slideLayout3.xml" Id="Ra07f23d31e944593" /><Relationship Type="http://schemas.openxmlformats.org/officeDocument/2006/relationships/slideLayout" Target="/ppt/slideLayouts/slideLayout4.xml" Id="R3b21880d70d8445b" /><Relationship Type="http://schemas.openxmlformats.org/officeDocument/2006/relationships/slideLayout" Target="/ppt/slideLayouts/slideLayout5.xml" Id="R9cda17c2d2e04c1e" /><Relationship Type="http://schemas.openxmlformats.org/officeDocument/2006/relationships/slideLayout" Target="/ppt/slideLayouts/slideLayout6.xml" Id="R525462bdd8a342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b4bfc8f6224cb1"/>
    <p:sldLayoutId xmlns:r="http://schemas.openxmlformats.org/officeDocument/2006/relationships" id="2147483650" r:id="Rc25e4370959f4d9d"/>
    <p:sldLayoutId xmlns:r="http://schemas.openxmlformats.org/officeDocument/2006/relationships" id="2147483651" r:id="Ra07f23d31e944593"/>
    <p:sldLayoutId xmlns:r="http://schemas.openxmlformats.org/officeDocument/2006/relationships" id="2147483652" r:id="R3b21880d70d8445b"/>
    <p:sldLayoutId xmlns:r="http://schemas.openxmlformats.org/officeDocument/2006/relationships" id="2147483653" r:id="R9cda17c2d2e04c1e"/>
    <p:sldLayoutId xmlns:r="http://schemas.openxmlformats.org/officeDocument/2006/relationships" id="2147483654" r:id="R525462bdd8a342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db4618970487c" /><Relationship Type="http://schemas.openxmlformats.org/officeDocument/2006/relationships/notesSlide" Target="/ppt/notesSlides/notesSlide1.xml" Id="R8f58a348b8344b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d15ebf5f348c5" /><Relationship Type="http://schemas.openxmlformats.org/officeDocument/2006/relationships/notesSlide" Target="/ppt/notesSlides/notesSlide2.xml" Id="R14bbd1a167fd48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a157b01ee40d3" /><Relationship Type="http://schemas.openxmlformats.org/officeDocument/2006/relationships/notesSlide" Target="/ppt/notesSlides/notesSlide3.xml" Id="R2c5a2106dbaf43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8e29165fa46da" /><Relationship Type="http://schemas.openxmlformats.org/officeDocument/2006/relationships/notesSlide" Target="/ppt/notesSlides/notesSlide4.xml" Id="R8c3e99904f96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2df54a36941db" /><Relationship Type="http://schemas.openxmlformats.org/officeDocument/2006/relationships/chart" Target="/ppt/slides/charts/chart1.xml" Id="R6149c8872fc04fc7" /><Relationship Type="http://schemas.openxmlformats.org/officeDocument/2006/relationships/notesSlide" Target="/ppt/notesSlides/notesSlide5.xml" Id="R4103a1c3b9a7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fbef72b1647d2" /><Relationship Type="http://schemas.openxmlformats.org/officeDocument/2006/relationships/notesSlide" Target="/ppt/notesSlides/notesSlide6.xml" Id="R935fd190398f44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0e0422e9d4298" /><Relationship Type="http://schemas.openxmlformats.org/officeDocument/2006/relationships/notesSlide" Target="/ppt/notesSlides/notesSlide7.xml" Id="Rf638682bc83746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9335689be4d17" /><Relationship Type="http://schemas.openxmlformats.org/officeDocument/2006/relationships/chart" Target="/ppt/slides/charts/chart2.xml" Id="R883519dc73ad4a9f" /><Relationship Type="http://schemas.openxmlformats.org/officeDocument/2006/relationships/notesSlide" Target="/ppt/notesSlides/notesSlide8.xml" Id="Rc7642c03791646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e436eb5d4499f" /><Relationship Type="http://schemas.openxmlformats.org/officeDocument/2006/relationships/notesSlide" Target="/ppt/notesSlides/notesSlide9.xml" Id="R9b5fd1bc107443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8a15cd2a541e6" /><Relationship Type="http://schemas.openxmlformats.org/officeDocument/2006/relationships/notesSlide" Target="/ppt/notesSlides/notesSlide10.xml" Id="R0678c06f372d47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0dada5ce04a60" /><Relationship Type="http://schemas.openxmlformats.org/officeDocument/2006/relationships/notesSlide" Target="/ppt/notesSlides/notesSlide11.xml" Id="R8dc7430b9f4446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36c0ab7424a97" /><Relationship Type="http://schemas.openxmlformats.org/officeDocument/2006/relationships/notesSlide" Target="/ppt/notesSlides/notesSlide12.xml" Id="Ra7ad6059208e42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a4ec9d29c4f54" /><Relationship Type="http://schemas.openxmlformats.org/officeDocument/2006/relationships/notesSlide" Target="/ppt/notesSlides/notesSlide13.xml" Id="R99086ea9769f4e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18d6ece50448d" /><Relationship Type="http://schemas.openxmlformats.org/officeDocument/2006/relationships/notesSlide" Target="/ppt/notesSlides/notesSlide14.xml" Id="R0164d8fa008541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573e8ffdd4eaa" /><Relationship Type="http://schemas.openxmlformats.org/officeDocument/2006/relationships/notesSlide" Target="/ppt/notesSlides/notesSlide15.xml" Id="R1309232b3f5a4e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87ea992d148e5" /><Relationship Type="http://schemas.openxmlformats.org/officeDocument/2006/relationships/notesSlide" Target="/ppt/notesSlides/notesSlide16.xml" Id="Ref2ff318ddc041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69c9b54b04f00" /><Relationship Type="http://schemas.openxmlformats.org/officeDocument/2006/relationships/notesSlide" Target="/ppt/notesSlides/notesSlide17.xml" Id="R33a81708d21d45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eeac1b3f84827" /><Relationship Type="http://schemas.openxmlformats.org/officeDocument/2006/relationships/notesSlide" Target="/ppt/notesSlides/notesSlide18.xml" Id="R290de8d479694d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5f5085e5447fc" /><Relationship Type="http://schemas.openxmlformats.org/officeDocument/2006/relationships/notesSlide" Target="/ppt/notesSlides/notesSlide19.xml" Id="R3e600f4e41fa4e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f141eebb24efd" /><Relationship Type="http://schemas.openxmlformats.org/officeDocument/2006/relationships/notesSlide" Target="/ppt/notesSlides/notesSlide20.xml" Id="Ra3e3126e6e584b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f5e25f9174669" /><Relationship Type="http://schemas.openxmlformats.org/officeDocument/2006/relationships/notesSlide" Target="/ppt/notesSlides/notesSlide21.xml" Id="Rfff6a4910e9c474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3630a855854e07" /><Relationship Type="http://schemas.openxmlformats.org/officeDocument/2006/relationships/notesSlide" Target="/ppt/notesSlides/notesSlide22.xml" Id="R4f639cf29b1041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雌（73条）</c:v>
                </c:pt>
                <c:pt idx="1">
                  <c:v>雄（73条）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Adelie鳍长分布：横轴毫米，纵轴记录数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雌（73条）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雄（73条）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55A7F-4C38-4320-B0ED-AE799A71855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359E7-E29B-474E-911A-7BBC0C0905F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47505-98D0-4515-A595-65F9C8E4363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51A2A-1112-464A-8CA8-EEB4A9A5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80DE-3AD4-4885-95C3-81751136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F4626-9876-42F5-9917-B4E953AA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A80E1-9984-476D-B169-D1AFB5E4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本节把研究材料组织成段落，再追踪投稿判断、修改动作和回复依据。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7FE43-2351-4D21-BDFE-1E920561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材料与论证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2C23F-49F0-4BF8-816A-6A940900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段落与图表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F3228-BF86-4417-B569-3CB92487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期刊与提交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6F29F-7F38-4976-8158-B670AE90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修订与回复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FCCF-B5D6-45F9-919B-AE189FF2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每个判断对应依据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3F3E6-80C0-4A1C-951B-2CA7CEC3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7C9C2-582B-4CF7-9E58-452E4378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核对范围与要求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58FC7-34B8-488E-8212-A380539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记录动作和位置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5CFCE-FA61-49B3-A5B3-FEFCCE52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08E34-DDEB-4434-AD24-3E2D3B5E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写作示例、模拟审稿与实际文件修改分别说明。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1BAE1-5127-4E81-8713-2EF3B184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8A891-8C49-405C-AEA4-1897A8B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0964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5F5F5-DE16-4EC7-A34D-777C887F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388E7-5709-49F7-96B4-38F6EA10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主张与证据的对应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843F6-5468-4E69-82DA-1EFDF3AB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FF0D0-D9D8-4BF1-98A6-3D98EE8F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同一份数据，可以支持完整记录中的均值差异，却不足以证明因果机制。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875CD-D0D4-42C8-ABD4-B3BA7A32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样本范围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157E8-16C4-4AD9-A121-B4ED8971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344条原始记录 → Adelie 152条 → 完整记录146条，雌雄各73条。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C74D6-8F34-4C18-9BA5-B35CCC70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F6EB9-0589-483C-B5BD-C0CDA8E1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可报告的结果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0BDF9-AEA1-4F44-BE50-8CE4E799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在这些完整记录中，雄性平均鳍长比雌性高4.62 mm。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5E048-486A-4A85-8E66-3CA0269A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7F14F-1210-4F0D-AB0D-D2EA70FF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需要更多证据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C8E4F-A48D-4919-9B9F-28A43164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“性别决定鳍长”“适用于所有企鹅”涉及因果或总体外推，当前分析不能支持。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696B3-D76B-4637-96FD-0CB696DC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B7515-3F23-4E88-987A-91FE24F0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公开数据二次教学分析，不作为新科研成果。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04759-6542-42CC-B6EE-64244B42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来源：palmerpenguins公开数据及课程二次计算；课程教学示例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2E696-25F7-4F14-BB7E-EE76025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6128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2F6E5-1FDE-4970-8291-6FE22524108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048000" y="61531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EA26D-64A8-4012-AA6A-44DF5134286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48000" y="50292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B105A-4C8A-4FFB-99F0-F5AE8B2B053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48000" y="39052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1C9A7-3032-442C-938F-D5A429D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FA617-5AD2-46C9-8DF0-A41020F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常见论文结构与读者问题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4443F-C4C7-4591-8873-2D0622D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E1CF7-941F-4C8D-BC92-B207D6EC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引言解释问题，方法交代做法，结果报告发现，讨论说明解释和限制。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C836D-5194-4AFF-A53D-964261D6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1043D-9CA4-40B4-86A0-75BAA77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为什么研究这个问题？已有研究留下什么具体问题？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48CA0-737F-4EF8-AC6E-A6DA293C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4DC86-1F8A-450F-8B09-800E926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数据从哪里来？怎样筛选、测量和分析？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61A3A-A544-4466-89B5-7E7ECF3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4847-0E65-4B95-B524-AF2A8F3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97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比较得到什么？图表、数字和不确定性怎样对应？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E0D68-032A-43B1-ACC0-9A9C7536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57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4A8D2-CE38-4408-AE6D-635154F7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结果如何解释？哪些条件限制解释和推广？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E6B49-60FA-4A1E-88F7-9B95D60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结构服务于研究问题，目标期刊和学科惯例决定具体安排。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F06FD-3A9D-4FE5-B0F0-DD4FCB24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BA580-CB85-484B-BFF6-28ED2F62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0114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3AD15-CAF9-487E-B191-C4A957EA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64F19-A50D-44BC-8872-C5B3340A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一段结果文字的内部结构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1BE11-D821-455B-9FA7-9E9E163F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07CA5-8A55-4F5E-B133-6931F234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先说明比较对象，再给出数字与单位，最后补足读者需要的条件。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0D22D-858D-4FCF-8A23-08EEB84D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课程结果段落：对象 → 数字 → 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915BC-C042-4F56-BE64-E30DC2D1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纳入146条Adelie完整记录，雌雄各73条。雄性平均鳍长为192.41 mm，雌性为187.79 mm，均值差为4.62 mm。该差异描述本次纳入记录中的组间比较，未作因果推断。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7D2CE-A4BE-4FDD-AC97-C13FF4A6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146条 / 每组73条：与方法中的纳入条件对应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ABB29-2E94-4A1C-B9B6-7E270E6E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192.41 / 187.79 / 4.62：与计算记录及图对应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AEE23-5B4A-4CF7-9A6B-57D22723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“本次纳入记录”：限定描述适用的范围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84DCC-E72C-42B0-B2D9-B0042CEE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以下为课程自编结果段落，数字来自实际计算。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381E0-7BD8-4598-92E5-AC07519C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E77F8-DC5C-41BE-AFBA-EFA72F4D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2159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B0B46-6B66-4C26-BD94-7E2CE54C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CE6C2-5AAB-4C24-B650-FF4C88CA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摘要中的结果与解释范围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5D264-2D25-4C18-8808-84EED1F8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05C09-4F0C-4E59-825A-68E91146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摘要交代目的、做法和主要结果，材料中的限制随改写保留。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800CF-B473-4CAD-8E04-B4E7C53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中文讲解稿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0E905-36D0-494E-BC7D-2A828BD1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用公开企鹅数据演示组间比较的报告。筛选Adelie并保留性别和鳍长完整的146条记录，雌雄各73条。雄性平均鳍长192.41毫米，雌性187.79毫米，差值4.62毫米。组内有放回重抽样10000次，差值百分位区间为2.68至6.58毫米。该区间依赖记录独立等条件。缺失机制、巢内依赖和目标总体未核实，结果限于纳入记录，不作因果解释。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86590CF-493B-433B-BD9D-4643D53AA20F}"/>
              </a:ext>
            </a:extLst>
          </p:cNvPr>
          <p:cNvGraphicFramePr/>
          <p:nvPr/>
        </p:nvGraphicFramePr>
        <p:xfrm>
          <a:off xmlns:a="http://schemas.openxmlformats.org/drawingml/2006/main" x="9525000" y="3286125"/>
          <a:ext xmlns:a="http://schemas.openxmlformats.org/drawingml/2006/main" cx="495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49c8872fc04fc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EFA5B-4873-42E9-B943-9FF2715B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右图仅示均值；不能据柱高判断显著性。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F1A50-D4AA-4070-98F3-6A47DDB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中文讲解稿；英文改稿与核对随包提供。本例未投稿，不主张新发现。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017CF-9415-42B6-A67A-234464D7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来源：哥廷根大学2026原始写作课件；PLOS One，Language与Abstract条目；课程教学示例 / 模拟审稿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96D3B-D3F6-46F7-B82A-964E1A84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5100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EA78B-4313-4840-BF6A-58206D3407A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524250" y="61245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EB6D6-DB02-4699-A435-76636CF58D3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095625" y="500062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4B955-4486-42BB-90E4-58C21B6461F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667000" y="3876675"/>
            <a:ext cx="4286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91D1A-8BF9-4971-AA2A-B5BA0E3A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1F538-0738-4A1B-BBF3-C7F72F41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引言中的已有研究与具体问题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6AE48-7C84-4683-8CFE-59F2C26C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3A3C2-B0C3-4B0D-9EC5-14D5FBC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引言需要说明研究背景和当前问题，并用已读文献限定自己真正要回答的内容。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08D8F-5AFC-4606-B654-F6B90930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C79B6-0FBE-494C-B5BA-10823984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性别与形态差异是企鹅生态研究的一个问题。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3FCEE-E6E0-4CCB-A3F7-F139434A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1AA86-DCCE-4A66-A223-95DFF039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Gorman等（2014）研究南极企鹅群落的性别形态差异。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BF2CC-78FA-4A80-A38E-63207CC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CE19-4A0E-4157-8B88-423C8B72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这份公开数据中的Adelie完整记录，雌雄鳍长相差多少？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C7EDE-25C9-431F-8937-D6E7A84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67475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本例目标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21048-838E-42F5-B781-F28ECC61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5151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演示描述性比较及论文表达，不据此主张研究空白。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919E9-CBE7-4C92-BA46-5119A0AD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本例演示引言组织，不把重复计算包装成研究空白。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9C73D-EAFA-4AFC-B475-D316F33E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CommLab，引言写作；Gorman等，2014，原始研究；课程教学示例 / 模拟审稿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88F5C-B1AE-4E7D-B691-FD1F7A0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4051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2E2F3-D344-4DD5-9FE7-AFC1E88710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496D1-9BB4-415C-91B5-3433A182D4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7BB66-6D45-412B-8211-4F1F6CF3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DBDBD-3B64-44B0-B26F-0BAE63E0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方法段落中的可复核信息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23AA1-7E89-4E77-8E05-B8A08C7B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F58C4-C620-4823-BE82-8D407143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数据来源、纳入条件、处理规则和分析参数，需要与实际执行一致。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78357-3153-47B6-8A85-00E7D35E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原始公开表 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64258-2148-40EE-ABDC-6B9470BD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CA470-F01F-4577-B3E8-CD8A4110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 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08A9C-4A86-43D4-AB86-27AFBAA1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限定研究对象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4A7A6-6DF1-403A-90E0-6F7A98F9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排除6条缺失，不插补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80766-723E-451C-BC4E-D9B649FC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方法段落节选 [M1]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A3788-FD70-4E6A-BF7D-30F643C8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数据来自palmerpenguins公开简化表。筛选Adelie记录后，保留性别和鳍长均完整的观测，共146条；雌雄各73条。排除6条记录，未对缺失值作插补。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7D7B1-7FA7-4995-9CD2-C2870F1B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完整分析参数另见[M2]：雄减雌、分组重抽样10,000次、种子及分位数方法。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CA9A1-604D-465B-8ED4-702329C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实际过滤记录和计算输出支持本页方法描述，未新增实验。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737FB-3858-40A0-9042-576A87D6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模拟审稿；palmerpenguins公开数据及课程二次计算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8F882-FA7C-449B-9C45-4BF1F303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2975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17339-F7A1-4A68-81A0-D13F2B8C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1B7D8-4A3E-4B3B-A481-A639D279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图与结果段落的对应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A5808-C98B-4342-A94E-F3D2F3E4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A03B4-1B5F-4ACB-9BBE-0F7EBCB5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正文概括图中能支持的发现，并给出对象、方向、单位和必要数字。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6C63AA7-AE24-4BAB-A4D3-86DB4A4C178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3519dc73ad4a9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67F36-DD9F-48F6-B4BA-D9D209C5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结果段落 [R1]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516CD-03B5-4397-A1DE-7D482F6D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48125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雄性平均鳍长比雌性高4.62 mm。两组的分布有重叠。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均值差与个体差异是两个层面：不能仅凭性别推断某个体的鳍长。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48C9E-C902-4B47-BE40-566EE8B8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图与文字来自相同146条记录，组间重叠不影响均值差的如实报告。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BF3A1-1DE7-4509-9A96-2BB488D7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CommLab，结果写作；palmerpenguins公开数据及课程二次计算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7AC48-C915-41A1-A615-B04B8A50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1036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5249D-C71B-4980-9E4C-E9A65FB03BF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95875"/>
            <a:ext cx="2000250" cy="1443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2DCD0-8982-48E2-96D8-191A9FCC28A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048250" y="5043488"/>
            <a:ext cx="200025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9A8A8-3401-4DE1-9E40-D1403CE566F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5E957-D234-4948-B4B6-6F588C43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71904-9504-47A4-A0A6-3079145C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讨论中的解释与替代解释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E1590-D67E-4A66-ACA6-3637ABAC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76F0B-2A15-4130-A2B3-8468B4F9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讨论把结果放回研究问题，同时交代数据和设计尚不能排除的解释。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6C0A4-0CC4-4E2F-A83F-616B5FC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完整记录中的均值差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雄性 − 雌性 = 4.62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AF4-BECC-4654-AB17-5BA8381D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33A4E-4448-4E5B-8CB3-66F9AC0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年份、岛屿与缺失，是否影响所见差异？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42D79-B438-4A23-97DD-9CEC0345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3867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观测依赖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C038B-0C71-4408-88AC-5768FF27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386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巢内或年份相关性是否影响不确定性？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B2153-60E4-4A96-8094-15A42827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341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02A0D-9612-4BC7-8097-A6F9C921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341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没有实验设计，当前不能确认因果机制。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99030-3570-4010-94ED-CB3688AD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区分当前观察、条件解释与尚待验证的工作。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82EA7-0598-46F3-838D-D10CE43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CommLab，讨论写作；课程教学示例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82BE2-6D81-43CE-996F-EC3D00B1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5965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329DA-9704-46AC-B23D-AA33746A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62A7B-3AEB-41EE-89D6-A61B9886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Humanizer修改中的证据边界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BFC2D-9AE0-48D5-9E3E-7A8043B4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02829-0BBA-40E9-955E-3A8BBAD9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删去空泛判断时，补上已有的具体信息；缺少依据的结论则收回到材料范围。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9135E-0413-44D3-859B-23C17EB8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原稿：故意设置问题的教学模拟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6D6D8-EC0E-4448-8EF5-F7FF8D28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雄性鳍长显著优于雌性，证明性别决定鳍长，结果具有广泛推广价值。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CD90C-DAF9-4B3A-ABD7-A77F40AD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F8858-B30E-4E1A-85E9-10BF011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修订：保留数字，收回未经支持的判断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BE1AC-BDD3-47B5-8987-7A20330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在146条Adelie完整记录中，雄性平均鳍长比雌性高4.62 mm。此比较描述所纳入记录中的组间差异，不能据此判断因果关系。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90193-94F0-45BB-BDC3-3AE83187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红色原文为故意设置问题的教学模拟，不能引用为研究结论。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F5968-71C6-42A2-8F0E-8743B9EE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来源：哥廷根大学2026原始写作课件；课程教学示例 / 模拟审稿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06BBD-87A2-4AEE-83E5-47C34E9A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01150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94902-AA29-4A22-AC10-7EFFDDBF4D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7B5B1-C602-417C-BE1F-8931EDFF60E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6F305-AB97-4907-9688-09DD6EF8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DB385-6A47-45E3-8DC4-C93485F8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引文存在与主张得到支持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D8117-A600-4F58-8F45-4FCF01C3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DA308-9509-4CEB-918E-D720DF7C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核对参考文献时，既要确认文献真实存在，也要读原文判断它支持哪一句。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CD38E-7AB1-416B-A454-72204E8A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确认文献身份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B974E-CDD2-43C7-A46E-C1507080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阅读相关原文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C3960-5FB4-436F-91FC-5427508E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判断支持范围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0C6C8-AD27-4540-8546-9FD44513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作者、题名、年份、DOI互相核对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ACE2E-DAAC-4A02-B9C7-5F2B6D35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回到方法、结果与讨论，找到具体依据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7FE41-1DD7-4BFC-A165-0EC5542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给相应句子引用；不把自己的计算归给原文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289E1-A720-4D65-B744-8899754E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真实原文：Gorman、Williams与Fraser，2014，PLOS ONE 9(3): e90081。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4D8C9-4BBE-4D8A-B446-16023C29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本课4.62 mm为二次计算。它不应写成“原研究报告了4.62 mm”。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8CCFB-815E-4937-971F-88B8135B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示例DOI：10.1371/journal.pone.0090081；课程计算另列来源。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E0046-1C12-4207-B2AB-0236779A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来源：Gorman等，2014，原始研究；课程教学示例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8D460-F822-4C97-8BC3-FE34CBFD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9960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CF563-05E1-47F3-838D-0604F1CDC27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7E380-6DF9-45F6-8973-36E6E98C51F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51DBF-1D6B-4585-B6A5-7A1A503CDF8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ACC25-0116-4BE4-88F5-D04CE26A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08DD9-7F68-4C03-B0FE-2D53040F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AI分段协作的输入与输出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DD434-95E6-4402-84D3-457DBD3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A729D-3CAB-43BB-832F-32DD9412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向AI提供事实材料和写作任务，并要求把缺失信息、使用依据和修改理由一并返回。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64BAD-1771-4068-8B75-5970138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研究事实与资料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9FC89-1026-46FA-B18D-DA3F047C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分段写作任务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11D5B-6D68-4836-9F46-1FAEBD91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草稿与依据位置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A42B3-4A28-44C2-BA6C-E8E52262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复核与修订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6561F-0FEF-4A61-94FC-0DE73A5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方法、结果及限制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30957-8425-414D-938E-B9584DCC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明确段落要回答什么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CC5BF-33A3-49F0-9301-098F6DFA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未知内容单独列出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DE72E-BC1D-4489-A10C-806AE671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逐句比对原始材料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1C502-1D97-44CC-BA21-92D7E1D7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写作任务示例：只依据附带计算记录写方法与结果。保留数字、单位和条件；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未知事项列出；每段注明材料位置，返回修改理由。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62DB1-2153-4F29-9228-D27DCCD4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保留工具用途与核查记录；AI使用的披露要求按目标期刊核对。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1B56B-9630-4447-AC60-8E817A5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模拟审稿；ICMJE，作者使用AI的说明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A2744-B60B-4E80-936E-34F9A46F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77502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3C11D-6190-45A5-8396-15242C0A755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382500" y="5219700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052D5-969C-4496-92A5-6EB4012E54C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382500" y="3886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99839-0E6C-4390-82BD-253822D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997A4-47D2-49BB-AA88-94B89699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按期刊要求改写摘要的任务示例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2610D-DDDF-422E-8C04-D43293C4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61CB6-EAD5-4E23-A2C8-13A4930B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把官方条款写入具体任务，改稿后分别核对格式、数字与结论。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A676C-72B8-4245-AFA7-ACA445B5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完整改写任务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A1A5B-AFE3-4B20-9768-63246DD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00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请按所附PLOS One作者要求，将[A1]改写为不超过300个英文词的摘要，不放引文，尽量避免缩写。说明本教学例子的目的、公开数据和筛选方法、主要结果及其解释范围。保留146条、每组73条、两组均值、4.62毫米差值、10000次重抽样及2.68至6.58毫米区间。明确区间的独立性假设和未核实条件，不添加新发现、P值、采样或因果结论。另交中文释义、逐句事实依据、词数及尚未满足的要求；措辞简洁，不把语言修改说成达到发表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9928D-DAD8-433C-9B22-EB92FF4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期刊条款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ECED8-E287-40BC-8590-6A52F12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原摘要与计算记录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5A4EC-52B8-49EB-8CD0-0AD45E3C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改稿与逐项核对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16385-83D4-4631-A341-DEB0F18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语言与格式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FD695-5A25-4A92-9CEA-5163881E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事实、单位和范围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B86B-C53C-4A92-9657-A4D822B8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≤300个英文词，不等于300个汉字。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38420-4ED2-43C2-87E0-F651BE4A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仅演示摘要改写；研究贡献、全文报告规范和投稿适格性仍需另行审查。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80C0E-B2B6-44B3-B4CF-5E9138DE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One，Language与Abstract条目；PLOS One，发表标准；课程教学示例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04BB3-561A-43B6-8B5D-8E14CA5D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17243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D1744-604F-4B6A-8332-F8AAB0AC117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67625" y="4953000"/>
            <a:ext cx="481012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6A2CB-BB46-4DB8-8920-0A0E3C80B11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4953000"/>
            <a:ext cx="4762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63A60-6BCC-46BC-82A7-C7F2E8F2C4F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4953000"/>
            <a:ext cx="4905375" cy="1428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3E0AB-9C6B-44A0-AC8C-92C1D672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6BF51-B9BD-4316-BB4A-A5813F2C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投稿文件中的信息一致性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83C95-631B-4A3A-904F-838A2430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E103F-BABC-4B90-9026-C8CEB173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主稿、图表、数据说明和投稿信应对应同一研究与版本。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BC37B-9C2A-4D6F-8CFF-22A8A8D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主稿与图表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正文和图注的数字一致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2B0AC-D0AF-4E73-A96E-4F866E49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数据与方法说明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出处与实际处理相符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3141B-A730-49B1-8B66-E280A5D5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投稿信与系统字段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作者核对贡献与声明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90E8F-AC09-4123-A561-AE335209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81750"/>
            <a:ext cx="714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同一题目、作者、样本数、图号与版本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E7A39-EE58-4E5B-98C3-C569798C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官方要求作为案例；具体文件清单按目标期刊核对。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5371A-F10B-4E95-83FE-F0ABFDFD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One，投稿指南；课程教学示例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A6E43-CA8D-4A39-925D-156B55B5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783593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DA7BB-13EF-4E0F-8776-FBF13DA906C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2858750" y="4191000"/>
            <a:ext cx="1733550" cy="27146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CF3D6-6AF4-4136-9558-329F900ED2C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E149E-A22C-42A2-B70F-2B181866190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25EE1-1008-4F89-98DA-F632E29619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0014B-EE29-4569-B956-FE56EF1A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2AE81-E0AE-4AC8-ACFF-8F869478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编辑初筛与外部评审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C7587-D3C8-4AE4-89A8-CD4B58D5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BE00D-B918-46FC-9353-17916B1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期刊先检查材料和适配，再决定是否邀请外部评审，最后由编辑形成决定。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2A77D-379F-4C30-B962-42214BBC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材料初检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3F500-C240-4B99-AF85-91C5DFE9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A1CED-EAE0-4DEA-9C2D-A54CD0F5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外部评审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D1746-F938-4983-BF67-9217F9C4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编辑决定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59BC2-9540-44C5-8533-6911E806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文件与声明完整性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C7748-E40E-448A-8A49-45E628B4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范围、标准与适配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A771F-C6B6-4090-88DF-53A56B5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方法、证据与解释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CBF94-275F-449E-A300-B336A8F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57DA7-5FB7-4972-8166-FB1F3D2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77000"/>
            <a:ext cx="523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作者修订与逐条回复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11A10-D92A-4039-A8BF-E951EBC0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编辑可决定接受、修订或拒稿。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08243-AABF-49D3-AFF4-934B787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修订后重新提交，编辑继续评估；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具体环节按目标期刊规定。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C000D-4E90-4E89-A1F3-A9B23E09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本页为官方流程转述，没有实际稿件状态或执行截图。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C9C56-D929-4969-A4F0-9BEB4A48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8206E-328C-42E1-AD4C-10CDD50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29391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292DF-76E4-4E40-9882-9E6BB1CE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9B725-08F2-42CD-9DF1-B5A5BF5D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审稿意见的分类与修改动作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3F6DC-E953-460B-8D1F-7C3C345D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ABA56-157F-4EE5-B826-0A4879C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先判断意见需要补说明、重分析、新研究还是讨论范围，再安排回应。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F6C7F-AAD7-4591-BF3A-5EA55DC9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R1.1：缺少方法细节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7151-D5A1-4090-978E-721DD891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补数据来源、筛选和缺失处理 → 已修改[M1]。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1BE19-5CC4-4063-A1FC-DD08443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401C8-43E1-494E-8E3D-F6EBE0E3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R1.2：因果结论过强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69AA7-B0E0-442B-8E29-54D0B28A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收回因果与机制表述，说明范围 → 已修改[R1][D1]。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A09A0-FF20-4798-A091-E1C68BB7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958B2-91DF-4E5F-86BA-A982458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R2.1：要求独立采样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DB366-1A67-407A-BADA-74E7E885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需要新增研究 → 本轮未完成，在[L1]说明限制。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BB810-0955-494F-9807-414BD52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6618B-147B-46FD-9018-6954DA11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教学模拟审稿意见，实际文件改动可查，新增研究没有发生。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08B8A-E34E-4D60-8662-BA6D3877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F8B68-97FB-457C-A187-B8DE990A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343766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27B4F-1999-4B8B-8FB4-EF40DBF6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8A04B-C139-4FE7-950C-DB71343F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回复示例：补充方法说明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2C70B-F80A-48C1-B635-A62B9A44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8A6D1-BC5C-4054-9476-A07ECA1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回复要说清具体补了什么，并指向修订稿中的实际位置。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E9DDD-AD74-4DCA-A688-A95562C9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C65A5-E31A-4E41-AC0C-5D8BAC3A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请说明数据来源、缺失记录的处理，以及样本量如何确定。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2E2FA-84F1-45AE-9E00-5E56EE7D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B4427-9C8A-48F4-80C7-3747797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[M1]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2714A-8523-47DE-BD7A-C92E530C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补入原始344条、Adelie 152条、完整146条，以及排除6条、未插补。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04754-C4DB-420F-9E85-1C5A7BD3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FC595-E01C-461D-A177-CC385DBE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0547C-E65A-44D9-BF82-10BF7B9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已在[M1]补充来源、纳入条件与缺失处理；样本量与过滤记录一致。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E01F0-8CF2-41D9-A00A-1D529E7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31CA2-DF51-47B4-A22D-F34A10CF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模拟意见R1.1；正文[M1]与回复矩阵有实际对应。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B9E81-58D4-4A48-A6C1-2360832C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675E-B5BB-42FB-9AE0-A6357C74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64191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EBCC3-DDF7-4618-93E4-94E93AF5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56647-69AC-4C23-B497-B948F78F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回复示例：收回因果结论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A45DD-077C-43FE-A0D8-941CB61B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60716-561E-467F-B37F-AEAEA701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当现有设计不支持因果解释时，修改结果与讨论的范围，并如实说明没有新增验证。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373D9-F20A-4654-9AF0-2984C750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R1.2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4491D-66A3-43C6-B326-12BF9802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观察性比较无法支持“性别决定鳍长”，请修改因果结论。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D3FAF-4137-4C2E-8B11-D3352D3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BBCCD-8364-4CED-BD85-E492231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实际改动 [R1][D1]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D195B-2CA5-488E-B3D6-19E35BFD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删除“证明决定”等表述；保留4.62 mm描述，说明组成、缺失和独立性限制。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4989C-4BC1-4A3C-97C0-192982DF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631E7-8219-4035-B13C-C6C1D249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08231-47F2-4A23-820B-4AF97BF3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已收回因果与机制结论，并限定为纳入记录中的描述性比较；未增加机制验证。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4A052-9EDD-4B6E-9A34-6538146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22B3A-8DD7-4FEF-8FD7-128CF32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模拟意见R1.2；实际修订在[R1]与[D1]，不声称已验证机制。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3D7BF-CD09-45D9-9343-EA11FFF6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E48F3-DA32-4E8D-945C-1CD0E90D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101724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C00C8-1B44-4595-9C4E-C1E35689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7695A-4A95-4262-8B97-AD36D41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回复示例：尚未完成的补充研究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92360-EAE2-49CD-A333-A6CB26F2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E9CF5-5853-46E2-AAA3-73A257D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无法完成建议中的独立采样时，说明缺口及其对结论的影响，不能用未来计划充当结果。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6D0C2-1F8D-4EE8-BE79-DE4B5FBB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模拟意见 R2.1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12CB0-FD31-484E-BCD4-01B5F723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请增加独立样本，并检验巢内相关性后再讨论推广。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3F4B5-A4FD-4EDB-B234-8F96DA3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3C4FD-4CD8-41EF-BB3D-334752B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 [L1]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91471-444B-4833-BB9D-4A1EE6BE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本轮未新增采样，也未完成巢内相关性检验。该缺口保留在限制部分。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00295-2930-487F-995E-EA188EC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180BD-A160-4685-9AF4-D2D42F58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回复节选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E3C48-4B14-45EA-82FA-055CDAD1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这项补充研究尚未完成。当前结果限于本次纳入记录，不能用其支持更广范围的结论。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270E7-8B8D-4619-B7CB-E93D8429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B3A00-1DBD-4929-834D-CC197CD5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模拟意见R2.1；[L1]保留未完成状态，不虚构实验或分析。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1272E-D58C-4735-9745-6030B0D4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89F16-FA39-415A-A772-DF8C8BE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273629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05532-EC09-4008-A8A7-B537508A710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5000625"/>
            <a:ext cx="16192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4E8B5-3FA9-4215-B01B-D614EF9CD81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762375"/>
            <a:ext cx="16192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B4B55-D814-47B8-99BD-A854F5DF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EC66-C101-4CC4-8481-9DB84C81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回复、标记稿与清稿的版本对应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D2D3E-E0B0-464A-AD06-49ED43AF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D3A58-2934-448D-A834-DC6DF121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每条回复要能定位到实际改动，未完成事项继续保留在问题清单中。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53BAD-9E1E-4FCA-88FA-D9E86A14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逐条回复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response-matrix.csv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01866-9421-4CE2-8B58-22A14C19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有改动标记的版本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revision.diff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F8B67-4177-4745-AC74-A035B367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286500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修订后正文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manuscript-r1.md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75E0C-2D88-4E4E-BFF6-359F0B9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核对意见ID、段落锚点与完成状态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959FA-1D50-456A-8F36-03474849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2862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本节提供实际文本差异。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正式投稿所需的标记稿与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清稿格式，按目标刊制作。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59141-9CDD-42D7-A3EC-36BEA8F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实际材料为可编辑Markdown与差异文件，未冒充Word修订模式。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27544-7420-4D5A-9767-5D8A7B62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One，返修提交说明；课程教学示例 / 模拟审稿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394D8-D521-4FE5-8181-695BD1C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52472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5488A-B954-4793-A28F-CDD99CF4186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67250" y="4929188"/>
            <a:ext cx="190500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EFC63-7657-4F15-8E0A-41C40DC9624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67250" y="4929188"/>
            <a:ext cx="19050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E503C-9123-4C58-B4EF-66EFDE190D7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667250" y="3524250"/>
            <a:ext cx="1905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09853-1AEC-44AC-A66E-2AE8314A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45E6B-0A1A-42F0-9FE8-529D6C8E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拒稿后的修改与重投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5CFE1-1900-4C8D-B744-9A78A35C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06932-A6DF-4B24-9571-A3F48C94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根据决定理由判断是内容适配、证据不足还是重大事实分歧，再决定修改方向。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2A017-27DF-4544-955E-48CFD6F4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阅读编辑决定和理由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DE50C-C994-4D44-A69B-5DB97383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范围不符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39B28-05AD-43C5-A4D7-1E79C007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重新判断目标期刊和文章类型。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315E8-1D3F-4935-BF93-82A81996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证据或方法不足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0A9C0-F68C-4B85-AD1C-8C1C4C0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补研究或收窄结论，再评估稿件。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69083-EC77-486C-97D1-7C89AD28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960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重大事实争议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B0D5A-DC9C-48B1-8912-BC3EE461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960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按期刊程序，用材料说明申诉依据。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D24E4-AEC0-4F0A-AD2A-16D14DBE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重投前核对上一流程已结束，并重新检查目标刊要求。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E94C2-9B31-44B1-B4F7-3C2BB633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One，编辑与同行评审流程；课程教学示例 / 模拟审稿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A1AA6-4909-460D-8BF8-670BD6E2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940365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A7EDE-8D72-4562-902C-D2DC2593333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4C098-B9D8-4A19-9145-F1BBFDEEA71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C3ABC-FC9F-40E9-9F0D-214DCC6EA38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71668-3EF3-4CC6-A01F-CE00528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  论文写作、投稿与返修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7EAB8-F395-4514-8D65-51D60A54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可复核的写作与返修材料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7F644-2340-44B6-9BB4-87F8CF0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167FD-9F3D-401C-ADFC-D4FE439F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研究材料、当前稿、修改记录和逐条回复，应能指向同一组事实。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E3C67-716F-43A7-BE44-3C15DB0A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来源与计算证据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38955-DFBF-43BE-BC7A-12C9C66A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当前稿与段落锚点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E1E2F-0A0B-442C-8083-21B3C7CD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修改与回复记录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20C3-4AC2-43A5-83FA-43C28A2F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提交前版本复核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6A1ED-8D94-471C-94FB-0282B13C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核对数字与单位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8CA40-8532-4429-8FF3-67E9EF73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明确每句支持范围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8E593-43B3-4E16-9F4E-F27306D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逐项保留完成状态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AF870-E881-4155-96BF-595BC231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43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作者核查材料一致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AA723-4746-4AAA-99FC-71276FE4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材料里的数字、段落里的判断和文件里的修改，应逐项对应。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D87D3-D166-4AEC-9F9D-DCFFBEA8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下一节：基金申报与Grant Agent。当前写作示例未投稿。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FC3FD-0B64-4423-ABFE-90AE537B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来源：课程教学示例 / 模拟审稿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DAEA7-9A14-45AA-844C-377BC94B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44206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2026-10-19T02:40:24.5280000Z</dcterms:created>
  <dcterms:modified xsi:type="dcterms:W3CDTF">2026-10-19T02:40:24.5280000Z</dcterms:modified>
</coreProperties>
</file>