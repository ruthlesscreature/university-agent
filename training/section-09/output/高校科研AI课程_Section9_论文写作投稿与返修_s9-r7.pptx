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60b3c6a8854319" /><Relationship Type="http://schemas.openxmlformats.org/officeDocument/2006/relationships/extended-properties" Target="/docProps/app.xml" Id="Rcd215d6847f94cb0" /><Relationship Type="http://schemas.openxmlformats.org/officeDocument/2006/relationships/officeDocument" Target="/ppt/presentation.xml" Id="Rd1b44ca9de3a41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2396d9bef14e61"/>
  </p:sldMasterIdLst>
  <p:notesMasterIdLst>
    <p:notesMasterId xmlns:r="http://schemas.openxmlformats.org/officeDocument/2006/relationships" r:id="R1ad105d7f39042f9"/>
  </p:notesMasterIdLst>
  <p:sldIdLst>
    <p:sldId xmlns:r="http://schemas.openxmlformats.org/officeDocument/2006/relationships" id="256" r:id="R6dcfb01d533940ad"/>
    <p:sldId xmlns:r="http://schemas.openxmlformats.org/officeDocument/2006/relationships" id="257" r:id="R5e50e320466540fe"/>
    <p:sldId xmlns:r="http://schemas.openxmlformats.org/officeDocument/2006/relationships" id="258" r:id="Rb11e9eae1d5f4b51"/>
    <p:sldId xmlns:r="http://schemas.openxmlformats.org/officeDocument/2006/relationships" id="259" r:id="Ra54db9bfe5ee448d"/>
    <p:sldId xmlns:r="http://schemas.openxmlformats.org/officeDocument/2006/relationships" id="260" r:id="R951e8e65714d4adb"/>
    <p:sldId xmlns:r="http://schemas.openxmlformats.org/officeDocument/2006/relationships" id="261" r:id="Rc7cb07cd13524dbf"/>
    <p:sldId xmlns:r="http://schemas.openxmlformats.org/officeDocument/2006/relationships" id="262" r:id="R647a773ae5ba4cd3"/>
    <p:sldId xmlns:r="http://schemas.openxmlformats.org/officeDocument/2006/relationships" id="263" r:id="R54f39294ca43429d"/>
    <p:sldId xmlns:r="http://schemas.openxmlformats.org/officeDocument/2006/relationships" id="264" r:id="Rbcc3cace98964f31"/>
    <p:sldId xmlns:r="http://schemas.openxmlformats.org/officeDocument/2006/relationships" id="265" r:id="Re5e420f25a2945fb"/>
    <p:sldId xmlns:r="http://schemas.openxmlformats.org/officeDocument/2006/relationships" id="266" r:id="Rd1477f3bcc7e425b"/>
    <p:sldId xmlns:r="http://schemas.openxmlformats.org/officeDocument/2006/relationships" id="267" r:id="Red8e2c5bc58d4587"/>
    <p:sldId xmlns:r="http://schemas.openxmlformats.org/officeDocument/2006/relationships" id="268" r:id="R2c32e7817be74c92"/>
    <p:sldId xmlns:r="http://schemas.openxmlformats.org/officeDocument/2006/relationships" id="269" r:id="R2b681a6d6cf7487b"/>
    <p:sldId xmlns:r="http://schemas.openxmlformats.org/officeDocument/2006/relationships" id="270" r:id="R9164331176a944c6"/>
    <p:sldId xmlns:r="http://schemas.openxmlformats.org/officeDocument/2006/relationships" id="271" r:id="R42a8ce9b903848c8"/>
    <p:sldId xmlns:r="http://schemas.openxmlformats.org/officeDocument/2006/relationships" id="272" r:id="R170327c6d1dc4054"/>
    <p:sldId xmlns:r="http://schemas.openxmlformats.org/officeDocument/2006/relationships" id="273" r:id="R86f148ee904b46cb"/>
    <p:sldId xmlns:r="http://schemas.openxmlformats.org/officeDocument/2006/relationships" id="274" r:id="Re963c3379bea42ca"/>
    <p:sldId xmlns:r="http://schemas.openxmlformats.org/officeDocument/2006/relationships" id="275" r:id="R8da90ec85a7e46da"/>
    <p:sldId xmlns:r="http://schemas.openxmlformats.org/officeDocument/2006/relationships" id="276" r:id="R4bf730414e174ef9"/>
    <p:sldId xmlns:r="http://schemas.openxmlformats.org/officeDocument/2006/relationships" id="277" r:id="Rbf9bf211b44246a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02f7dd14874844" /><Relationship Type="http://schemas.openxmlformats.org/officeDocument/2006/relationships/slideMaster" Target="/ppt/slideMasters/slideMaster1.xml" Id="R282396d9bef14e61" /><Relationship Type="http://schemas.openxmlformats.org/officeDocument/2006/relationships/notesMaster" Target="/ppt/notesMasters/notesMaster1.xml" Id="R1ad105d7f39042f9" /><Relationship Type="http://schemas.openxmlformats.org/officeDocument/2006/relationships/presProps" Target="/ppt/presProps.xml" Id="R0477f90f74654220" /><Relationship Type="http://schemas.openxmlformats.org/officeDocument/2006/relationships/tableStyles" Target="/ppt/tableStyles.xml" Id="Rcc76766305df4f8d" /><Relationship Type="http://schemas.openxmlformats.org/officeDocument/2006/relationships/slide" Target="/ppt/slides/slide1.xml" Id="R6dcfb01d533940ad" /><Relationship Type="http://schemas.openxmlformats.org/officeDocument/2006/relationships/slide" Target="/ppt/slides/slide2.xml" Id="R5e50e320466540fe" /><Relationship Type="http://schemas.openxmlformats.org/officeDocument/2006/relationships/slide" Target="/ppt/slides/slide3.xml" Id="Rb11e9eae1d5f4b51" /><Relationship Type="http://schemas.openxmlformats.org/officeDocument/2006/relationships/slide" Target="/ppt/slides/slide4.xml" Id="Ra54db9bfe5ee448d" /><Relationship Type="http://schemas.openxmlformats.org/officeDocument/2006/relationships/slide" Target="/ppt/slides/slide5.xml" Id="R951e8e65714d4adb" /><Relationship Type="http://schemas.openxmlformats.org/officeDocument/2006/relationships/slide" Target="/ppt/slides/slide6.xml" Id="Rc7cb07cd13524dbf" /><Relationship Type="http://schemas.openxmlformats.org/officeDocument/2006/relationships/slide" Target="/ppt/slides/slide7.xml" Id="R647a773ae5ba4cd3" /><Relationship Type="http://schemas.openxmlformats.org/officeDocument/2006/relationships/slide" Target="/ppt/slides/slide8.xml" Id="R54f39294ca43429d" /><Relationship Type="http://schemas.openxmlformats.org/officeDocument/2006/relationships/slide" Target="/ppt/slides/slide9.xml" Id="Rbcc3cace98964f31" /><Relationship Type="http://schemas.openxmlformats.org/officeDocument/2006/relationships/slide" Target="/ppt/slides/slide10.xml" Id="Re5e420f25a2945fb" /><Relationship Type="http://schemas.openxmlformats.org/officeDocument/2006/relationships/slide" Target="/ppt/slides/slide11.xml" Id="Rd1477f3bcc7e425b" /><Relationship Type="http://schemas.openxmlformats.org/officeDocument/2006/relationships/slide" Target="/ppt/slides/slide12.xml" Id="Red8e2c5bc58d4587" /><Relationship Type="http://schemas.openxmlformats.org/officeDocument/2006/relationships/slide" Target="/ppt/slides/slide13.xml" Id="R2c32e7817be74c92" /><Relationship Type="http://schemas.openxmlformats.org/officeDocument/2006/relationships/slide" Target="/ppt/slides/slide14.xml" Id="R2b681a6d6cf7487b" /><Relationship Type="http://schemas.openxmlformats.org/officeDocument/2006/relationships/slide" Target="/ppt/slides/slide15.xml" Id="R9164331176a944c6" /><Relationship Type="http://schemas.openxmlformats.org/officeDocument/2006/relationships/slide" Target="/ppt/slides/slide16.xml" Id="R42a8ce9b903848c8" /><Relationship Type="http://schemas.openxmlformats.org/officeDocument/2006/relationships/slide" Target="/ppt/slides/slide17.xml" Id="R170327c6d1dc4054" /><Relationship Type="http://schemas.openxmlformats.org/officeDocument/2006/relationships/slide" Target="/ppt/slides/slide18.xml" Id="R86f148ee904b46cb" /><Relationship Type="http://schemas.openxmlformats.org/officeDocument/2006/relationships/slide" Target="/ppt/slides/slide19.xml" Id="Re963c3379bea42ca" /><Relationship Type="http://schemas.openxmlformats.org/officeDocument/2006/relationships/slide" Target="/ppt/slides/slide20.xml" Id="R8da90ec85a7e46da" /><Relationship Type="http://schemas.openxmlformats.org/officeDocument/2006/relationships/slide" Target="/ppt/slides/slide21.xml" Id="R4bf730414e174ef9" /><Relationship Type="http://schemas.openxmlformats.org/officeDocument/2006/relationships/slide" Target="/ppt/slides/slide22.xml" Id="Rbf9bf211b44246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8c437057c84a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f6aa4cf2da428a" /><Relationship Type="http://schemas.openxmlformats.org/officeDocument/2006/relationships/notesMaster" Target="/ppt/notesMasters/notesMaster1.xml" Id="R7569f0d1ff9b47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a6701b850240f7" /><Relationship Type="http://schemas.openxmlformats.org/officeDocument/2006/relationships/notesMaster" Target="/ppt/notesMasters/notesMaster1.xml" Id="Rd81c26c17fc646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282ba5437e4ff6" /><Relationship Type="http://schemas.openxmlformats.org/officeDocument/2006/relationships/notesMaster" Target="/ppt/notesMasters/notesMaster1.xml" Id="R963db2d3ff2e4f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d3869a931e49c8" /><Relationship Type="http://schemas.openxmlformats.org/officeDocument/2006/relationships/notesMaster" Target="/ppt/notesMasters/notesMaster1.xml" Id="Rc4d67bf18b1c49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4c81a49b764f07" /><Relationship Type="http://schemas.openxmlformats.org/officeDocument/2006/relationships/notesMaster" Target="/ppt/notesMasters/notesMaster1.xml" Id="R1b786eca47a44e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c13f06731447dc" /><Relationship Type="http://schemas.openxmlformats.org/officeDocument/2006/relationships/notesMaster" Target="/ppt/notesMasters/notesMaster1.xml" Id="R3950df89ccc449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c6d2fc61aa421a" /><Relationship Type="http://schemas.openxmlformats.org/officeDocument/2006/relationships/notesMaster" Target="/ppt/notesMasters/notesMaster1.xml" Id="R4f25878e925c49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8912a89f6c4ccb" /><Relationship Type="http://schemas.openxmlformats.org/officeDocument/2006/relationships/notesMaster" Target="/ppt/notesMasters/notesMaster1.xml" Id="R340a09ddcfad49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cee7ba01d94ddd" /><Relationship Type="http://schemas.openxmlformats.org/officeDocument/2006/relationships/notesMaster" Target="/ppt/notesMasters/notesMaster1.xml" Id="R862a1a5ac34445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86009e2d94494c" /><Relationship Type="http://schemas.openxmlformats.org/officeDocument/2006/relationships/notesMaster" Target="/ppt/notesMasters/notesMaster1.xml" Id="R8289a306ed6642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d4e7ecce8446f2" /><Relationship Type="http://schemas.openxmlformats.org/officeDocument/2006/relationships/notesMaster" Target="/ppt/notesMasters/notesMaster1.xml" Id="R3aa9f48be41e4a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f38aa66ef2493d" /><Relationship Type="http://schemas.openxmlformats.org/officeDocument/2006/relationships/notesMaster" Target="/ppt/notesMasters/notesMaster1.xml" Id="R7ca55fb5a4ac48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17470267a0484b" /><Relationship Type="http://schemas.openxmlformats.org/officeDocument/2006/relationships/notesMaster" Target="/ppt/notesMasters/notesMaster1.xml" Id="Rddad5d62cc0942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c3f715ecb049b1" /><Relationship Type="http://schemas.openxmlformats.org/officeDocument/2006/relationships/notesMaster" Target="/ppt/notesMasters/notesMaster1.xml" Id="R42960a8a80cc4b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fe0135f9fe4964" /><Relationship Type="http://schemas.openxmlformats.org/officeDocument/2006/relationships/notesMaster" Target="/ppt/notesMasters/notesMaster1.xml" Id="Rbdae99008cad463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c89592198cb418a" /><Relationship Type="http://schemas.openxmlformats.org/officeDocument/2006/relationships/notesMaster" Target="/ppt/notesMasters/notesMaster1.xml" Id="Rec3c16ce25714d3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8f36d64787a4d59" /><Relationship Type="http://schemas.openxmlformats.org/officeDocument/2006/relationships/notesMaster" Target="/ppt/notesMasters/notesMaster1.xml" Id="Red95939a6f4b40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841842ae12f492e" /><Relationship Type="http://schemas.openxmlformats.org/officeDocument/2006/relationships/notesMaster" Target="/ppt/notesMasters/notesMaster1.xml" Id="R4e2437fe9d634ae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229c19ddb4f4a28" /><Relationship Type="http://schemas.openxmlformats.org/officeDocument/2006/relationships/notesMaster" Target="/ppt/notesMasters/notesMaster1.xml" Id="R55e1d59f1c07437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4e34711a1a043ea" /><Relationship Type="http://schemas.openxmlformats.org/officeDocument/2006/relationships/notesMaster" Target="/ppt/notesMasters/notesMaster1.xml" Id="R4eb12691f94943b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839aa4c61164874" /><Relationship Type="http://schemas.openxmlformats.org/officeDocument/2006/relationships/notesMaster" Target="/ppt/notesMasters/notesMaster1.xml" Id="R3f9f868fdcd84a9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72f27d626104dc2" /><Relationship Type="http://schemas.openxmlformats.org/officeDocument/2006/relationships/notesMaster" Target="/ppt/notesMasters/notesMaster1.xml" Id="R264d00c2405141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写作从研究问题和可核查材料开始。先形成主张与证据对应，再组织段落、选择适当期刊、检查提交材料。审稿后逐项回应，保留修改位置与仍未完成的工作。此处无真实投稿或评审，示例是公开数据教学稿。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用上一节数据逐条对应：146条及73/73来自过滤，4.62mm来自均值计算；因果与普遍外推没有相应设计证据。把证据缺口留在论证中，不靠修辞升级成发现。此图中的状态只反映本例材料。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RaD是常见经验研究组织方式，分别对应Introduction、Methods、Results、Discussion。理论论文、方法论文和不同学科的组织会变化，需按论证和目标刊调整。哥廷根课件展示了不同计算机研究方向的差异，不能强套统一章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示例有三句：纳入146条、雌雄各73；均值与差异；说明本例未作因果推断。句子之间有证据关系，而非每句换一个宏大概念。用数字锚点连接方法与图。讲师可以与后续方法段落比较，分清结果和处理过程。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Results</a:t>
            </a:r>
          </a:p>
          <a:p xmlns:a="http://schemas.openxmlformats.org/drawingml/2006/main">
            <a:r>
              <a:t>https://mitcommlab.mit.edu/broad/commkit/journal-article-results/</a:t>
            </a:r>
          </a:p>
          <a:p xmlns:a="http://schemas.openxmlformats.org/drawingml/2006/main">
            <a:r>
              <a:t>定位：Decide on figures、organized results、claims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本页中文摘要对应style-packet/abstract-en.txt英文教学改稿。左侧保留纳入范围、各组均值、差值、重抽样和条件区间；右侧原生均值图只帮助读数，不显示分布、误差线或显著性。英文改稿依据PLOS One Language与Abstract条目的部分要求：英文、不超过300词、不含引文、尽量避免缩写，说明目的、概括做法、主要结果及意义。没有将教学用途虚构为科研贡献。完整任务和逐句来源在style-packet；没有期刊审查或投稿。全文其他报告规范尚未逐项核对。本轮参考哥廷根原课件第8、19、21页的摘要、过度推断和简洁语言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Submission Guidelines：Language与Abstract</a:t>
            </a:r>
          </a:p>
          <a:p xmlns:a="http://schemas.openxmlformats.org/drawingml/2006/main">
            <a:r>
              <a:t>https://journals.plos.org/plosone/s/submission-guidelines#loc-abstract</a:t>
            </a:r>
          </a:p>
          <a:p xmlns:a="http://schemas.openxmlformats.org/drawingml/2006/main">
            <a:r>
              <a:t>定位：2026-10-19读官方Language与Abstract：英文，摘要不超过300词，不放引文，尽量避免缩写，说明目的、做法、主要结果与意义。只核对示例涉及条目。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按领域背景、已有研究、当前问题、研究目标组织。Gorman2014是公开数据原研究；本例没有新颖性检索或新增采样，因此只提出教学分析问题，不声称填补空白。正式研究需要明确与既有工作的区别并提供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Introduction</a:t>
            </a:r>
          </a:p>
          <a:p xmlns:a="http://schemas.openxmlformats.org/drawingml/2006/main">
            <a:r>
              <a:t>https://mitcommlab.mit.edu/broad/commkit/journal-article-introduction/</a:t>
            </a:r>
          </a:p>
          <a:p xmlns:a="http://schemas.openxmlformats.org/drawingml/2006/main">
            <a:r>
              <a:t>定位：Structure/Background/Question等指导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Gorman KB, Williams TD, Fraser WR. Ecological Sexual Dimorphism and Environmental Variability within a Community of Antarctic Penguins (Genus Pygoscelis). PLOS ONE. 2014;9(3):e90081.</a:t>
            </a:r>
          </a:p>
          <a:p xmlns:a="http://schemas.openxmlformats.org/drawingml/2006/main">
            <a:r>
              <a:t>https://journals.plos.org/plosone/article?id=10.1371/journal.pone.0090081</a:t>
            </a:r>
          </a:p>
          <a:p xmlns:a="http://schemas.openxmlformats.org/drawingml/2006/main">
            <a:r>
              <a:t>定位：标题、作者、摘要、方法；本例二次计算不冒充原文结果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1记录原始344、Adelie152、所需列完整146，排除6条且未插补。M2写方向male减female、分组有放回10000次、种子20261018与linear分位点。未执行的方法、仪器和实验不写进已完成叙述。页面只保留方法段核心，完整参数在教学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同一146条完整记录的5mm分箱频数。正文描述均值差4.62mm并指出分布重叠，不把两组记录当作同一个体前后测。未报告P值，也未通过图形判断显著性。完整统计量来自第7节实际计算并随本节保留证据副本。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Results</a:t>
            </a:r>
          </a:p>
          <a:p xmlns:a="http://schemas.openxmlformats.org/drawingml/2006/main">
            <a:r>
              <a:t>https://mitcommlab.mit.edu/broad/commkit/journal-article-results/</a:t>
            </a:r>
          </a:p>
          <a:p xmlns:a="http://schemas.openxmlformats.org/drawingml/2006/main">
            <a:r>
              <a:t>定位：Decide on figures、organized results、claims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完整记录均值差出发，检查年份和岛屿组成、缺失机制、巢内依赖及总体定义。当前数据不能支持机制结论。提出未来采样与模型检查是下一步建议，不能写成已完成验证。图中分支只是解释路径，不是实证因果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Discussion</a:t>
            </a:r>
          </a:p>
          <a:p xmlns:a="http://schemas.openxmlformats.org/drawingml/2006/main">
            <a:r>
              <a:t>https://mitcommlab.mit.edu/broad/commkit/journal-article-discussion/</a:t>
            </a:r>
          </a:p>
          <a:p xmlns:a="http://schemas.openxmlformats.org/drawingml/2006/main">
            <a:r>
              <a:t>定位：interpretation、context、limitations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原段落故意设置显著优于、证明决定和推广价值等问题，明确不作为事实。修订后保留对象与均值差，删除未经检验的显著性、价值排序与因果表述。Humanizer不改变真实数字，也不以规避检测为目标。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Gorman2014真实论文为例，标题、作者和DOI可以确认身份；要支持关于采样、对象和结论的具体句子，还需回到摘要、方法与结果相应位置。当前课程二次分析的4.62mm来自自己的计算，不归到原文名下。模型返回的DOI不能直接当作核验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Gorman KB, Williams TD, Fraser WR. Ecological Sexual Dimorphism and Environmental Variability within a Community of Antarctic Penguins (Genus Pygoscelis). PLOS ONE. 2014;9(3):e90081.</a:t>
            </a:r>
          </a:p>
          <a:p xmlns:a="http://schemas.openxmlformats.org/drawingml/2006/main">
            <a:r>
              <a:t>https://journals.plos.org/plosone/article?id=10.1371/journal.pone.0090081</a:t>
            </a:r>
          </a:p>
          <a:p xmlns:a="http://schemas.openxmlformats.org/drawingml/2006/main">
            <a:r>
              <a:t>定位：标题、作者、摘要、方法；本例二次计算不冒充原文结果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示例：只根据附带CSV计算记录和研究说明写方法与结果；保留数字、单位和条件，未知信息列出；每段标注所用材料位置，不补造实验、文献或显著性。Harness承接材料版本、执行记录与核对规则，在写作任务中仍由研究者判断主张。此页为方法框架，未冒充云端执行截图。</a:t>
            </a:r>
          </a:p>
          <a:p xmlns:a="http://schemas.openxmlformats.org/drawingml/2006/main">
            <a:r>
              <a:t>ICMJE医学期刊建议AI不能署为作者，作者承担准确性等责任，并按要求披露AI用途。不得把该建议当成所有学科完全一致的规定。记录真实工具名称和版本、日期、任务、输入输出及人工核查；不补填本来没有保存的版本号。语言修订不能取消披露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ICMJE，Use of AI by Authors</a:t>
            </a:r>
          </a:p>
          <a:p xmlns:a="http://schemas.openxmlformats.org/drawingml/2006/main">
            <a:r>
              <a:t>https://icmje.org/recommendations/browse/artificial-intelligence/ai-use-by-authors.html</a:t>
            </a:r>
          </a:p>
          <a:p xmlns:a="http://schemas.openxmlformats.org/drawingml/2006/main">
            <a:r>
              <a:t>定位：2026-10-18核查；医学期刊建议，具体采用以目标刊规定为准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可以直接使用的中文任务，实际改稿、原摘要、逐句事实依据和差异文件均位于style-packet。讲师先打开官方Language与Abstract条目，再读任务中哪些部分来自期刊，哪些来自本例材料。300个英文词是上限，不必凑足；不能改成300个汉字。右侧流程说明：官方格式要求与原摘要事实一同约束改稿，输出后再回查英文词数、引文、保留的数字与限定。案例有本轮Codex实际改稿，但没有外部期刊或模型服务运行截图。选刊还须判断范围、研究贡献、文章类型与数据报告要求；本教学复算稿没有取得投稿适格性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Submission Guidelines：Language与Abstract</a:t>
            </a:r>
          </a:p>
          <a:p xmlns:a="http://schemas.openxmlformats.org/drawingml/2006/main">
            <a:r>
              <a:t>https://journals.plos.org/plosone/s/submission-guidelines#loc-abstract</a:t>
            </a:r>
          </a:p>
          <a:p xmlns:a="http://schemas.openxmlformats.org/drawingml/2006/main">
            <a:r>
              <a:t>定位：2026-10-19读官方Language与Abstract：英文，摘要不超过300词，不放引文，尽量避免缩写，说明目的、做法、主要结果与意义。只核对示例涉及条目。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One，Criteria for Publication</a:t>
            </a:r>
          </a:p>
          <a:p xmlns:a="http://schemas.openxmlformats.org/drawingml/2006/main">
            <a:r>
              <a:t>https://journals.plos.org/plosone/s/criteria-for-publication</a:t>
            </a:r>
          </a:p>
          <a:p xmlns:a="http://schemas.openxmlformats.org/drawingml/2006/main">
            <a:r>
              <a:t>定位：2026-10-18核查：original research、supported conclusions、reporting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以PLOS One官方指南说明文件核对。本例主稿、图表与计算记录均对应146条完整记录、雄减雌4.62毫米；数据来源含344条，Adelie 152条，再排除6条缺失。本页的数字是本例实际材料，作者贡献、伦理与同意没有补填，也没有真实投稿。正式材料还应核对目标刊对图表、数据、声明和投稿信的具体规定。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One，Submission Guidelines</a:t>
            </a:r>
          </a:p>
          <a:p xmlns:a="http://schemas.openxmlformats.org/drawingml/2006/main">
            <a:r>
              <a:t>https://journals.plos.org/plosone/s/submission-guidelines</a:t>
            </a:r>
          </a:p>
          <a:p xmlns:a="http://schemas.openxmlformats.org/drawingml/2006/main">
            <a:r>
              <a:t>定位：2026-10-18核查Manuscript Organization、Cover letter、Abstract；具体期刊示例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按PLOS One官网转述初检、编辑评估、外审、编辑决定及修订。送审不等于接受；审稿意见是编辑判断的重要输入，决定由编辑作出。不同期刊阶段命名不同，不照搬为所有期刊同一状态机。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One，Editorial and Peer Review Process</a:t>
            </a:r>
          </a:p>
          <a:p xmlns:a="http://schemas.openxmlformats.org/drawingml/2006/main">
            <a:r>
              <a:t>https://journals.plos.org/plosone/s/editorial-and-peer-review-process</a:t>
            </a:r>
          </a:p>
          <a:p xmlns:a="http://schemas.openxmlformats.org/drawingml/2006/main">
            <a:r>
              <a:t>定位：Initial Checks、Editorial Review、Decisions、Revisions、Appeals，2026-10-18核查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模拟三条意见对应材料已补全、表述已修改和新增样本未完成。把意见拆为可执行动作并设证据位置。不是每项都能靠改写完成；需要新研究时如实保留状态，不把未来计划说成完成。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本页将R1.1改为可编辑筛选流程：原始344条，限定Adelie 152条，排除性别或鳍长缺失6条，纳入146条，雌雄各73条。正文[M1]还记录排除行号5、10、11、12、13、49，包含表头且不是个体ID。逐条回复与Word清稿使用相同段落编号。材料来自实际公开表过滤；模拟审稿意见没有来自期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One，Revising Your Manuscript</a:t>
            </a:r>
          </a:p>
          <a:p xmlns:a="http://schemas.openxmlformats.org/drawingml/2006/main">
            <a:r>
              <a:t>https://journals.plos.org/plosone/s/revising-your-manuscript</a:t>
            </a:r>
          </a:p>
          <a:p xmlns:a="http://schemas.openxmlformats.org/drawingml/2006/main">
            <a:r>
              <a:t>定位：Submission Instructions：逐条回复、标记稿与清稿，2026-10-18核查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模拟R1.2针对性别决定鳍长。实际删除原稿中的证明决定、普遍规律和生长机制，R1保留4.62mm描述，D1加入范围限制。回复同时指出修改与未做的研究，避免把删除强结论说成增加实证证据。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模拟R2.1要求新增样本和巢内相关验证。本轮未完成这些研究，L1已明示。回复不保证编辑接受现有范围，研究目标若要求该证据，就需要补材料或调整研究。不是所有分歧都能靠措辞解决。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本页根据PLOS One Revising Your Manuscript的Submission Instructions讲三份材料。writing-packet/word-r1现有三份实际可编辑Word：逐条审稿回复、修订稿_改动标记、修订稿_清稿。标记稿由实际r0与r1逐段比较，红色删除线与绿色下划线表示增删，未使用Word Track Changes。独立程序从DOCX的实际颜色、删除线和下划线还原r0/r1文字，核对清稿与回复锚点。页面用缩略句说明R1.2对应关系，完整文字以Word和Markdown为准。模拟意见R2.1仍是新增研究未完成；格式文件齐备不等于研究通过或可正式投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One，Revising Your Manuscript</a:t>
            </a:r>
          </a:p>
          <a:p xmlns:a="http://schemas.openxmlformats.org/drawingml/2006/main">
            <a:r>
              <a:t>https://journals.plos.org/plosone/s/revising-your-manuscript</a:t>
            </a:r>
          </a:p>
          <a:p xmlns:a="http://schemas.openxmlformats.org/drawingml/2006/main">
            <a:r>
              <a:t>定位：Submission Instructions：逐条回复、标记稿与清稿，2026-10-18核查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流程区分范围不符、方法证据不足和事实争议；更换期刊不能修复研究缺陷。申诉仅在符合目标刊程序且有材料时考虑。PLOS One申诉期间稿件仍在正式考虑中，不另投。这里没有替用户投稿、申诉或发送信件。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One，Editorial and Peer Review Process</a:t>
            </a:r>
          </a:p>
          <a:p xmlns:a="http://schemas.openxmlformats.org/drawingml/2006/main">
            <a:r>
              <a:t>https://journals.plos.org/plosone/s/editorial-and-peer-review-process</a:t>
            </a:r>
          </a:p>
          <a:p xmlns:a="http://schemas.openxmlformats.org/drawingml/2006/main">
            <a:r>
              <a:t>定位：Initial Checks、Editorial Review、Decisions、Revisions、Appeals，2026-10-18核查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付公开CSV及来源哈希、实算证据、r0故意错误原稿、r1修订稿、真实差异、三条模拟意见和回复矩阵。本轮还提供Word清稿、彩色增删标记稿和逐条回复，文件哈希与段落对应关系在word-r1/export-manifest.json。R1.1、R1.2已改文字，R2.1新增研究未完成。材料齐备不代表全文投稿合规。下一节进入基金申报与Grant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7d99f2c05543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047102b5aa4c6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e45601d40744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d04172fa1440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4caaa3686747a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9911817c244a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D65137-73DD-4137-8A06-8B862C03C0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40FB00C-945C-46F8-AB1E-0BC27004F4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4D7193-D730-477F-A375-4BF9659D28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B54CC6-90EA-4FA0-BBB2-EC0693F84C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5FC910-9886-4C06-84A4-CB7FB80BEF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B34A97-A00F-4072-86C9-4381778BDD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2C6105-0A3A-46D1-B398-6521B3779A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34898F-A146-4F7B-AB01-D3E0302881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38478A-CEA6-40E8-9979-2D06CED438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4D11FE-282A-4FA4-977D-D0887CE12C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a4c0e15b6c4095" /><Relationship Type="http://schemas.openxmlformats.org/officeDocument/2006/relationships/slideLayout" Target="/ppt/slideLayouts/slideLayout1.xml" Id="R1534d4126a634a2a" /><Relationship Type="http://schemas.openxmlformats.org/officeDocument/2006/relationships/slideLayout" Target="/ppt/slideLayouts/slideLayout2.xml" Id="R69c2d56ab2174ea8" /><Relationship Type="http://schemas.openxmlformats.org/officeDocument/2006/relationships/slideLayout" Target="/ppt/slideLayouts/slideLayout3.xml" Id="R7900fa15dd334ebd" /><Relationship Type="http://schemas.openxmlformats.org/officeDocument/2006/relationships/slideLayout" Target="/ppt/slideLayouts/slideLayout4.xml" Id="Rc494868d752d4720" /><Relationship Type="http://schemas.openxmlformats.org/officeDocument/2006/relationships/slideLayout" Target="/ppt/slideLayouts/slideLayout5.xml" Id="R6a6810008e25448b" /><Relationship Type="http://schemas.openxmlformats.org/officeDocument/2006/relationships/slideLayout" Target="/ppt/slideLayouts/slideLayout6.xml" Id="Rd678ccfa693a4b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34d4126a634a2a"/>
    <p:sldLayoutId xmlns:r="http://schemas.openxmlformats.org/officeDocument/2006/relationships" id="2147483650" r:id="R69c2d56ab2174ea8"/>
    <p:sldLayoutId xmlns:r="http://schemas.openxmlformats.org/officeDocument/2006/relationships" id="2147483651" r:id="R7900fa15dd334ebd"/>
    <p:sldLayoutId xmlns:r="http://schemas.openxmlformats.org/officeDocument/2006/relationships" id="2147483652" r:id="Rc494868d752d4720"/>
    <p:sldLayoutId xmlns:r="http://schemas.openxmlformats.org/officeDocument/2006/relationships" id="2147483653" r:id="R6a6810008e25448b"/>
    <p:sldLayoutId xmlns:r="http://schemas.openxmlformats.org/officeDocument/2006/relationships" id="2147483654" r:id="Rd678ccfa693a4b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e0d28130874deb" /><Relationship Type="http://schemas.openxmlformats.org/officeDocument/2006/relationships/notesSlide" Target="/ppt/notesSlides/notesSlide1.xml" Id="Rb80cfd551a394c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94d66265f14779" /><Relationship Type="http://schemas.openxmlformats.org/officeDocument/2006/relationships/notesSlide" Target="/ppt/notesSlides/notesSlide2.xml" Id="R8625deb960e245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737c6553794926" /><Relationship Type="http://schemas.openxmlformats.org/officeDocument/2006/relationships/notesSlide" Target="/ppt/notesSlides/notesSlide3.xml" Id="R8890a1f7c2dd40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6d4c8ddba448aa" /><Relationship Type="http://schemas.openxmlformats.org/officeDocument/2006/relationships/notesSlide" Target="/ppt/notesSlides/notesSlide4.xml" Id="R7118319f1bed40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8bf3a1d7064d77" /><Relationship Type="http://schemas.openxmlformats.org/officeDocument/2006/relationships/chart" Target="/ppt/slides/charts/chart1.xml" Id="R1a52b39409ca4544" /><Relationship Type="http://schemas.openxmlformats.org/officeDocument/2006/relationships/notesSlide" Target="/ppt/notesSlides/notesSlide5.xml" Id="R12d35a29d6ad44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e7d1789a414f7b" /><Relationship Type="http://schemas.openxmlformats.org/officeDocument/2006/relationships/notesSlide" Target="/ppt/notesSlides/notesSlide6.xml" Id="Rb354b59b595f4e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00ffc07eb544c7" /><Relationship Type="http://schemas.openxmlformats.org/officeDocument/2006/relationships/notesSlide" Target="/ppt/notesSlides/notesSlide7.xml" Id="R90a656bb35c649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28bff961ee46c4" /><Relationship Type="http://schemas.openxmlformats.org/officeDocument/2006/relationships/chart" Target="/ppt/slides/charts/chart2.xml" Id="R8b79732d7fc7476f" /><Relationship Type="http://schemas.openxmlformats.org/officeDocument/2006/relationships/notesSlide" Target="/ppt/notesSlides/notesSlide8.xml" Id="Rb37bc12c24ef4b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ec4ce6f9044e67" /><Relationship Type="http://schemas.openxmlformats.org/officeDocument/2006/relationships/notesSlide" Target="/ppt/notesSlides/notesSlide9.xml" Id="R3bff0bfc84a641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9e4a588e2740a7" /><Relationship Type="http://schemas.openxmlformats.org/officeDocument/2006/relationships/notesSlide" Target="/ppt/notesSlides/notesSlide10.xml" Id="Ra9c67f909fe541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8e656f91a34e36" /><Relationship Type="http://schemas.openxmlformats.org/officeDocument/2006/relationships/notesSlide" Target="/ppt/notesSlides/notesSlide11.xml" Id="Rdd540eae976141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24f919046d4b42" /><Relationship Type="http://schemas.openxmlformats.org/officeDocument/2006/relationships/notesSlide" Target="/ppt/notesSlides/notesSlide12.xml" Id="Rbb4f57fbd71647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05e3087eba4c72" /><Relationship Type="http://schemas.openxmlformats.org/officeDocument/2006/relationships/notesSlide" Target="/ppt/notesSlides/notesSlide13.xml" Id="R4be8cae4c53c4f2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1a3db4dda14c07" /><Relationship Type="http://schemas.openxmlformats.org/officeDocument/2006/relationships/notesSlide" Target="/ppt/notesSlides/notesSlide14.xml" Id="R0da319627f0a45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141e0d30e3418c" /><Relationship Type="http://schemas.openxmlformats.org/officeDocument/2006/relationships/notesSlide" Target="/ppt/notesSlides/notesSlide15.xml" Id="Raab6fb2e2e8c4ab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42704ee46c4daf" /><Relationship Type="http://schemas.openxmlformats.org/officeDocument/2006/relationships/notesSlide" Target="/ppt/notesSlides/notesSlide16.xml" Id="Ra5fbe600541443b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28d8dd71d14893" /><Relationship Type="http://schemas.openxmlformats.org/officeDocument/2006/relationships/notesSlide" Target="/ppt/notesSlides/notesSlide17.xml" Id="Rc231b33cd839420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dad26a901a483c" /><Relationship Type="http://schemas.openxmlformats.org/officeDocument/2006/relationships/notesSlide" Target="/ppt/notesSlides/notesSlide18.xml" Id="R0018775cf8c841f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9f47916c104ba2" /><Relationship Type="http://schemas.openxmlformats.org/officeDocument/2006/relationships/notesSlide" Target="/ppt/notesSlides/notesSlide19.xml" Id="Rb342fa1c55ed450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eabad99c6c45d9" /><Relationship Type="http://schemas.openxmlformats.org/officeDocument/2006/relationships/notesSlide" Target="/ppt/notesSlides/notesSlide20.xml" Id="R838ca8d52f3047d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694a81acc24d19" /><Relationship Type="http://schemas.openxmlformats.org/officeDocument/2006/relationships/notesSlide" Target="/ppt/notesSlides/notesSlide21.xml" Id="Raa50e455aa68419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02799341314ec2" /><Relationship Type="http://schemas.openxmlformats.org/officeDocument/2006/relationships/notesSlide" Target="/ppt/notesSlides/notesSlide22.xml" Id="Rfab0da796181416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平均鳍长（毫米）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雌（73条）</c:v>
                </c:pt>
                <c:pt idx="1">
                  <c:v>雄（73条）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Adelie鳍长分布：横轴毫米，纵轴记录数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雌（73条）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雄（73条）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59F25-0A69-4303-A5E1-B081D2BBB93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79203-4D3F-46BB-A1BF-5E6E127D082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E3918-1A15-45A5-8C77-DB84669CFB4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C37FE5-852C-4D44-99B8-88826B97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1066B-416C-4B9F-8AE8-4A325E10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论文写作、投稿与返修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B57B5-20D6-4A68-9CA0-A1C3C2F9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36395-1AEA-4D2B-BB49-68D26D10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本节把研究材料组织成段落，再追踪投稿判断、修改动作和回复依据。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26ED8-E533-4570-B35E-986E53A5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材料与论证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772E7-1C9D-4796-90C7-F985DED5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段落与图表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78011-CA24-478A-B003-913C161C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期刊与提交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E7498-1A30-4D61-9989-18F8600C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修订与回复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10766-23C5-47B0-8167-DE120C1B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每个判断对应依据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2A296-655F-4887-BDD7-8CCC5D81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方法、结果和限制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CD7C8-DB95-47ED-BB0E-0D2DCE0A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核对范围与要求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40EF1-19F4-402D-9031-2BC58572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记录动作和位置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D5966-847C-4BF4-94A5-99D1CA46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材料里的数字、段落里的判断和文件里的修改，应逐项对应。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29B38-D71B-47B4-80B2-ABC610D1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写作示例、模拟审稿与实际文件修改分别说明。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A8E8C-D34C-45C6-99E3-3D5516C3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来源：哥廷根大学2026原始写作课件；课程教学示例 / 模拟审稿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C17139-230B-4832-B406-38CEE704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033354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465EA-EE40-4276-8668-22D6260C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244A3-D066-4E9D-BFD7-FBD7F602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主张与证据的对应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8D2D3-5B17-42BA-9139-634AB5CD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BFE27-D88D-4BF5-A9EF-B7A4FC94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同一份数据，可以支持完整记录中的均值差异，却不足以证明因果机制。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32900-4ECF-4B49-9BAA-BB37AD7F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样本范围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C857D-5B0D-43EF-B282-3F080A12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344条原始记录 → Adelie 152条 → 完整记录146条，雌雄各73条。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E6D4A-DABE-4AD0-B26C-55635C8F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6FB84-6687-49C6-A3A7-47435B47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可报告的结果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EA9D5-1368-4ACB-856D-2DC718F1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在这些完整记录中，雄性平均鳍长比雌性高4.62 mm。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F9C06-33AD-4E32-AC4F-A95B14DE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C41A8-6818-4E87-B2FE-A067035F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需要更多证据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6ECBA-834D-4660-829D-109B4866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“性别决定鳍长”“适用于所有企鹅”涉及因果或总体外推，当前分析不能支持。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26DC8-2DF6-465F-BA57-DE12D287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D45A9-2972-4D21-8D5A-B3965003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公开数据二次教学分析，不作为新科研成果。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BB887-7366-4233-950B-D39AA7EB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来源：palmerpenguins公开数据及课程二次计算；课程教学示例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B50E6-82D4-40CE-94FC-35A101B9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7971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0B479-1F50-4D8F-9DAB-B95FB1D2BF5F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048000" y="61531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70F6C-F155-435B-9495-5C6D6F227F2C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048000" y="502920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67BF3-4A9B-4886-8C26-10D3ED6DFFBA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048000" y="39052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F0A256-3A78-4594-97F9-938878D9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EE587-B837-478F-9472-96A62240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常见论文结构与读者问题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D7C1A-F881-46F3-BCED-16BA36F2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7222D-2F6E-40D0-BC7D-CAF0446C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引言解释问题，方法交代做法，结果报告发现，讨论说明解释和限制。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40E1D-8183-4380-BA65-C8AC849E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引言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0062F-FFCA-42B5-BBBE-C3FFD3AF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为什么研究这个问题？已有研究留下什么具体问题？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CD98A-0773-4D5A-9E59-44E20342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方法 Methods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9CC99-47DD-4C54-AFD7-E32E453C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9577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数据从哪里来？怎样筛选、测量和分析？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D9952-84A9-4FCB-BF66-F93C67AB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 Results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D2A21-C460-455B-8375-EFC30141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1972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比较得到什么？图表、数字和不确定性怎样对应？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1AD37-DA66-4C8A-8729-F9678539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6747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讨论 Discussion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899CC-CABE-4114-A6F3-CA722BC5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结果如何解释？哪些条件限制解释和推广？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411C3-0571-47E7-BE6F-50A59157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结构服务于研究问题，目标期刊和学科惯例决定具体安排。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CBCC3-7A36-46D8-80F6-FF6A8386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6187B1-85DD-4656-B0B7-9B87F0DA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785864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E71AC-5283-4CCC-BE28-ECBAB272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36771-5BB8-47E5-984E-D651F958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一段结果文字的内部结构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3A206-64F9-4758-8A34-2655840B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29230-3A02-4D7D-8F6C-B95B475A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先说明比较对象，再给出数字与单位，最后补足读者需要的条件。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4FE97-815D-457C-BE1F-BFF81E80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课程结果段落：对象 → 数字 → 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1034A-878A-4354-B78C-1390E1AD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纳入146条Adelie完整记录，雌雄各73条。雄性平均鳍长为192.41 mm，雌性为187.79 mm，均值差为4.62 mm。该差异描述本次纳入记录中的组间比较，未作因果推断。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7B135-7E7E-4211-925D-959C75EF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146条 / 每组73条：与方法中的纳入条件对应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A4F8B-2ECB-4527-9311-CA1F544D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9605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192.41 / 187.79 / 4.62：与计算记录及图对应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A0EDC-4FAD-4B2D-A4C1-DBA254F9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389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“本次纳入记录”：限定描述适用的范围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0B5F4-58BD-4316-9102-412FDE0F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以下为课程自编结果段落，数字来自实际计算。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C45D9-00A3-4AD3-A2D4-FBFE23B5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CommLab，结果写作；palmerpenguins公开数据及课程二次计算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30465-05AE-428D-8BE5-5BD92932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7855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0F83A-5294-4826-8B25-6586949C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1A8C8-4377-4780-B02E-E0E1455A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摘要中的结果与解释范围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97C76-6054-406B-9C12-8F3781F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0B0BC-D2D3-4ACC-8DEE-061E562E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摘要交代目的、做法和主要结果，材料中的限制随改写保留。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EF9B2-A4B8-48EF-8D17-4E204F05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中文讲解稿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979F7-A9BC-4259-925E-C3DD5916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905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例用公开企鹅数据演示组间比较的报告。筛选Adelie并保留性别和鳍长完整的146条记录，雌雄各73条。雄性平均鳍长192.41毫米，雌性187.79毫米，差值4.62毫米。组内有放回重抽样10000次，差值百分位区间为2.68至6.58毫米。该区间依赖记录独立等条件。缺失机制、巢内依赖和目标总体未核实，结果限于纳入记录，不作因果解释。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C001F1A2-174D-499D-820D-A27F1BF2E174}"/>
              </a:ext>
            </a:extLst>
          </p:cNvPr>
          <p:cNvGraphicFramePr/>
          <p:nvPr/>
        </p:nvGraphicFramePr>
        <p:xfrm>
          <a:off xmlns:a="http://schemas.openxmlformats.org/drawingml/2006/main" x="9525000" y="3286125"/>
          <a:ext xmlns:a="http://schemas.openxmlformats.org/drawingml/2006/main" cx="4953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52b39409ca454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88770-EFFD-4B06-95F0-6C3CCF95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右图仅示均值；不能据柱高判断显著性。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10F13-6C06-4E12-922A-E6A5D9C9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中文讲解稿；英文改稿与核对随包提供。本例未投稿，不主张新发现。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4CCD0-0F84-4E54-8630-7E6AFDC1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来源：哥廷根大学2026原始写作课件；PLOS One，Language与Abstract条目；课程教学示例 / 模拟审稿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5B1EF-E1F2-4C91-866D-7AFC0156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49018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5DEBA-A677-4A77-94A9-098DCFA520A8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524250" y="6124575"/>
            <a:ext cx="42862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F4E99-C915-42A9-ACB4-91576E3D4BA8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095625" y="5000625"/>
            <a:ext cx="42862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8E430-E2B8-4473-9336-185E5A1767EA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667000" y="3876675"/>
            <a:ext cx="42862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C5F90-1167-40C5-83D4-CB1A3545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F3E75-2755-4F64-9B95-425FCC2A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引言中的已有研究与具体问题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51D28-9EC7-4A55-8CCE-066FB6A3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81DD3-40DC-484A-8690-11A9E3A4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引言需要说明研究背景和当前问题，并用已读文献限定自己真正要回答的内容。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D331B-6498-43E3-A32B-12E626F0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381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领域背景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7A0BD-827A-4BDB-B32F-77DE000A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性别与形态差异是企鹅生态研究的一个问题。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BBDAF-453D-47DE-88B0-B9039AEF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361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已有研究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407EB-6616-4F15-8CE4-BBD3333C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Gorman等（2014）研究南极企鹅群落的性别形态差异。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F3DD4-3E0C-482A-A901-615FF45C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43525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5C15B-AA3D-479E-A5D9-66973785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911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这份公开数据中的Adelie完整记录，雌雄鳍长相差多少？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D83FE-800B-48A0-823F-31C9E5C1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67475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本例目标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F6705-7405-4E77-86DC-89CF172D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5151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演示描述性比较及论文表达，不据此主张研究空白。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DB298-D510-4C2B-9394-C736142B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本例演示引言组织，不把重复计算包装成研究空白。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44583-502C-4A7A-AB59-29640DB0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CommLab，引言写作；Gorman等，2014，原始研究；课程教学示例 / 模拟审稿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05B9A9-19FC-4BEC-BB62-FA7BB22E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568108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C6596-339C-4FD0-8749-F6B79E77EAC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764AB-DD06-4EEE-9A50-629FDB0904A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CA4282-FF0F-44F3-8123-DDF306F4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1508B-180D-4BF9-9B22-517F35F4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方法段落中的可复核信息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8AF8F-F533-498F-AC89-4131AEFA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90418-D00C-4D2B-AA59-E3A76781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数据来源、纳入条件、处理规则和分析参数，需要与实际执行一致。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6A122-6011-4725-87EB-8021732F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原始公开表 344条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83EE6-1A78-4CD6-911E-AA0A9250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Adelie 152条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7C713-AA54-457E-9E14-3B698671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完整记录 146条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AD49B-234A-40B5-BA38-B5DE7D71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386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限定研究对象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2AEF9-E2B9-47DC-9842-13BF52DD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3862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排除6条缺失，不插补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C8A88-5AE6-487C-925D-7E6B7A4F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方法段落节选 [M1]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12036-D718-4A63-B54B-627140D8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数据来自palmerpenguins公开简化表。筛选Adelie记录后，保留性别和鳍长均完整的观测，共146条；雌雄各73条。排除6条记录，未对缺失值作插补。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98749-7098-4A11-90BC-94C55FF9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完整分析参数另见[M2]：雄减雌、分组重抽样10,000次、种子及分位数方法。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90CC56-BF23-423F-9EBE-F1888C00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实际过滤记录和计算输出支持本页方法描述，未新增实验。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B75D4-0993-48B8-BA7F-F5AC32C2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模拟审稿；palmerpenguins公开数据及课程二次计算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BAB85E-4B92-4910-B72C-1109668C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288698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77D3D-1809-4BDD-A6F1-9E1CB6AF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BBCB7-0984-4A9F-8EE7-6703C5BF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图与结果段落的对应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DCF9F-A245-4B2A-ACB8-119465A2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05741-FAEA-4312-AA3B-9EC1C0CB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正文概括图中能支持的发现，并给出对象、方向、单位和必要数字。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20C6EAE-5D49-4552-BA32-1D4FE1A6DA2F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82867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79732d7fc7476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D36D5-700C-4524-9250-2D1E6E56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861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结果段落 [R1]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A1AB2-EDE7-41D2-87D1-8FFDC5E4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48125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雄性平均鳍长比雌性高4.62 mm。两组的分布有重叠。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均值差与个体差异是两个层面：不能仅凭性别推断某个体的鳍长。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31CFD-DCA9-4195-93E1-DE723AD2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图与文字来自相同146条记录，组间重叠不影响均值差的如实报告。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BF650-1605-4A95-B2E0-94C7D9CF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CommLab，结果写作；palmerpenguins公开数据及课程二次计算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56069-A091-4093-8FA2-86B52B0C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414429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CE0AF-55FB-49DE-ADB0-8A7D8CB6A4E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5095875"/>
            <a:ext cx="2000250" cy="14430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802C5-2053-4989-A74B-8A7CFDFF226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048250" y="5043488"/>
            <a:ext cx="2000250" cy="523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B3B87-1FF0-40D5-8BBB-E23D0746C83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048250" y="3548063"/>
            <a:ext cx="2000250" cy="1547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7986A-49C7-4B16-AFA8-A6993AC6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13D16-94EF-42C6-821D-B3493C48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讨论中的解释与替代解释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0DBFD-129B-4A3A-ABB5-8348DBD0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C238A-C4D1-4DD5-8C07-49588C09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讨论把结果放回研究问题，同时交代数据和设计尚不能排除的解释。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16B74-E86D-4A09-8742-B56415BB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286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完整记录中的均值差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雄性 − 雌性 = 4.62 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6F7F3-0081-460B-AF7B-CB592178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数据组成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44D7A-85DC-4160-A47F-C5EAA57B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4325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年份、岛屿与缺失，是否影响所见差异？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AC668-7507-4922-9D75-C40F667E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38675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观测依赖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42596-4350-45AC-96E5-065FFC38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3867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巢内或年份相关性是否影响不确定性？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A87AF-FBCA-4F07-AADF-19BD6CC3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13410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解释范围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3E4FD-38ED-47C0-A175-7C23BE54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3410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没有实验设计，当前不能确认因果机制。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B69B0-6659-4200-978C-E5B636F2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区分当前观察、条件解释与尚待验证的工作。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9EF80-4DE2-4482-9C14-86E9E4AA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CommLab，讨论写作；课程教学示例 / 模拟审稿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0B231-51F7-44A3-8C60-6E785528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782477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1BCDA-41A3-4A64-A6AA-5A638406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ED941-2697-41B8-B2F1-B03A5440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Humanizer修改中的证据边界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09D5D-FF15-455D-9512-153A8ABA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76829-9420-4F59-8E66-688E31BD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删去空泛判断时，补上已有的具体信息；缺少依据的结论则收回到材料范围。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5EC52-59DB-481A-9BCE-41348FA2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原稿：故意设置问题的教学模拟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4D98F-33F6-4C70-9937-E0562CDE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雄性鳍长显著优于雌性，证明性别决定鳍长，结果具有广泛推广价值。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6B1F0-F9F4-4138-B907-AAC0AD52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50086-B880-4096-972E-DA824661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修订：保留数字，收回未经支持的判断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29B2A-AC2A-4338-8194-FF79BC54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1371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在146条Adelie完整记录中，雄性平均鳍长比雌性高4.62 mm。此比较描述所纳入记录中的组间差异，不能据此判断因果关系。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CC9C5-C933-4072-97C2-5813065F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红色原文为故意设置问题的教学模拟，不能引用为研究结论。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3E416-F0DF-4D2F-983A-4CAF0B0A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来源：哥廷根大学2026原始写作课件；课程教学示例 / 模拟审稿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011C3-2CE2-4969-90CF-2B6AAE17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347817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A6A41-6757-4138-9A01-A3E22481ABD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F9D0D-A289-4A74-9AF0-FB5A21BC516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BD74C-B74A-4517-B54C-A45199C3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83040-3B37-44A2-BE5D-0CF34C30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引文存在与主张得到支持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673B2-786B-4A54-A02F-216C5D97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B010C-60F9-4630-BEB8-96EED181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核对参考文献时，既要确认文献真实存在，也要读原文判断它支持哪一句。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EE8A4-33FB-4C97-894A-51750A72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确认文献身份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3D777-1110-427B-8ECB-C196DA0C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阅读相关原文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5747C-BEEC-4427-B5D5-67607A07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判断支持范围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91524-9D8E-4296-99D7-6C1AA572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作者、题名、年份、DOI互相核对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8FC64-392C-40A9-AE4E-ED504305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回到方法、结果与讨论，找到具体依据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14C5B-82DB-4E16-A529-3B8A9D3E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720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给相应句子引用；不把自己的计算归给原文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1BC0C-1DF4-4AA4-8C1E-295A3C61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真实原文：Gorman、Williams与Fraser，2014，PLOS ONE 9(3): e90081。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5B69E-67D6-4248-88E5-5588C2E5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本课4.62 mm为二次计算。它不应写成“原研究报告了4.62 mm”。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B064B9-5749-4B13-BFF5-EE9A559F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示例DOI：10.1371/journal.pone.0090081；课程计算另列来源。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FE12F-6CBF-45B0-95CD-17AFA724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来源：Gorman等，2014，原始研究；课程教学示例 / 模拟审稿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E7428-B042-4673-A64C-AB80CEA7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447039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DCF66-383B-49F7-91D0-143F9912676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AA045-220B-42DF-9361-496A88B7FE8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E88F7-5801-4F42-9E53-9CACF50F32B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C5C83C-86A7-463F-BB6E-0B94DC6F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2B5B6-77A9-494D-89F5-A2E226F8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AI分段协作的输入与输出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726E6-46B3-4322-9991-506889AD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D12BA-32D9-43B4-AD4A-7C8EE00D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向AI提供事实材料和写作任务，并要求把缺失信息、使用依据和修改理由一并返回。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6878F-A37A-40A8-8461-CD4F1B55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研究事实与资料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9FD21-2492-4AEF-BEE4-F7AA7308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分段写作任务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56665-F401-46A7-BF90-579BDE6C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草稿与依据位置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52A96-5EC9-425C-B8AB-F05903EA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复核与修订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3E252-C7E0-4ED5-BC02-D2EB190D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方法、结果及限制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0FB48-8DAD-4E8B-88A8-73EFF371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明确段落要回答什么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62437-E6C8-46B8-AB93-DD108CDF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未知内容单独列出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AFCBA-57D1-4301-874F-DFF03BE3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逐句比对原始材料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0B646-1E41-43F8-BEEE-E7366CA4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写作任务示例：只依据附带计算记录写方法与结果。保留数字、单位和条件；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未知事项列出；每段注明材料位置，返回修改理由。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C69A3-7A4B-41CE-A4F9-2982582C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保留工具用途与核查记录；AI使用的披露要求按目标期刊核对。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54E0A-8E12-4022-8189-A8BA6EA7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模拟审稿；ICMJE，作者使用AI的说明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66C9F-8777-418F-81C5-BD9A09AA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635611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66A9A-E691-4C2E-A448-843C6D501FC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382500" y="5219700"/>
            <a:ext cx="0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59482-54FB-4193-879D-F78D341533A0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382500" y="388620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7AC81-1DE0-40B0-A654-6861AA92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11781-1E3A-44DE-BBAE-66D14CB8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按期刊要求改写摘要的任务示例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EB856-AA2A-48A9-BDFE-4C751AAF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6F76B-1484-4C32-824D-AA4E35BB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把官方条款写入具体任务，改稿后分别核对格式、数字与结论。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4639F-1F6D-4534-B689-D63751BD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800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完整改写任务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E714F-85BC-45CA-A441-45257596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8001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请按所附PLOS One作者要求，将[A1]改写为不超过300个英文词的摘要，不放引文，尽量避免缩写。说明本教学例子的目的、公开数据和筛选方法、主要结果及其解释范围。保留146条、每组73条、两组均值、4.62毫米差值、10000次重抽样及2.68至6.58毫米区间。明确区间的独立性假设和未核实条件，不添加新发现、P值、采样或因果结论。另交中文释义、逐句事实依据、词数及尚未满足的要求；措辞简洁，不把语言修改说成达到发表标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62A45-967F-4E30-8092-41DF245C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期刊条款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DB971-0336-4A11-9318-05E1F4C7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原摘要与计算记录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6CFD7-CC48-451D-B84C-E4D2CC82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改稿与逐项核对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8C741-321B-4AD7-A898-C5FFBC07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语言与格式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7D1F6-73C6-462B-9DE4-9EF22F96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816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事实、单位和范围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4A9DB-5BB8-4A2C-AB81-B227A354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≤300个英文词，不等于300个汉字。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1CA1A-8EFD-46F5-A7D2-CA45E85D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仅演示摘要改写；研究贡献、全文报告规范和投稿适格性仍需另行审查。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20078-6498-42AB-BCF4-207E7574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One，Language与Abstract条目；PLOS One，发表标准；课程教学示例 / 模拟审稿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68DB2-AD1C-483A-8DDA-BEAAE3C9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718873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2774C-5BFF-49B3-82CC-923F72D38A2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620000" y="4953000"/>
            <a:ext cx="4857750" cy="1428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4EFF4-C4EF-47D8-B859-701190EEF60D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620000" y="4953000"/>
            <a:ext cx="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9AA0F-EE6F-4A0D-A6E1-03835E9FEEBC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762250" y="4953000"/>
            <a:ext cx="4857750" cy="1428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8CFB6-1D49-436F-ADCC-32CFED40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EFAF2-ACEE-4D4A-B30D-48117E92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投稿文件中的信息一致性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28B4F-D7F6-42B1-B4AC-ECDAE00C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327C9-E09C-4F9C-9221-7A2FB043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提交前逐项核对相同数字与研究范围，作者信息和声明由作者确认。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C7CB8-91AC-488C-AE28-C9D693AC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主稿与图表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146条；雄减雌4.62毫米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4B270-43A6-4EDD-B5A0-9F0F7A8D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限定Adelie 152条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排除6条缺失，未插补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04EAB-DE2B-4180-A632-8D679599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投稿信与系统字段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作者、贡献和声明待确认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4C0CE-2D3F-4F0A-ADA8-CD3E4795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81750"/>
            <a:ext cx="895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相同数字逐项比对，未知声明留待作者确认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B1B85-EF0D-4C56-86B6-A1F3656E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官方要求作为案例；具体文件清单按目标期刊核对。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16F81-4480-4B06-A792-14D0E3A2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One，投稿指南；课程教学示例 / 模拟审稿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71664-C3FD-4155-8E15-68B1ED2C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03638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76546-927C-45BC-B780-BAE19624F1BA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12858750" y="4191000"/>
            <a:ext cx="1733550" cy="27146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90113-8B51-4CE7-B3FA-106DB37F576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070B4-E7FB-41C3-91B3-8B3209E8909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5F303-CB07-4971-8AEF-4D4791B65D3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75893-C696-4A3E-B9A4-A6C692F8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3786C-2125-45EA-908B-0AB3937F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编辑初筛与外部评审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42936-1145-46E2-AB67-75F9196E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45DED-C872-4A5E-A1AA-3D701EB8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期刊先检查材料和适配，再决定是否邀请外部评审，最后由编辑形成决定。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F136B-1BB7-4B54-9503-C5337679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材料初检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F4A0B-3BAE-4DED-8E7E-88610C15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编辑评估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22DD0-027C-47C1-91F5-573182E0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外部评审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5857D-44AA-406C-822A-40DAE25A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编辑决定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DAF85-E589-4E70-B393-078B5E53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文件与声明完整性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11ADD-3E78-4DCA-B051-B8AA4375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范围、标准与适配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6149DF-4A02-44C5-B169-0F27376B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方法、证据与解释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CC274-CBFC-4A5E-9A5A-D373E7F7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2B0CD-8BC5-421F-AB6B-9CFCA580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77000"/>
            <a:ext cx="523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作者修订与逐条回复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21E86-BDFF-4649-9AA6-F3584321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编辑可决定接受、修订或拒稿。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CAFF4F-7D09-46F8-8862-578B29B7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638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修订后重新提交，编辑继续评估；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具体环节按目标期刊规定。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45FB03-5660-4085-9856-EE562C80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本页为官方流程转述，没有实际稿件状态或执行截图。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59716C-2B12-47BE-94B8-ADBB8D9B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One，编辑与同行评审流程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19067A-AE08-4482-B5C0-51966577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571425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B582B-2085-4A8B-92F2-9B814C8D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C8108-46E1-426D-88AB-6B8061CB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审稿意见的分类与修改动作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FD19B-C6C7-4030-86B8-97E3FE69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03839-5D13-4382-95E3-68A603D4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先判断意见需要补说明、重分析、新研究还是讨论范围，再安排回应。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7F941-A303-45E4-AC77-E4D2060A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R1.1：缺少方法细节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5E45A-D96E-4B82-BBB9-56FD021A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补数据来源、筛选和缺失处理 → 已修改[M1]。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DC32C-B99C-49A9-82A8-970426AD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82E39-43ED-48DA-A0B1-993F16BE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R1.2：因果结论过强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38706-96E3-4D64-A674-DC9A2BFC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收回因果与机制表述，说明范围 → 已修改[R1][D1]。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4C314-DC90-445B-8AFD-BA23DCC3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6FC3E-803C-4DDD-93D6-E104CDF0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R2.1：要求独立采样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4BC28-15B5-46E8-B304-C01C247F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需要新增研究 → 本轮未完成，在[L1]说明限制。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77E8E-668F-4C42-BA2A-91EDA8C3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CAA60-4381-481C-BB4C-5CA5C7D7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教学模拟审稿意见，实际文件改动可查，新增研究没有发生。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2A93E-D47D-4D38-BEB7-D90CE999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0663BD-4781-47D1-A5B2-1B6B5C43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058770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9E630-BF62-44D5-A94B-B814E4F81DA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72500" y="4762500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71B6D-93FC-495B-B52E-78536DBBDD1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19500" y="4762500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5C304D-CFA9-47BA-A200-BE056D9D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C4526-0993-4715-BB50-7655F7F2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回复示例：补充方法说明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30B3F-4B16-4CD1-BA01-886BB574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34C5A-C8C1-4CAA-9DD2-15D0C9E4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把意见中缺少的信息写入方法，读者便能核对样本量怎样确定。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EADEF-B326-4C21-8F66-0A81A4DA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模拟意见 R1.1：来源、缺失与样本量如何交代？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9BFF8-CB86-4A42-A2F4-AE6C9F6D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公开原始表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A08CA-6147-468D-8DE7-4983A6CB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862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限定Adelie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152条记录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AEAF9-018B-4DDE-A0AF-42F8FD80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8625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性别与鳍长完整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146条，雌雄各73条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D94F4-9F74-4CB4-AAD1-85C419B9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816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筛选研究对象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C375D-0EF4-45F3-8109-F43C464A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816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排除6条缺失，未插补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74B2B-B9C4-4F7A-A194-D8D86358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284ED-3F01-4713-952A-D0C9DA08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正文 [M1]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03201-5DBD-4C3A-AC04-07C77948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2865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写明来源、纳入条件、排除记录及物理行号。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48903-92C7-43C2-A327-CBF5CA7E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回复 R1.1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648D7E-AFF6-45D3-AC01-80D93664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9532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指向[M1]和计算记录，让读者核对146条从何而来。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2271C-29EC-44E6-925B-C93221B2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模拟意见R1.1；正文[M1]与回复矩阵有实际对应。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6C3569-93CC-49BC-839A-1854D1A9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One，返修提交说明；课程教学示例 / 模拟审稿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763D5C-8C0D-4078-96A1-1DC2A3EB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273428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4E402-7620-4A5D-AB03-FC2E31F4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E3E58-D8C5-4D42-91FF-2F882864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回复示例：收回因果结论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AFB57-E142-4659-8BD3-18894E38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73538-DBBE-46F2-A528-BFCB7B5E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当现有设计不支持因果解释时，修改结果与讨论的范围，并如实说明没有新增验证。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445C4-59D0-4CEC-84CF-8E587A21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模拟意见 R1.2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29B1B-1BC7-4527-B2CE-794AF08C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观察性比较无法支持“性别决定鳍长”，请修改因果结论。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52287-0041-4888-B330-85B5A13D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5110C-7A2B-4050-B036-1D577790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实际改动 [R1][D1]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39D3E-A3CA-4001-84EB-8C62D0E8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删除“证明决定”等表述；保留4.62 mm描述，说明组成、缺失和独立性限制。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7E3B5-1E5F-4428-9AD7-851C84D1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0BB68-C37D-4353-8EFB-9E57945F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回复节选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32919-C9A2-4255-BB9A-6041D2A2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已收回因果与机制结论，并限定为纳入记录中的描述性比较；未增加机制验证。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09B7A-7C3E-4AF4-ABD6-4E62B7D1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A770B-D666-4DAE-87F0-43F2E422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模拟意见R1.2；实际修订在[R1]与[D1]，不声称已验证机制。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33E57-40ED-4D18-BC53-F84360B5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B550B-0A80-48D7-8C4D-DDCF8E4B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800165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00CE0-779C-4980-990C-05685BE2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D9E48-639D-4D2B-BC6C-51F50676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回复示例：尚未完成的补充研究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1CFBD-2142-4DB9-8543-22D0A368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32245-7C28-48A7-AA8D-FEC32781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无法完成建议中的独立采样时，说明缺口及其对结论的影响，不能用未来计划充当结果。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9BA05-BE2E-401F-AD50-BC4D7887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模拟意见 R2.1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23E40-5C5F-4207-9506-1CE1D491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请增加独立样本，并检验巢内相关性后再讨论推广。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58190-2EA7-4DC8-84EE-7C34928A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022CC-488C-490A-972A-4104227B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实际状态 [L1]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7637B-4F41-47D0-A315-DB7F3FBC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本轮未新增采样，也未完成巢内相关性检验。该缺口保留在限制部分。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C9695-44C2-49ED-9227-066E7716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CE12E-FDCE-4564-92F4-D8833542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回复节选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4F741-8F4F-4054-A559-EF46EF8E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这项补充研究尚未完成。当前结果限于本次纳入记录，不能用其支持更广范围的结论。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48257-B19E-4BD8-9050-98D0A8D7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D7317-3308-4F15-B14E-A49E384D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模拟意见R2.1；[L1]保留未完成状态，不虚构实验或分析。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69E20-CDC1-4A29-B9C3-757B1173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BF350-4E05-473F-9E86-6A867974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302013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31DAB-B371-4179-8102-2A8A51E9BA2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524500" y="3810000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BFC50-CC17-463E-B7A8-FB81CC40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477CB-B4D6-438D-9A75-D1779C49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回复、标记稿与清稿的版本对应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FFE2B-54C7-4269-8C35-B37FE760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0408C-29F0-4109-A158-2E797ADD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同一条意见在回复、标记稿和清稿中使用相同编号，方便逐项查找。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A1C02-03C8-45DB-A8BE-D044EA3C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逐条审稿回复.docx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R1.2：已收回因果结论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A7087-D026-4B6D-B130-D011ED2D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647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修订稿_改动标记.docx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红色删除；绿色新增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B897B-B02E-4A9C-9165-ECCAB292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原稿 [R1] 证明性别决定鳍长。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202F4-84DE-4BF3-8F6A-272C9DE9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 [R1] 在完整记录中，雄性平均鳍长比雌性高4.62毫米。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DED61-D6FF-425B-98E4-BD11ECBB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5C43B-2B4C-468D-AC35-2FA4173F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修订稿_清稿.docx 保留修订后文字。[D1]说明限制，[L1]保留未完成研究。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E125F-5433-474D-AE08-F8732DF6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三份Word可编辑；标记稿使用彩色增删标记，未启用Word修订模式。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F9DB3-6EFF-46C5-8C23-EB65D034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One，返修提交说明；课程教学示例 / 模拟审稿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F23A1-4BE2-4CD3-A9EE-FE664007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963244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AB53D-24E7-4074-9E8E-48520BD2344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667250" y="4929188"/>
            <a:ext cx="1905000" cy="1547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8B5D2-2335-4CB8-BEE2-47AABC186D7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667250" y="4929188"/>
            <a:ext cx="1905000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6730E-41DF-4CFA-943C-40912252BBB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667250" y="3524250"/>
            <a:ext cx="1905000" cy="1404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DC6F3-F7CC-49F0-B2BA-CDB127F3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1D15F-ADA1-42D9-8F3B-0538DEF2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拒稿后的修改与重投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4F052-8001-4D19-BB3B-1B060687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D38B9-29C5-40C5-8B66-9A49F6DD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根据决定理由判断是内容适配、证据不足还是重大事实分歧，再决定修改方向。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1E16A-EE98-4B5A-8BF0-3D127667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90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阅读编辑决定和理由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48824-4564-4611-8B1B-BB61AD42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范围不符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71CBA-18DE-454C-98F8-6DE95ECD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重新判断目标期刊和文章类型。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7CB8D-F180-41EC-95CA-9B147FCA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9625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证据或方法不足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1FD9B-21ED-4016-952A-78F800B7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19625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补研究或收窄结论，再评估稿件。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389EE-C61A-4326-A79C-A797DBA5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9600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重大事实争议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817F4-BF3F-40D8-B33D-04B6FFE2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09600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按期刊程序，用材料说明申诉依据。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EFB5B1-C675-430C-8042-F9EC1601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重投前核对上一流程已结束，并重新检查目标刊要求。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7AEE6-7804-4246-BD1D-83A4BCEE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One，编辑与同行评审流程；课程教学示例 / 模拟审稿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3A6DE6-DCF3-43D8-B886-195AAB58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634350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E0628-E8B2-435C-8AC2-355C2ED39C3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9B6D1-64B6-43BE-90CD-E8A3080ED6E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680BD-9C39-4CF6-B5A2-DC232664A90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65743-BEFF-4A30-B18C-F22D3F7D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881F4-C9C5-49F9-9A5E-73306787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可复核的写作与返修材料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1D272-19C6-458C-9F76-B140E861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7F254-1DF5-4C27-BA40-811BDA1B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研究材料、当前稿、修改记录和逐条回复，应能指向同一组事实。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EC320-C314-41DE-9706-0B5A4586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来源与计算证据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13317-0F98-43D7-9BB3-1CBEF15F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当前稿与段落锚点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708A4-E2CB-4236-87E6-677F020A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修改与回复记录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E99A0-36C5-477C-9705-1380FF7C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提交前版本复核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16393-67DE-4FC4-B5E8-D251E3E6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核对数字与单位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9957D-1F7B-43E3-8EBD-4A8489FE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正文、图表对应材料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4908E-DF97-4C1A-81D8-2546BBE6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Word清稿与增删标记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324AF-8006-4D6D-80E2-63C94F56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回复定位并保留缺口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E275F-E036-4872-9A33-50DBE100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材料里的数字、段落里的判断和文件里的修改，应逐项对应。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E92B2-28D3-402F-A7DE-42A4AD37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下一节：基金申报与Grant Agent。当前写作示例未投稿。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05E546-4E41-4ED2-A820-9212C42C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961F6E-2B92-49C1-941A-E36E663F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59078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2026-10-19T13:15:46.0520000Z</dcterms:created>
  <dcterms:modified xsi:type="dcterms:W3CDTF">2026-10-19T13:15:46.0530000Z</dcterms:modified>
</coreProperties>
</file>