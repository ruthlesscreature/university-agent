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0f73744ae42ae" /><Relationship Type="http://schemas.openxmlformats.org/officeDocument/2006/relationships/extended-properties" Target="/docProps/app.xml" Id="Rb324258298a14baa" /><Relationship Type="http://schemas.openxmlformats.org/officeDocument/2006/relationships/officeDocument" Target="/ppt/presentation.xml" Id="Raaedaee0e1214f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a030442a4e4508"/>
  </p:sldMasterIdLst>
  <p:notesMasterIdLst>
    <p:notesMasterId xmlns:r="http://schemas.openxmlformats.org/officeDocument/2006/relationships" r:id="R9fec90cc4b5146a9"/>
  </p:notesMasterIdLst>
  <p:sldIdLst>
    <p:sldId xmlns:r="http://schemas.openxmlformats.org/officeDocument/2006/relationships" id="256" r:id="Rda5c2a9cb62146c4"/>
    <p:sldId xmlns:r="http://schemas.openxmlformats.org/officeDocument/2006/relationships" id="257" r:id="R3348fc76d17e484a"/>
    <p:sldId xmlns:r="http://schemas.openxmlformats.org/officeDocument/2006/relationships" id="258" r:id="R83c0ffdbad814703"/>
    <p:sldId xmlns:r="http://schemas.openxmlformats.org/officeDocument/2006/relationships" id="259" r:id="Rf1148d88e93d4093"/>
    <p:sldId xmlns:r="http://schemas.openxmlformats.org/officeDocument/2006/relationships" id="260" r:id="Ra087bebb45b44bd2"/>
    <p:sldId xmlns:r="http://schemas.openxmlformats.org/officeDocument/2006/relationships" id="261" r:id="R9290c61772df4e7c"/>
    <p:sldId xmlns:r="http://schemas.openxmlformats.org/officeDocument/2006/relationships" id="262" r:id="Ra85eea604cf74df7"/>
    <p:sldId xmlns:r="http://schemas.openxmlformats.org/officeDocument/2006/relationships" id="263" r:id="R3be76226ef3b4c72"/>
    <p:sldId xmlns:r="http://schemas.openxmlformats.org/officeDocument/2006/relationships" id="264" r:id="R3c56070ad9d84274"/>
    <p:sldId xmlns:r="http://schemas.openxmlformats.org/officeDocument/2006/relationships" id="265" r:id="Rda1240479c8f4e13"/>
    <p:sldId xmlns:r="http://schemas.openxmlformats.org/officeDocument/2006/relationships" id="266" r:id="Ra9fb1462dc3d4708"/>
    <p:sldId xmlns:r="http://schemas.openxmlformats.org/officeDocument/2006/relationships" id="267" r:id="R9483f675d99a4ae7"/>
    <p:sldId xmlns:r="http://schemas.openxmlformats.org/officeDocument/2006/relationships" id="268" r:id="R5cb2392c4c594a7a"/>
    <p:sldId xmlns:r="http://schemas.openxmlformats.org/officeDocument/2006/relationships" id="269" r:id="R7173cafef0e14771"/>
    <p:sldId xmlns:r="http://schemas.openxmlformats.org/officeDocument/2006/relationships" id="270" r:id="Rffba377c70da4889"/>
    <p:sldId xmlns:r="http://schemas.openxmlformats.org/officeDocument/2006/relationships" id="271" r:id="R7d252d37dd824bae"/>
    <p:sldId xmlns:r="http://schemas.openxmlformats.org/officeDocument/2006/relationships" id="272" r:id="R40a8559679ba4907"/>
    <p:sldId xmlns:r="http://schemas.openxmlformats.org/officeDocument/2006/relationships" id="273" r:id="R968d41679b564ad0"/>
    <p:sldId xmlns:r="http://schemas.openxmlformats.org/officeDocument/2006/relationships" id="274" r:id="R613d3ac5ee1a4c3d"/>
    <p:sldId xmlns:r="http://schemas.openxmlformats.org/officeDocument/2006/relationships" id="275" r:id="R29986695d7e7433e"/>
    <p:sldId xmlns:r="http://schemas.openxmlformats.org/officeDocument/2006/relationships" id="276" r:id="R010f4f17bc6e4fd5"/>
    <p:sldId xmlns:r="http://schemas.openxmlformats.org/officeDocument/2006/relationships" id="277" r:id="R6e81c1850b3341d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e9343777043d2" /><Relationship Type="http://schemas.openxmlformats.org/officeDocument/2006/relationships/slideMaster" Target="/ppt/slideMasters/slideMaster1.xml" Id="Rd5a030442a4e4508" /><Relationship Type="http://schemas.openxmlformats.org/officeDocument/2006/relationships/notesMaster" Target="/ppt/notesMasters/notesMaster1.xml" Id="R9fec90cc4b5146a9" /><Relationship Type="http://schemas.openxmlformats.org/officeDocument/2006/relationships/presProps" Target="/ppt/presProps.xml" Id="R6935af91015f4b0e" /><Relationship Type="http://schemas.openxmlformats.org/officeDocument/2006/relationships/tableStyles" Target="/ppt/tableStyles.xml" Id="R001f6e8b615f42cc" /><Relationship Type="http://schemas.openxmlformats.org/officeDocument/2006/relationships/slide" Target="/ppt/slides/slide1.xml" Id="Rda5c2a9cb62146c4" /><Relationship Type="http://schemas.openxmlformats.org/officeDocument/2006/relationships/slide" Target="/ppt/slides/slide2.xml" Id="R3348fc76d17e484a" /><Relationship Type="http://schemas.openxmlformats.org/officeDocument/2006/relationships/slide" Target="/ppt/slides/slide3.xml" Id="R83c0ffdbad814703" /><Relationship Type="http://schemas.openxmlformats.org/officeDocument/2006/relationships/slide" Target="/ppt/slides/slide4.xml" Id="Rf1148d88e93d4093" /><Relationship Type="http://schemas.openxmlformats.org/officeDocument/2006/relationships/slide" Target="/ppt/slides/slide5.xml" Id="Ra087bebb45b44bd2" /><Relationship Type="http://schemas.openxmlformats.org/officeDocument/2006/relationships/slide" Target="/ppt/slides/slide6.xml" Id="R9290c61772df4e7c" /><Relationship Type="http://schemas.openxmlformats.org/officeDocument/2006/relationships/slide" Target="/ppt/slides/slide7.xml" Id="Ra85eea604cf74df7" /><Relationship Type="http://schemas.openxmlformats.org/officeDocument/2006/relationships/slide" Target="/ppt/slides/slide8.xml" Id="R3be76226ef3b4c72" /><Relationship Type="http://schemas.openxmlformats.org/officeDocument/2006/relationships/slide" Target="/ppt/slides/slide9.xml" Id="R3c56070ad9d84274" /><Relationship Type="http://schemas.openxmlformats.org/officeDocument/2006/relationships/slide" Target="/ppt/slides/slide10.xml" Id="Rda1240479c8f4e13" /><Relationship Type="http://schemas.openxmlformats.org/officeDocument/2006/relationships/slide" Target="/ppt/slides/slide11.xml" Id="Ra9fb1462dc3d4708" /><Relationship Type="http://schemas.openxmlformats.org/officeDocument/2006/relationships/slide" Target="/ppt/slides/slide12.xml" Id="R9483f675d99a4ae7" /><Relationship Type="http://schemas.openxmlformats.org/officeDocument/2006/relationships/slide" Target="/ppt/slides/slide13.xml" Id="R5cb2392c4c594a7a" /><Relationship Type="http://schemas.openxmlformats.org/officeDocument/2006/relationships/slide" Target="/ppt/slides/slide14.xml" Id="R7173cafef0e14771" /><Relationship Type="http://schemas.openxmlformats.org/officeDocument/2006/relationships/slide" Target="/ppt/slides/slide15.xml" Id="Rffba377c70da4889" /><Relationship Type="http://schemas.openxmlformats.org/officeDocument/2006/relationships/slide" Target="/ppt/slides/slide16.xml" Id="R7d252d37dd824bae" /><Relationship Type="http://schemas.openxmlformats.org/officeDocument/2006/relationships/slide" Target="/ppt/slides/slide17.xml" Id="R40a8559679ba4907" /><Relationship Type="http://schemas.openxmlformats.org/officeDocument/2006/relationships/slide" Target="/ppt/slides/slide18.xml" Id="R968d41679b564ad0" /><Relationship Type="http://schemas.openxmlformats.org/officeDocument/2006/relationships/slide" Target="/ppt/slides/slide19.xml" Id="R613d3ac5ee1a4c3d" /><Relationship Type="http://schemas.openxmlformats.org/officeDocument/2006/relationships/slide" Target="/ppt/slides/slide20.xml" Id="R29986695d7e7433e" /><Relationship Type="http://schemas.openxmlformats.org/officeDocument/2006/relationships/slide" Target="/ppt/slides/slide21.xml" Id="R010f4f17bc6e4fd5" /><Relationship Type="http://schemas.openxmlformats.org/officeDocument/2006/relationships/slide" Target="/ppt/slides/slide22.xml" Id="R6e81c1850b3341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060c57870d45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8a0845ea314ea9" /><Relationship Type="http://schemas.openxmlformats.org/officeDocument/2006/relationships/notesMaster" Target="/ppt/notesMasters/notesMaster1.xml" Id="R55626e64427048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f13d2bb93a4923" /><Relationship Type="http://schemas.openxmlformats.org/officeDocument/2006/relationships/notesMaster" Target="/ppt/notesMasters/notesMaster1.xml" Id="R950ee716ef3c40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20212966e84e57" /><Relationship Type="http://schemas.openxmlformats.org/officeDocument/2006/relationships/notesMaster" Target="/ppt/notesMasters/notesMaster1.xml" Id="R373257d1543f48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f770a05494439d" /><Relationship Type="http://schemas.openxmlformats.org/officeDocument/2006/relationships/notesMaster" Target="/ppt/notesMasters/notesMaster1.xml" Id="R8817f9d74cd54b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02ed16191244a6" /><Relationship Type="http://schemas.openxmlformats.org/officeDocument/2006/relationships/notesMaster" Target="/ppt/notesMasters/notesMaster1.xml" Id="Rc93a0df0df1446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f4dd92f7654b28" /><Relationship Type="http://schemas.openxmlformats.org/officeDocument/2006/relationships/notesMaster" Target="/ppt/notesMasters/notesMaster1.xml" Id="R2be2a2f7320941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5ac9eea7a54075" /><Relationship Type="http://schemas.openxmlformats.org/officeDocument/2006/relationships/notesMaster" Target="/ppt/notesMasters/notesMaster1.xml" Id="Re24d707cd61748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569a75f1bd48a1" /><Relationship Type="http://schemas.openxmlformats.org/officeDocument/2006/relationships/notesMaster" Target="/ppt/notesMasters/notesMaster1.xml" Id="R2eb39f90279848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79b30a917c433b" /><Relationship Type="http://schemas.openxmlformats.org/officeDocument/2006/relationships/notesMaster" Target="/ppt/notesMasters/notesMaster1.xml" Id="Rd6bdf11edbf34f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2ea80260534f64" /><Relationship Type="http://schemas.openxmlformats.org/officeDocument/2006/relationships/notesMaster" Target="/ppt/notesMasters/notesMaster1.xml" Id="Ra8372b3f79594c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c391c0d18d437c" /><Relationship Type="http://schemas.openxmlformats.org/officeDocument/2006/relationships/notesMaster" Target="/ppt/notesMasters/notesMaster1.xml" Id="R1c3cb2d97f514f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3a710d35fe45bb" /><Relationship Type="http://schemas.openxmlformats.org/officeDocument/2006/relationships/notesMaster" Target="/ppt/notesMasters/notesMaster1.xml" Id="R531261ce910a41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0601f6c22d48f2" /><Relationship Type="http://schemas.openxmlformats.org/officeDocument/2006/relationships/notesMaster" Target="/ppt/notesMasters/notesMaster1.xml" Id="R70771c6a0b814a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fe29496d7d4aff" /><Relationship Type="http://schemas.openxmlformats.org/officeDocument/2006/relationships/notesMaster" Target="/ppt/notesMasters/notesMaster1.xml" Id="R3835b9f385f947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a6da3c62804ad3" /><Relationship Type="http://schemas.openxmlformats.org/officeDocument/2006/relationships/notesMaster" Target="/ppt/notesMasters/notesMaster1.xml" Id="R5c09eea77aa84d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24b10cc77b4036" /><Relationship Type="http://schemas.openxmlformats.org/officeDocument/2006/relationships/notesMaster" Target="/ppt/notesMasters/notesMaster1.xml" Id="R3bbfffb433024b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2fd87ee5af44cc" /><Relationship Type="http://schemas.openxmlformats.org/officeDocument/2006/relationships/notesMaster" Target="/ppt/notesMasters/notesMaster1.xml" Id="R7f9ee8a290d947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d9a5dbbbe34988" /><Relationship Type="http://schemas.openxmlformats.org/officeDocument/2006/relationships/notesMaster" Target="/ppt/notesMasters/notesMaster1.xml" Id="R5e1020d3b8ef41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c9c1eb7b4b4e4a" /><Relationship Type="http://schemas.openxmlformats.org/officeDocument/2006/relationships/notesMaster" Target="/ppt/notesMasters/notesMaster1.xml" Id="R8bb75bede5b047c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8b1f52b70c4956" /><Relationship Type="http://schemas.openxmlformats.org/officeDocument/2006/relationships/notesMaster" Target="/ppt/notesMasters/notesMaster1.xml" Id="R76556db231bc41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c92e9fb1664812" /><Relationship Type="http://schemas.openxmlformats.org/officeDocument/2006/relationships/notesMaster" Target="/ppt/notesMasters/notesMaster1.xml" Id="Ra1186e697bfd4c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4ae2cb24cb426b" /><Relationship Type="http://schemas.openxmlformats.org/officeDocument/2006/relationships/notesMaster" Target="/ppt/notesMasters/notesMaster1.xml" Id="Rd2c34832514441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写作从研究问题和可核查材料开始。先形成主张与证据对应，再组织段落、选择适当期刊、检查提交材料。审稿后逐项回应，保留修改位置与仍未完成的工作。此处无真实投稿或评审，示例是公开数据教学稿。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用上一节数据逐条对应：146条及73/73来自过滤，4.62mm来自均值计算；因果与普遍外推没有相应设计证据。把证据缺口留在论证中，不靠修辞升级成发现。此图中的状态只反映本例材料。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RaD是常见经验研究组织方式，分别对应Introduction、Methods、Results、Discussion。理论论文、方法论文和不同学科的组织会变化，需按论证和目标刊调整。哥廷根课件展示了不同计算机研究方向的差异，不能强套统一章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示例有三句：纳入146条、雌雄各73；均值与差异；说明本例未作因果推断。句子之间有证据关系，而非每句换一个宏大概念。用数字锚点连接方法与图。讲师可以与后续方法段落比较，分清结果和处理过程。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题为公开数据中Adelie雌雄鳍长的描述性比较：教学示例。摘要明确使用既有数据，限定完整记录，给出4.62mm差异，并保留独立性与解释限制。不能用“首次揭示机制”等词填补缺失的创新性。摘要篇幅按目标刊，页面示例不冒称已满足某刊英文长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领域背景、已有研究、当前问题、研究目标组织。Gorman2014是公开数据原研究；本例没有新颖性检索或新增采样，因此只提出教学分析问题，不声称填补空白。正式研究需要明确与既有工作的区别并提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Introduction</a:t>
            </a:r>
          </a:p>
          <a:p xmlns:a="http://schemas.openxmlformats.org/drawingml/2006/main">
            <a:r>
              <a:t>https://mitcommlab.mit.edu/broad/commkit/journal-article-introduction/</a:t>
            </a:r>
          </a:p>
          <a:p xmlns:a="http://schemas.openxmlformats.org/drawingml/2006/main">
            <a:r>
              <a:t>定位：Structure/Background/Question等指导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记录原始344、Adelie152、所需列完整146，排除6条且未插补。M2写方向male减female、分组有放回10000次、种子20261018与linear分位点。未执行的方法、仪器和实验不写进已完成叙述。页面只保留方法段核心，完整参数在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同一146条完整记录的5mm分箱频数。正文描述均值差4.62mm并指出分布重叠，不把两组记录当作同一个体前后测。未报告P值，也未通过图形判断显著性。完整统计量来自第7节实际计算并随本节保留证据副本。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完整记录均值差出发，检查年份和岛屿组成、缺失机制、巢内依赖及总体定义。当前数据不能支持机制结论。提出未来采样与模型检查是下一步建议，不能写成已完成验证。图中分支只是解释路径，不是实证因果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Discussion</a:t>
            </a:r>
          </a:p>
          <a:p xmlns:a="http://schemas.openxmlformats.org/drawingml/2006/main">
            <a:r>
              <a:t>https://mitcommlab.mit.edu/broad/commkit/journal-article-discussion/</a:t>
            </a:r>
          </a:p>
          <a:p xmlns:a="http://schemas.openxmlformats.org/drawingml/2006/main">
            <a:r>
              <a:t>定位：interpretation、context、limitations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原段落故意设置显著优于、证明决定和推广价值等问题，明确不作为事实。修订后保留对象与均值差，删除未经检验的显著性、价值排序与因果表述。Humanizer不改变真实数字，也不以规避检测为目标。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Gorman2014真实论文为例，标题、作者和DOI可以确认身份；要支持关于采样、对象和结论的具体句子，还需回到摘要、方法与结果相应位置。当前课程二次分析的4.62mm来自自己的计算，不归到原文名下。模型返回的DOI不能直接当作核验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示例：只根据附带CSV计算记录和研究说明写方法与结果；保留数字、单位和条件，未知信息列出；每段标注所用材料位置，不补造实验、文献或显著性。Harness承接材料版本、执行记录与核对规则，在写作任务中仍由研究者判断主张。此页为方法框架，未冒充云端执行截图。</a:t>
            </a:r>
          </a:p>
          <a:p xmlns:a="http://schemas.openxmlformats.org/drawingml/2006/main">
            <a:r>
              <a:t>ICMJE医学期刊建议AI不能署为作者，作者承担准确性等责任，并按要求披露AI用途。不得把该建议当成所有学科完全一致的规定。记录真实工具名称和版本、日期、任务、输入输出及人工核查；不补填本来没有保存的版本号。语言修订不能取消披露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ICMJE，Use of AI by Authors</a:t>
            </a:r>
          </a:p>
          <a:p xmlns:a="http://schemas.openxmlformats.org/drawingml/2006/main">
            <a:r>
              <a:t>https://icmje.org/recommendations/browse/artificial-intelligence/ai-use-by-authors.html</a:t>
            </a:r>
          </a:p>
          <a:p xmlns:a="http://schemas.openxmlformats.org/drawingml/2006/main">
            <a:r>
              <a:t>定位：2026-10-18核查；医学期刊建议，具体采用以目标刊规定为准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以PLOS One公开标准为例，科学严谨性和数据支持是核心；本课程复算示例并未证明其具有正式研究贡献，不据此推荐投稿。正式任务应阅读近期相关论文并对照目标刊要求，期刊指标不能替代内容适配。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One，Criteria for Publication</a:t>
            </a:r>
          </a:p>
          <a:p xmlns:a="http://schemas.openxmlformats.org/drawingml/2006/main">
            <a:r>
              <a:t>https://journals.plos.org/plosone/s/criteria-for-publication</a:t>
            </a:r>
          </a:p>
          <a:p xmlns:a="http://schemas.openxmlformats.org/drawingml/2006/main">
            <a:r>
              <a:t>定位：2026-10-18核查：original research、supported conclusions、reporting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以PLOS One的投稿指南说明主稿与投稿信等材料。作者、贡献、数据说明等需真实确认。页面不代填不存在的伦理编号、作者同意或研究贡献。教学稿未执行投稿。正式提交前核对题目、样本数、图号和声明，避免系统字段与主稿不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One，Submission Guidelines</a:t>
            </a:r>
          </a:p>
          <a:p xmlns:a="http://schemas.openxmlformats.org/drawingml/2006/main">
            <a:r>
              <a:t>https://journals.plos.org/plosone/s/submission-guidelines</a:t>
            </a:r>
          </a:p>
          <a:p xmlns:a="http://schemas.openxmlformats.org/drawingml/2006/main">
            <a:r>
              <a:t>定位：2026-10-18核查Manuscript Organization、Cover letter、Abstract；具体期刊示例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按PLOS One官网转述初检、编辑评估、外审、编辑决定及修订。送审不等于接受；审稿意见是编辑判断的重要输入，决定由编辑作出。不同期刊阶段命名不同，不照搬为所有期刊同一状态机。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模拟三条意见对应材料已补全、表述已修改和新增样本未完成。把意见拆为可执行动作并设证据位置。不是每项都能靠改写完成；需要新研究时如实保留状态，不把未来计划说成完成。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模拟R1.1要求说明来源、缺失和样本量。实际manuscript-r1.md的M1已补充344→152→146、排除6条及来源，没有插补。回复锚点M1存在。不能仅写“已按意见修改”却找不到对应文字。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模拟R1.2针对性别决定鳍长。实际删除原稿中的证明决定、普遍规律和生长机制，R1保留4.62mm描述，D1加入范围限制。回复同时指出修改与未做的研究，避免把删除强结论说成增加实证证据。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模拟R2.1要求新增样本和巢内相关验证。本轮未完成这些研究，L1已明示。回复不保证编辑接受现有范围，研究目标若要求该证据，就需要补材料或调整研究。不是所有分歧都能靠措辞解决。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PLOS One返修要求逐条回复、标记稿和清稿。课程提供Markdown原稿、修订稿及unified diff，演示版本对应，不把diff冒充Word Track Changes。R1.1和R1.2对应实际修改，R2.1仍未补研究。正式提交格式要按目标刊转换并复核。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流程区分范围不符、方法证据不足和事实争议；更换期刊不能修复研究缺陷。申诉仅在符合目标刊程序且有材料时考虑。PLOS One申诉期间稿件仍在正式考虑中，不另投。这里没有替用户投稿、申诉或发送信件。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本节交付原始CSV与哈希、实算证据摘要、r0故意错误教学稿、r1修订稿、真实差异文件、模拟意见矩阵及回复。三条意见的状态可核。下一节基金申报与Grant Agent进一步把指南、结构、材料与Word成果对应。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e88f57a8447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10245af184b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119fc415b4c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347bb20de4c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d28f3946849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56895193741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6B09D9-6C48-4180-AE87-8923C4F2C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0784B3-BD44-41CC-A528-306031153E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C49093-B63E-41DE-AC01-73EA9209A3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0CBAEE-189C-43BA-99F3-69E84AFDB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FB79FE-BC76-47BA-9444-2E8D20071C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8D9168-63AE-4166-8A4E-13EFB761AD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B7D7D1-33BE-42FD-9571-D7146DF959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948E75-1882-4551-91DF-D988B7D2C5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9272A9-6C95-4D6E-946C-E51EBCC202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BD3FE2-E294-4FE8-A19E-76DD1117BE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6d32a789854bc4" /><Relationship Type="http://schemas.openxmlformats.org/officeDocument/2006/relationships/slideLayout" Target="/ppt/slideLayouts/slideLayout1.xml" Id="Ra9ae798dddd84ad8" /><Relationship Type="http://schemas.openxmlformats.org/officeDocument/2006/relationships/slideLayout" Target="/ppt/slideLayouts/slideLayout2.xml" Id="R509ab147adb841f8" /><Relationship Type="http://schemas.openxmlformats.org/officeDocument/2006/relationships/slideLayout" Target="/ppt/slideLayouts/slideLayout3.xml" Id="R8ce013e803ff4fa5" /><Relationship Type="http://schemas.openxmlformats.org/officeDocument/2006/relationships/slideLayout" Target="/ppt/slideLayouts/slideLayout4.xml" Id="R2742c7aa01cd4614" /><Relationship Type="http://schemas.openxmlformats.org/officeDocument/2006/relationships/slideLayout" Target="/ppt/slideLayouts/slideLayout5.xml" Id="Rf86e23ff323d43e0" /><Relationship Type="http://schemas.openxmlformats.org/officeDocument/2006/relationships/slideLayout" Target="/ppt/slideLayouts/slideLayout6.xml" Id="R721619afa22348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e798dddd84ad8"/>
    <p:sldLayoutId xmlns:r="http://schemas.openxmlformats.org/officeDocument/2006/relationships" id="2147483650" r:id="R509ab147adb841f8"/>
    <p:sldLayoutId xmlns:r="http://schemas.openxmlformats.org/officeDocument/2006/relationships" id="2147483651" r:id="R8ce013e803ff4fa5"/>
    <p:sldLayoutId xmlns:r="http://schemas.openxmlformats.org/officeDocument/2006/relationships" id="2147483652" r:id="R2742c7aa01cd4614"/>
    <p:sldLayoutId xmlns:r="http://schemas.openxmlformats.org/officeDocument/2006/relationships" id="2147483653" r:id="Rf86e23ff323d43e0"/>
    <p:sldLayoutId xmlns:r="http://schemas.openxmlformats.org/officeDocument/2006/relationships" id="2147483654" r:id="R721619afa22348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02c9ecc2843fb" /><Relationship Type="http://schemas.openxmlformats.org/officeDocument/2006/relationships/notesSlide" Target="/ppt/notesSlides/notesSlide1.xml" Id="Racd1d58773b24a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828a9cc5ec485e" /><Relationship Type="http://schemas.openxmlformats.org/officeDocument/2006/relationships/notesSlide" Target="/ppt/notesSlides/notesSlide2.xml" Id="R3dbbb93f9f2f4e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2daa4a295426c" /><Relationship Type="http://schemas.openxmlformats.org/officeDocument/2006/relationships/notesSlide" Target="/ppt/notesSlides/notesSlide3.xml" Id="Ra702f4819b954c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258058ba448bf" /><Relationship Type="http://schemas.openxmlformats.org/officeDocument/2006/relationships/notesSlide" Target="/ppt/notesSlides/notesSlide4.xml" Id="Rfee69d33a2ca48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ba2e6ca264511" /><Relationship Type="http://schemas.openxmlformats.org/officeDocument/2006/relationships/notesSlide" Target="/ppt/notesSlides/notesSlide5.xml" Id="R8187671f9f4a40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9687ae930348a3" /><Relationship Type="http://schemas.openxmlformats.org/officeDocument/2006/relationships/notesSlide" Target="/ppt/notesSlides/notesSlide6.xml" Id="R66e106bea9e240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496addc0644f2" /><Relationship Type="http://schemas.openxmlformats.org/officeDocument/2006/relationships/notesSlide" Target="/ppt/notesSlides/notesSlide7.xml" Id="R26813fe8247141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2b77d18d045b4" /><Relationship Type="http://schemas.openxmlformats.org/officeDocument/2006/relationships/chart" Target="/ppt/slides/charts/chart1.xml" Id="R3b1c1fb420ae4770" /><Relationship Type="http://schemas.openxmlformats.org/officeDocument/2006/relationships/notesSlide" Target="/ppt/notesSlides/notesSlide8.xml" Id="Rd4b0f73c6fa34a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2412ccb6f417f" /><Relationship Type="http://schemas.openxmlformats.org/officeDocument/2006/relationships/notesSlide" Target="/ppt/notesSlides/notesSlide9.xml" Id="Raa1759753f0e4a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78307a1234919" /><Relationship Type="http://schemas.openxmlformats.org/officeDocument/2006/relationships/notesSlide" Target="/ppt/notesSlides/notesSlide10.xml" Id="Rfa4eb4df384442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e091fe24da4fe4" /><Relationship Type="http://schemas.openxmlformats.org/officeDocument/2006/relationships/notesSlide" Target="/ppt/notesSlides/notesSlide11.xml" Id="R06099583a2be45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5b712a9c448ab" /><Relationship Type="http://schemas.openxmlformats.org/officeDocument/2006/relationships/notesSlide" Target="/ppt/notesSlides/notesSlide12.xml" Id="R38134f2b961248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ca912a237494a" /><Relationship Type="http://schemas.openxmlformats.org/officeDocument/2006/relationships/notesSlide" Target="/ppt/notesSlides/notesSlide13.xml" Id="R50fb0f486a034b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031e9326574577" /><Relationship Type="http://schemas.openxmlformats.org/officeDocument/2006/relationships/notesSlide" Target="/ppt/notesSlides/notesSlide14.xml" Id="R3569794135aa41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bbfd9ba95c45da" /><Relationship Type="http://schemas.openxmlformats.org/officeDocument/2006/relationships/notesSlide" Target="/ppt/notesSlides/notesSlide15.xml" Id="Rea739f4d92964f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fcfc815784fb8" /><Relationship Type="http://schemas.openxmlformats.org/officeDocument/2006/relationships/notesSlide" Target="/ppt/notesSlides/notesSlide16.xml" Id="R26c39d75ebc64d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65b76820f427b" /><Relationship Type="http://schemas.openxmlformats.org/officeDocument/2006/relationships/notesSlide" Target="/ppt/notesSlides/notesSlide17.xml" Id="Rb3f685bc3c8844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86c3d522e14b0a" /><Relationship Type="http://schemas.openxmlformats.org/officeDocument/2006/relationships/notesSlide" Target="/ppt/notesSlides/notesSlide18.xml" Id="R5e0944df8d884b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bf505dee74f42" /><Relationship Type="http://schemas.openxmlformats.org/officeDocument/2006/relationships/notesSlide" Target="/ppt/notesSlides/notesSlide19.xml" Id="R600dd875b5874f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4f9fd1ac514862" /><Relationship Type="http://schemas.openxmlformats.org/officeDocument/2006/relationships/notesSlide" Target="/ppt/notesSlides/notesSlide20.xml" Id="Ref3ddba35d15474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421be453564fb0" /><Relationship Type="http://schemas.openxmlformats.org/officeDocument/2006/relationships/notesSlide" Target="/ppt/notesSlides/notesSlide21.xml" Id="R5ac5e82e79754c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0823e762e4e7b" /><Relationship Type="http://schemas.openxmlformats.org/officeDocument/2006/relationships/notesSlide" Target="/ppt/notesSlides/notesSlide22.xml" Id="R24889f87e862453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Adelie鳍长分布：横轴毫米，纵轴记录数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雌（73条）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雄（73条）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1CCC2-5490-4A73-9FB7-48DD571F178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47C77-BAE0-4935-A8FF-1011766C406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F08A0-74AE-43EB-ACB8-5CA21661D06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BC9F6-DF8C-4A3C-9F08-0CAB1C96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CD97C-E74C-457B-8932-E7D565B0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论文写作、投稿与返修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7A802-0228-4737-9C04-A13C906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C0C4A-054F-463F-9578-66100BD4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本节把研究材料组织成段落，再追踪投稿判断、修改动作和回复依据。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15C27-ED7F-4C61-95FF-2655D06E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材料与论证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771E6-C379-49FB-9C48-783DC709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段落与图表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3C712-6AA4-4ADD-B512-AD928283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期刊与提交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C4C1D-BB25-46F6-9A14-FECE77C6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修订与回复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60DD7-69D8-4F40-B4BA-C0C2B8DB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每个判断对应依据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EE45A-CFEE-421E-B82A-BBAEB47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8B88C-1ABF-4E0A-979E-92091C8E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核对范围与要求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5BB82-7459-4AED-A05B-DF075774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记录动作和位置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D33A3-C82C-4D93-BBE1-4396C57A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967D6-5EC9-4137-A5D5-7B9103B6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写作示例、模拟审稿与实际文件修改分别说明。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267FD-D742-447D-9F2E-BAC85170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5496C-73F8-4B61-966D-E5E8FB96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9149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A2121-B749-4837-8465-72D72777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30E5E-C8E0-4335-BE1E-B6513000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主张与证据的对应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2A16A-B161-46EC-B5A5-7AC32C97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C73E4-4790-482C-AEBE-D23961F4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同一份数据，可以支持完整记录中的均值差异，却不足以证明因果机制。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DA14C-55E0-41B4-90D5-91CBBCAE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样本范围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A4EC1-EB94-4E83-914E-8A477305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344条原始记录 → Adelie 152条 → 完整记录146条，雌雄各73条。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BC5CF-35D8-4EBF-88FC-7436E3B9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345EF-C0F1-4206-AD13-FD955692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可报告的结果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E7F18-B831-4F6D-92C1-7F2B6B04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在这些完整记录中，雄性平均鳍长比雌性高4.62 mm。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F57B7-E2B7-4CF8-8578-E430A96A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902C3-F931-44C3-AC45-5B5D238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需要更多证据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BB54C-002E-415A-9B30-80ECD2B7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“性别决定鳍长”“适用于所有企鹅”涉及因果或总体外推，当前分析不能支持。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81FCE-6101-493F-81D7-A722D816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98D23-E67C-4760-9978-D2973A73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公开数据二次教学分析，不作为新科研成果。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3EB6B-3AF3-4BD7-8E3F-63A64C3A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来源：palmerpenguins公开数据及课程二次计算；课程教学示例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054B2-324C-4E50-A716-6A4F7E42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3278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4A3B5-6476-400E-B198-77597C6871D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048000" y="61531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A8A2C-A7EF-47F7-99AF-1CF425B044D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48000" y="50292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DBD7B-C2C9-47FF-9E9F-A4D0983B058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39052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6B2048-A69A-43D9-8EB7-AC47B617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F9353-72EC-4BC4-8B80-85AF25CB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常见论文结构与读者问题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88979-55D8-4432-A849-5B2952E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4CDE7-F825-4F02-9997-41352788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引言解释问题，方法交代做法，结果报告发现，讨论说明解释和限制。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61909-CE50-4A5B-A8C1-7D5E1380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BBC68-8436-4ADB-8301-E8CB2ADD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为什么研究这个问题？已有研究留下什么具体问题？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89592-09D9-486C-88B3-32A8968F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62D37-35A9-4B2B-9B80-F0A4AAA4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957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数据从哪里来？怎样筛选、测量和分析？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458EC-7B4A-43E8-B31E-44EC223B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EA8A4-027F-4AFB-9CED-B68F5D0E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97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比较得到什么？图表、数字和不确定性怎样对应？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6FA8F-6550-46EB-A55B-04C322C5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674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5C447-C33D-4A58-A16A-5DC10DE0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结果如何解释？哪些条件限制解释和推广？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92B90-E32A-4D4D-9DE3-DD6438D9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结构服务于研究问题，目标期刊和学科惯例决定具体安排。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332A6-FDA6-4498-9AF4-1E9F6BA5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70304-F2EB-45E5-B80B-9BF1C3D0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8985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E3E35-135F-440F-B48E-C52E2D25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680BD-0C5C-4B36-A8CB-538818FA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一段结果文字的内部结构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6FE31-71BB-4DD3-89C8-16FEB55F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D56D3-AF0C-499F-B73D-15C7DF75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先说明比较对象，再给出数字与单位，最后补足读者需要的条件。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256FF-6C66-4A58-BA4F-FD591D07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课程结果段落：对象 → 数字 → 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5EFE1-DB8A-4F5A-B0A0-F2577E04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纳入146条Adelie完整记录，雌雄各73条。雄性平均鳍长为192.41 mm，雌性为187.79 mm，均值差为4.62 mm。该差异描述本次纳入记录中的组间比较，未作因果推断。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B794D-86B0-4B2B-A0EC-9378959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 / 每组73条：与方法中的纳入条件对应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EAB6B-6899-459F-9A44-245B8F39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192.41 / 187.79 / 4.62：与计算记录及图对应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89179-DA5B-4FC8-8283-CCD477A5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389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“本次纳入记录”：限定描述适用的范围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3D618-E5A5-4E1C-8DD6-ED6703D6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以下为课程自编结果段落，数字来自实际计算。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01E14-5CF3-4EDC-8E02-E4853EF2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5A0C0-7D47-47E1-8B9F-282EA63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7397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58A40-A427-4165-AE1C-E32D07A6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F5EB3-5561-47DE-940B-B17C73F8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标题与摘要的范围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95ED9-CCB5-4DD3-9522-28395E7B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17267-8649-41E0-8C75-9745226F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标题交代对象和比较，摘要压缩目的、做法、主要数字与适用范围。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0F2A0-BC91-4809-B9D1-06CE98F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公开数据中Adelie雌雄鳍长的描述性比较：教学示例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26240-9E70-43A9-A88F-49AC358F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本例使用palmerpenguins公开数据，描述Adelie雌雄鳍长的差异。保留性别和鳍长完整的146条记录，雌雄各73条。两组平均鳍长分别为192.41 mm和187.79 mm，差值为4.62 mm。结果仅描述所纳入记录；个体独立性、缺失与年份组成仍限制其解释。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6EB18-E84B-4A1E-A65F-E35DB44D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900D5-EE20-4BBC-907C-92E16BFD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目的：比较什么     做法：材料与范围     结果：主要数字     限制：解释条件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B6BBE-F6AC-4084-93C9-B909CD45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完整摘要见[A1]。本教学稿未主张新发现或投稿适格性。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20DE5-9655-4429-BF3C-4EC12ACF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954A0-3776-4A30-B2CE-87ABEA55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02130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BB413-70FD-47A2-9939-CD7500DFD07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524250" y="61245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54BAB-D9F9-4E0B-8B71-7A402320C48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95625" y="500062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C615E-4A66-48F7-9C1B-AAE0B71C58E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667000" y="38766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B00D1-2690-45C6-AB9F-4A0BC1B4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7E431-92BA-4EAA-B369-0ED3E869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引言中的已有研究与具体问题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FAEBA-0205-4424-BF14-C4736683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0B7B6-AEC2-4E42-B523-B8F11781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引言需要说明研究背景和当前问题，并用已读文献限定自己真正要回答的内容。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72A4B-09B0-4AA6-ADB3-8CC7DFE1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D7470-5DCF-448F-8CCC-704C7918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性别与形态差异是企鹅生态研究的一个问题。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98769-4F5C-46B5-AEE7-8D1E3289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3486C-F14E-4F0A-B840-D21E9C13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Gorman等（2014）研究南极企鹅群落的性别形态差异。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4CAFC-042C-4195-9680-7A706C49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87E75-498A-41E4-963A-FB2C3D4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911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这份公开数据中的Adelie完整记录，雌雄鳍长相差多少？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79386-FE95-4F1F-A69B-9043AF16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67475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本例目标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F334A-F0FB-4D7B-94DC-A2767BB5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515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演示描述性比较及论文表达，不据此主张研究空白。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636E6-5C9E-4618-8FA3-691D5BE7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本例演示引言组织，不把重复计算包装成研究空白。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ED407-3833-430D-A78C-A278B3C8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CommLab，引言写作；Gorman等，2014，原始研究；课程教学示例 / 模拟审稿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C99D3-9A31-4385-AE9E-3E71A195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0104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63C8D-81A9-42CA-AD73-EACE8E41AD9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DE255-6D53-443E-BF57-75E208A1FBB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D45E5-C037-4510-86C0-A9351821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DEE5C-F1D0-4A06-9FB0-612DED63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方法段落中的可复核信息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6917B-EEF7-448C-B52E-A6141B70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7E7E9-299C-4177-B949-83E71257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数据来源、纳入条件、处理规则和分析参数，需要与实际执行一致。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F6F28-93A0-41BF-BE60-6F366DCC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原始公开表 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844BF-C3FF-44F1-BB0D-7D053E4A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D677F-E75B-4C01-86A1-9D2D2A4F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 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99CBB-C068-4C2F-89F6-40880BD2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限定研究对象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8BF74-CCB7-488D-B851-1DFFBB1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排除6条缺失，不插补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62791-51C8-453D-B655-3C25380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方法段落节选 [M1]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5B4AB-35C7-44B7-B996-55BD999A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数据来自palmerpenguins公开简化表。筛选Adelie记录后，保留性别和鳍长均完整的观测，共146条；雌雄各73条。排除6条记录，未对缺失值作插补。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85B5D-CC1A-4C55-9BC3-69D7B03C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完整分析参数另见[M2]：雄减雌、分组重抽样10,000次、种子及分位数方法。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82734-5881-4D1F-9A56-934E5097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实际过滤记录和计算输出支持本页方法描述，未新增实验。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7BECE-475A-443E-A120-F30BCC9D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模拟审稿；palmerpenguins公开数据及课程二次计算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CD4E2-C1EA-4662-BD14-F9582527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5720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E4145-4457-478B-A480-3EE432A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9DC73-732F-46AB-8FE7-38C7CB8A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图与结果段落的对应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1232E-E90C-460A-80BA-B49CDB2A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129D1-06AC-402F-A63E-C61290EE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正文概括图中能支持的发现，并给出对象、方向、单位和必要数字。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7C89C3C-9F9B-4542-A142-1F25E01DD0D6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286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1c1fb420ae477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3E384-7788-4CB3-BBE4-4DF9A966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86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结果段落 [R1]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E09ED-CBB5-4BF7-9F00-9A5C095F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48125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雄性平均鳍长比雌性高4.62 mm。两组的分布有重叠。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均值差与个体差异是两个层面：不能仅凭性别推断某个体的鳍长。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5AE6A-1547-40BD-B7BC-668C47EF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图与文字来自相同146条记录，组间重叠不影响均值差的如实报告。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CAB7E-BE45-4A86-8543-DB2FD17E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3866B-7CDD-4A07-9BEA-C693E362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9170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863B6-08CF-47D6-A6A8-383353D12C9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95875"/>
            <a:ext cx="2000250" cy="1443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7FB00-B8B5-41BC-8901-32AB5CF13DD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048250" y="5043488"/>
            <a:ext cx="2000250" cy="52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44935-DB67-42B6-8201-59D9B959A7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74747-1877-4129-B05E-D4629204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12AF3-C291-4055-A5A5-0A3D13F1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讨论中的解释与替代解释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D6471-F82C-4BB0-98E5-F8424006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A4034-4A85-4FA5-9C8E-82F7E7AB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讨论把结果放回研究问题，同时交代数据和设计尚不能排除的解释。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4C402-70CC-425A-9664-61C556F6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完整记录中的均值差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雄性 − 雌性 = 4.62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7D293-9E28-47E9-9D74-837C2BA0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数据组成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1994B-4D6D-42DF-9CEA-834F70FF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年份、岛屿与缺失，是否影响所见差异？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6FD44-25B9-433A-BA1E-B9AFF8C5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38675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观测依赖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B4D20-2B6F-4437-9216-4CBF94E4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386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巢内或年份相关性是否影响不确定性？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3A94E-0913-4780-8F87-3D908870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3410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7D7E6-5088-4321-89A5-3704FD8D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341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没有实验设计，当前不能确认因果机制。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1D8AF-6C87-4128-8A01-7E92FE4C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区分当前观察、条件解释与尚待验证的工作。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84CDB-7A54-4B63-88B8-AD8C0A6E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CommLab，讨论写作；课程教学示例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19A39-1E3C-4195-9355-1624C3B2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03010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9C710-EB90-4975-9F84-4C0E22CF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8EE17-70B0-44C8-B1B5-4FB2164A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Humanizer修改中的证据边界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C59C7-4511-485A-9E25-007955BD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F5B1A-DB42-4DED-BEFB-26ABB069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删去空泛判断时，补上已有的具体信息；缺少依据的结论则收回到材料范围。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18C49-9683-4CD0-8D49-1CE8349B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原稿：故意设置问题的教学模拟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8038E-856C-4604-B8B8-CD9E2AE1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雄性鳍长显著优于雌性，证明性别决定鳍长，结果具有广泛推广价值。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466C6-2C23-4151-88D3-00E5D15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51AAA-EE8D-4B31-BFD7-772D42FE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修订：保留数字，收回未经支持的判断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9B5C6-AC0F-41CC-98C5-78F417BE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在146条Adelie完整记录中，雄性平均鳍长比雌性高4.62 mm。此比较描述所纳入记录中的组间差异，不能据此判断因果关系。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B6AF4-A40B-4F12-81BB-D7A8751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红色原文为故意设置问题的教学模拟，不能引用为研究结论。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DAFA1-DBCC-4C22-94D7-981839B1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11105-BD9D-4E0E-A195-FBF9073D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04772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558EE-0C80-4B88-BD0B-832BC2272D1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64517-75EC-4E9A-8499-364642B4232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A5CAD-0F74-47D3-9D21-C90BEA72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2E1DC-6F7B-4C4D-BAED-C75B688E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引文存在与主张得到支持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62F1C-3045-4C02-94B7-D1564E74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F3AF4-DC63-4D4B-9BEB-46A7C32A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核对参考文献时，既要确认文献真实存在，也要读原文判断它支持哪一句。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A57F8-65B9-4590-9802-3A90A77F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确认文献身份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34A3A-3236-4C04-9A06-C3280682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阅读相关原文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69D7C-44CF-4AF5-8F6F-39D00DC3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判断支持范围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23F33-900A-4E52-9BD6-AB217A65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作者、题名、年份、DOI互相核对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129C-4333-4224-B2F0-8D883CD7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回到方法、结果与讨论，找到具体依据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0EFAA-A8EF-4474-8A8F-9649D456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给相应句子引用；不把自己的计算归给原文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9011E-CA68-41BF-842D-0424AD51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真实原文：Gorman、Williams与Fraser，2014，PLOS ONE 9(3): e90081。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987F2-212E-4291-A9E6-806513D7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本课4.62 mm为二次计算。它不应写成“原研究报告了4.62 mm”。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414FB-4E3E-4F09-9972-89198EE2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示例DOI：10.1371/journal.pone.0090081；课程计算另列来源。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BEE71-9F8D-4B17-A79B-5F2D772D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来源：Gorman等，2014，原始研究；课程教学示例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4139D-3D3F-4601-8ED7-FF79CC72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223185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31472-B657-4BB9-A579-64883F29400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15DF2-EF42-4EB7-A9D5-7B245B2BC93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6F8CF-C898-4247-B7D6-33C608C612C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5F85B-4532-4520-B9AE-234BD730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45BD7-3020-42B4-905F-FAD0E165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AI分段协作的输入与输出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56D5B-32BB-4CDF-B1FE-156EF512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919FB-F830-4C93-A5FF-33043A75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向AI提供事实材料和写作任务，并要求把缺失信息、使用依据和修改理由一并返回。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7B328-F71E-469E-8BF9-F7C722D9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研究事实与资料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89120-12FC-43B9-8D4A-5522477B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分段写作任务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A9A2A-3C1D-4192-BBCC-E44C918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草稿与依据位置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76F57-06FD-4122-A28E-47F6236D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复核与修订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7D418-693F-4D4F-870E-40B0D5A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方法、结果及限制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F0448-AEB4-40FA-A954-31B92C79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明确段落要回答什么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9A5F4-B17F-4BF9-822D-E9E9EF9F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未知内容单独列出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00890-46C9-4ED3-9E2E-F4BCA595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逐句比对原始材料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65423-C3AA-4707-B735-D020CD6E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写作任务示例：只依据附带计算记录写方法与结果。保留数字、单位和条件；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未知事项列出；每段注明材料位置，返回修改理由。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C062E-FBB0-40A0-A47E-99412DE7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保留工具用途与核查记录；AI使用的披露要求按目标期刊核对。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0C086-9D30-4EA2-9E8C-33C3620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模拟审稿；ICMJE，作者使用AI的说明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BCED1-96FB-4350-B91A-2DD147D0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72736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EA0FB-CE97-4E17-8F22-418379D0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E7085-B053-4F4E-844D-2FDA9A49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期刊范围与稿件适配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B6FBE-AC59-4055-9581-1E9B6D8A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0A111-B631-49E6-A621-4A57FDD3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选刊需要核对研究主题、文章类型、发表标准与数据报告要求。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CBD8C-611C-49BA-8BFC-3FE224C8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研究范围与类型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9607C-8B84-4C71-AF14-A00C74F7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先读期刊宗旨和近期相关论文，确认研究对象、问题与文章类型是否合适。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78C23-3BF7-4E23-B6A5-779495F6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1E4A8-A417-48D2-85B2-B2CFED25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发表标准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AF96B-18B0-4E3E-9664-2B27CFD0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对照官方标准检查设计、分析和结论。选择期刊不能补上缺失证据。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C2CE9-B8B2-4F58-A7D7-E4F125E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5629F-EE67-4417-94D2-61C26212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数据与报告要求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23CAA-87AA-4273-939F-494C2885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核对数据可得性、报告清单、伦理与署名规定；逐项记录尚缺材料。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6053B-0F25-43E4-99C1-81075B4B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1DBDE-5E0C-4799-92B1-9E7DAB5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用官方标准讲选刊方法，不将本教学稿推荐为可投论文。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4D7E8-DC6E-4655-BD2F-0D7FE1C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One，发表标准；课程教学示例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E2530-7F6D-488F-84B9-59EE7C4F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449437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2D1AD-403C-4C2F-ACDE-D9EC6CEC28E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67625" y="4953000"/>
            <a:ext cx="4810125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E80A4-3543-43EB-BDCF-1CF864F6B30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953000"/>
            <a:ext cx="47625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15B3A-C6C4-4E28-8468-55E030CB909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4953000"/>
            <a:ext cx="4905375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BE9EB-C644-41FD-AFD9-C7B28B54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BCBB6-A264-466F-BC9F-0A572740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投稿文件中的信息一致性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5EB5D-9DF2-4070-9013-B7469A06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C5ADF-E974-41E6-88BC-8B59AEEB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主稿、图表、数据说明和投稿信应对应同一研究与版本。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10CC7-9E90-4E3C-958A-B9D5D2DC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主稿与图表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正文和图注的数字一致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E62FC-103E-4AD9-A933-0D415320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数据与方法说明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出处与实际处理相符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2D034-9305-4352-8B6F-3BD29584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投稿信与系统字段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作者核对贡献与声明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DC0FF-4053-47A7-A5D9-329860F6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81750"/>
            <a:ext cx="714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同一题目、作者、样本数、图号与版本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5326B-87E5-41D3-A145-88C0DB6E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官方要求作为案例；具体文件清单按目标期刊核对。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174B7-1DCE-41BA-864F-937C561D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One，投稿指南；课程教学示例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3E057-848B-4483-8524-432A44C7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595507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DFB94-CDA8-475E-A4C3-A6B260D9293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12858750" y="4191000"/>
            <a:ext cx="1733550" cy="27146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71F10-400C-49A9-AE1A-50EBAB4E4C4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3D7D1-92E4-4E10-8173-31BA59D4D6A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FF8C8-5A8A-420B-9157-EE4F2AD99A9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FDC1E-1100-49C0-9C35-EA05D315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7C9EF-8A0D-4083-B09A-DF777F7D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编辑初筛与外部评审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75D68-9D3D-49E6-ABC8-906C30D8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96B60-831F-4B51-8B8B-F124FEF8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期刊先检查材料和适配，再决定是否邀请外部评审，最后由编辑形成决定。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F033D-5C78-420F-8638-4DF7D7A0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材料初检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128A7-D0CC-40FB-8FEA-17FC0A8F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FEF07-3089-44A8-9EE7-11BD8CA6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外部评审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9E2BA-F516-4E31-B43B-F4A3E8D0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D0747-89B3-44B9-9BDA-88B744F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文件与声明完整性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10AEA-47C7-47B9-A165-5BD3966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范围、标准与适配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A3882-1AB4-48E1-AE06-7B1E1009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方法、证据与解释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20C7A-3DE8-4504-AF50-87BB5A0B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06284-78B7-494F-9494-7502006C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77000"/>
            <a:ext cx="523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作者修订与逐条回复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60CE7-6B16-4736-817B-EB4BFE91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编辑可决定接受、修订或拒稿。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9D24D5-A842-4DBC-B79E-6288FAA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修订后重新提交，编辑继续评估；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具体环节按目标期刊规定。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0B427-1A2D-4029-8AC0-29D87C0E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本页为官方流程转述，没有实际稿件状态或执行截图。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52838-A311-41A6-8277-5504ED5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A81FE-00AA-4A0E-9994-F8700400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718214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C47BB-2F18-4D21-98FB-8AEC315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00CA2-B494-481A-9B53-B6ACC1DB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审稿意见的分类与修改动作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501F1-79E2-4E97-99EB-40EF5212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35A69-FE3B-4BC0-9071-88D60C4F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先判断意见需要补说明、重分析、新研究还是讨论范围，再安排回应。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FCEDF-2E55-45D4-93DA-B44C1431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R1.1：缺少方法细节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4E42A-3F9A-4904-AB6A-427537EF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补数据来源、筛选和缺失处理 → 已修改[M1]。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FFA5A-791D-4854-B6E6-38E125C5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98892-9CFE-4DE4-9247-25EA032A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R1.2：因果结论过强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55148-ACD6-462A-B406-B7779B00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收回因果与机制表述，说明范围 → 已修改[R1][D1]。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02B59-1E92-4ED4-B668-A17594D5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4B742-0FB4-4472-952C-4F156280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R2.1：要求独立采样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1F3A1-0650-4BA3-96C8-4A113A9F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需要新增研究 → 本轮未完成，在[L1]说明限制。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42E38-4167-4098-B871-70AA02A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F3E1E-D187-4A50-9A5C-A9D11B0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教学模拟审稿意见，实际文件改动可查，新增研究没有发生。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2EAF3-474B-4783-A2CB-AF9D9673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BEC8C-3BED-410E-B5F7-C5F6E574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651823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A278F-D40E-4601-86A4-5A90973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671DA-09B2-4678-A85A-C694AEBA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回复示例：补充方法说明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D0D0A-C36B-4152-A7A1-6BAFA530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91E2C-04C4-4BD1-8347-6829C479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回复要说清具体补了什么，并指向修订稿中的实际位置。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81F96-B820-4684-AB16-B2AFFD95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4843E-DC7B-4563-A6C8-AE922596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请说明数据来源、缺失记录的处理，以及样本量如何确定。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D0955-11F9-4AE6-9710-593C6EE6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79CF2-A570-4312-9C52-1AA4B944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实际改动 [M1]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D235F-C85A-4103-9A40-B3D2DC18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补入原始344条、Adelie 152条、完整146条，以及排除6条、未插补。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3816A-E69E-4F36-94CB-97935FDE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D2AC3-8398-4E9B-8CE1-F9E94AA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7A5DA-CEC5-4CD3-A2CB-29997B69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已在[M1]补充来源、纳入条件与缺失处理；样本量与过滤记录一致。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4A420-4D10-494D-B4DA-0627F778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0CCFB-FDBE-4C21-950D-08C6FF18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模拟意见R1.1；正文[M1]与回复矩阵有实际对应。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4FBE2-A20B-409D-82CF-9CD7F765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BD43A-D1E6-4C55-BD0D-8D776BDE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196108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109D7-6286-4A07-99FB-A3A44BB7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78E8D-187E-41AC-AD33-98565E4B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回复示例：收回因果结论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BDA6F-D550-46E0-9C2B-70E68C06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CEBEB-767A-40D9-9319-C09BDC98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当现有设计不支持因果解释时，修改结果与讨论的范围，并如实说明没有新增验证。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7DF9D-5BE7-40BE-B921-1C0B8497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A9AE6-1AFE-417B-AAB5-A7942C27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观察性比较无法支持“性别决定鳍长”，请修改因果结论。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978B5-CAE3-4B1D-AE19-B990CCBC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76899-78A5-41B7-94CE-88256AE6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实际改动 [R1][D1]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F3850-F9DB-4492-8763-54A4B437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删除“证明决定”等表述；保留4.62 mm描述，说明组成、缺失和独立性限制。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E1759-3043-460E-A9B9-882446BF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8F958-E8F8-418F-ADDE-0295A9CA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75DDD-53ED-42B8-88EA-E17E79D5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已收回因果与机制结论，并限定为纳入记录中的描述性比较；未增加机制验证。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10FD7-FDF7-4558-9E92-7949857A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19588-C7F9-407F-B5D6-CCEF577D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模拟意见R1.2；实际修订在[R1]与[D1]，不声称已验证机制。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E846F-3983-4C6E-A095-DBF5B5D9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1AE3D-1A64-44F8-BCF5-361A719A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443452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3E30A-988F-4567-83E8-B34BE29F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22F0D-07AA-4DCE-AB43-E59C90C8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回复示例：尚未完成的补充研究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B2EA1-F0B4-4A81-8229-E8DC3B75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379D4-4331-4518-9422-FAA7F3AD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无法完成建议中的独立采样时，说明缺口及其对结论的影响，不能用未来计划充当结果。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734E3-2B13-44FC-A057-65118B69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R2.1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163A7-0CDF-4C6D-A8F7-F056FC20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请增加独立样本，并检验巢内相关性后再讨论推广。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B1370-713A-4669-863D-27376B74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39484-913A-4D8C-94D6-E506008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 [L1]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0C66E-ABC9-41CB-93F7-F743C112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本轮未新增采样，也未完成巢内相关性检验。该缺口保留在限制部分。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04E00-33FC-4359-A0A3-90CE8E36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41F3C-A210-4AED-89A5-22270731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556CB-BD8A-4D19-8BA7-A959C122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这项补充研究尚未完成。当前结果限于本次纳入记录，不能用其支持更广范围的结论。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0B68D-F37D-44CB-9962-605E09A5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8BCD6-FD63-4748-9679-0532F691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模拟意见R2.1；[L1]保留未完成状态，不虚构实验或分析。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C95CF-1BC3-46ED-B18B-5A5C492D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34C2E-67B0-4086-8082-8F8D2013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710842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1B160-D73B-4923-BCDE-747EE67FB76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7750" y="5000625"/>
            <a:ext cx="1619250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EC9BB-88AD-439B-9905-543F8648C5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762375"/>
            <a:ext cx="16192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5D46F-9A31-4757-BC20-E37482F6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6349-5ACF-448A-B9AA-6D72AC1C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回复、标记稿与清稿的版本对应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18DD4-0136-47C7-AADD-2C8E9023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92BBA-1505-4C0C-88E9-34E10A8D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每条回复要能定位到实际改动，未完成事项继续保留在问题清单中。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FB841-EA93-456E-8B93-386B4EEE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逐条回复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response-matrix.csv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FB6FA-F0D2-4BE5-AE1E-5046AB1D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38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有改动标记的版本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revision.diff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688CF-601D-4024-A46A-495940D9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286500"/>
            <a:ext cx="438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修订后正文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manuscript-r1.md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D616D-80BC-4F0B-9870-B903D3FA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核对意见ID、段落锚点与完成状态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BFAE9-1ACA-46D5-B377-5BC58420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2862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本节提供实际文本差异。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正式投稿所需的标记稿与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清稿格式，按目标刊制作。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2DA14-8D41-4660-8C0C-2455A24D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实际材料为可编辑Markdown与差异文件，未冒充Word修订模式。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1B9BE-6CAE-49FA-A20C-F9EB3141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BAF31-D383-4183-A3AC-D45A514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553535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C073D-31FF-4BD1-A7F4-2974171429F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67250" y="4929188"/>
            <a:ext cx="190500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06DEE-AFD0-4793-9E79-B4F11FE2DDB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67250" y="4929188"/>
            <a:ext cx="19050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6BC1C-711E-4D5C-B54D-325896BFEE5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667250" y="3524250"/>
            <a:ext cx="190500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867C9-465F-414C-874B-6F0E1127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FB327-82BE-4031-82EA-44340B86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拒稿后的修改与重投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FF7FB-04DE-4AFE-9D59-5D2C0471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506B1-479C-4DDD-9EB2-9AC445EC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根据决定理由判断是内容适配、证据不足还是重大事实分歧，再决定修改方向。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40FF9-8321-4209-94C5-931055F5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阅读编辑决定和理由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2C56F-2709-43AC-9EA1-A88061B4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范围不符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76DEB-0ED4-472B-ACEB-4C1428DF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重新判断目标期刊和文章类型。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02464-A9D4-4B4E-A122-807AF75E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证据或方法不足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89E29-4882-45A5-A6ED-5EE8A940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补研究或收窄结论，再评估稿件。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4CA0E-6E7F-4142-92C9-4C9468B0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960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重大事实争议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87431-8BB1-4361-B1FF-C9EC8792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960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按期刊程序，用材料说明申诉依据。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7F628-0740-40E1-9AF6-50A8FE36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重投前核对上一流程已结束，并重新检查目标刊要求。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1B2AC-EE8A-4E99-B34A-26C7EDD3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7978D-3CAD-449F-9BDA-028EA96B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532069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DB2BD-5E89-4204-8F05-2E4BC971F11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73284-68D4-41E8-9C23-AF73797F39D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53C51-80B4-4A1C-829B-5C11131C5FB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772AB-4023-48E5-8C1D-49C4C4A9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E466A-E683-4A09-9EC7-8DA07B6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可复核的写作与返修材料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84777-065F-4742-AB73-F1CEDB49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6F4D9-1B00-4CEA-815E-E83C250A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研究材料、当前稿、修改记录和逐条回复，应能指向同一组事实。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65389-6D5A-4E51-A9D2-2F7A162D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来源与计算证据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963A1-B3C0-4A58-8F03-EE1A85BB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当前稿与段落锚点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E32B0-C2E9-4FA0-93EE-E6F3E47B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修改与回复记录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D541D-311E-4AEE-80E0-D0E1A24F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提交前版本复核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30F85-1169-4BF5-80B4-42ACA787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核对数字与单位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02C52-A2BD-49B6-A7DB-0564B752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明确每句支持范围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83F25-0BAE-46FD-98B8-1B0BDF9A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逐项保留完成状态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E4F3B-2A2B-4028-851E-CA7C927F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作者核查材料一致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DCCBF-50C3-4CEA-90D0-4F8A4FF6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A8BCB-ADF3-495A-AF40-9BB1CE21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下一节：基金申报与Grant Agent。当前写作示例未投稿。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B873D-48AF-4649-BC73-D727CA1D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3394F-D4DB-4446-BC93-FD9258A1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34674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2026-10-18T03:40:01.8310000Z</dcterms:created>
  <dcterms:modified xsi:type="dcterms:W3CDTF">2026-10-18T03:40:01.8310000Z</dcterms:modified>
</coreProperties>
</file>