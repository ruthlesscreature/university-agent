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8f176f4e9748b5" /><Relationship Type="http://schemas.openxmlformats.org/officeDocument/2006/relationships/extended-properties" Target="/docProps/app.xml" Id="Rae383c5955b1405b" /><Relationship Type="http://schemas.openxmlformats.org/officeDocument/2006/relationships/officeDocument" Target="/ppt/presentation.xml" Id="R657c2494fb6d44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e08ff1da374e4b"/>
  </p:sldMasterIdLst>
  <p:notesMasterIdLst>
    <p:notesMasterId xmlns:r="http://schemas.openxmlformats.org/officeDocument/2006/relationships" r:id="R0c01fb84ca1441a2"/>
  </p:notesMasterIdLst>
  <p:sldIdLst>
    <p:sldId xmlns:r="http://schemas.openxmlformats.org/officeDocument/2006/relationships" id="256" r:id="R7807166e705a45d9"/>
    <p:sldId xmlns:r="http://schemas.openxmlformats.org/officeDocument/2006/relationships" id="257" r:id="R303981c344e04067"/>
    <p:sldId xmlns:r="http://schemas.openxmlformats.org/officeDocument/2006/relationships" id="258" r:id="R923e972c6d46415c"/>
    <p:sldId xmlns:r="http://schemas.openxmlformats.org/officeDocument/2006/relationships" id="259" r:id="R38572142178c4c40"/>
    <p:sldId xmlns:r="http://schemas.openxmlformats.org/officeDocument/2006/relationships" id="260" r:id="R85504807d00347e2"/>
    <p:sldId xmlns:r="http://schemas.openxmlformats.org/officeDocument/2006/relationships" id="261" r:id="R1702c82c53f54bf0"/>
    <p:sldId xmlns:r="http://schemas.openxmlformats.org/officeDocument/2006/relationships" id="262" r:id="R9fac9c903ffd4cc0"/>
    <p:sldId xmlns:r="http://schemas.openxmlformats.org/officeDocument/2006/relationships" id="263" r:id="R8965c4ee94f04b64"/>
    <p:sldId xmlns:r="http://schemas.openxmlformats.org/officeDocument/2006/relationships" id="264" r:id="R1d01da0c3da34056"/>
    <p:sldId xmlns:r="http://schemas.openxmlformats.org/officeDocument/2006/relationships" id="265" r:id="R8158d3c257494e59"/>
    <p:sldId xmlns:r="http://schemas.openxmlformats.org/officeDocument/2006/relationships" id="266" r:id="Rc2ec8b7db704475c"/>
    <p:sldId xmlns:r="http://schemas.openxmlformats.org/officeDocument/2006/relationships" id="267" r:id="Rb93c50b8aa254e7f"/>
    <p:sldId xmlns:r="http://schemas.openxmlformats.org/officeDocument/2006/relationships" id="268" r:id="R57a6201a43b74cf6"/>
    <p:sldId xmlns:r="http://schemas.openxmlformats.org/officeDocument/2006/relationships" id="269" r:id="Rd326f9c13d3b4214"/>
    <p:sldId xmlns:r="http://schemas.openxmlformats.org/officeDocument/2006/relationships" id="270" r:id="Rb8e50b1b373144d7"/>
    <p:sldId xmlns:r="http://schemas.openxmlformats.org/officeDocument/2006/relationships" id="271" r:id="R18b9195542da4612"/>
    <p:sldId xmlns:r="http://schemas.openxmlformats.org/officeDocument/2006/relationships" id="272" r:id="R24b734a6741442ae"/>
    <p:sldId xmlns:r="http://schemas.openxmlformats.org/officeDocument/2006/relationships" id="273" r:id="R5297881dd6534234"/>
    <p:sldId xmlns:r="http://schemas.openxmlformats.org/officeDocument/2006/relationships" id="274" r:id="R873d88386e794abc"/>
    <p:sldId xmlns:r="http://schemas.openxmlformats.org/officeDocument/2006/relationships" id="275" r:id="R79751862c5624c06"/>
    <p:sldId xmlns:r="http://schemas.openxmlformats.org/officeDocument/2006/relationships" id="276" r:id="Rd286e811e612421c"/>
    <p:sldId xmlns:r="http://schemas.openxmlformats.org/officeDocument/2006/relationships" id="277" r:id="R371cb59fed8b44ed"/>
    <p:sldId xmlns:r="http://schemas.openxmlformats.org/officeDocument/2006/relationships" id="278" r:id="R990593089b014e6b"/>
    <p:sldId xmlns:r="http://schemas.openxmlformats.org/officeDocument/2006/relationships" id="279" r:id="Rd28f0a4ca8c44cc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b9f16c0d9a4536" /><Relationship Type="http://schemas.openxmlformats.org/officeDocument/2006/relationships/slideMaster" Target="/ppt/slideMasters/slideMaster1.xml" Id="R19e08ff1da374e4b" /><Relationship Type="http://schemas.openxmlformats.org/officeDocument/2006/relationships/notesMaster" Target="/ppt/notesMasters/notesMaster1.xml" Id="R0c01fb84ca1441a2" /><Relationship Type="http://schemas.openxmlformats.org/officeDocument/2006/relationships/presProps" Target="/ppt/presProps.xml" Id="Ra4f7186504a14d2e" /><Relationship Type="http://schemas.openxmlformats.org/officeDocument/2006/relationships/tableStyles" Target="/ppt/tableStyles.xml" Id="R491e513d42894bfb" /><Relationship Type="http://schemas.openxmlformats.org/officeDocument/2006/relationships/slide" Target="/ppt/slides/slide1.xml" Id="R7807166e705a45d9" /><Relationship Type="http://schemas.openxmlformats.org/officeDocument/2006/relationships/slide" Target="/ppt/slides/slide2.xml" Id="R303981c344e04067" /><Relationship Type="http://schemas.openxmlformats.org/officeDocument/2006/relationships/slide" Target="/ppt/slides/slide3.xml" Id="R923e972c6d46415c" /><Relationship Type="http://schemas.openxmlformats.org/officeDocument/2006/relationships/slide" Target="/ppt/slides/slide4.xml" Id="R38572142178c4c40" /><Relationship Type="http://schemas.openxmlformats.org/officeDocument/2006/relationships/slide" Target="/ppt/slides/slide5.xml" Id="R85504807d00347e2" /><Relationship Type="http://schemas.openxmlformats.org/officeDocument/2006/relationships/slide" Target="/ppt/slides/slide6.xml" Id="R1702c82c53f54bf0" /><Relationship Type="http://schemas.openxmlformats.org/officeDocument/2006/relationships/slide" Target="/ppt/slides/slide7.xml" Id="R9fac9c903ffd4cc0" /><Relationship Type="http://schemas.openxmlformats.org/officeDocument/2006/relationships/slide" Target="/ppt/slides/slide8.xml" Id="R8965c4ee94f04b64" /><Relationship Type="http://schemas.openxmlformats.org/officeDocument/2006/relationships/slide" Target="/ppt/slides/slide9.xml" Id="R1d01da0c3da34056" /><Relationship Type="http://schemas.openxmlformats.org/officeDocument/2006/relationships/slide" Target="/ppt/slides/slide10.xml" Id="R8158d3c257494e59" /><Relationship Type="http://schemas.openxmlformats.org/officeDocument/2006/relationships/slide" Target="/ppt/slides/slide11.xml" Id="Rc2ec8b7db704475c" /><Relationship Type="http://schemas.openxmlformats.org/officeDocument/2006/relationships/slide" Target="/ppt/slides/slide12.xml" Id="Rb93c50b8aa254e7f" /><Relationship Type="http://schemas.openxmlformats.org/officeDocument/2006/relationships/slide" Target="/ppt/slides/slide13.xml" Id="R57a6201a43b74cf6" /><Relationship Type="http://schemas.openxmlformats.org/officeDocument/2006/relationships/slide" Target="/ppt/slides/slide14.xml" Id="Rd326f9c13d3b4214" /><Relationship Type="http://schemas.openxmlformats.org/officeDocument/2006/relationships/slide" Target="/ppt/slides/slide15.xml" Id="Rb8e50b1b373144d7" /><Relationship Type="http://schemas.openxmlformats.org/officeDocument/2006/relationships/slide" Target="/ppt/slides/slide16.xml" Id="R18b9195542da4612" /><Relationship Type="http://schemas.openxmlformats.org/officeDocument/2006/relationships/slide" Target="/ppt/slides/slide17.xml" Id="R24b734a6741442ae" /><Relationship Type="http://schemas.openxmlformats.org/officeDocument/2006/relationships/slide" Target="/ppt/slides/slide18.xml" Id="R5297881dd6534234" /><Relationship Type="http://schemas.openxmlformats.org/officeDocument/2006/relationships/slide" Target="/ppt/slides/slide19.xml" Id="R873d88386e794abc" /><Relationship Type="http://schemas.openxmlformats.org/officeDocument/2006/relationships/slide" Target="/ppt/slides/slide20.xml" Id="R79751862c5624c06" /><Relationship Type="http://schemas.openxmlformats.org/officeDocument/2006/relationships/slide" Target="/ppt/slides/slide21.xml" Id="Rd286e811e612421c" /><Relationship Type="http://schemas.openxmlformats.org/officeDocument/2006/relationships/slide" Target="/ppt/slides/slide22.xml" Id="R371cb59fed8b44ed" /><Relationship Type="http://schemas.openxmlformats.org/officeDocument/2006/relationships/slide" Target="/ppt/slides/slide23.xml" Id="R990593089b014e6b" /><Relationship Type="http://schemas.openxmlformats.org/officeDocument/2006/relationships/slide" Target="/ppt/slides/slide24.xml" Id="Rd28f0a4ca8c44c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c6ccac164448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bf8c9796a48b2" /><Relationship Type="http://schemas.openxmlformats.org/officeDocument/2006/relationships/notesMaster" Target="/ppt/notesMasters/notesMaster1.xml" Id="R0271f68358c140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4033833de842ef" /><Relationship Type="http://schemas.openxmlformats.org/officeDocument/2006/relationships/notesMaster" Target="/ppt/notesMasters/notesMaster1.xml" Id="R793f687a873843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0e2167c7814664" /><Relationship Type="http://schemas.openxmlformats.org/officeDocument/2006/relationships/notesMaster" Target="/ppt/notesMasters/notesMaster1.xml" Id="Rb1e3a3dab6c743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459cafcca4fb8" /><Relationship Type="http://schemas.openxmlformats.org/officeDocument/2006/relationships/notesMaster" Target="/ppt/notesMasters/notesMaster1.xml" Id="R69c421a4244f46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257d6927e4e1d" /><Relationship Type="http://schemas.openxmlformats.org/officeDocument/2006/relationships/notesMaster" Target="/ppt/notesMasters/notesMaster1.xml" Id="Rba0b4673c1ea43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6f38322c3144fb" /><Relationship Type="http://schemas.openxmlformats.org/officeDocument/2006/relationships/notesMaster" Target="/ppt/notesMasters/notesMaster1.xml" Id="R31c4bffc588c48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660a69156b46ba" /><Relationship Type="http://schemas.openxmlformats.org/officeDocument/2006/relationships/notesMaster" Target="/ppt/notesMasters/notesMaster1.xml" Id="R653503294a7d41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85ca4a4dee4549" /><Relationship Type="http://schemas.openxmlformats.org/officeDocument/2006/relationships/notesMaster" Target="/ppt/notesMasters/notesMaster1.xml" Id="R981f49a5d0bc4e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439c5819da4c55" /><Relationship Type="http://schemas.openxmlformats.org/officeDocument/2006/relationships/notesMaster" Target="/ppt/notesMasters/notesMaster1.xml" Id="Ra8a17fd0e40e45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ec6e84182e4056" /><Relationship Type="http://schemas.openxmlformats.org/officeDocument/2006/relationships/notesMaster" Target="/ppt/notesMasters/notesMaster1.xml" Id="Rbca256f880834b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7b599268124642" /><Relationship Type="http://schemas.openxmlformats.org/officeDocument/2006/relationships/notesMaster" Target="/ppt/notesMasters/notesMaster1.xml" Id="R43d031e64d5944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9c47d910334e30" /><Relationship Type="http://schemas.openxmlformats.org/officeDocument/2006/relationships/notesMaster" Target="/ppt/notesMasters/notesMaster1.xml" Id="Rc970a55c14914b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10fb420ca447b9" /><Relationship Type="http://schemas.openxmlformats.org/officeDocument/2006/relationships/notesMaster" Target="/ppt/notesMasters/notesMaster1.xml" Id="Rad320694b1914d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bc8fdbc1c74a9b" /><Relationship Type="http://schemas.openxmlformats.org/officeDocument/2006/relationships/notesMaster" Target="/ppt/notesMasters/notesMaster1.xml" Id="R99d55e8aad8c45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ab3c6b3c464f14" /><Relationship Type="http://schemas.openxmlformats.org/officeDocument/2006/relationships/notesMaster" Target="/ppt/notesMasters/notesMaster1.xml" Id="Rc37251eed40146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78a18bbcf94b08" /><Relationship Type="http://schemas.openxmlformats.org/officeDocument/2006/relationships/notesMaster" Target="/ppt/notesMasters/notesMaster1.xml" Id="R55085622a5c548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827fdba7554571" /><Relationship Type="http://schemas.openxmlformats.org/officeDocument/2006/relationships/notesMaster" Target="/ppt/notesMasters/notesMaster1.xml" Id="R858097f416fe46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01d79d4d584ff2" /><Relationship Type="http://schemas.openxmlformats.org/officeDocument/2006/relationships/notesMaster" Target="/ppt/notesMasters/notesMaster1.xml" Id="R9af63c11688b4a5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80a8d7300c4645" /><Relationship Type="http://schemas.openxmlformats.org/officeDocument/2006/relationships/notesMaster" Target="/ppt/notesMasters/notesMaster1.xml" Id="Rf33494ea5fdd4e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419fd33c624cd3" /><Relationship Type="http://schemas.openxmlformats.org/officeDocument/2006/relationships/notesMaster" Target="/ppt/notesMasters/notesMaster1.xml" Id="Rf5d10ab22a7644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6b0b055e3b1429e" /><Relationship Type="http://schemas.openxmlformats.org/officeDocument/2006/relationships/notesMaster" Target="/ppt/notesMasters/notesMaster1.xml" Id="R43f555bd613b42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53df30da46483a" /><Relationship Type="http://schemas.openxmlformats.org/officeDocument/2006/relationships/notesMaster" Target="/ppt/notesMasters/notesMaster1.xml" Id="R046be97f41ef4d3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4f7ca827bb430a" /><Relationship Type="http://schemas.openxmlformats.org/officeDocument/2006/relationships/notesMaster" Target="/ppt/notesMasters/notesMaster1.xml" Id="Rdb4e5dfb276347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ad3378c1e042f3" /><Relationship Type="http://schemas.openxmlformats.org/officeDocument/2006/relationships/notesMaster" Target="/ppt/notesMasters/notesMaster1.xml" Id="Rf119ed6ca5464e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本节依次讲检索、原文阅读、多篇研究比较及综述表达。例子包括AI教育研究，也包括一般引用核对。工具用于对应步骤，不把工具名称当成方法。两篇公开研究只用于比较教学，未开展系统综述。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综述类型不只这几种，此处按教学目的解释差别。不能把若干工具搜出的前几条结果改名为系统综述。PRISMA提供报告要求，不能代替检索、偏倚评估或科学判断。具体综述规范应按学科和研究类型选择。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以AI辅助学习为教学示例。不同论文可能使用不同工具名和术语。人口或测量词加入太早可能漏掉相关研究，因此可先宽后窄。检索概念不必机械塞满研究问题的所有条件。中文库和英文库分别调整词汇。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通用结构示例，不宣称各库语法相同。PubMed支持布尔逻辑，短语、截词和字段标签有其规则；在其他数据库中需查看帮助。先用已知相关论文检验检索式能否找到，再根据漏检扩词。NOT可能把同时讨论两个主题的相关研究排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assets/pubmed.png由本机无登录浏览器实际访问公开PubMed查询后截图。检索词为"generative AI" learning。截图中的结果数仅代表访问时页面，不作为领域趋势或完整覆盖的证据。PubMed偏生命科学与医学相关文献，不能代表全部教育研究。没有用模拟HTML重画界面。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也应包含文献类型、时间窗、语言限制和全文获取状态。真实的公开网页试查与完整领域检索要区分。本节附件中的search-log.json记录了实际PubMed页面查询，另存的教学检索式尚未作为完整方案运行，不能把其预期结果数填写成实际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种路径看作补充。检索相似不等于研究结论相同。语义系统的结果要回原文判断；引文数量高也不能证明方法可靠。研究原理保持概念层，不讲向量计算细节。UCL课件只借鉴检索路径的组织，具体工具功能另看官方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Connected Papers官方检索片段明确其不是引用树。本页为关系含义示意，使用论文甲乙丙丁符号，不是假称软件返回了这几篇论文。相似关系和实际引用方向必须区分。由种子论文扩展仍受数据库覆盖和种子选择影响。尚未在Connected Papers执行本课程题目的图谱查询。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Connected Papers. About</a:t>
            </a:r>
          </a:p>
          <a:p xmlns:a="http://schemas.openxmlformats.org/drawingml/2006/main">
            <a:r>
              <a:t>https://www.connectedpapers.com/about</a:t>
            </a:r>
          </a:p>
          <a:p xmlns:a="http://schemas.openxmlformats.org/drawingml/2006/main">
            <a:r>
              <a:t>定位：官方检索片段说明not a citation tree；本次未取得完整JS页面，功能仅保留关联发现的有限说明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官方帮助页2026-09-30变更：旧工具独立入口取消，能力并入Research Agent；旧会话可读和导出，新工作进入Agent。截图为官方帮助页，不是本项目付费模型运行。课堂讲功能和材料流转，不照旧截图逐按钮注册。功能、套餐与界面可能继续更新，演示前需复查。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Elicit. Where did Find Papers, Extract Data, and Chat with Papers go?</a:t>
            </a:r>
          </a:p>
          <a:p xmlns:a="http://schemas.openxmlformats.org/drawingml/2006/main">
            <a:r>
              <a:t>https://support.elicit.com/en/articles/17220397-where-did-find-papers-extract-data-and-chat-with-papers-go</a:t>
            </a:r>
          </a:p>
          <a:p xmlns:a="http://schemas.openxmlformats.org/drawingml/2006/main">
            <a:r>
              <a:t>定位：官方变更说明及How to do the same work now；页面截图2026-10-17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ensus官方说明使用关键词与语义结合的搜索，并提供带引文综合。本页不承诺任何引文一定正确或结论全面。投票式同意比例不能代替研究质量与可比性判断。要区分系统搜索到的材料和没有检索到的研究，不把生成摘要当作原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Consensus. How Consensus Works</a:t>
            </a:r>
          </a:p>
          <a:p xmlns:a="http://schemas.openxmlformats.org/drawingml/2006/main">
            <a:r>
              <a:t>https://help.consensus.app/en/articles/9922673-how-consensus-works</a:t>
            </a:r>
          </a:p>
          <a:p xmlns:a="http://schemas.openxmlformats.org/drawingml/2006/main">
            <a:r>
              <a:t>定位：How does a Consensus search work?、How does Consensus analyze the research?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官方FAQ说明AI相关功能、引用、检索与Semantic Reader。这里不把辅助摘要复述成作者原结论，不承诺每篇都提供完整全文或相同功能。建议在条目中定位DOI，再到出版商或合法开放版本核对。实际功能以访问时页面为准。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otero可通过DOI等标识符添加条目，集合可以共享同一条目的引用，附件和笔记依附条目。导入不是核验完成，尤其留意作者、年份、文章类型、页码与DOI。文献导出和Word插件可整理引文格式，但不能判断引文支持了什么主张。没有伪造本机已打开的Zotero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Zotero. The Basics</a:t>
            </a:r>
          </a:p>
          <a:p xmlns:a="http://schemas.openxmlformats.org/drawingml/2006/main">
            <a:r>
              <a:t>https://www.zotero.org/support/quick_start_guide</a:t>
            </a:r>
          </a:p>
          <a:p xmlns:a="http://schemas.openxmlformats.org/drawingml/2006/main">
            <a:r>
              <a:t>定位：Collections、Attachments、Add Item by Identifier、Word Processor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比较DOI、题名、作者和出版信息。预印本与正式论文的标题可能变化，结果也可能改变；不应只按字符串相似就删。更正、撤稿通知和补充材料不能当重复论文随意去掉。重复报告同一研究时，综合阶段还需避免把同一数据算作多项独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无计数流程示意，没有伪造PRISMA筛选数量。若报告系统综述，需要按适用规范记录各阶段数量及排除原因。全文未获得时，不把摘要描述当成完整方法评估。筛选由谁完成、AI如何参与以及抽查办法应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可以往返，不能只看摘要末句。对于实证研究，方法决定结果能够支持什么判断。图表和正文数值不一致时先追查定义、样本和补充材料。理论、质性与方法论文应按其论证结构调整，不强求统一量化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以Bastani等作为原文提取示范。本页不重复大量数值，重在信息定位。正文中“练习成绩”和“独立测验”不能混成同一结果。教学表用中文转述，XML原文实际来自Europe PMC对应全文，DOI与文章身份另有登记。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两篇文章均实际读取原文。Kestin研究在Harvard PS2课程进行，233名注册学生中194人符合纳入条件，采用两组交叉内容安排；本页只保留设计区别，不把样本数直接做效果大小比较。两项研究并不互为简单重复，不能按标题的“有害/更优”投票。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对两篇研究设计的比较性解释，不声称已经证明所有差异的原因。测量与对照不同，不能直接推出哪个研究正确或哪个模型更好。不做缺少共同效应量、方差和设计处理的元分析。需要新研究时先明确究竟比较哪一个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教学证据矩阵附件含两篇研究的设计和结论限定，字段不强迫填满。原文没有报告的信息写未报告或待核查，不能根据常识补出样本标准差或实验参数。用AI提取时要求返回依据位置和缺失状态，再做人工核对。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前段为课程编写的空泛例句，后段为基于两篇真实论文的教学综述草稿。正式论文还需完整检索、方法评价和准确引文，不能把两篇案例段落称为领域共识。段落没有声称哪一种机制已经得到证明。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I解析成功只说明标识符对应记录，不能证明该段主张成立。当前附件登记两篇论文身份和已读章节，未作全面撤稿监测，状态单独注明待核查。实际科研投稿前需按当时出版商更新和适用数据库复查。不能把引用格式检查说成科学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课程编写的待核查断言，故意使用过宽范围，并非真实领域结论。Kestin等公开研究已经在本科入门物理中开展随机对照，因此这一断言不能成立。研究者需要检查原文，然后重新界定问题。限定到某课程或延后测量后仍需继续检索，不能据此宣称找到了空白或证明没有人研究。反证检索应包括同义词、前后引文与近期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流程示意，不是模型已运行的截图。可以在本地Codex中按文献发现、文献综合和引用核验技能处理材料；技能定义存在不等于各服务账号、检索API或全文解析都已接入。本节实际完成公开材料获取、两个网页截图、两篇原文读取和课程证据表，未运行多数据库系统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本节交付两篇比较案例的材料索引、检索记录、证据矩阵与综述示例，保留范围说明。进入Section 6研究设计时，未决问题要继续处理，不能把文献表做完视为研究设计成立。没有课堂作业或学员提交环节。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c363fd0f248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014cb01d540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e4e5b608c4a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60bed20a849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1a53aef654c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4591a082c4d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7007CA-8772-4C5B-8888-290D02DBB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B248CF-54D2-43A4-8ADF-0FEA27E9AF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D4EF73-2093-4DFA-827F-76E679B92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F03AC3-69B2-4AF4-BCB1-5011C503B1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113189-E164-4CC9-A9EC-88424313D6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D9A7DD-1D71-4CDB-B83B-03D586554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A03F27-81C5-4ABE-9D22-BC0533659D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CFA061-495B-4D49-9E31-9FE527BAC3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8EA6AF-0450-433B-AC0B-2AD7ECB43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7A690B-347B-45C7-A6EF-762CFB348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54d9ec93be4c4d" /><Relationship Type="http://schemas.openxmlformats.org/officeDocument/2006/relationships/slideLayout" Target="/ppt/slideLayouts/slideLayout1.xml" Id="Ra31ce811bdd54ec0" /><Relationship Type="http://schemas.openxmlformats.org/officeDocument/2006/relationships/slideLayout" Target="/ppt/slideLayouts/slideLayout2.xml" Id="R105fa527990a4cd5" /><Relationship Type="http://schemas.openxmlformats.org/officeDocument/2006/relationships/slideLayout" Target="/ppt/slideLayouts/slideLayout3.xml" Id="Rbde05a01b56d41cb" /><Relationship Type="http://schemas.openxmlformats.org/officeDocument/2006/relationships/slideLayout" Target="/ppt/slideLayouts/slideLayout4.xml" Id="R859c8e2b6bce4dc7" /><Relationship Type="http://schemas.openxmlformats.org/officeDocument/2006/relationships/slideLayout" Target="/ppt/slideLayouts/slideLayout5.xml" Id="R8e652d6d80dc4fa2" /><Relationship Type="http://schemas.openxmlformats.org/officeDocument/2006/relationships/slideLayout" Target="/ppt/slideLayouts/slideLayout6.xml" Id="R7505e54727a340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1ce811bdd54ec0"/>
    <p:sldLayoutId xmlns:r="http://schemas.openxmlformats.org/officeDocument/2006/relationships" id="2147483650" r:id="R105fa527990a4cd5"/>
    <p:sldLayoutId xmlns:r="http://schemas.openxmlformats.org/officeDocument/2006/relationships" id="2147483651" r:id="Rbde05a01b56d41cb"/>
    <p:sldLayoutId xmlns:r="http://schemas.openxmlformats.org/officeDocument/2006/relationships" id="2147483652" r:id="R859c8e2b6bce4dc7"/>
    <p:sldLayoutId xmlns:r="http://schemas.openxmlformats.org/officeDocument/2006/relationships" id="2147483653" r:id="R8e652d6d80dc4fa2"/>
    <p:sldLayoutId xmlns:r="http://schemas.openxmlformats.org/officeDocument/2006/relationships" id="2147483654" r:id="R7505e54727a340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d9369e43d498d" /><Relationship Type="http://schemas.openxmlformats.org/officeDocument/2006/relationships/notesSlide" Target="/ppt/notesSlides/notesSlide1.xml" Id="R851b719dfcec45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bf9d8aa774722" /><Relationship Type="http://schemas.openxmlformats.org/officeDocument/2006/relationships/notesSlide" Target="/ppt/notesSlides/notesSlide2.xml" Id="R3e4352abbec144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5487396bc4036" /><Relationship Type="http://schemas.openxmlformats.org/officeDocument/2006/relationships/notesSlide" Target="/ppt/notesSlides/notesSlide3.xml" Id="Rc19b19f272ff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febdc6ac414c81" /><Relationship Type="http://schemas.openxmlformats.org/officeDocument/2006/relationships/notesSlide" Target="/ppt/notesSlides/notesSlide4.xml" Id="R48d64b15c24542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959c703d34e7f" /><Relationship Type="http://schemas.openxmlformats.org/officeDocument/2006/relationships/image" Target="/ppt/media/image.png" Id="R6594ee4e6baf4d6d" /><Relationship Type="http://schemas.openxmlformats.org/officeDocument/2006/relationships/notesSlide" Target="/ppt/notesSlides/notesSlide5.xml" Id="R0e59a1fe14a74c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520f0f9474afd" /><Relationship Type="http://schemas.openxmlformats.org/officeDocument/2006/relationships/notesSlide" Target="/ppt/notesSlides/notesSlide6.xml" Id="R4a9935bc826c45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ee1740fec4001" /><Relationship Type="http://schemas.openxmlformats.org/officeDocument/2006/relationships/notesSlide" Target="/ppt/notesSlides/notesSlide7.xml" Id="R82babc9ca1aa44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ad599acfb4170" /><Relationship Type="http://schemas.openxmlformats.org/officeDocument/2006/relationships/notesSlide" Target="/ppt/notesSlides/notesSlide8.xml" Id="R93fd3c5c597546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b049d5dad44a67" /><Relationship Type="http://schemas.openxmlformats.org/officeDocument/2006/relationships/image" Target="/ppt/media/image2.png" Id="R6b5166b4cc2f4963" /><Relationship Type="http://schemas.openxmlformats.org/officeDocument/2006/relationships/notesSlide" Target="/ppt/notesSlides/notesSlide9.xml" Id="R864df05eaa8e44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b5774675c41f1" /><Relationship Type="http://schemas.openxmlformats.org/officeDocument/2006/relationships/notesSlide" Target="/ppt/notesSlides/notesSlide10.xml" Id="Rc788df30521e4e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d28070cc64dd2" /><Relationship Type="http://schemas.openxmlformats.org/officeDocument/2006/relationships/notesSlide" Target="/ppt/notesSlides/notesSlide11.xml" Id="R43bb50f7b0b540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48188b59a4929" /><Relationship Type="http://schemas.openxmlformats.org/officeDocument/2006/relationships/notesSlide" Target="/ppt/notesSlides/notesSlide12.xml" Id="Rba75b79706b940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99bbcd4704550" /><Relationship Type="http://schemas.openxmlformats.org/officeDocument/2006/relationships/notesSlide" Target="/ppt/notesSlides/notesSlide13.xml" Id="Ra0face91a15043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ee6126cf14886" /><Relationship Type="http://schemas.openxmlformats.org/officeDocument/2006/relationships/notesSlide" Target="/ppt/notesSlides/notesSlide14.xml" Id="R38af3273b0084d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197dea09648e0" /><Relationship Type="http://schemas.openxmlformats.org/officeDocument/2006/relationships/notesSlide" Target="/ppt/notesSlides/notesSlide15.xml" Id="R5c03cada948e43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963895f0447b8" /><Relationship Type="http://schemas.openxmlformats.org/officeDocument/2006/relationships/notesSlide" Target="/ppt/notesSlides/notesSlide16.xml" Id="R415aff4cea494e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8603662f54560" /><Relationship Type="http://schemas.openxmlformats.org/officeDocument/2006/relationships/notesSlide" Target="/ppt/notesSlides/notesSlide17.xml" Id="R4f0536a1e54445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eba14f86904eea" /><Relationship Type="http://schemas.openxmlformats.org/officeDocument/2006/relationships/notesSlide" Target="/ppt/notesSlides/notesSlide18.xml" Id="R79dc7e66df0c46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fa88b13e0e4395" /><Relationship Type="http://schemas.openxmlformats.org/officeDocument/2006/relationships/notesSlide" Target="/ppt/notesSlides/notesSlide19.xml" Id="R683eb4fc014140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1f523eb354372" /><Relationship Type="http://schemas.openxmlformats.org/officeDocument/2006/relationships/notesSlide" Target="/ppt/notesSlides/notesSlide20.xml" Id="R4b77f0d9418747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d021ad6c948f1" /><Relationship Type="http://schemas.openxmlformats.org/officeDocument/2006/relationships/notesSlide" Target="/ppt/notesSlides/notesSlide21.xml" Id="Radd033dfbc5b4e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462b4ec83469e" /><Relationship Type="http://schemas.openxmlformats.org/officeDocument/2006/relationships/notesSlide" Target="/ppt/notesSlides/notesSlide22.xml" Id="Rd92f60adeb9b46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a365f49ff4bc9" /><Relationship Type="http://schemas.openxmlformats.org/officeDocument/2006/relationships/notesSlide" Target="/ppt/notesSlides/notesSlide23.xml" Id="Rc3d8277f662f4d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89a5e66af486f" /><Relationship Type="http://schemas.openxmlformats.org/officeDocument/2006/relationships/notesSlide" Target="/ppt/notesSlides/notesSlide24.xml" Id="R9bba38dde27a4e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7D110-CB45-497D-B937-D451D961829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9868F-6E33-41A5-B05B-E1F0D0BCC9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4EC92-7194-4AF7-BA84-A8832F15F48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89940-52BE-4A39-A06F-C2592D5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07757-0992-488A-9B15-949C727F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文献检索、阅读与综述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15567-47DE-4A61-A744-86C8AE33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D9A36-5A54-4299-B3C6-D80AB8A1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科研问题需要一组可追溯的研究材料，文献工作要留下找到、读懂和比较的依据。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B4773-DBCA-4C4F-A791-AAB40873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F4F19-A196-4E4C-98E8-B6A79F8B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检索与追踪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3129C-D17A-41E7-AC56-14ED0325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原文与证据表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2E535-5B99-483C-B4DF-D88C9130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综述与引文核对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9355D-880F-4B01-A5CA-70501B75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D1463-0393-4BDA-B9E4-98B15878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保存检索记录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C1D0A-5516-4786-9265-1EF4BEC1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标出原文位置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7C7C2-0B80-429E-AEC2-1CD498C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按问题组织结论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401DF-C610-4A35-8893-C21AAEB6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69511-CB23-44BB-9A0D-80F2DEDF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研究者需要能解释：为什么选这些研究，哪些判断来自原文，哪些仍是推断。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A5D85-11D5-4C74-AFFB-07EEAD8A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交付材料：检索记录、文献条目、证据表、综述草稿和未决问题。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16E1B-F6DA-4722-BDB8-69722E9B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DF4B4-2155-4526-A81C-A407CF3B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3365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87F0-7420-4592-B6DE-931062AA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D114D-EEA7-47F2-9D7B-EE76DB2C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综述目的与检索范围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C193C-B756-4343-A293-EA54EE6D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208CB-D6E2-48A1-8519-37F8C2B6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为选题了解背景，与系统回答一个限定问题，需要的检索范围和记录强度不同。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BA3CC-AF2D-458D-AEF0-875E3F1D507D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背景了解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掌握概念、主要观点与代表性研究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范围说明清楚，保留代表性来源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围绕一个问题比较多类研究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交代选择逻辑和未覆盖范围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按预设方案检索、筛选与综合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完整报告方法、排除理由与流程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42CD6-2DBF-4975-AD03-5AF9F21D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选择哪类综述，应由研究问题、时间和方法要求决定。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87AD1-C864-44C1-A0DA-B94D7DE7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AC409-0E9E-41C6-951E-6503EC7D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3276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5B2F6-BD4B-41A2-8E2D-05F90973403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659606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D7327-A995-4E69-A09C-F0ACA279FAC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119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F5D2A-FFA0-4742-8419-E76132302B8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48250" y="36433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30226-CFF5-4B94-B553-FAA8E636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33A6D-FC7E-44F1-A662-8CB420AD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研究问题中的检索概念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E31E6-7FE1-4289-9B20-7F6495D3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F1062-1D4A-4E91-910F-68C667F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先找必须同时出现的概念，再扩展同义表达。结果测量可以留到筛选阶段细分。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504CD-763F-4C1D-BD73-DDAA9839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5B620-F0BF-4465-A3A3-23947A4B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generative AI、LLM、ChatGPT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F048F-5F6D-405C-8C55-4790E94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学习／教学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CF14B-314A-4147-93AB-ED9EAF2D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learning、education、tutor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EE70A-514F-4D07-9FFD-7D7B43C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目标情境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16F09-D73F-4E77-943E-F0582ED1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9125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本科／高中／具体课程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BA666-4BFA-43B1-8F4F-CAECFD32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教学检索式需在所用数据库中试查，不能直接当作完整领域检索。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01C05-F652-486E-9401-DBAD6D33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64B2D-55FF-4333-B014-366FE7D1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9343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7444C-172A-4BED-9047-AA7079D2353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8FBB6-7E25-4946-8E90-EF1196B1D91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CE8FD-0E8B-416C-9AEC-131DAB5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233F9-59AB-4542-A0E7-ECA1C84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同义词与概念的组合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0ACE1-77C0-4914-9883-93C020C7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80725-1FA6-4C24-86C8-D8906726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OR扩展一个概念，AND连接不同概念。排除词可能误删相关研究。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5B1DD-DEFC-4D9B-B8E2-5F28D2D4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("generative AI" OR "large language model" OR ChatGPT)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(learning OR education OR tutor*)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1D9E2-EFDD-4096-BDB6-683A8E5F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一个概念内扩展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78FD0-29E8-4AE1-AE4F-33C05AC7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概念之间相交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133FC-9012-41B2-816A-44350D9E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试查并检查遗漏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CE41F-6835-4F0C-B3D2-B08B9D30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58A18-6072-4049-A9B7-75BB9D86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3EE20-4214-4CA2-9265-F13789B0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慎用NOT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A87B2-379B-413D-A8C7-31B221B9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先用已知相关论文检查检索式，再记录调整理由。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05A1D-D633-4BB0-9991-AB594F83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55C19-2228-492E-8337-9CF943AE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2485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E20F4-9514-455D-AEDF-5ADEE9B8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C0401-BFA8-49D3-AD8A-BB2CAAB6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真实检索页：结果排序与范围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BFCF3-9272-4B97-A774-E24BAC2A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E6C5B-6DD0-4C56-B9AD-A2AE8612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一个宽泛查询会混入不同学科和文章类型。前几条结果需要逐条判断。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BE401-E6A2-43AF-B324-3687860A8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4ee4e6baf4d6d"/>
          <a:stretch xmlns:a="http://schemas.openxmlformats.org/drawingml/2006/main"/>
        </p:blipFill>
        <p:spPr>
          <a:xfrm xmlns:a="http://schemas.openxmlformats.org/drawingml/2006/main">
            <a:off x="1091045" y="2952750"/>
            <a:ext cx="848590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FD46F-D059-426C-B7AE-1B1EFC08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B31F5-7A12-4853-B545-71D05069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查询："generative AI"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2E207-57CF-4542-8F89-630E7419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BF4A3-7C92-47D5-8320-2BA81B05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Best match排序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需要另查研究质量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1B653-4D60-433C-A67D-C27141F7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F9870-6185-4786-9F0E-1741BA49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此处仅示范PubMed界面，教育主题还需补查学科数据库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9D9F4-D8E5-4E6F-A392-4D79F683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实际公开网页截图，2026-10-17；结果数会随数据库更新变化。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470F6-2DDE-4B2A-9086-EF72D12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B664E-D567-4F04-8D67-0F273993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3505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489D2-3802-4B33-8CD5-203F8181967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5045A-70DD-43E7-B95B-A01A79595E1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E6AC6-B124-49B1-B3A4-A0380ABF68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DEBCF-8B5B-497A-8F78-D709D529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15D5B-C4DB-49EE-862A-B7FC654B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检索记录中的必要信息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CCDA1-7751-42BD-808E-196050D5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0BCDB-C47F-4E9D-8EE2-9AF0952D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仅保存论文列表，通常不能复查它们是怎样被找到和筛选的。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BAAC8-B1A5-4548-8561-37F2950B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数据库与日期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122EF-2736-4A1B-9C27-4028EA3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完整检索式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640B0-29E3-489F-9FD0-38029F1E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筛选与导出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C8FCB-7DAB-4A5E-AED1-A0034573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11656-9BE0-4646-AAA9-D013D4A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写明平台和覆盖范围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05A63-CD6A-41B8-8D14-4B167034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保留字段、筛选条件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64A89-49D4-444C-A317-E3A9E123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记录文件名与排除理由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99880-3326-402F-8AE2-A529CFDB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版本、原因和新增来源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54A80-3AC5-46B9-BA21-28C5A323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9BE4C-72FE-481C-A738-56414771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记录实例：原始查询、网页实录与候选材料可以相互对应；预设查询另标待试查。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8DB6A-82E3-4135-818C-15DEE77E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没有执行的查询标为待试查；无法获得全文的条目单独记录。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6C7F3-28C4-4F7E-B01F-51F105D5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B7472-EF61-4333-ADA1-9C790200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5797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FA47B-28CA-4FF7-8608-301F8DDD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F5C0F-AD4F-44CF-BCF2-B2E2DF54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关键词、语义与引文追踪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192F5-10CD-41C7-9C62-F0577E92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B1FD0-C0DA-47C3-B59E-51AE572C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关键词匹配可控制表达，语义检索发现近义内容，引文追踪补充前后关联研究。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50FE9-E8F0-4D23-92C2-614EEE068C06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术语、字段、短语与逻辑组合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检索式便于记录和修订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用自然语言描述问题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相关性仍取决于问题解释和收录范围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引文追踪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参考文献与后续引用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补查基础研究及后续检验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401D2-817D-44E7-9336-CED6FBCE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不同路径可能找到不同材料，合并后还要去重和筛选。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1F6DD-BDDC-4002-8728-27E3E52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Thomas，2025，原始工作坊课件；Semantic Scholar官方FAQ；课程方法说明／教学示例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29309-238D-4B62-9D7D-D2D9925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3519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ED004-BD51-49C0-9F07-35C2C607DB4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334500" y="4881563"/>
            <a:ext cx="20002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B66EC-9A4E-4FC4-87F0-E5D2498172C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34500" y="3548063"/>
            <a:ext cx="20002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B22C4-625A-41C6-8E59-2D94846388F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05250" y="4976813"/>
            <a:ext cx="22860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32FFB-E091-4D82-9B9C-DDD044EC6F0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905250" y="3548063"/>
            <a:ext cx="22860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7E433-16ED-4362-8A63-DC54A10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064ED-D732-43B1-8612-756D5F8B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Connected Papers与引文图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4F29C-4B65-4CAA-A2C9-DB9BE81B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07FF3-A628-4475-B072-6963462F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关联图帮助寻找相近论文，图上的邻近关系需要回论文确认。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072A7-35B7-4316-A2B8-6C40F14E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种子论文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81894-3CD7-41FF-9A51-23A4ACB4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D510B-FB5E-436B-8E4D-52D9EC1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68CA6-6ED3-49DC-8A45-6F7E858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243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24C9E-89DF-4226-8EFC-5BED4E38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相似关系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C21C5-EAFA-49C9-BCAB-7C146B8C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邻近表示关联线索，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不能据此判定互相引用。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2847B-B1B4-4150-9C88-158E292B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实际引用另核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585D3-2B6C-473C-AE20-BEF0C89A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0087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参考文献和被引记录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用于查明引用方向。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C2BD5-D314-4158-B9AF-3AF51B45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可编辑关系示意，非Connected Papers执行截图；节点不代表真实文献。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24CA1-7411-4655-8BF6-D567ECE1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来源：Connected Papers官方About；课程方法说明／教学示例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26DFC-9921-4606-ACD6-CBA7E776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0163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44A09-877B-4232-86FE-5B8DDE9D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539CC-3A25-4536-AEB3-AE81D204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Elicit入口的现行变化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36387-B05E-42F4-92AF-2FB82231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D5780-53D1-44E9-9C9F-6613D8EF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独立的Find Papers、Extract Data和Chat with Papers已并入Research Agent工作流。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7B304-A03C-4F0C-A469-B3D85A965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166b4cc2f4963"/>
          <a:stretch xmlns:a="http://schemas.openxmlformats.org/drawingml/2006/main"/>
        </p:blipFill>
        <p:spPr>
          <a:xfrm xmlns:a="http://schemas.openxmlformats.org/drawingml/2006/main">
            <a:off x="762000" y="3960495"/>
            <a:ext cx="9144000" cy="26517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B2EAD-ED1F-4652-B56A-94DE6E61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A6868-5C4A-4AEE-A910-F06DEFA9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官方变更日期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2026-09-30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24859-B01B-4E7B-B155-D1753562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0C732-017F-4C21-B079-D1634C8F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新任务在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Research Agent中开始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22FE8-F4C6-469C-9241-1D972249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CA113-25F2-4DAE-9356-91C34CF5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检索、提取和提问仍要核对来源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9D57A-662B-449E-8246-ECF18DD1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Elicit官方帮助页实录，2026-10-17；不是本项目Agent执行记录。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F7937-A288-4C14-B0D4-8104FB98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来源：Elicit官方说明，2026-09-30入口变更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CBFE5-8036-477A-BE09-C3396129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6004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AB4FF-EB84-4B6C-8E23-9927D1B6D98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BEF0D-5967-46EB-8DD3-4D5D1DD537E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76BBA-A6FB-4C6F-8043-6B7CCBC633E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ADA9D-6854-45F8-B7C1-D5552F0E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83C76-A50B-4E6C-8A3B-4BC41FED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带引文的答案怎样核对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70CBA-7C66-4EA5-9083-59B311B8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08F13-DA81-4A30-8DFA-B325CCDC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Consensus等工具可把检索与答案组织放在一起。引文链接只是核对的入口。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57624-BBDF-4EA2-9182-26023B21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自然语言问题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32034-6983-4E95-8D26-D792C619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检索到的研究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9726C-4707-4FBB-A858-8019FB81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带引文的综合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F428A-FE18-4221-991F-1E96E03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回原文检查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3630F-7966-41AC-BA6A-14BF97B2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说明对象与条件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4467C-4382-47BA-849A-EFD87B37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核对相关性和覆盖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BB417-5274-4E0C-AC19-D2A3CFE5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定位每个主要判断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14D7B-BE31-4BCE-9958-26921B4F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看设计、结果与限制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539EA-E25D-4DF6-84BA-D168C48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C662B-1482-44C1-B7D3-B724F048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核对顺序：先看引用了哪篇，再看原文是否包含该判断，最后检查条件有没有被省略。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24E8C-2E1C-48EE-977A-BA0006C2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模型给出的“多数支持”仍需检查分母、筛选范围和研究是否可比较。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7B185-9385-46C3-A6E0-F1943975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来源：Consensus官方说明，2026-09-10；课程方法说明／教学示例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69EB3-F615-43D8-9FBE-9851E31E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17998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DBBCD-00F0-4614-9217-37ACE9D1530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2E62C-0C90-4A23-80AD-E0519A52099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AD08D-054B-4241-A3E0-8F360A5681D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1343C-D628-4BD2-A18D-6DA77A38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05B7B-3606-41E7-9A3B-F43151B3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Semantic Scholar中的发现与阅读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C3552-A403-4309-B73B-07EFB931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0EE72-CDCB-4211-BF5E-AA7EC9C5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论文条目、引用关系和辅助阅读信息可帮助定位材料，短摘要只适合初筛。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E0B1-999E-447D-BD77-B71BD565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FEFF0-95B3-4750-BD1E-A053DD38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引用与被引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73DEF-CEDA-4021-9DF3-4BAB614C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寻找前后研究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12441-AB57-4911-9901-E991F775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原文链接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AED36-73F3-44D0-AFB0-FE7FAF38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检查可获取版本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B90D1-5BB5-42AB-A530-2362DDA2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辅助摘要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D51FE-A42A-4377-BB77-2121E742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回正文补足条件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268DC-8934-4060-98DD-2CEFF25A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核对题名与作者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50D86-087B-4C8A-ADBC-2439F418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辅助阅读信息可节省定位时间，关键主张仍需原文位置。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CFC25-3982-414C-8FDC-C3D7A3DB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来源：Semantic Scholar官方FAQ；课程方法说明／教学示例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77F16-BB39-497C-8902-F09576A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216172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8DE6B-7E75-4F1A-92CE-529AD436622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7E648-068F-468F-8A93-D7F190C4B17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394C7-B389-417C-BB7E-1B6FE576DC0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00467-4E25-4616-9E30-434A8BE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DEADD-53E5-4F8F-A624-0274C09F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Zotero中的条目、附件与笔记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A3745-2068-4F39-81B3-62C61538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53208-C983-4C9B-BE14-CB41566C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文献条目保存身份信息，附件保存原文，笔记保存阅读判断与证据位置。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56E75-041B-448F-BD8B-EBD3F41B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EC3C3-090B-4ED5-9A32-617E21D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题名／作者／DOI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8E67B-D22F-4B80-9211-D3AD03D8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核对自动获取的元数据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CF1D9-A292-444A-B6C0-4C3A563F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原文与补充材料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8D2E5-2C32-445E-A21F-C31B19D8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记录版本及获取来源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B54F2-FAAE-4494-A766-43D0ACCF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带位置的阅读笔记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B46BA-0F93-4EAA-AEBF-667DCC0E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区分原文与自己的推断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F2F72-E665-4665-9EBD-55218BC8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同一条目可属于多个集合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1FC6F-C5FB-4E27-A454-BF676B7B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文献管理解决保存与引用问题，条目仍需对照出版记录核查。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35F1A-133B-41AC-AF67-ACBA817F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来源：Zotero官方使用说明；课程方法说明／教学示例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8591E-C94C-4E0E-BF11-F041045F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471303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F1A8D-EF85-4443-A64F-4E43E6864D2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18836-217D-44CC-A0A8-B941653A9F6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5715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58DE3-1CFA-4340-ACE6-7A9C851AFF1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53000" y="4905375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ABA9C-1F8A-4E2E-BDB6-DC5F7153F9B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953000" y="3595688"/>
            <a:ext cx="209550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E6BC9-C3AC-4424-98A0-229378B5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11200-E929-4C0F-B23D-98A450CE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去重与版本关系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25C8A-B85B-49D6-86E3-7D0A6709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BD03C-EC86-456C-A53F-A6810649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题名接近的记录可能是重复导入，也可能是预印本、正式论文或更正通知。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41864-94D1-42A4-9E0B-59589AF2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记录疑似重复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D1513-E42E-4498-8D53-A2DA93D9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同一研究同一版本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524BC-1F49-44B2-9EAB-0DF50C4B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90875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合并条目并保留附件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3576C-6BDC-4E3B-9BD1-D69C64DE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不同版本或更新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031B1-EE0B-404A-80C9-F10E05A6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10250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记录对应关系与差别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3CAB7-DE98-44E0-8880-8C149BF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去重操作应保留记录；版本不同的结果需回原文逐项核对。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E870A-7DC3-4CFE-B212-A5783C2D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ED5D8-6B5E-497E-AE1B-CEAB9479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9664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BA596-C62F-4009-B996-60CBA5C9B2E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14F0C-26F2-4ED7-B368-32D62D11E01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961DB-5FB2-4858-BEFA-FFEDD2BB204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B0B2C-8C38-4C99-99EB-BAD4812C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7232F-593A-4B4D-B0AE-4E996B88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纳入、排除与全文缺失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BBC1C-05E5-4713-8E8A-E8E5D55C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A484F-A6A0-46D6-8E6E-0E5F093B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题录初筛、全文判断与证据提取是不同步骤，每一步都可能留下未决条目。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8877B-D97B-4871-B08F-20ADB702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题录与摘要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4F2F2-2DB1-4227-8001-FF094196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全文是否可得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B36A5-F6D7-40FC-8346-44E5C819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符合问题范围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8251F-AC00-4F48-AD3F-89BE80EC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进入证据表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A39DE-B5F1-4AA2-9FAC-C4070A0D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检查对象与主题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990FD-C4C0-4F1B-AE2B-C3C32542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缺失全文另列待取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C8572-5BF9-4320-ADB5-7BC8F40A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记下排除的具体理由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E943F-0A9A-4BEF-921C-5707D4BB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保存原文位置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819FE-347E-4D76-A7F6-57A02E10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72250"/>
            <a:ext cx="657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全文缺失／范围不符／信息不清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204DB-CA8E-4A54-A293-92B2F3DD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分别记录原因和下一步处理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168E3-4A04-405A-A26B-EB50C71B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流程示意，无虚构筛选数量；全文未取到与研究不符合需分别记录。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BE286-253D-4B7A-9DC2-5F24DB19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6392E-79C2-4545-8676-CD811B73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568859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1048E-AC86-4C6E-BF53-1BDAD5335FC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726F9-0C10-4FB6-96A4-E26862392D5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056DF-C1B1-4214-BD66-53C56CE8375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4D255-AB1C-4744-8B86-072EDAA8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BD682-1872-498B-AF40-C6811A6E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一篇论文的阅读顺序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3532D-F039-483D-AAC5-0CF3751A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32AB3-25D0-4612-95D0-FD78DC10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先判断论文在回答什么，再查设计和结果，最后解释作者结论适用到哪里。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82E6F-1707-4B4A-81C0-023BB93D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问题与研究对象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59077-6862-4439-BC30-566A8198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方法与比较条件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36709-ECFF-4633-8746-646981F9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主要结果与图表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10CAB-8DD1-4075-A2DD-91DEBB0A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限制与适用范围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3492B-5A24-492D-B9F8-4E2ECB93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记录作者真正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8C09A-FF11-4C72-967B-FF55699A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看分组、测量与排除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06B88-9C8B-41E3-9900-BF9EB448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核对数值、单位和分母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959D2-ADAD-4AA8-9F6E-27281F2F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区分结果、解释与推测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AD8F4-1DAE-47D8-86AF-9CD63C9C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736F6-807E-4D92-B02F-E2005FEA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阅读笔记中把原文事实和自己的解释分开，避免写综述时找不到依据。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8DD08-12C6-4A17-BDDC-FC27CD8D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笔记至少保留：原文位置、自己的转述和仍不确定的地方。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BF59B-9EE0-4D7C-BEBF-C4E832E0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4FFB1-8748-4A69-8E22-029FFD67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17806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997AD-EB99-4613-B4DF-BD4E596F9CD4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810750" y="68008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42EFF-17C4-4A5C-9EBE-72CC4634779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810750" y="57054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79544-BCDE-43AB-BDEE-6327DACE159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0750" y="46101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FD9A2-457F-4799-80EA-5FA8DA7096C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810750" y="35147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3FFE8-D345-43EC-ACCA-32FC397B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B6F44-01B4-45A9-9238-FE8775F8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证据提取中的定位信息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33FEA-5BF4-46A0-AD1E-446516E2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AC239-79F4-4EA0-8AE0-F6638463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同一句“提高学习表现”，需要补出对象、比较条件、测量时点和结论范围。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C95A4-24C0-4DBB-BB07-8D8EAB64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1A229-2EC3-42E2-B822-33CA19AF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土耳其一所高中的数学教学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BD9EC-F08A-4D7D-95A4-AE023A70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7121B-C1BE-4474-87C0-6786855B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B7502-41E5-4556-925E-D599601E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Base、Tutor与无生成式AI资源组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DE9D8-7BB8-4AC9-9BCF-55AD8C40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386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D2F14-696E-4F4A-BAC2-4F32B065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D2B9E-EB5F-4FAB-AB62-7E9836BE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有帮助的练习与撤去资源的测验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13F28-8B26-4F22-8466-4644BEDD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Abstract、Table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4557D-3212-425D-B686-9651855F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B7D75-47A0-4973-B7F7-C281A7D2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42937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特定工具、学校和教学任务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4EE6E-2176-42D9-AC3E-969D5FC7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课程解读：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外推需证据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0091D-9A8A-42CF-A48D-F9177DDA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公开真实研究的中文提取示例；定位到段落或表格后再引用。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DDCA3-14E5-4656-8A01-766F8E24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2025；课程方法说明／教学示例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9DF18-FF1E-45CD-8F75-96547051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882175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BD852-19BB-4416-9571-44FF33F9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2EC39-3BA7-4A12-9E4B-B9848B7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两篇研究的设计比较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40044-B863-4D71-83A3-453A8C63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5A40A-D956-49AA-ADAE-EA6C7325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两项研究都讨论AI学习，但人群、对照条件和测量安排不同。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D8EDC-3BE4-473C-95DA-8EA5291FAC6E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Bastani等，2025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Kestin等，2025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对象／学科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土耳其高中数学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Harvard本科入门物理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两种AI辅导与无AI资源组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定制AI辅导与课堂主动学习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有帮助练习／无资源测验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课程内容的前测与后测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解释范围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工具设计与独立表现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定制辅导的特定课堂比较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BE9EC-544F-40BF-B39A-4236170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两篇为比较教学案例，未覆盖全部相关文献，不构成系统综述。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9FE70-C621-45C1-B4A2-89D6B62B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61617-9C51-4ABF-8640-A77893CC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836101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2DBA1-8EA9-4750-80D9-E52E2EA68AB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096000" y="677227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3ED99-C3F3-4994-AC6F-2BEB3A4DCFD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96000" y="56864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1C5A3-DC54-4174-B799-FC40AAC033F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96000" y="460057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51454-2421-4F19-9D35-7FFF18103DC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096000" y="35147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38733-FE24-44E3-8167-86473EC3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E5FBF-79EA-4FBC-A33C-93551849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表面不同的结果怎样解释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18EBA-18EE-454F-9875-6C5AD558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5329C-5C83-4D49-A379-0D9F307E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先检查比较对象和测量是否相同，再讨论结果能否并列或合并。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95D76-C02F-47E8-9089-44A1D541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AI帮助时的表现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29A11-3F00-4534-A017-60163E7E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当场完成任务可能更顺利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045BA-2B8B-4682-A766-FE64DA9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撤去AI后的表现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2A309-5205-450E-8A22-50C607C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需要独立测量掌握程度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9A2BD-0490-4689-AE50-C7B94CBE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对照教学方式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AB864-D201-4900-B8C8-D459555A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普通资源与主动学习不同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18719-6E60-478F-B707-77E91A10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工具中的教学安排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1A675-A18E-4D84-9B20-A087C62F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0080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提示、内容与反馈会改变情境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1EA1E-6B2E-4784-96C1-EB92B43D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原文条件不同，不能把两篇标题合成“AI总体有效／无效”的结论。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8290E-0E8D-44CB-9B07-B41EB072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2025；课程方法说明／教学示例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1EE36-BC5D-4C13-A038-55D64A30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048705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06D49-8E1A-4E76-AE16-B00F6BC0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CF2A0-C19B-4C36-8ED6-0CD89DC0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证据表中的事实与判断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43B57-5F51-4285-873A-466A5A4E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05579-29EC-4753-BBFD-7B504902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把原文报告、研究者解释和待核查问题分开，后续写作才有依据。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B65E3-2D24-4DDC-8FB4-1F575DE1AA40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原文报告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论文使用什么对象、方法和结果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附DOI及页段／表号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比较解释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哪些条件可能解释研究差别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注明这是分析判断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未决问题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材料缺失、定义不清或尚未验证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写明需要补查什么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2C8B2-0895-4066-A8D3-0BE919B6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结构完整不等于结论可靠；重要字段要逐项回原文核对。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D6901-FB65-4D3D-ACB5-19E3C113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09F3C-7439-47DF-BEC5-F7C16FB0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359213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E54B2-31CE-4C29-B40A-AB773BF4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0A425-36BD-4D6F-BF4F-62C8A0E3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综述段落的组织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9C6FB-F37B-4184-AB59-690A6AC5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743B3-75D3-484C-9B66-C8581E5D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按研究问题组织证据，说明差异发生在哪个条件下。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F0452-FB55-4D89-85D5-02FC64A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逐篇列举，信息停留在主题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A27EF-5751-429A-9192-328F1DA6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研究甲讨论了AI教育。研究乙也讨论了AI教育。两项研究都很有意义，未来值得深入研究。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1B011-788B-4DFA-8AEF-FE7B50E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4FAA7-C44D-4425-B0CC-B397FFE7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围绕比较条件组织证据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54C98-98ED-4012-B8DB-BB094996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AI辅导需要区分工具使用时的表现与独立掌握。高中数学研究将练习与无资源测验分开（Bastani等，2025）；本科物理研究比较定制AI辅导与课堂主动学习（Kestin等，2025）。两者的对象和对照不同，需要在相应条件下解释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F91FA-66FE-4E38-B554-7026DD54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课程编写的综述示例，附具体研究出处，未宣称代表整个领域。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E1BC7-FCF0-415E-A2F4-9B5216ED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2025；课程方法说明／教学示例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428EA-94F3-40FE-8B93-A2C5DFBF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239295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CC898-EC79-48C2-8A1D-79FEFB56FD4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04E35-C6AC-4C37-84F4-4F64EAEABD9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4DFD5-3F2B-4BFC-8337-6AFEF47C65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9E02B-D065-45E6-AC85-04DCC27F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80F33-334D-44D3-A700-9EA7CCA8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一条引文的核验过程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81DFE-6CED-420B-B5F5-B0B7BBC9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7ABED-0942-41A4-AC3C-5FACB84C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文章身份、发表状态和主张支持是三个需要分别回答的问题。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D92AB-CB4C-41F8-802A-066E4533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题名与DOI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4AEBC-9AF1-457D-810A-F413489F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作者、年份与版本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E9903-56A4-4132-9EBC-E4947E8A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更新或撤稿状态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3529A-674F-411E-BC85-39AB5551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原文能否支持主张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04446-EF4A-4312-B29B-4EB95CEE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找到原始出版记录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A4831-6BA0-42DA-BE9C-AF8231CD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核对条目是否错配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89415-34DB-46D9-ADA8-E35F85EA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查出版商与更新记录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54211-660E-4829-A33A-89A6909B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看对象、结果和限定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36EB3-5740-49DA-9C7E-74C8B77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0C046-67AF-457C-AE81-D01FCEE2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引文真实性与主张支持分别检查，不能用DOI可解析代替原文核查。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DBB21-D951-41AF-A2F6-6E90095F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核验结果应分别记录：身份、版本、更新状态与主张支持情况。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3F2F1-0924-4846-830D-5B36A1BD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E7F2B-4199-4A56-B4F3-46C9C1BB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039521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F0845-A923-4847-A7BB-20C5F689EF6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EAD05-717F-4AF7-9405-8546E235751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8150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88849-4D15-4010-8CA1-9683D7BE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F54C3-124E-4977-82C3-4EE31010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研究空白与反证检索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13A53-7010-4045-9643-0F91F51B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EC3AB-520C-408B-9EF7-3449122B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一句“尚无研究”需要主动寻找反例，并回到原始研究核对。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94C24-C90E-404F-BF47-190F5924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待核查的空白断言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195DF-DD56-4282-9536-0A3152C4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查找反例与原文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23643-2AD2-4486-91BA-9DFDA85D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修订研究问题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97B6C-795B-4EE0-B6EC-BAA025F1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高校没有AI辅导</a:t>
            </a:r>
          </a:p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实证研究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38C30-F39F-4D67-9F7A-678A7DB0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Kestin等已报告本科物理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随机对照研究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DD1B2-5182-47EB-9530-51F98762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14875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继续核查特定课程、工具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及延后测量的未回答问题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1C526-DA30-449D-ABD8-0AF65F35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反证检索：同义表达、前后引文、近期论文和预印本都要考虑。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83A2A-4E5B-4909-8E65-1F3F0C8D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反例能推翻过宽的空白表述；收窄问题后还需继续检索。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4CF22-2CBF-4105-9E2B-DB00BFCA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63E7A-79D8-4FC0-ACD9-FAA2695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76330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50DE3-7A6C-4A4D-A473-5F18B6417967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02AC3-D2CE-4F65-BA05-FA5987ED422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76333-AC18-482B-8B8F-036F8011841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119BE-4F24-42F1-B48B-33D4D649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8EF13-0A81-4C2B-A61B-03429415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文献Agent的材料流转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6CCD4-EF36-4830-94AD-8B941C02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436EE-95F1-447C-B242-47107119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检索、筛选、提取和写作需要保存中间材料，才能检查遗漏与错误。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C4D17-6879-45CD-B546-47D996E8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问题与检索范围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CE70A-D444-4AB6-AFFE-18B8833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29E8A-B045-4AD5-AE8E-35684C9B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候选记录与全文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033AD-5D2F-4E38-A3D6-3510741A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去重和纳入依据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2A5AC-EA52-481C-A6E1-8DB44B12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2B596-3939-44E1-8039-E5A69245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原文位置及信息状态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48564-F408-42A9-813B-6D8EF7F6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综述草稿与核验表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29086-B5F1-4F86-9360-772C7BA8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引文支持与未决事项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B73C9-DB1B-4FB6-88D3-A717F12B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流程示意：失败和缺失也要进入记录，不能用生成文本替代未取得的原文。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89094-45C4-4928-8EA8-6AB57652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83DEB-E649-40E0-984C-24713FC6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479235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05F6A-CAEA-437C-84DF-889BBC9BBBC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DD3EF-EFD0-48D6-9DDF-7D9986BB700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555E3-9CAE-4E11-9964-364FA38C9DF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13DE3-4757-417D-9168-DC2B293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035F4-6F96-4FE0-A619-0245CBA3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一份可检查的文献工作包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C2E32-4564-409C-8F6B-06325596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B22CB-4562-48D7-AD88-F7C74FCD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交付时应能追查材料来源、比较依据，以及仍然没有解决的问题。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4FF87-9B12-4929-85FD-7515FDA2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5A8EA-CC68-4581-A4D1-B579032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检索式、日期、筛选条件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B78AE-C49A-4286-BEFA-D01FDEC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文献与版本清单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B3A78-2393-49B7-A827-19108148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DOI、来源与全文状态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99B42-EA4C-4B09-AC80-3263DE66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E3E42-207B-4659-9471-104CF2B6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设计、结果、限定与位置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10395-B0E5-4FF5-9AAB-6BCC22D9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综述与问题清单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757F8-6E8A-43E1-9EE0-2F24219B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支持的结论和待补材料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074A6-7912-4FA0-95EA-98CE13C2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下一节：依据已有研究与资源条件，安排研究对象、比较和测量。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8EEDD-B949-406E-A2CD-53AFDA08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5E31B-B292-4D58-AE3F-A1741262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065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2026-10-17T15:18:25.4000000Z</dcterms:created>
  <dcterms:modified xsi:type="dcterms:W3CDTF">2026-10-17T15:18:25.4000000Z</dcterms:modified>
</coreProperties>
</file>