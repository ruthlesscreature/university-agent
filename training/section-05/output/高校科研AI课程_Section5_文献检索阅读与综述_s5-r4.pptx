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1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0c29797cc8472c" /><Relationship Type="http://schemas.openxmlformats.org/officeDocument/2006/relationships/extended-properties" Target="/docProps/app.xml" Id="Rc2549715bedc4c21" /><Relationship Type="http://schemas.openxmlformats.org/officeDocument/2006/relationships/officeDocument" Target="/ppt/presentation.xml" Id="R2c86c10671c94d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be18e763964bb1"/>
  </p:sldMasterIdLst>
  <p:notesMasterIdLst>
    <p:notesMasterId xmlns:r="http://schemas.openxmlformats.org/officeDocument/2006/relationships" r:id="R31c0cb3b08164dc5"/>
  </p:notesMasterIdLst>
  <p:sldIdLst>
    <p:sldId xmlns:r="http://schemas.openxmlformats.org/officeDocument/2006/relationships" id="256" r:id="R82a579a917ac45a9"/>
    <p:sldId xmlns:r="http://schemas.openxmlformats.org/officeDocument/2006/relationships" id="257" r:id="Re39d12723c4c462f"/>
    <p:sldId xmlns:r="http://schemas.openxmlformats.org/officeDocument/2006/relationships" id="258" r:id="R127635f84da54acc"/>
    <p:sldId xmlns:r="http://schemas.openxmlformats.org/officeDocument/2006/relationships" id="259" r:id="R2ec0ebbde5a94462"/>
    <p:sldId xmlns:r="http://schemas.openxmlformats.org/officeDocument/2006/relationships" id="260" r:id="Rbaf68c6afd4e423e"/>
    <p:sldId xmlns:r="http://schemas.openxmlformats.org/officeDocument/2006/relationships" id="261" r:id="Rf1e1db9a09914dfe"/>
    <p:sldId xmlns:r="http://schemas.openxmlformats.org/officeDocument/2006/relationships" id="262" r:id="R9631e8c15980458d"/>
    <p:sldId xmlns:r="http://schemas.openxmlformats.org/officeDocument/2006/relationships" id="263" r:id="Rd757f1af9f2147ff"/>
    <p:sldId xmlns:r="http://schemas.openxmlformats.org/officeDocument/2006/relationships" id="264" r:id="Rf0800c2c3b5e448a"/>
    <p:sldId xmlns:r="http://schemas.openxmlformats.org/officeDocument/2006/relationships" id="265" r:id="R6491e04cef924c3e"/>
    <p:sldId xmlns:r="http://schemas.openxmlformats.org/officeDocument/2006/relationships" id="266" r:id="Rcd1658a2517046b0"/>
    <p:sldId xmlns:r="http://schemas.openxmlformats.org/officeDocument/2006/relationships" id="267" r:id="R6323a81f326d4539"/>
    <p:sldId xmlns:r="http://schemas.openxmlformats.org/officeDocument/2006/relationships" id="268" r:id="R79f1a4b5b7a84cd4"/>
    <p:sldId xmlns:r="http://schemas.openxmlformats.org/officeDocument/2006/relationships" id="269" r:id="R6b9fc631d41a4713"/>
    <p:sldId xmlns:r="http://schemas.openxmlformats.org/officeDocument/2006/relationships" id="270" r:id="R97c54c8a4fa44d9d"/>
    <p:sldId xmlns:r="http://schemas.openxmlformats.org/officeDocument/2006/relationships" id="271" r:id="R1a37ee7a8b974c62"/>
    <p:sldId xmlns:r="http://schemas.openxmlformats.org/officeDocument/2006/relationships" id="272" r:id="R20a0e9d06bab487f"/>
    <p:sldId xmlns:r="http://schemas.openxmlformats.org/officeDocument/2006/relationships" id="273" r:id="Rf1002693a5c64ae7"/>
    <p:sldId xmlns:r="http://schemas.openxmlformats.org/officeDocument/2006/relationships" id="274" r:id="Rb32b0b499a344bc6"/>
    <p:sldId xmlns:r="http://schemas.openxmlformats.org/officeDocument/2006/relationships" id="275" r:id="R51bfc5cbfcc94308"/>
    <p:sldId xmlns:r="http://schemas.openxmlformats.org/officeDocument/2006/relationships" id="276" r:id="R2d81a66954d64f25"/>
    <p:sldId xmlns:r="http://schemas.openxmlformats.org/officeDocument/2006/relationships" id="277" r:id="R796a5cc50f3840b4"/>
    <p:sldId xmlns:r="http://schemas.openxmlformats.org/officeDocument/2006/relationships" id="278" r:id="R87c98ef495334978"/>
    <p:sldId xmlns:r="http://schemas.openxmlformats.org/officeDocument/2006/relationships" id="279" r:id="R96727b753a2945c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e6ecdf8965474c" /><Relationship Type="http://schemas.openxmlformats.org/officeDocument/2006/relationships/slideMaster" Target="/ppt/slideMasters/slideMaster1.xml" Id="Rdebe18e763964bb1" /><Relationship Type="http://schemas.openxmlformats.org/officeDocument/2006/relationships/notesMaster" Target="/ppt/notesMasters/notesMaster1.xml" Id="R31c0cb3b08164dc5" /><Relationship Type="http://schemas.openxmlformats.org/officeDocument/2006/relationships/presProps" Target="/ppt/presProps.xml" Id="R48a94267dc3f4c2f" /><Relationship Type="http://schemas.openxmlformats.org/officeDocument/2006/relationships/tableStyles" Target="/ppt/tableStyles.xml" Id="R25f78701e7c04e92" /><Relationship Type="http://schemas.openxmlformats.org/officeDocument/2006/relationships/slide" Target="/ppt/slides/slide1.xml" Id="R82a579a917ac45a9" /><Relationship Type="http://schemas.openxmlformats.org/officeDocument/2006/relationships/slide" Target="/ppt/slides/slide2.xml" Id="Re39d12723c4c462f" /><Relationship Type="http://schemas.openxmlformats.org/officeDocument/2006/relationships/slide" Target="/ppt/slides/slide3.xml" Id="R127635f84da54acc" /><Relationship Type="http://schemas.openxmlformats.org/officeDocument/2006/relationships/slide" Target="/ppt/slides/slide4.xml" Id="R2ec0ebbde5a94462" /><Relationship Type="http://schemas.openxmlformats.org/officeDocument/2006/relationships/slide" Target="/ppt/slides/slide5.xml" Id="Rbaf68c6afd4e423e" /><Relationship Type="http://schemas.openxmlformats.org/officeDocument/2006/relationships/slide" Target="/ppt/slides/slide6.xml" Id="Rf1e1db9a09914dfe" /><Relationship Type="http://schemas.openxmlformats.org/officeDocument/2006/relationships/slide" Target="/ppt/slides/slide7.xml" Id="R9631e8c15980458d" /><Relationship Type="http://schemas.openxmlformats.org/officeDocument/2006/relationships/slide" Target="/ppt/slides/slide8.xml" Id="Rd757f1af9f2147ff" /><Relationship Type="http://schemas.openxmlformats.org/officeDocument/2006/relationships/slide" Target="/ppt/slides/slide9.xml" Id="Rf0800c2c3b5e448a" /><Relationship Type="http://schemas.openxmlformats.org/officeDocument/2006/relationships/slide" Target="/ppt/slides/slide10.xml" Id="R6491e04cef924c3e" /><Relationship Type="http://schemas.openxmlformats.org/officeDocument/2006/relationships/slide" Target="/ppt/slides/slide11.xml" Id="Rcd1658a2517046b0" /><Relationship Type="http://schemas.openxmlformats.org/officeDocument/2006/relationships/slide" Target="/ppt/slides/slide12.xml" Id="R6323a81f326d4539" /><Relationship Type="http://schemas.openxmlformats.org/officeDocument/2006/relationships/slide" Target="/ppt/slides/slide13.xml" Id="R79f1a4b5b7a84cd4" /><Relationship Type="http://schemas.openxmlformats.org/officeDocument/2006/relationships/slide" Target="/ppt/slides/slide14.xml" Id="R6b9fc631d41a4713" /><Relationship Type="http://schemas.openxmlformats.org/officeDocument/2006/relationships/slide" Target="/ppt/slides/slide15.xml" Id="R97c54c8a4fa44d9d" /><Relationship Type="http://schemas.openxmlformats.org/officeDocument/2006/relationships/slide" Target="/ppt/slides/slide16.xml" Id="R1a37ee7a8b974c62" /><Relationship Type="http://schemas.openxmlformats.org/officeDocument/2006/relationships/slide" Target="/ppt/slides/slide17.xml" Id="R20a0e9d06bab487f" /><Relationship Type="http://schemas.openxmlformats.org/officeDocument/2006/relationships/slide" Target="/ppt/slides/slide18.xml" Id="Rf1002693a5c64ae7" /><Relationship Type="http://schemas.openxmlformats.org/officeDocument/2006/relationships/slide" Target="/ppt/slides/slide19.xml" Id="Rb32b0b499a344bc6" /><Relationship Type="http://schemas.openxmlformats.org/officeDocument/2006/relationships/slide" Target="/ppt/slides/slide20.xml" Id="R51bfc5cbfcc94308" /><Relationship Type="http://schemas.openxmlformats.org/officeDocument/2006/relationships/slide" Target="/ppt/slides/slide21.xml" Id="R2d81a66954d64f25" /><Relationship Type="http://schemas.openxmlformats.org/officeDocument/2006/relationships/slide" Target="/ppt/slides/slide22.xml" Id="R796a5cc50f3840b4" /><Relationship Type="http://schemas.openxmlformats.org/officeDocument/2006/relationships/slide" Target="/ppt/slides/slide23.xml" Id="R87c98ef495334978" /><Relationship Type="http://schemas.openxmlformats.org/officeDocument/2006/relationships/slide" Target="/ppt/slides/slide24.xml" Id="R96727b753a2945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b338023a8947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0ea439ee3a4c0b" /><Relationship Type="http://schemas.openxmlformats.org/officeDocument/2006/relationships/notesMaster" Target="/ppt/notesMasters/notesMaster1.xml" Id="R7655bef6762d44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3e5eba99354292" /><Relationship Type="http://schemas.openxmlformats.org/officeDocument/2006/relationships/notesMaster" Target="/ppt/notesMasters/notesMaster1.xml" Id="R2f109b3a22c340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fa6bbc9bff4a7c" /><Relationship Type="http://schemas.openxmlformats.org/officeDocument/2006/relationships/notesMaster" Target="/ppt/notesMasters/notesMaster1.xml" Id="Rb20a5850f43749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19e0c3e67b4327" /><Relationship Type="http://schemas.openxmlformats.org/officeDocument/2006/relationships/notesMaster" Target="/ppt/notesMasters/notesMaster1.xml" Id="R85d04d8622df44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9da24776924450" /><Relationship Type="http://schemas.openxmlformats.org/officeDocument/2006/relationships/notesMaster" Target="/ppt/notesMasters/notesMaster1.xml" Id="Rda164251073142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49a08f07ab4330" /><Relationship Type="http://schemas.openxmlformats.org/officeDocument/2006/relationships/notesMaster" Target="/ppt/notesMasters/notesMaster1.xml" Id="R4d7a75d389ca4c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556926e5544787" /><Relationship Type="http://schemas.openxmlformats.org/officeDocument/2006/relationships/notesMaster" Target="/ppt/notesMasters/notesMaster1.xml" Id="R4de011a39ebe4d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f6ddf6bc0741a8" /><Relationship Type="http://schemas.openxmlformats.org/officeDocument/2006/relationships/notesMaster" Target="/ppt/notesMasters/notesMaster1.xml" Id="R6fcb8f411a5844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33f4a5e8d74fa2" /><Relationship Type="http://schemas.openxmlformats.org/officeDocument/2006/relationships/notesMaster" Target="/ppt/notesMasters/notesMaster1.xml" Id="R6ae42c69acc045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62c39436bc4142" /><Relationship Type="http://schemas.openxmlformats.org/officeDocument/2006/relationships/notesMaster" Target="/ppt/notesMasters/notesMaster1.xml" Id="R66fae8a824e94c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4af887734f46eb" /><Relationship Type="http://schemas.openxmlformats.org/officeDocument/2006/relationships/notesMaster" Target="/ppt/notesMasters/notesMaster1.xml" Id="R95c0dd3869ae41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4a1a892fe74d89" /><Relationship Type="http://schemas.openxmlformats.org/officeDocument/2006/relationships/notesMaster" Target="/ppt/notesMasters/notesMaster1.xml" Id="R39df9544d2014f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1bf9bf97d848f0" /><Relationship Type="http://schemas.openxmlformats.org/officeDocument/2006/relationships/notesMaster" Target="/ppt/notesMasters/notesMaster1.xml" Id="Ra8aaf41e220a4a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6a27523d464624" /><Relationship Type="http://schemas.openxmlformats.org/officeDocument/2006/relationships/notesMaster" Target="/ppt/notesMasters/notesMaster1.xml" Id="R16e47cfe707b45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54b9a5cb2847c4" /><Relationship Type="http://schemas.openxmlformats.org/officeDocument/2006/relationships/notesMaster" Target="/ppt/notesMasters/notesMaster1.xml" Id="Rf001d6e5ee0f4c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015cff7a9f446b" /><Relationship Type="http://schemas.openxmlformats.org/officeDocument/2006/relationships/notesMaster" Target="/ppt/notesMasters/notesMaster1.xml" Id="R03bc10a4269b48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67f79c3c5b4b32" /><Relationship Type="http://schemas.openxmlformats.org/officeDocument/2006/relationships/notesMaster" Target="/ppt/notesMasters/notesMaster1.xml" Id="R0eeabe3ded1148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65ccce0a6349b7" /><Relationship Type="http://schemas.openxmlformats.org/officeDocument/2006/relationships/notesMaster" Target="/ppt/notesMasters/notesMaster1.xml" Id="R9d6aa6647d0a45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237dea87a84579" /><Relationship Type="http://schemas.openxmlformats.org/officeDocument/2006/relationships/notesMaster" Target="/ppt/notesMasters/notesMaster1.xml" Id="R83edfddbb023499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fbca75046b54483" /><Relationship Type="http://schemas.openxmlformats.org/officeDocument/2006/relationships/notesMaster" Target="/ppt/notesMasters/notesMaster1.xml" Id="Rea4a2c24009744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f1938e45c57410c" /><Relationship Type="http://schemas.openxmlformats.org/officeDocument/2006/relationships/notesMaster" Target="/ppt/notesMasters/notesMaster1.xml" Id="R5e9e0f3d997f45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c0a0e63afe48a2" /><Relationship Type="http://schemas.openxmlformats.org/officeDocument/2006/relationships/notesMaster" Target="/ppt/notesMasters/notesMaster1.xml" Id="R4b196e59a0de412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e9a7edec699495c" /><Relationship Type="http://schemas.openxmlformats.org/officeDocument/2006/relationships/notesMaster" Target="/ppt/notesMasters/notesMaster1.xml" Id="Racd56c5e50cf426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090719c94714c56" /><Relationship Type="http://schemas.openxmlformats.org/officeDocument/2006/relationships/notesMaster" Target="/ppt/notesMasters/notesMaster1.xml" Id="R497025de6f0a4f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本节依次讲检索、原文阅读、多篇研究比较及综述表达。例子包括AI教育研究，也包括一般引用核对。工具用于对应步骤，不把工具名称当成方法。两篇公开研究只用于比较教学，未开展系统综述。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综述类型不只这几种，此处按教学目的解释差别。不能把若干工具搜出的前几条结果改名为系统综述。PRISMA提供报告要求，不能代替检索、偏倚评估或科学判断。具体综述规范应按学科和研究类型选择。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PRISMA 2020 Statement</a:t>
            </a:r>
          </a:p>
          <a:p xmlns:a="http://schemas.openxmlformats.org/drawingml/2006/main">
            <a:r>
              <a:t>https://www.prisma-statement.org/prisma-2020</a:t>
            </a:r>
          </a:p>
          <a:p xmlns:a="http://schemas.openxmlformats.org/drawingml/2006/main">
            <a:r>
              <a:t>定位：报告清单与流程图说明；不将报告指南称为质量评分工具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以AI辅助学习为教学示例。不同论文可能使用不同工具名和术语。人口或测量词加入太早可能漏掉相关研究，因此可先宽后窄。检索概念不必机械塞满研究问题的所有条件。中文库和英文库分别调整词汇。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通用结构示例，不宣称各库语法相同。PubMed支持布尔逻辑，短语、截词和字段标签有其规则；在其他数据库中需查看帮助。先用已知相关论文检验检索式能否找到，再根据漏检扩词。NOT可能把同时讨论两个主题的相关研究排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NLM. PubMed User Guide</a:t>
            </a:r>
          </a:p>
          <a:p xmlns:a="http://schemas.openxmlformats.org/drawingml/2006/main">
            <a:r>
              <a:t>https://pubmed.ncbi.nlm.nih.gov/help/</a:t>
            </a:r>
          </a:p>
          <a:p xmlns:a="http://schemas.openxmlformats.org/drawingml/2006/main">
            <a:r>
              <a:t>定位：Search、Boolean operators、History；assets/pubmed.png为实际检索网页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assets/pubmed.png由本机无登录浏览器实际访问公开PubMed查询后截图。检索词为"generative AI" learning。截图中的结果数仅代表访问时页面，不作为领域趋势或完整覆盖的证据。PubMed偏生命科学与医学相关文献，不能代表全部教育研究。没有用模拟HTML重画界面。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NLM. PubMed User Guide</a:t>
            </a:r>
          </a:p>
          <a:p xmlns:a="http://schemas.openxmlformats.org/drawingml/2006/main">
            <a:r>
              <a:t>https://pubmed.ncbi.nlm.nih.gov/help/</a:t>
            </a:r>
          </a:p>
          <a:p xmlns:a="http://schemas.openxmlformats.org/drawingml/2006/main">
            <a:r>
              <a:t>定位：Search、Boolean operators、History；assets/pubmed.png为实际检索网页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也应包含文献类型、时间窗、语言限制和全文获取状态。真实的公开网页试查与完整领域检索要区分。本节附件中的search-log.json记录了实际PubMed页面查询，另存的教学检索式尚未作为完整方案运行，不能把其预期结果数填写成实际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种路径看作补充。检索相似不等于研究结论相同。语义系统的结果要回原文判断；引文数量高也不能证明方法可靠。研究原理保持概念层，不讲向量计算细节。UCL课件只借鉴检索路径的组织，具体工具功能另看官方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Semantic Scholar. Frequently Asked Questions</a:t>
            </a:r>
          </a:p>
          <a:p xmlns:a="http://schemas.openxmlformats.org/drawingml/2006/main">
            <a:r>
              <a:t>https://webflow.semanticscholar.org/faq</a:t>
            </a:r>
          </a:p>
          <a:p xmlns:a="http://schemas.openxmlformats.org/drawingml/2006/main">
            <a:r>
              <a:t>定位：AI-Features、Citations、Search、Semantic Reader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Connected Papers官方检索片段明确其不是引用树。本页为关系含义示意，使用论文甲乙丙丁符号，不是假称软件返回了这几篇论文。相似关系和实际引用方向必须区分。由种子论文扩展仍受数据库覆盖和种子选择影响。尚未在Connected Papers执行本课程题目的图谱查询。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Connected Papers. About</a:t>
            </a:r>
          </a:p>
          <a:p xmlns:a="http://schemas.openxmlformats.org/drawingml/2006/main">
            <a:r>
              <a:t>https://www.connectedpapers.com/about</a:t>
            </a:r>
          </a:p>
          <a:p xmlns:a="http://schemas.openxmlformats.org/drawingml/2006/main">
            <a:r>
              <a:t>定位：官方检索片段说明not a citation tree；本次未取得完整JS页面，功能仅保留关联发现的有限说明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官方帮助页2026-09-30变更：旧工具独立入口取消，能力并入Research Agent；旧会话可读和导出，新工作进入Agent。截图为官方帮助页，不是本项目付费模型运行。课堂讲功能和材料流转，不照旧截图逐按钮注册。功能、套餐与界面可能继续更新，演示前需复查。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Elicit. Where did Find Papers, Extract Data, and Chat with Papers go?</a:t>
            </a:r>
          </a:p>
          <a:p xmlns:a="http://schemas.openxmlformats.org/drawingml/2006/main">
            <a:r>
              <a:t>https://support.elicit.com/en/articles/17220397-where-did-find-papers-extract-data-and-chat-with-papers-go</a:t>
            </a:r>
          </a:p>
          <a:p xmlns:a="http://schemas.openxmlformats.org/drawingml/2006/main">
            <a:r>
              <a:t>定位：官方变更说明及How to do the same work now；页面截图2026-10-17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ensus官方说明使用关键词与语义结合的搜索，并提供带引文综合。本页不承诺任何引文一定正确或结论全面。投票式同意比例不能代替研究质量与可比性判断。要区分系统搜索到的材料和没有检索到的研究，不把生成摘要当作原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Consensus. How Consensus Works</a:t>
            </a:r>
          </a:p>
          <a:p xmlns:a="http://schemas.openxmlformats.org/drawingml/2006/main">
            <a:r>
              <a:t>https://help.consensus.app/en/articles/9922673-how-consensus-works</a:t>
            </a:r>
          </a:p>
          <a:p xmlns:a="http://schemas.openxmlformats.org/drawingml/2006/main">
            <a:r>
              <a:t>定位：How does a Consensus search work?、How does Consensus analyze the research?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官方FAQ说明AI相关功能、引用、检索与Semantic Reader。这里不把辅助摘要复述成作者原结论，不承诺每篇都提供完整全文或相同功能。建议在条目中定位DOI，再到出版商或合法开放版本核对。实际功能以访问时页面为准。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Semantic Scholar. Frequently Asked Questions</a:t>
            </a:r>
          </a:p>
          <a:p xmlns:a="http://schemas.openxmlformats.org/drawingml/2006/main">
            <a:r>
              <a:t>https://webflow.semanticscholar.org/faq</a:t>
            </a:r>
          </a:p>
          <a:p xmlns:a="http://schemas.openxmlformats.org/drawingml/2006/main">
            <a:r>
              <a:t>定位：AI-Features、Citations、Search、Semantic Reader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otero可通过DOI等标识符添加条目，集合可以共享同一条目的引用，附件和笔记依附条目。导入不是核验完成，尤其留意作者、年份、文章类型、页码与DOI。文献导出和Word插件可整理引文格式，但不能判断引文支持了什么主张。没有伪造本机已打开的Zotero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Zotero. The Basics</a:t>
            </a:r>
          </a:p>
          <a:p xmlns:a="http://schemas.openxmlformats.org/drawingml/2006/main">
            <a:r>
              <a:t>https://www.zotero.org/support/quick_start_guide</a:t>
            </a:r>
          </a:p>
          <a:p xmlns:a="http://schemas.openxmlformats.org/drawingml/2006/main">
            <a:r>
              <a:t>定位：Collections、Attachments、Add Item by Identifier、Word Processor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比较DOI、题名、作者和出版信息。预印本与正式论文的标题可能变化，结果也可能改变；不应只按字符串相似就删。更正、撤稿通知和补充材料不能当重复论文随意去掉。重复报告同一研究时，综合阶段还需避免把同一数据算作多项独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无计数流程示意，没有伪造PRISMA筛选数量。若报告系统综述，需要按适用规范记录各阶段数量及排除原因。全文未获得时，不把摘要描述当成完整方法评估。筛选由谁完成、AI如何参与以及抽查办法应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PRISMA 2020 Statement</a:t>
            </a:r>
          </a:p>
          <a:p xmlns:a="http://schemas.openxmlformats.org/drawingml/2006/main">
            <a:r>
              <a:t>https://www.prisma-statement.org/prisma-2020</a:t>
            </a:r>
          </a:p>
          <a:p xmlns:a="http://schemas.openxmlformats.org/drawingml/2006/main">
            <a:r>
              <a:t>定位：报告清单与流程图说明；不将报告指南称为质量评分工具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可以往返，不能只看摘要末句。对于实证研究，方法决定结果能够支持什么判断。图表和正文数值不一致时先追查定义、样本和补充材料。理论、质性与方法论文应按其论证结构调整，不强求统一量化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以Bastani等作为原文提取示范。本页不重复大量数值，重在信息定位。正文中“练习成绩”和“独立测验”不能混成同一结果。教学表用中文转述，XML原文实际来自Europe PMC对应全文，DOI与文章身份另有登记。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两篇文章均实际读取原文。Kestin研究在Harvard PS2课程进行，233名注册学生中194人符合纳入条件，采用两组交叉内容安排；本页只保留设计区别，不把样本数直接做效果大小比较。两项研究并不互为简单重复，不能按标题的“有害/更优”投票。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图的坐标。柱高是后测分数的中位数，即把分数按大小排列后位于中间的位置；中位数和平均数是两种统计量。横轴两种条件分别为课堂主动学习与定制AI辅导，后者不是学生随意打开通用聊天工具。柱上3.5与4.5为原文分值，不是百分比、效应量或学习增幅。图从零起，坐标到6，因为这份公开数据中实际后测分数范围为0至6；本轮未取得完整评分细则，不据此补写正式量表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数据来自论文Data availability链接的作者仓库HarvardAItutor/Study-Data-v4，实际下载dta并用本地Python读取。lect_AI=0的174条记录中位数为3.5，lect_AI=1的142条记录中位数为4.5，合并前测中位数2.75。这三项与正文Results / Learning gains: post-test scores相符。PPT为依据公开数据新做的可编辑图，内嵌汇总工作簿；不是原文Figure1。原文Figure1画平均数并附均值标准误，不能给本页中位数柱复制那组误差线。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316是数据行数，rid唯一编号为194。194与正文资格人数一致；逐编号检查发现122个编号有两种条件的记录，72个编号只出现一次。正文Study population资格说明提到参与两种教学且完成全部前后测验，公开文件与这一说明的逐步对应仍需核查。没有取得筛选日志，不擅自推测缺行、排除原因或修正作者数据，也不能把这张表当作194人的完整配对表。描述统计可以复算，不等于完成了设计、缺失机制与全部统计模型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课堂再把这项研究与第17页高中数学研究比较：学习阶段、对照方法和测量安排各有条件。这里不从两根柱推出AI普遍有效，也不把两篇文章合成总体效应。UCL 2025第56页提醒检查综合是否成立，本轮重新查看该页和第43页，借鉴其核对覆盖、原文与可比性的组织方式。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Kestin等论文Data availability所链接的作者公开研究数据</a:t>
            </a:r>
          </a:p>
          <a:p xmlns:a="http://schemas.openxmlformats.org/drawingml/2006/main">
            <a:r>
              <a:t>https://github.com/HarvardAItutor/Study-Data-v4</a:t>
            </a:r>
          </a:p>
          <a:p xmlns:a="http://schemas.openxmlformats.org/drawingml/2006/main">
            <a:r>
              <a:t>定位：Harvard_AI_Tutor_Study_Data.dta；lect_AI、post_score、pre_score、rid；源blob 2ad104a44b64acd98f4951ab92955ba85d2400cf；复算见literature-packet/kestin-reproduction.json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是一条结论的完整登记示例。第一行只放回到原文和作者数据中实际核到的信息：结果段报告后测中位数3.5与4.5，本地按lect_AI分组得到相同结果，记录数为174与142。定位保留到正文小节及原始字段，编辑附件保存源文件哈希与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行是课程对结论范围的解释：比较发生在Harvard入门物理的两次课题中，定制AI系统与课堂主动学习各有教学安排。不能把“定制”省略后写成随便使用ChatGPT就一定提高成绩。中位数差是描述统计，研究的因果解释还取决于随机安排、交叉设计、模型处理与缺失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行保留待核事项。194个唯一编号、316行数据、122个双次编号和72个单次编号均由实际数据计算；正文资格条件与公开行记录的逐步对应尚未核明。没有逐步筛选日志，不对原因作判断。这个例子说明事实核对和保留缺口可以同时进行；表格应允许填“待核查”，而不是要求AI把所有格子补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Kestin等论文Data availability所链接的作者公开研究数据</a:t>
            </a:r>
          </a:p>
          <a:p xmlns:a="http://schemas.openxmlformats.org/drawingml/2006/main">
            <a:r>
              <a:t>https://github.com/HarvardAItutor/Study-Data-v4</a:t>
            </a:r>
          </a:p>
          <a:p xmlns:a="http://schemas.openxmlformats.org/drawingml/2006/main">
            <a:r>
              <a:t>定位：Harvard_AI_Tutor_Study_Data.dta；lect_AI、post_score、pre_score、rid；源blob 2ad104a44b64acd98f4951ab92955ba85d2400cf；复算见literature-packet/kestin-reproduction.json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前段为课程编写的空泛例句，后段为基于两篇真实论文的教学综述草稿。正式论文还需完整检索、方法评价和准确引文，不能把两篇案例段落称为领域共识。段落没有声称哪一种机制已经得到证明。 本轮后段补入作者数据可复算的后测中位数，顺序对应定制AI辅导4.5、课堂主动学习3.5。没有计算综合效应、效果排名或长期学习保持；公开数据中的单次编号问题另列待核。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Kestin等论文Data availability所链接的作者公开研究数据</a:t>
            </a:r>
          </a:p>
          <a:p xmlns:a="http://schemas.openxmlformats.org/drawingml/2006/main">
            <a:r>
              <a:t>https://github.com/HarvardAItutor/Study-Data-v4</a:t>
            </a:r>
          </a:p>
          <a:p xmlns:a="http://schemas.openxmlformats.org/drawingml/2006/main">
            <a:r>
              <a:t>定位：Harvard_AI_Tutor_Study_Data.dta；lect_AI、post_score、pre_score、rid；源blob 2ad104a44b64acd98f4951ab92955ba85d2400cf；复算见literature-packet/kestin-reproduction.json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I解析成功只说明标识符对应记录，不能证明该段主张成立。当前附件登记两篇论文身份和已读章节，未作全面撤稿监测，状态单独注明待核查。实际科研投稿前需按当时出版商更新和适用数据库复查。不能把引用格式检查说成科学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课程编写的待核查断言，故意使用过宽范围，并非真实领域结论。Kestin等公开研究已经在本科入门物理中开展随机对照，因此这一断言不能成立。研究者需要检查原文，然后重新界定问题。限定到某课程或延后测量后仍需继续检索，不能据此宣称找到了空白或证明没有人研究。反证检索应包括同义词、前后引文与近期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定位：Abstract、Experimental Design、Table 1；原文XML经Europe PMC实际读取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Kestin et al. AI tutoring outperforms in-class active learning: an RCT introducing a novel research-based design in an authentic educational setting. Scientific Reports 2025. DOI:10.1038/s41598-025-97652-6</a:t>
            </a:r>
          </a:p>
          <a:p xmlns:a="http://schemas.openxmlformats.org/drawingml/2006/main">
            <a:r>
              <a:t>https://pmc.ncbi.nlm.nih.gov/articles/PMC12179260/</a:t>
            </a:r>
          </a:p>
          <a:p xmlns:a="http://schemas.openxmlformats.org/drawingml/2006/main">
            <a:r>
              <a:t>定位：Abstract、Methods: Study population/Course setting；原文XML经Europe PMC实际读取；2026-10-19重新核对出版商Results / Learning gains: post-test scores、Study population、Study design、限制及Supplementary Table S3。未完成最新更新状态监测。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流程示意，不是模型已运行的截图。可以在本地Codex中按文献发现、文献综合和引用核验技能处理材料；技能定义存在不等于各服务账号、检索API或全文解析都已接入。本节实际完成公开材料获取、两个网页截图、两篇原文读取和课程证据表，未运行多数据库系统检索。 2026-10-19另实际完成作者公开dta的本地Python描述统计复算，保留原始哈希、汇总CSV、复算脚本与记录单位待核问题；这不是模型调用或整个文献Agent已运行。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James Thomas. Using AI tools for searching, classifying, extracting and synthesizing research. UCL, 2025-06-13</a:t>
            </a:r>
          </a:p>
          <a:p xmlns:a="http://schemas.openxmlformats.org/drawingml/2006/main">
            <a:r>
              <a:t>https://eppi.ioe.ac.uk/CMS/Portals/0/AI%20in%20evidence%20synthesis%20v_3_1.pdf</a:t>
            </a:r>
          </a:p>
          <a:p xmlns:a="http://schemas.openxmlformats.org/drawingml/2006/main">
            <a:r>
              <a:t>定位：PDF第14、17、43、56页已渲染查看；借鉴检索、关联发现与核对流程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本节交付两篇比较案例的材料索引、检索记录、证据矩阵与综述示例，保留范围说明。进入Section 6研究设计时，未决问题要继续处理，不能把文献表做完视为研究设计成立。没有课堂作业或学员提交环节。 本轮新增作者公开数据的描述统计复算、源文件哈希、完整Python脚本和材料缺口说明。原始逐人数据只存本地忽略缓存，交付汇总表与公开下载入口。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课程编写：检索与文献综合教学示例</a:t>
            </a:r>
          </a:p>
          <a:p xmlns:a="http://schemas.openxmlformats.org/drawingml/2006/main">
            <a:r>
              <a:t>local:材料状态与核验范围.md</a:t>
            </a:r>
          </a:p>
          <a:p xmlns:a="http://schemas.openxmlformats.org/drawingml/2006/main">
            <a:r>
              <a:t>定位：检索式、判断示例与综述段落均为课程编写；两篇研究构成比较案例，不构成系统综述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e540a58444b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cb9bdc10e48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8495cc7e647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9db1777754a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0c03c3fad42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232ed3abe4d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AB9296-FE39-4F81-8ABF-085FF459A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A800D2-5CB4-45B0-9801-3C8E361D84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C7C2F8-908F-462C-846D-45FFF1265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2D0B4C-A420-4EB6-BD13-833AA7C26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702784-6EB6-4303-A762-2A3E46E990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DE0429-901E-4A94-9359-57ECFF0C8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18E8AD-766D-453F-B471-DD3101571A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2339BD-E910-4A7C-8F18-55BD85170A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200E95-1BC2-4AD7-9ABE-7E01D76CF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5E8AA1-C2C8-46A9-8668-B343A2B16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89eaca54684c40" /><Relationship Type="http://schemas.openxmlformats.org/officeDocument/2006/relationships/slideLayout" Target="/ppt/slideLayouts/slideLayout1.xml" Id="Rff2b46c365844f0d" /><Relationship Type="http://schemas.openxmlformats.org/officeDocument/2006/relationships/slideLayout" Target="/ppt/slideLayouts/slideLayout2.xml" Id="R6ae671297bd7419a" /><Relationship Type="http://schemas.openxmlformats.org/officeDocument/2006/relationships/slideLayout" Target="/ppt/slideLayouts/slideLayout3.xml" Id="R5384d2ddba134d43" /><Relationship Type="http://schemas.openxmlformats.org/officeDocument/2006/relationships/slideLayout" Target="/ppt/slideLayouts/slideLayout4.xml" Id="R9658d23d8dc0449d" /><Relationship Type="http://schemas.openxmlformats.org/officeDocument/2006/relationships/slideLayout" Target="/ppt/slideLayouts/slideLayout5.xml" Id="R301d84fd05e544f5" /><Relationship Type="http://schemas.openxmlformats.org/officeDocument/2006/relationships/slideLayout" Target="/ppt/slideLayouts/slideLayout6.xml" Id="Ra853d78459c94f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2b46c365844f0d"/>
    <p:sldLayoutId xmlns:r="http://schemas.openxmlformats.org/officeDocument/2006/relationships" id="2147483650" r:id="R6ae671297bd7419a"/>
    <p:sldLayoutId xmlns:r="http://schemas.openxmlformats.org/officeDocument/2006/relationships" id="2147483651" r:id="R5384d2ddba134d43"/>
    <p:sldLayoutId xmlns:r="http://schemas.openxmlformats.org/officeDocument/2006/relationships" id="2147483652" r:id="R9658d23d8dc0449d"/>
    <p:sldLayoutId xmlns:r="http://schemas.openxmlformats.org/officeDocument/2006/relationships" id="2147483653" r:id="R301d84fd05e544f5"/>
    <p:sldLayoutId xmlns:r="http://schemas.openxmlformats.org/officeDocument/2006/relationships" id="2147483654" r:id="Ra853d78459c94f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98452841e84d79" /><Relationship Type="http://schemas.openxmlformats.org/officeDocument/2006/relationships/notesSlide" Target="/ppt/notesSlides/notesSlide1.xml" Id="R0acf3fa50c6444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e6d9f3d2d4cbf" /><Relationship Type="http://schemas.openxmlformats.org/officeDocument/2006/relationships/notesSlide" Target="/ppt/notesSlides/notesSlide2.xml" Id="R5afd6952731f4b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c80b40ff64af9" /><Relationship Type="http://schemas.openxmlformats.org/officeDocument/2006/relationships/notesSlide" Target="/ppt/notesSlides/notesSlide3.xml" Id="R95f84c4a76b24e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9790c0da6e424b" /><Relationship Type="http://schemas.openxmlformats.org/officeDocument/2006/relationships/notesSlide" Target="/ppt/notesSlides/notesSlide4.xml" Id="R21544f0791dc41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e2dcbbf1f4970" /><Relationship Type="http://schemas.openxmlformats.org/officeDocument/2006/relationships/image" Target="/ppt/media/image.png" Id="R1381e9a0928a4465" /><Relationship Type="http://schemas.openxmlformats.org/officeDocument/2006/relationships/notesSlide" Target="/ppt/notesSlides/notesSlide5.xml" Id="R9894f1f82a814c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14e8494294d9a" /><Relationship Type="http://schemas.openxmlformats.org/officeDocument/2006/relationships/notesSlide" Target="/ppt/notesSlides/notesSlide6.xml" Id="R8328f3011fc74f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2b38465684899" /><Relationship Type="http://schemas.openxmlformats.org/officeDocument/2006/relationships/notesSlide" Target="/ppt/notesSlides/notesSlide7.xml" Id="R51e89d5946194b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641c8ba6fc433b" /><Relationship Type="http://schemas.openxmlformats.org/officeDocument/2006/relationships/notesSlide" Target="/ppt/notesSlides/notesSlide8.xml" Id="R89950db7d07a4f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7eae25997449c" /><Relationship Type="http://schemas.openxmlformats.org/officeDocument/2006/relationships/image" Target="/ppt/media/image2.png" Id="Rdcfbd6a31ec14e43" /><Relationship Type="http://schemas.openxmlformats.org/officeDocument/2006/relationships/notesSlide" Target="/ppt/notesSlides/notesSlide9.xml" Id="R34eedc1ee7d34e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c50ad6ef346f2" /><Relationship Type="http://schemas.openxmlformats.org/officeDocument/2006/relationships/notesSlide" Target="/ppt/notesSlides/notesSlide10.xml" Id="R970169d66f734b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c121cc44d486b" /><Relationship Type="http://schemas.openxmlformats.org/officeDocument/2006/relationships/notesSlide" Target="/ppt/notesSlides/notesSlide11.xml" Id="R918ed379c30f44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5bf8be733e431a" /><Relationship Type="http://schemas.openxmlformats.org/officeDocument/2006/relationships/notesSlide" Target="/ppt/notesSlides/notesSlide12.xml" Id="R88e27171c4e642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77385c0394c2f" /><Relationship Type="http://schemas.openxmlformats.org/officeDocument/2006/relationships/notesSlide" Target="/ppt/notesSlides/notesSlide13.xml" Id="R8cf6ab9588774c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df94d044c43d8" /><Relationship Type="http://schemas.openxmlformats.org/officeDocument/2006/relationships/notesSlide" Target="/ppt/notesSlides/notesSlide14.xml" Id="R147b0d4e5e1544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d625cda254b67" /><Relationship Type="http://schemas.openxmlformats.org/officeDocument/2006/relationships/notesSlide" Target="/ppt/notesSlides/notesSlide15.xml" Id="R1c431ffedc7447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9727a821947d8" /><Relationship Type="http://schemas.openxmlformats.org/officeDocument/2006/relationships/notesSlide" Target="/ppt/notesSlides/notesSlide16.xml" Id="Re9360593e39a4c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f92cbb6ce44d67" /><Relationship Type="http://schemas.openxmlformats.org/officeDocument/2006/relationships/notesSlide" Target="/ppt/notesSlides/notesSlide17.xml" Id="R32029608367b4d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05b8ec0e64c10" /><Relationship Type="http://schemas.openxmlformats.org/officeDocument/2006/relationships/chart" Target="/ppt/slides/charts/chart1.xml" Id="Rf35c121ebbfb4321" /><Relationship Type="http://schemas.openxmlformats.org/officeDocument/2006/relationships/notesSlide" Target="/ppt/notesSlides/notesSlide18.xml" Id="Rd8567d41ec344d7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a1762a34cd4f11" /><Relationship Type="http://schemas.openxmlformats.org/officeDocument/2006/relationships/notesSlide" Target="/ppt/notesSlides/notesSlide19.xml" Id="Ra40c2cc1759040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a2ecf9a4dc4d92" /><Relationship Type="http://schemas.openxmlformats.org/officeDocument/2006/relationships/notesSlide" Target="/ppt/notesSlides/notesSlide20.xml" Id="R0f653af123e3485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f34fe370b94e83" /><Relationship Type="http://schemas.openxmlformats.org/officeDocument/2006/relationships/notesSlide" Target="/ppt/notesSlides/notesSlide21.xml" Id="R7bda16d8f2664a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8ee14850214683" /><Relationship Type="http://schemas.openxmlformats.org/officeDocument/2006/relationships/notesSlide" Target="/ppt/notesSlides/notesSlide22.xml" Id="R6556d141c6504a1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3fcedf89245df" /><Relationship Type="http://schemas.openxmlformats.org/officeDocument/2006/relationships/notesSlide" Target="/ppt/notesSlides/notesSlide23.xml" Id="R3b43f04aaf4145c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b39a0965e41e8" /><Relationship Type="http://schemas.openxmlformats.org/officeDocument/2006/relationships/notesSlide" Target="/ppt/notesSlides/notesSlide24.xml" Id="Rb61e77776e6f46a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后测中位数（原文分值）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中位数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课堂主动学习</c:v>
                </c:pt>
                <c:pt idx="1">
                  <c:v>定制AI辅导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3.5</c:v>
                </c:pt>
                <c:pt idx="1">
                  <c:v>4.5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38E91-BC85-4A1D-A104-2F7E0BF6339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8F8F4-7AFD-4904-81C2-D0955A4973D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C1A37-9910-46D6-923C-9CE1588378C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85B1A-14D6-424B-87E8-0D0DBFA0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E3167-B337-4603-8197-3695777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文献检索、阅读与综述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8D2AD-484C-4BD9-9EF5-CE72DAED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5EF61-B48A-468E-9949-DBC6A5FE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科研问题需要一组可追溯的研究材料，文献工作要留下找到、读懂和比较的依据。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AF0AF-D331-4E08-9850-7884A215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B29CD-7E3E-4179-9736-DFBF7B92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检索与追踪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934E2-1B1D-493E-B296-DD5B01E9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原文与证据表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ECEEE-4A5C-4314-8C11-EB39BCE4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综述与引文核对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1C72E-6236-4F5F-8E2E-6AF2111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限定对象和结果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49A8C-8477-42E9-BA60-77AC8616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保存检索记录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735C7-432C-4D94-A59F-04849C26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标出原文位置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68F7B-2B62-4542-944B-41161F14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按问题组织结论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CA38D-5A62-4A60-A2CF-E6E46444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3D8D0-2B80-44AA-8CC2-F72831AA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研究者需要能解释：为什么选这些研究，哪些判断来自原文，哪些仍是推断。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511DD-7C22-4AA2-837F-8B83A5BE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交付材料：检索记录、文献条目、证据表、综述草稿和未决问题。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AEA59-68E5-4623-BA61-244E60F5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BD0A4-C014-451F-A4B0-A2C396A2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97067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21BC0-81B6-4F1C-8EC7-C2A816C8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F9E5F-9FF5-403B-B8E2-E43A1975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综述目的与检索范围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33AE-C991-45AF-999D-0F697C47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5C27A-301E-4D25-A34E-9A46609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为选题了解背景，与系统回答一个限定问题，需要的检索范围和记录强度不同。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62D7D-4EF6-4DD9-AB1C-7CCA3105A1B3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背景了解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掌握概念、主要观点与代表性研究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范围说明清楚，保留代表性来源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专题综述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围绕一个问题比较多类研究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交代选择逻辑和未覆盖范围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系统综述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按预设方案检索、筛选与综合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完整报告方法、排除理由与流程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DA910-9476-404E-9665-F329AA2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选择哪类综述，应由研究问题、时间和方法要求决定。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04A28-0DC8-423B-96A8-4D60FA2E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来源：PRISMA 2020官方说明；课程方法说明／教学示例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4A046-B7FD-4E05-8D29-C2301112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4395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BE30F-C3EE-4000-9912-1A73E9AADAA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659606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13934-BEF4-4B8D-A744-26675053A57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5119688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E9A06-EF2C-40F5-A684-16B855CF287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048250" y="364331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D5CC9-FD9F-48A2-B913-975C65DA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7F694-BFD6-4704-9DB3-5750725F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研究问题中的检索概念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36066-98C8-4231-AC51-DE6321D1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355C0-A555-4DD7-9C48-95974B21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先找必须同时出现的概念，再扩展同义表达。结果测量可以留到筛选阶段细分。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84BB2-B413-4738-B952-D611145F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D6F59-7742-4215-AE32-E6D4B260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generative AI、LLM、ChatGPT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0D3AA-5D83-4668-A81B-0234F7CD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学习／教学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73BD5-53A5-4E8E-9328-01493FA7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learning、education、tutor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586A6-8882-43E6-9C84-8B136FD7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目标情境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A46FA-DF08-4FB5-9AC2-1D43840F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191250"/>
            <a:ext cx="733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本科／高中／具体课程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5A75C-AEC0-4548-8484-19CB4D25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教学检索式需在所用数据库中试查，不能直接当作完整领域检索。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E20D6-B813-49A7-B34A-22658C5C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89DEF-3256-442E-900F-96DA499F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1863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96A5B-1F50-4718-87DA-D14130CAD51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6048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0D43D-C084-436C-B476-B710313199D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62500" y="6048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6594E-FC6C-4066-8A74-23C068DB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31446-3BDC-455F-89E6-1A8EA370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同义词与概念的组合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9DD26-AF2D-4761-BB1F-E233A11D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E69D1-BF13-49B1-B81E-43AE30C4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OR扩展一个概念，AND连接不同概念。排除词可能误删相关研究。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7C7BF-6525-42B7-917E-6A5F94F9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("generative AI" OR "large language model" OR ChatGPT)</a:t>
            </a:r>
          </a:p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AND</a:t>
            </a:r>
          </a:p>
          <a:p xmlns:a="http://schemas.openxmlformats.org/drawingml/2006/main">
            <a:pPr>
              <a:def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(learning OR education OR tutor*)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D989D-EE0A-4167-95D1-83BF8BE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一个概念内扩展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E2E20-B807-405F-A7EC-EF939562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概念之间相交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E9B89-F48A-49CA-9111-8C43A3A4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19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试查并检查遗漏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4C866-5C32-4863-B5B8-89EB348D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4F5E8-356C-4DD0-B0FC-291B4701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9C221-633D-429F-A572-84FB22F9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1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慎用NOT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C5EA2-0316-4B01-B728-243798DB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先用已知相关论文检查检索式，再记录调整理由。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2ADE4-6707-4D24-BA59-5C604AB1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来源：NLM PubMed用户指南及实际检索页；课程方法说明／教学示例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42434-3EAE-4D2A-9719-F712AE7F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8893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29EFE-B551-40A6-A365-B6B6B94E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995FB-729F-4C6A-9B35-0DAB7FCD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真实检索页：结果排序与范围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C0AC2-67DD-4E5F-AC8B-885D8AF6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B1314-C150-4231-A5F0-D761DAE3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一个宽泛查询会混入不同学科和文章类型。前几条结果需要逐条判断。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8B6CB-2BD9-4BE5-B553-B3CA8A12B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1e9a0928a4465"/>
          <a:stretch xmlns:a="http://schemas.openxmlformats.org/drawingml/2006/main"/>
        </p:blipFill>
        <p:spPr>
          <a:xfrm xmlns:a="http://schemas.openxmlformats.org/drawingml/2006/main">
            <a:off x="1091045" y="2952750"/>
            <a:ext cx="8485909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35740-30B5-457A-B3E1-106DAB26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3BB3C-A563-4F87-9020-9995D39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147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查询："generative AI"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6CA35-D6E4-4FE1-8565-C3577DFF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ED4AF-631B-40EB-A371-A42032F0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Best match排序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需要另查研究质量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30155-48C0-4C3C-B7FB-490AD47C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5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8D70E-6A5F-49DC-B7E4-F984E396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此处仅示范PubMed界面，教育主题还需补查学科数据库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2C889-E6E5-463F-A1FE-7C420F83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实际公开网页截图，2026-10-17；结果数会随数据库更新变化。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E4CE6-07E8-49CB-BDB4-7B9D0BA3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来源：NLM PubMed用户指南及实际检索页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255C9-9902-49C7-A6AB-6B6A9EC0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16300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0F196-03B7-47E8-9494-AB833FD0DBE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A11EC-2442-4E39-92E0-67AE53CA049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ED49C-5C8A-4797-BFAB-A31A4C8E5B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2B426-71B4-4DD3-B5C7-687E2998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3AE0C-E37E-45F0-B85D-5F4CF9ED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检索记录中的必要信息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14EFB-90F8-4461-AABE-AE1513B9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E932B-3957-42E5-9B04-F1ACFD6B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仅保存论文列表，通常不能复查它们是怎样被找到和筛选的。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8FAF-B904-4596-81B1-A0BCD3C5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数据库与日期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B06A3-43DA-4297-B919-9C02B7DE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完整检索式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E2869-D3B5-4E15-AB10-709D0502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筛选与导出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7EF22-C9F9-480B-AD91-3EDB34E3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后续修改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48A88-F54A-4B04-87D4-0EF2CE3B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写明平台和覆盖范围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D5917-CABD-47AA-8FB7-083806B5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保留字段、筛选条件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2287D-BE8E-4BA4-ACBC-E12DA63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记录文件名与排除理由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601A0-D6A0-45B1-9D34-C9137224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版本、原因和新增来源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DDABA-C002-4625-86B4-D18E8803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8679F-3C82-4CCD-8C6B-A583423F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记录实例：原始查询、网页实录与候选材料可以相互对应；预设查询另标待试查。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E859E-7FFE-407C-9903-A50C41A9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没有执行的查询标为待试查；无法获得全文的条目单独记录。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A5A1C-A5ED-4EA6-ACE1-69372104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35A58-272A-4BE1-AC73-73CA2319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2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CEA5C-4E5C-453A-B1F2-96772471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89C2D-D1FE-41E0-806B-C1F30EEA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关键词、语义与引文追踪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87D81-8445-4C18-B504-812FFA94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966CF-3908-406A-A7C9-A6FED998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关键词匹配可控制表达，语义检索发现近义内容，引文追踪补充前后关联研究。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9209F-2A65-4BED-9EB2-A9D3ECA7711E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术语、字段、短语与逻辑组合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检索式便于记录和修订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用自然语言描述问题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相关性仍取决于问题解释和收录范围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引文追踪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参考文献与后续引用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补查基础研究及后续检验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3891C-FB6D-40EB-99AB-7F072ACF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不同路径可能找到不同材料，合并后还要去重和筛选。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BD737-6995-47A7-97FB-3471714C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Thomas，2025，原始工作坊课件；Semantic Scholar官方FAQ；课程方法说明／教学示例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D8389-B69A-43A9-9320-440801DB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5426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1C01B-2919-43D2-AAEE-74F0FBA1DF7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334500" y="4881563"/>
            <a:ext cx="200025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EA551-5A20-4CB4-A51C-879AA3F7E84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34500" y="3548063"/>
            <a:ext cx="20002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A4249-93EB-4298-A0D9-A3DE2B9701C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05250" y="4976813"/>
            <a:ext cx="22860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59743-5CD6-4FEC-ABB2-4B7F9A65A09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905250" y="3548063"/>
            <a:ext cx="228600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6F07D-7E5A-4164-B24E-FC0AE752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CD8DA-9456-4361-B519-FABB9314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Connected Papers与引文图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30E4D-3783-41B0-8797-12555B01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DD140-7E5B-411B-877B-81DA3EDB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关联图帮助寻找相近论文，图上的邻近关系需要回论文确认。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FE39B-AFB5-4D7D-875B-87A7809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143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种子论文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598DC-B3AA-4254-8AF0-914344E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26A57-2D6F-47D8-B068-78089F75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00750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94199-C75D-4664-B46F-4BE60AFA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24375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ECBCE-0EFA-42D2-9CA6-7206AC14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相似关系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29573-319F-4C38-9DC0-43C212B6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邻近表示关联线索，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不能据此判定互相引用。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CB16B-E19D-417C-AF32-79A1043D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实际引用另核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69C3D-F317-477A-AE24-4AB6F6B2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00875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参考文献和被引记录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用于查明引用方向。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26A4E-D710-4525-83EE-8C1D7FAE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可编辑关系示意，非Connected Papers执行截图；节点不代表真实文献。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6C684-DB93-46D2-99BF-06588870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来源：Connected Papers官方About；课程方法说明／教学示例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A94F4-3DF9-4348-9CE0-53A3CB14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8007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E2167-0777-437E-9F66-1CC73438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FAECB-2A69-4488-B30F-42C78A5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Elicit入口的现行变化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C7643-2845-4C3E-8FF4-95DD6B6D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912FE-4366-4398-9ECE-EA2CE492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独立的Find Papers、Extract Data和Chat with Papers已并入Research Agent工作流。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76527-B42B-4D02-B130-0943611A3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bd6a31ec14e43"/>
          <a:stretch xmlns:a="http://schemas.openxmlformats.org/drawingml/2006/main"/>
        </p:blipFill>
        <p:spPr>
          <a:xfrm xmlns:a="http://schemas.openxmlformats.org/drawingml/2006/main">
            <a:off x="762000" y="3960495"/>
            <a:ext cx="9144000" cy="265176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28499-A8CC-4B12-AECE-9083346F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983EE-E3A4-466B-BD3B-28194F24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147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官方变更日期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2026-09-30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F5667-B903-4F94-BB75-57D62D62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7DF10-2809-41D3-8242-92DFFAE2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9587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新任务在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Research Agent中开始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24A52-0C35-436C-87BF-123F857C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53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5E7CD-1C74-4D2E-89FD-7C8C7CA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检索、提取和提问仍要核对来源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E04D6-F4A0-4ECA-A46E-308386A6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Elicit官方帮助页实录，2026-10-17；不是本项目Agent执行记录。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056B8-3CAE-4F37-B228-BDFBBE98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来源：Elicit官方说明，2026-09-30入口变更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92170-8A99-457B-A4B5-B80119DA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89920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2D52A-F2B2-4965-AF0F-B620DB5AF33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E35B7-FB57-4692-A2FA-7F6A68BBE36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9493F-F4DA-4B4B-85BA-11C32B4A909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4CB66-559C-4D61-B194-D7A9470E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A926D-5F87-48E4-9204-36985D5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带引文的答案怎样核对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03452-60D0-47CA-B3D4-497BE33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A5A43-CE64-4DF6-B495-7445BFDB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Consensus等工具可把检索与答案组织放在一起。引文链接只是核对的入口。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F05B5-324A-4FFE-AE01-068BC4D1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自然语言问题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CD6C1-AD4B-4F0A-96B1-50BDF775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检索到的研究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3A471-A532-40EC-99CD-3B549285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带引文的综合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263C4-0849-48C0-8289-C1F78E28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回原文检查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13837-F613-4427-AF74-FAE0614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说明对象与条件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BD7E5-C844-4ED3-9DF0-3AB04C19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核对相关性和覆盖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1C139-77F5-4181-86F4-0F337DFB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定位每个主要判断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F9B39-4CF9-4FF7-9456-B8D11CA6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看设计、结果与限制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27E3B-36B2-4415-99FD-E12C0D4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EA065-BD9F-4E97-804E-4B1B4AC6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核对顺序：先看引用了哪篇，再看原文是否包含该判断，最后检查条件有没有被省略。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BF45C-4035-4C4C-9621-A8CC72C8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模型给出的“多数支持”仍需检查分母、筛选范围和研究是否可比较。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D8840-4A2C-4DA2-A55C-955702A3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来源：Consensus官方说明，2026-09-10；课程方法说明／教学示例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8508A-B1BE-4CA4-8CE1-0C26EFB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16672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FD499-5A0F-4025-ABED-4D42BFC03D1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5214938"/>
            <a:ext cx="25717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07AEF-6E2F-4F3D-8FDB-FC7C09A460A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762500" y="4981575"/>
            <a:ext cx="2571750" cy="233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8ACCD-F44B-4D82-9043-E7F572E8602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24250"/>
            <a:ext cx="257175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E7C57-FADC-458A-80D4-BCD4A81B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D0B08-D954-4E93-9ACD-6B993D4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Semantic Scholar中的发现与阅读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841E7-4878-4E0C-BE07-BDAA9BBE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0F23B-536B-4D3B-ADAF-0FEB350C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论文条目、引用关系和辅助阅读信息可帮助定位材料，短摘要只适合初筛。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3B730-C499-407E-965E-51EE2022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论文条目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0C8E7-0A4F-4BA4-BE45-149F608F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引用与被引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9351A-544B-4213-BC57-4AA61072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寻找前后研究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44CD2-B1D5-49F1-971F-0A9AB16D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00575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原文链接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459D7-E8AF-49E6-95DB-C69BBC51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95925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检查可获取版本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DFA86-B1E8-464C-AD93-5C2EC5E9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5790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辅助摘要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3498F-826B-4E74-88E6-81856F4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9532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回正文补足条件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5E28D-BDAE-4B4D-827B-A5F2F2B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核对题名与作者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2070E-3F95-4D3D-9CDB-1BC552EA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辅助阅读信息可节省定位时间，关键主张仍需原文位置。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D35B3-DF5D-43CD-9C4F-0869777A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来源：Semantic Scholar官方FAQ；课程方法说明／教学示例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A9D46-0BAC-4E0D-AEBB-4BBF4BAA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49887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0F5F0-B5C4-4D30-84E9-8C6B88FA4F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5214938"/>
            <a:ext cx="2571750" cy="1223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D76B6-7132-4659-91CF-B3729DFB60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762500" y="4981575"/>
            <a:ext cx="2571750" cy="2333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C6C37-8B5B-4565-BBEA-566380BAF7D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24250"/>
            <a:ext cx="257175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5FC56-E5D5-4FF9-A190-A756CDFD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B0B71-290E-4D4B-B970-387A26DF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Zotero中的条目、附件与笔记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3808A-3A68-423D-BDCA-E396C529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567C5-F76B-4DD6-A7CE-01DD41C7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文献条目保存身份信息，附件保存原文，笔记保存阅读判断与证据位置。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D8098-64BE-4BB6-9D80-C5C55787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文献条目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7AAB2-7C83-42A9-9586-AE90536C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题名／作者／DOI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A0C4B-96E9-4F86-BD9B-5E1D5D98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核对自动获取的元数据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BE724-9E7C-42BB-83E9-8987EBBA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00575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原文与补充材料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AD334-1349-4CE7-BFB1-AE171420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95925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记录版本及获取来源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D92B9-BA58-4E27-ACC3-73992263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57900"/>
            <a:ext cx="714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带位置的阅读笔记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837A5-6CC6-4998-91A5-A3EC9900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9532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区分原文与自己的推断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0DE60-EED2-4C55-9D64-3DBF8928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同一条目可属于多个集合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F952E-5769-4421-9C79-0D6BD79A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文献管理解决保存与引用问题，条目仍需对照出版记录核查。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7C57C-DCA0-42E7-90EE-144989FB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来源：Zotero官方使用说明；课程方法说明／教学示例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FF6ED-D8EE-4CDF-8A59-A757A38C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72696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8B3D4-381B-4059-A1C5-E96FB449B7A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6357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B8E10-00FE-4D47-8660-E1FAA82D49D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858500" y="3595688"/>
            <a:ext cx="5715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6F31F-9CA8-4516-A7EF-19ED011425C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953000" y="4905375"/>
            <a:ext cx="2095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5ABA6-4BF8-4612-A379-FED6827B7A4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953000" y="3595688"/>
            <a:ext cx="2095500" cy="1309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346CC-1793-4536-94A4-0D036A9E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5FF0D-0074-4318-A6EF-50A95439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去重与版本关系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44C16-F171-41D3-A2F3-792E0D35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ACD8B-FE39-4F09-B975-2487DB26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题名接近的记录可能是重复导入，也可能是预印本、正式论文或更正通知。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FE1DE-0339-4CB6-8C6F-991CA867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记录疑似重复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FD870-3893-413C-951D-4BFFF964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同一研究同一版本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A659A-5141-4495-AA94-A8F8078B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90875"/>
            <a:ext cx="304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合并条目并保留附件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80338-F351-4C6A-82BD-46DB932A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53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不同版本或更新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E4747-3343-41DD-ABEE-393D52A2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810250"/>
            <a:ext cx="304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记录对应关系与差别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8D847-D7F0-4589-8D6E-BF97AF6E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去重操作应保留记录；版本不同的结果需回原文逐项核对。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A8A24-62E3-45B6-A9D6-5930056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3C8F0-4BED-4204-B787-9A04A2BD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27167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D86F0-1FE7-4D53-B0E8-518FD16E802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91B55-1D23-474D-8BE3-F12DFDAFCF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7FFDD-2648-4CA0-9344-03E6AF91345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59D2D-096C-4125-BD86-A369E345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EC6B3-7908-4BB5-8C65-3A84211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纳入、排除与全文缺失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72AF2-CB38-4EBA-AB50-E5D3691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E489C-1F05-4416-9D21-BF398A69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题录初筛、全文判断与证据提取是不同步骤，每一步都可能留下未决条目。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D9E62-D37F-4077-9944-F4F7399D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题录与摘要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BB8AA-B389-470D-977B-15F2A9F5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全文是否可得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567B5-4EA2-4FCD-BC15-1DB76697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符合问题范围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DDC93-E36B-4D7D-A559-DF087726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进入证据表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1AC0F-68B2-490E-9E5A-7290A7CC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检查对象与主题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09289-5FE9-47E4-B489-8771FC5F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缺失全文另列待取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1FE52-63E0-42FC-B331-47D4385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记下排除的具体理由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A8A25-529D-48CF-9FBB-33C9D5C8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保存原文位置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38D34-E5F6-4845-A567-928ABE0A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72250"/>
            <a:ext cx="657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全文缺失／范围不符／信息不清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57A24-9F66-4A88-9D9E-18F37FE1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分别记录原因和下一步处理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2D03F-6B10-43A5-A4CF-B5FFD04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流程示意，无虚构筛选数量；全文未取到与研究不符合需分别记录。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E26CD-031B-4BA7-8768-8BE8E9B7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来源：PRISMA 2020官方说明；课程方法说明／教学示例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432E4-FEAA-4AAF-8FE4-44FBAC29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92670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650DC-B1C3-4DB4-BC83-6327DB3795A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6A49F-8815-470F-A0D4-FC50CB62110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B04A6-F855-4316-B160-449DDBA8DC2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BD6E8-E2C9-4901-AEDC-BD8A2403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A06A4-6760-4889-AD46-37DE1DCC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一篇论文的阅读顺序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CD6F7-D479-419C-9D58-CCA4B33F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2120F-F0FF-4C83-8701-B14B8AA6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先判断论文在回答什么，再查设计和结果，最后解释作者结论适用到哪里。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E6D08-8326-4962-ADEE-C7A0F3E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问题与研究对象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D1389-B12E-47C4-8BEB-BBB23293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方法与比较条件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AF7BD-C219-414A-B594-5533F8F5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主要结果与图表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CA35D-C9F9-42EC-A10A-69BC7317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限制与适用范围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C7153-89EE-4B32-969F-D77A19ED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记录作者真正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D69DF-2558-43DB-B308-14AA864A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看分组、测量与排除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2D13E-4DFE-4C3A-9D09-774928BD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核对数值、单位和分母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0043B-CE70-4348-8201-A172F27C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区分结果、解释与推测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E2FFE-CF41-4C6D-A065-5B8810BC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CCA56-6DF3-45B5-A04F-529D7F8B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阅读笔记中把原文事实和自己的解释分开，避免写综述时找不到依据。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D2A65-E2CD-4C1A-B702-9EA19C51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笔记至少保留：原文位置、自己的转述和仍不确定的地方。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F67FC-F7D0-4A20-8DFE-CEF7A025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EF656-5915-4B89-9BC1-3E108D55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48597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33F19-757C-4575-88DC-312C9A4459B0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810750" y="68008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1165E-0A53-44A4-8791-00D2DC6AE17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810750" y="57054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CA810-DBE0-405A-AB32-FA73A60923D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810750" y="46101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8AAD0-A117-46B8-94C1-5DA5A7DEDBF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810750" y="35147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3EBB7-79E0-495D-9B45-FCBB24A2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1885D-3BAE-4CF7-8D3D-B0AC981D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证据提取中的定位信息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C43A1-7CDC-45EA-96CD-537E1A00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F14C3-24B5-465F-86BF-4FF52DA7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同一句“提高学习表现”，需要补出对象、比较条件、测量时点和结论范围。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40D14-EDEA-462D-8CF5-26C1B363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A2486-4DF4-46C3-8FBA-F49D568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土耳其一所高中的数学教学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BA73D-85F3-4E34-8D05-14D6010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Experimental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79774-73B1-4844-8A30-64AFB8C8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2D9A3-2BC3-4245-99DD-D6DCCA28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Base、Tutor与无生成式AI资源组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83B43-B8C3-4EEE-BE3E-A0D6E49D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386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Experimental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19CF1-6FDD-43DC-9A2D-F21417E7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DE273-98A9-473A-889C-ADBF31E6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有帮助的练习与撤去资源的测验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4028D-4248-4730-8B3B-FC08181A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3340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Abstract、Table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B7690-0C8A-4F67-BE2E-C62197BE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限定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AAD97-C481-47C4-BF49-23B90690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429375"/>
            <a:ext cx="695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特定工具、学校和教学任务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4BBC8-55E9-4702-BBA6-47D6922A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课程解读：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外推需证据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DDCFE-A748-498A-9946-CB264EB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公开真实研究的中文提取示例；定位到段落或表格后再引用。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175A85-3DD3-4B38-81E2-112C357D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2025；课程方法说明／教学示例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E8E36-F60C-450E-8A0B-C715AC71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877895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EE561-C111-4D04-A345-91AB100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B4620-67AE-418D-A7C6-4D019A0E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两篇研究的设计比较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673DA-914B-4901-9163-A2319D2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A77D5-250C-497F-8F91-07254A9D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两项研究都讨论AI学习，但人群、对照条件和测量安排不同。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2A7A0-3BC4-4D7B-AD77-5EEFABF30204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429250"/>
                <a:gridCol w="54292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Bastani等，2025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Kestin等，2025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对象／学科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土耳其高中数学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Harvard本科入门物理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比较条件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两种AI辅导与无AI资源组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定制AI辅导与课堂主动学习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有帮助练习／无资源测验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课程内容的前测与后测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解释范围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工具设计与独立表现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定制辅导的特定课堂比较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7E4CA-2AB0-4705-9783-A80D0811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两篇为比较教学案例，未覆盖全部相关文献，不构成系统综述。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9E586-FB00-43B2-9E18-C29BAFE4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A030A-76B2-4E25-839B-D79BD150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106142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A941A-3DD2-43A3-B0B1-AFEE7960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B16D1-6B3D-4DF4-85FB-922D7958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真实数据：一张后测成绩图怎样读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2DB05-70F0-438F-AE14-B98888B3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0D06A-3E30-408C-A6D8-8B7F10A6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Harvard本科物理研究：比较定制AI辅导与课堂主动学习，先核对统计量与记录单位。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DE4EDAF-E0C2-4FEA-8D32-9F3BCAC34BB9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8096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5c121ebbfb432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30D0B-0105-42D4-A79C-12A715BB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2390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174条记录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4BF4B-A3F7-4046-B15C-93EC2515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2390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142条记录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4E267-5B25-4A17-9EA8-82ED2D7C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90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先看统计量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E2AFF-BCE8-4B42-94EE-B8C7D556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814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中位数是排列后居中的分数。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3.5与4.5是分值，不是百分比。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29276-D335-4B51-983B-AB4473B3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33950"/>
            <a:ext cx="4762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418DF-2BA8-4706-80E0-67D4A957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197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再看记录单位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1A31D-F696-4317-BD52-F82F2DA2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10250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316条记录来自194个编号。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合并前测中位数为2.75。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并非每个编号都有两条记录。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5BD24-6B2A-4843-B1F9-652C83CB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作者公开数据的描述统计复算；未复现全部回归，未重新实施实验。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AA17D-75C4-4A26-846C-BEA48D2F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来源：Kestin等，Scientific Reports 2025；Kestin作者数据，本地复算2026-10-19；UCL Thomas，2025，原始工作坊课件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4331B-5D19-435E-8905-68CCB80B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334912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3F21F-7BFE-43A5-B376-525678AC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CC7E3-7D73-419B-A008-6E97E5CF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一条研究结论的证据登记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E2C56-0D02-4B24-9606-90F763D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4B4C8-5ECF-49CD-A21A-BF60F4E5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以“定制AI辅导的后测中位数较高”为例，分开记录已核事实、解释与待查问题。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B60C9-B004-40BA-A065-E507E2632941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4667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主要内容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原文与数据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后测中位数3.5与4.5；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记录数174与142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Results对应段；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公开文件post_score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课程解释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特定课程中的两种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教学条件比较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保留对象、对照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及后测时点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仍待核对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194个编号、316行；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72个编号只出现一次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核查纳入与行记录关系；</a:t>
                      </a:r>
                    </a:p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不补造缺失原因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323F4-5B9D-43AD-B24F-B9251FC4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复算结果相符，仍要检查设计与材料缺口；72个单次编号保留为待核事项。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C820A-45A9-42F7-AB7C-C8906C90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来源：Kestin等，Scientific Reports 2025；Kestin作者数据，本地复算2026-10-19；课程方法说明／教学示例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D165D-C990-476B-92E6-FBCA1B9A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655349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9F698-E517-4CED-9A8D-F1B24483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7ACCC-4F65-4B2C-8954-F71C8D42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综述段落的组织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ECCA8-F60A-4909-B59F-D3FF3EB8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2F44D-7965-4379-93FB-56CC867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按研究问题组织证据，说明差异发生在哪个条件下。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CAB7-5986-4D6A-ACAE-435C78A3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逐篇列举，信息停留在主题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CD7DF-B757-470B-970E-684BF5F5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研究甲讨论了AI教育。研究乙也讨论了AI教育。两项研究都很有意义，未来值得深入研究。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F88B8-16D4-49AA-8E54-B2C4F9F6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4C868-2C6A-4E0B-BB88-989D2060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围绕比较条件组织证据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E1E1B-F37D-4793-967F-DB9490A3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AI辅导，需要先说明比较条件与测量时点。高中数学研究区分有帮助的练习和撤去资源的测验（Bastani等，2025）；本科物理研究中，定制AI辅导与课堂主动学习的后测中位数为4.5和3.5（Kestin等，2025）。这些结果回答的问题不同，不能合成“AI对所有学生都有效”的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A27ED-9B43-4ABA-8F86-F3C64F6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课程编写的综述示例，附具体研究出处，未宣称代表整个领域。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6B081-B52B-4194-A6C2-4BA17789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2025；Kestin作者数据，本地复算2026-10-19；课程方法说明／教学示例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08EAD-B24C-4745-B716-9A532985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297903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B9A82-53C1-4BDC-B538-6999BB54530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D7B37-53C3-4712-9355-8401445D8B5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AF79F-19BC-4ACD-B4FF-F4399C7D40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CDE7E-A56D-466C-BF44-05742A3D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DADF3-6A11-403A-B14E-582ABB9C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一条引文的核验过程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2165D-BC57-44BE-AF93-6D8C6BFD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5D94D-492F-459A-8D94-489448EC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文章身份、发表状态和主张支持是三个需要分别回答的问题。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5ED43-29E0-49CA-AB05-89F709E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题名与DOI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F5F6F-EFE3-47AF-82AB-6B40C60C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作者、年份与版本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E2FAF-1914-416D-A4D8-F543861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更新或撤稿状态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8C36B-2233-4F3E-9B94-8C8CE6DB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原文能否支持主张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32076-ED0E-4AE8-A428-3861C315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找到原始出版记录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91452-219E-40FB-8166-EF65CE23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核对条目是否错配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8BC08-5FCB-400D-BDD2-D598D789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查出版商与更新记录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DF0F2-0FA0-47D0-BD51-2E6F69A9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看对象、结果和限定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5AFF1-9FA9-4B5D-9E3D-8E9ADA27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9A413-AF38-49EF-9540-0AA7664B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引文真实性与主张支持分别检查，不能用DOI可解析代替原文核查。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120BE-99A1-4931-8047-FD77B130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核验结果应分别记录：身份、版本、更新状态与主张支持情况。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F5E66-2057-45E3-9163-37FE853C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9347A-E27B-4C8B-8D8E-D6543024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294597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973A9-4018-45E8-870B-D42D5DDA61D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29750" y="3714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20DBB-36B2-4D24-97D5-2874CC3DF7C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381500" y="3714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C488D-C6A2-423D-B6BE-6E7E21E5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A5696-B0A6-4466-880F-8359B58A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研究空白与反证检索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E1D94-E39F-48BA-9722-E90374ED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53AD8-B31D-4F08-8AFA-A886C2DD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一句“尚无研究”需要主动寻找反例，并回到原始研究核对。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E13DF-A6BA-437A-BC1A-C737AB6C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待核查的空白断言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2C58B-1A6A-40F5-84AB-89B44FAC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查找反例与原文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AD6F1-0290-41A8-90E3-376CAB67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33750"/>
            <a:ext cx="361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修订研究问题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B54A3-C188-47D5-990C-5B0F2BBC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高校没有AI辅导</a:t>
            </a:r>
          </a:p>
          <a:p xmlns:a="http://schemas.openxmlformats.org/drawingml/2006/main">
            <a:pPr>
              <a:def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实证研究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B5059-CB9D-46AA-963F-AA65BE0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14875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Kestin等已报告本科物理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随机对照研究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B8346-E6E9-41ED-8A1B-ED2A9BD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714875"/>
            <a:ext cx="361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继续核查特定课程、工具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及延后测量的未回答问题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83B2F-3829-4EA9-9CD2-179253CC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反证检索：同义表达、前后引文、近期论文和预印本都要考虑。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AD32E-86F3-4BC7-ADF1-F46E8D9F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反例能推翻过宽的空白表述；收窄问题后还需继续检索。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6E4B9-9871-46B8-A7DC-CA9DC92D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2025；Kestin等，Scientific Reports 2025；课程方法说明／教学示例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1DDFA-DF81-4AA1-ABEA-47E1FBD6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000312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552F1-314D-4F6D-957B-762CBE956D37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5C4A3-9AC5-4333-BB75-9E9DB0EAE8C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992B1-FF49-49CB-BB56-4F5ACA538EA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9482E-9896-4F98-810B-43EF8042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66651-0DB9-4356-AAB9-B9806B83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文献Agent的材料流转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9BC4A-A9A7-46CF-B4E2-D570713B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37767-5086-41FB-AADB-936CC0EC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检索、筛选、提取和写作需要保存中间材料，才能检查遗漏与错误。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D10CE-A4FD-4BF0-B4CF-FC549BD5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问题与检索范围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8679D-F006-4AAF-946F-86A63EDB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输入与版本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5F1E4-6175-49A9-BD0C-B1EA498D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候选记录与全文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676F1-1554-4FE0-A0D2-663EFAF6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去重和纳入依据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CDF0B-3D79-4869-B3FB-68399D84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证据矩阵与缺口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0729C-2A6A-4DFA-87FE-99A9AEF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原文位置及信息状态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76B9D-B8F8-4293-9B89-2F7E10C5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综述草稿与核验表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EB6D1-7561-4CFA-A41E-A6F93DB4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引文支持与未决事项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3DE6E-D66C-4DDD-BF51-72E3C84E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流程示意：失败和缺失也要进入记录，不能用生成文本替代未取得的原文。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9B188-D912-4C3C-9C79-7713F7B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来源：UCL Thomas，2025，原始工作坊课件；课程方法说明／教学示例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67DE4-F58B-40C4-B796-6F57895B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392402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4D491-623C-43AA-8AD4-E99AFAB8DD84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91B1C-1164-4D89-A182-960218755ABC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DF466-38FA-4BA0-9892-9332FBB0C41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896B0-1AAC-4D36-AAA8-E320CB10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  文献检索、阅读与综述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2CC5B-666C-4C1E-87B9-F83AF14D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一份可检查的文献工作包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7993F-7C35-4BF5-B7EA-FBDB198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9E0C6-664A-4C23-B64F-219787B1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交付时应能追查材料来源、比较依据，以及仍然没有解决的问题。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8AA3D-9AFA-4F99-8ED8-E95889DC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7222A-8A26-4644-A915-0D83EC86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检索式、日期、筛选条件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B9696-5058-4411-8436-C9295042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文献与版本清单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63B22-A3EF-4505-B59E-B1073053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DOI、来源与全文状态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8FF8B-F69B-4D6A-BEEE-33A2AA9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证据矩阵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602D4-6D75-44B5-B568-CFC1B83E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设计、结果、原文位置与复算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BD437-BF60-4170-94B6-6BFB41AA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综述与问题清单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23247-29A0-4921-BD48-A27278E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支持的结论和待补材料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5AFAD-0E0C-4A58-BC40-43B8DE6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下一节：依据已有研究与资源条件，安排研究对象、比较和测量。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63583-A20F-41A9-B95C-7D7CB148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7C1D4-2EFC-4EBE-BDB1-B87BB2DC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38720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2026-10-19T10:32:58.5680000Z</dcterms:created>
  <dcterms:modified xsi:type="dcterms:W3CDTF">2026-10-19T10:32:58.5680000Z</dcterms:modified>
</coreProperties>
</file>