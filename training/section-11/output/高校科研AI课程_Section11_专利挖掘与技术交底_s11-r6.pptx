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839839f92d4942" /><Relationship Type="http://schemas.openxmlformats.org/officeDocument/2006/relationships/extended-properties" Target="/docProps/app.xml" Id="R8a4e80f52f3d42a5" /><Relationship Type="http://schemas.openxmlformats.org/officeDocument/2006/relationships/officeDocument" Target="/ppt/presentation.xml" Id="R81ff61bc989e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e7c3c87ff408c"/>
  </p:sldMasterIdLst>
  <p:notesMasterIdLst>
    <p:notesMasterId xmlns:r="http://schemas.openxmlformats.org/officeDocument/2006/relationships" r:id="R5b08989a761d4fac"/>
  </p:notesMasterIdLst>
  <p:sldIdLst>
    <p:sldId xmlns:r="http://schemas.openxmlformats.org/officeDocument/2006/relationships" id="256" r:id="Re2779b33f56c4226"/>
    <p:sldId xmlns:r="http://schemas.openxmlformats.org/officeDocument/2006/relationships" id="257" r:id="R34fb9c3c03604fc8"/>
    <p:sldId xmlns:r="http://schemas.openxmlformats.org/officeDocument/2006/relationships" id="258" r:id="Rd36a4bf05d6143ed"/>
    <p:sldId xmlns:r="http://schemas.openxmlformats.org/officeDocument/2006/relationships" id="259" r:id="R3e4ce8fe9b674480"/>
    <p:sldId xmlns:r="http://schemas.openxmlformats.org/officeDocument/2006/relationships" id="260" r:id="R90a5960a4dd540f9"/>
    <p:sldId xmlns:r="http://schemas.openxmlformats.org/officeDocument/2006/relationships" id="261" r:id="R22f3778e68f6446e"/>
    <p:sldId xmlns:r="http://schemas.openxmlformats.org/officeDocument/2006/relationships" id="262" r:id="Rba4b800e13714eac"/>
    <p:sldId xmlns:r="http://schemas.openxmlformats.org/officeDocument/2006/relationships" id="263" r:id="Rd4cc9dd9b9d4494f"/>
    <p:sldId xmlns:r="http://schemas.openxmlformats.org/officeDocument/2006/relationships" id="264" r:id="R3a35d479c6264b83"/>
    <p:sldId xmlns:r="http://schemas.openxmlformats.org/officeDocument/2006/relationships" id="265" r:id="Rca063a59c4c34b33"/>
    <p:sldId xmlns:r="http://schemas.openxmlformats.org/officeDocument/2006/relationships" id="266" r:id="R88f2a36a314d440f"/>
    <p:sldId xmlns:r="http://schemas.openxmlformats.org/officeDocument/2006/relationships" id="267" r:id="Rb56b311f12f041f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ecd5663b044b06" /><Relationship Type="http://schemas.openxmlformats.org/officeDocument/2006/relationships/slideMaster" Target="/ppt/slideMasters/slideMaster1.xml" Id="Rde3e7c3c87ff408c" /><Relationship Type="http://schemas.openxmlformats.org/officeDocument/2006/relationships/notesMaster" Target="/ppt/notesMasters/notesMaster1.xml" Id="R5b08989a761d4fac" /><Relationship Type="http://schemas.openxmlformats.org/officeDocument/2006/relationships/presProps" Target="/ppt/presProps.xml" Id="R0f5ad17626554981" /><Relationship Type="http://schemas.openxmlformats.org/officeDocument/2006/relationships/tableStyles" Target="/ppt/tableStyles.xml" Id="Rab577d1b42db4c64" /><Relationship Type="http://schemas.openxmlformats.org/officeDocument/2006/relationships/slide" Target="/ppt/slides/slide1.xml" Id="Re2779b33f56c4226" /><Relationship Type="http://schemas.openxmlformats.org/officeDocument/2006/relationships/slide" Target="/ppt/slides/slide2.xml" Id="R34fb9c3c03604fc8" /><Relationship Type="http://schemas.openxmlformats.org/officeDocument/2006/relationships/slide" Target="/ppt/slides/slide3.xml" Id="Rd36a4bf05d6143ed" /><Relationship Type="http://schemas.openxmlformats.org/officeDocument/2006/relationships/slide" Target="/ppt/slides/slide4.xml" Id="R3e4ce8fe9b674480" /><Relationship Type="http://schemas.openxmlformats.org/officeDocument/2006/relationships/slide" Target="/ppt/slides/slide5.xml" Id="R90a5960a4dd540f9" /><Relationship Type="http://schemas.openxmlformats.org/officeDocument/2006/relationships/slide" Target="/ppt/slides/slide6.xml" Id="R22f3778e68f6446e" /><Relationship Type="http://schemas.openxmlformats.org/officeDocument/2006/relationships/slide" Target="/ppt/slides/slide7.xml" Id="Rba4b800e13714eac" /><Relationship Type="http://schemas.openxmlformats.org/officeDocument/2006/relationships/slide" Target="/ppt/slides/slide8.xml" Id="Rd4cc9dd9b9d4494f" /><Relationship Type="http://schemas.openxmlformats.org/officeDocument/2006/relationships/slide" Target="/ppt/slides/slide9.xml" Id="R3a35d479c6264b83" /><Relationship Type="http://schemas.openxmlformats.org/officeDocument/2006/relationships/slide" Target="/ppt/slides/slide10.xml" Id="Rca063a59c4c34b33" /><Relationship Type="http://schemas.openxmlformats.org/officeDocument/2006/relationships/slide" Target="/ppt/slides/slide11.xml" Id="R88f2a36a314d440f" /><Relationship Type="http://schemas.openxmlformats.org/officeDocument/2006/relationships/slide" Target="/ppt/slides/slide12.xml" Id="Rb56b311f12f0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d01c66a7cf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0ac80c7cf049df" /><Relationship Type="http://schemas.openxmlformats.org/officeDocument/2006/relationships/notesMaster" Target="/ppt/notesMasters/notesMaster1.xml" Id="R91981748509843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7eb3faeb845d3" /><Relationship Type="http://schemas.openxmlformats.org/officeDocument/2006/relationships/notesMaster" Target="/ppt/notesMasters/notesMaster1.xml" Id="Rd4677a35a9cb4b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465d757b294d18" /><Relationship Type="http://schemas.openxmlformats.org/officeDocument/2006/relationships/notesMaster" Target="/ppt/notesMasters/notesMaster1.xml" Id="Rf0afb2fa49884d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51de4d4a04118" /><Relationship Type="http://schemas.openxmlformats.org/officeDocument/2006/relationships/notesMaster" Target="/ppt/notesMasters/notesMaster1.xml" Id="R45fb60142e65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ef2e34fc8b412b" /><Relationship Type="http://schemas.openxmlformats.org/officeDocument/2006/relationships/notesMaster" Target="/ppt/notesMasters/notesMaster1.xml" Id="R3f88701099a5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810eb192e64d37" /><Relationship Type="http://schemas.openxmlformats.org/officeDocument/2006/relationships/notesMaster" Target="/ppt/notesMasters/notesMaster1.xml" Id="R1d2e300f87944c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b205c3b6d6482e" /><Relationship Type="http://schemas.openxmlformats.org/officeDocument/2006/relationships/notesMaster" Target="/ppt/notesMasters/notesMaster1.xml" Id="Rfa1bf6108ed848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87b4427178417d" /><Relationship Type="http://schemas.openxmlformats.org/officeDocument/2006/relationships/notesMaster" Target="/ppt/notesMasters/notesMaster1.xml" Id="Rd5eb97b1b07c4d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cb02b919de4658" /><Relationship Type="http://schemas.openxmlformats.org/officeDocument/2006/relationships/notesMaster" Target="/ppt/notesMasters/notesMaster1.xml" Id="R7953f17313fb4c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5f3bfab8144da7" /><Relationship Type="http://schemas.openxmlformats.org/officeDocument/2006/relationships/notesMaster" Target="/ppt/notesMasters/notesMaster1.xml" Id="Rfcd966f8a53447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2aeab5ddaf4359" /><Relationship Type="http://schemas.openxmlformats.org/officeDocument/2006/relationships/notesMaster" Target="/ppt/notesMasters/notesMaster1.xml" Id="R710ac599b18544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4f7afde6014d0a" /><Relationship Type="http://schemas.openxmlformats.org/officeDocument/2006/relationships/notesMaster" Target="/ppt/notesMasters/notesMaster1.xml" Id="Rd8ae4678602d42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本节围绕离心机检测案例，展示公开专利和课程设想的区别。发明挖掘从实际技术问题、方案和证据出发。交底材料供发明人与单位、代理专业人员沟通，不自动成为申请文件或授权结论。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二条说明发明是产品、方法或改进的技术方案；第22条规定新颖性、创造性、实用性；第26条说明充分公开和权利要求以说明书为依据；第64条保护范围以权利要求为准。交底书不是法定申请文件的替代物。发明、实用新型、外观设计对象不同，须依具体成果选择，AI不能直接判断所属类型或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O原文EP4636367A1，2025年10月22日公开。第17页图2包含样品处理部件、驱动、振动传感器和处理器。第14页权利要求1、3、4依次涉及至少两个自由度数据、训练模型及特征表示；第15页权利要求11涉及依据运行状态停止设备。本页只解释公开内容，不确认当前法律状态或据此分析侵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本次实际网络检索centrifuge imbalance sensor controller stop，找到US7255669B2及EP4636367A1。后者有EPO原文；前者读取Google Patents的授权文献说明书、权利要求与公开日期。检索非查全，未系统覆盖全部数据库、同族、引证和法律状态。分类B04B9/14来自EP首页，可作为扩展线索。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读US7255669B2完整权利要求15，补上机架、阻尼支撑、驱动与转动件，以及超幅振动造成部件接触并检测冲击的结构限定。该项是独立权利要求；表中只是已读部分，不是完整保护范围解释。EP权利要求1不要求必须采用机器学习，权3引用前项并加训练模型，权4引用3并加特征表示，权11引用前述任一项并增加停止操作，不能说所有权11组合都要求训练模型。未作法律状态、侵权或专利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拟讨论传感器丢帧或饱和时的有效性检查；这只是追问方向，未核验是否已有公开，不称新发明点。追问安装位置和连接、时间标记、失效门槛、控制请求、恢复策略、区别和证据。未知信息保留待补，不由AI生成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从patent-packet/diagrams/flow.json读取6个节点及6条连接。S1读取传感数据与时间标记，S2判断有效性，有效路径S3识别运行状态，异常路径S4记录传感故障；两条路径汇入处理请求。如何响应、制动和恢复尚待设备设计和试验。PPT为原生对象，Word嵌入同源PNG，draw.io、SVG和JSON另附。标记对应实施说明，没有硬件或控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读取、S2有效性、S3正常识别、S4故障记录，与第7页节点逐项对应；两条路径均形成控制处理请求。安装位置、采样、时间窗口、判断门槛、接口和制动恢复均没有实际材料，故不补造参数。图文一致只是整理检查，教学稿尚不能据此实现真实设备，也不声称符合充分公开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传感故障识别、误报漏报、处理延迟等应讨论的证据维度，全部待提供。未设计或实施实际台架实验。不把预计改善写成已证明性能，也不将其他专利的试验结果归给本例。Humanizer可把“显著提升”改成拟检查的具体问题，不能造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本页用真实EP4636367A1权利要求1、3、4演示选定引用链。权3原文引用any preceding claim，即1或2；此图只画其引用1的路径，未画2。权4明确引用3并加特征表示。权11引用前述任一项，即1至10；图下文字只说明它加上停止动作，没有把它画成必须依赖4。图是公开文本的中文阅读节选，不是本教学方案的权利要求草案。所有拟写特征还需在说明书和附图找到实现依据；本例未起草正式权利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Codex重读两份既有公开专利的指定条款和WIPO课件具体页面，不冒称进行了新的全面检索。本地重新运行脚本，读取已编写JSON与自编Word模板，核对结构、填充现成文字并附同源流程图，保存来源、问题、图和Word哈希。没有外部模型调用或专利性审查，同名Skill说明也不是独立自主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Section11实际本地文件执行记录</a:t>
            </a:r>
          </a:p>
          <a:p xmlns:a="http://schemas.openxmlformats.org/drawingml/2006/main">
            <a:r>
              <a:t>local:training/section-11/execution-evidence.json</a:t>
            </a:r>
          </a:p>
          <a:p xmlns:a="http://schemas.openxmlformats.org/drawingml/2006/main">
            <a:r>
              <a:t>定位：run_demo.py、来源账本、问题清单、Word与哈希；脚本只做结构检查及填充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6条涉及职务发明，第22条涉及现有技术，第24条例外适用有条件，不是所有公开都有六个月通用宽限期。课堂不作个案权属或期限建议。实际发明材料先在授权范围内整理，向单位成果转化部门和专业人员提供真实贡献、合同与公开时间线。下一节项目执行与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1ec200ca54c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8de4c9aa340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3e0d1f5674b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4be4f85724a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90576a6f642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8a227d1e646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41B670-4927-43E9-B36E-E948E8611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3E7E2F-07E0-4437-A608-634E3AA4C3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FC99AC-9B0E-4616-9370-28455829E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535BD7-453A-4670-9863-96C909FEC9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A5A4DA-E893-4BED-A79F-799DF4E95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AF9B6B-A72F-4730-BCF4-60B0D6B49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0A0040-EA47-4E08-8570-5A05CCC2D4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82A812-721E-44C6-8FB3-A2A28923E0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8BE61-509B-4F1E-B12F-76FC8B9F8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24C120-5C9F-4910-A360-820E0AD97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70adbe60cc4570" /><Relationship Type="http://schemas.openxmlformats.org/officeDocument/2006/relationships/slideLayout" Target="/ppt/slideLayouts/slideLayout1.xml" Id="Ra60de0a577da4e47" /><Relationship Type="http://schemas.openxmlformats.org/officeDocument/2006/relationships/slideLayout" Target="/ppt/slideLayouts/slideLayout2.xml" Id="Rd9fa9e54f9a94132" /><Relationship Type="http://schemas.openxmlformats.org/officeDocument/2006/relationships/slideLayout" Target="/ppt/slideLayouts/slideLayout3.xml" Id="R8e635b7f44d349b6" /><Relationship Type="http://schemas.openxmlformats.org/officeDocument/2006/relationships/slideLayout" Target="/ppt/slideLayouts/slideLayout4.xml" Id="Rabb28386070646c5" /><Relationship Type="http://schemas.openxmlformats.org/officeDocument/2006/relationships/slideLayout" Target="/ppt/slideLayouts/slideLayout5.xml" Id="R555838fcdad64362" /><Relationship Type="http://schemas.openxmlformats.org/officeDocument/2006/relationships/slideLayout" Target="/ppt/slideLayouts/slideLayout6.xml" Id="R6211d3e832e24c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de0a577da4e47"/>
    <p:sldLayoutId xmlns:r="http://schemas.openxmlformats.org/officeDocument/2006/relationships" id="2147483650" r:id="Rd9fa9e54f9a94132"/>
    <p:sldLayoutId xmlns:r="http://schemas.openxmlformats.org/officeDocument/2006/relationships" id="2147483651" r:id="R8e635b7f44d349b6"/>
    <p:sldLayoutId xmlns:r="http://schemas.openxmlformats.org/officeDocument/2006/relationships" id="2147483652" r:id="Rabb28386070646c5"/>
    <p:sldLayoutId xmlns:r="http://schemas.openxmlformats.org/officeDocument/2006/relationships" id="2147483653" r:id="R555838fcdad64362"/>
    <p:sldLayoutId xmlns:r="http://schemas.openxmlformats.org/officeDocument/2006/relationships" id="2147483654" r:id="R6211d3e832e24c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9937753e04c1c" /><Relationship Type="http://schemas.openxmlformats.org/officeDocument/2006/relationships/notesSlide" Target="/ppt/notesSlides/notesSlide1.xml" Id="Raa6eb3a2e66948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826bcf197470b" /><Relationship Type="http://schemas.openxmlformats.org/officeDocument/2006/relationships/notesSlide" Target="/ppt/notesSlides/notesSlide2.xml" Id="R306c5c46956d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2f56c3f894c8a" /><Relationship Type="http://schemas.openxmlformats.org/officeDocument/2006/relationships/image" Target="/ppt/media/image.png" Id="Re0962bb7361046ba" /><Relationship Type="http://schemas.openxmlformats.org/officeDocument/2006/relationships/notesSlide" Target="/ppt/notesSlides/notesSlide3.xml" Id="Rd2cdb9340e5a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09b80952d4afa" /><Relationship Type="http://schemas.openxmlformats.org/officeDocument/2006/relationships/notesSlide" Target="/ppt/notesSlides/notesSlide4.xml" Id="Rac847db569bb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fe107000040ba" /><Relationship Type="http://schemas.openxmlformats.org/officeDocument/2006/relationships/notesSlide" Target="/ppt/notesSlides/notesSlide5.xml" Id="Re018dc666831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edc7d4b414940" /><Relationship Type="http://schemas.openxmlformats.org/officeDocument/2006/relationships/notesSlide" Target="/ppt/notesSlides/notesSlide6.xml" Id="R9170bf1c0db945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95601784a847e8" /><Relationship Type="http://schemas.openxmlformats.org/officeDocument/2006/relationships/notesSlide" Target="/ppt/notesSlides/notesSlide7.xml" Id="R905dc29caa604e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793d413ef4b2d" /><Relationship Type="http://schemas.openxmlformats.org/officeDocument/2006/relationships/notesSlide" Target="/ppt/notesSlides/notesSlide8.xml" Id="R7dc7252519c8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23e96c18341ed" /><Relationship Type="http://schemas.openxmlformats.org/officeDocument/2006/relationships/notesSlide" Target="/ppt/notesSlides/notesSlide9.xml" Id="R574fad047ba34d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00acc58c84ac5" /><Relationship Type="http://schemas.openxmlformats.org/officeDocument/2006/relationships/notesSlide" Target="/ppt/notesSlides/notesSlide10.xml" Id="R50e754d28f5a4d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c7e6468bf4808" /><Relationship Type="http://schemas.openxmlformats.org/officeDocument/2006/relationships/notesSlide" Target="/ppt/notesSlides/notesSlide11.xml" Id="Rcb20e9036c404a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df55d67f94593" /><Relationship Type="http://schemas.openxmlformats.org/officeDocument/2006/relationships/notesSlide" Target="/ppt/notesSlides/notesSlide12.xml" Id="R8a01686efad8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1C38A-354A-4703-8D22-72F053244A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59F8D-3C8F-4397-9631-D5D9923E5B0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82543-24F7-49CA-9126-1772EF56A34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8CB2F-C5A5-4F9B-8A3A-2769451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02D0-47D4-4A23-8483-2F0F549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3840-42B9-4FEF-B96E-25AAF4A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683F-A2AA-4AF4-8CC8-454617A6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先把技术方案讲清楚，再与公开技术逐项比较，形成能继续讨论的交底材料。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3B5DE-36C7-40DA-8101-FEB8F70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真实技术材料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4DB46-C39A-498C-A24B-AE43C203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具体方案与细节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372DB-B8A2-4A3D-AE01-7684C13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9E9B2-550E-49FD-8FF4-23DD0C5B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交底与待补事项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619DD-76FC-4E3A-81AB-E78F2EB8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研究记录、结构和过程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817B2-36C0-4A34-BEC1-D342F73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部件、步骤、参数与异常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C82F6-1665-40F5-91EC-CF8E314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按技术特征读原文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5D1D0-7B20-4582-9303-CDBEB537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来源、缺口与进一步追问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0559F-1C90-463E-8C5F-EF2FCF6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贯穿案例：实验室离心机的不平衡检测与传感数据检查。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F51D4-02C1-4EAB-893F-FD4CE076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公开专利用于分析，课程设想未实施、未形成可专利性结论。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01598-84C7-428F-A66A-35112069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来源：WIPO 2025原始PPT；专利法第2、6、22、24、26、64条；教学假设方案，未实施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ADB0-D4E4-473F-A2AC-EEBC345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85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74226-1A72-4BEA-93C4-1B4C97AF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55A62-F6C0-405B-8B4C-0E89121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技术方案与交底材料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38223-B027-42A5-821A-6E18B38B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AD061-3D40-4DC2-B41A-C61267DB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科学发现、具体技术方案和专利权利要求，承担不同的表达任务。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99F5-5CFB-4445-B9CE-C33B47F5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822C4-B36F-4C5B-B2DF-98B00CC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报告观察或认识。能否形成专利对象，需要看具体技术方案。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A1A6-D329-442E-A93F-5946854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A053F-6FD0-4EAD-B995-1BD762F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6D9C8-3CED-4420-9A49-2C4A5156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说明解决什么技术问题，用哪些部件或步骤，怎样实施，有什么依据。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8DB04-A037-4DAE-A9FB-C9A8FF7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319B6-9B1F-4958-8514-D456E82F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D4786-98BA-4F96-9961-6634A12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发明和实用新型须具备新颖性、创造性、实用性，说明书与权利要求有法定要求。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3111C-0FC4-4440-8139-60F7576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9FFC-E93C-485E-8F6E-11367E5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交底材料记录事实、细节和证据；申请文件与保护范围另作专业核对。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986C6-E899-4410-B513-A671AAAA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F9096-ED31-4E2D-BB88-B658E3F1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7870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2ED38-2D96-4621-B579-2E22DC3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47A1D-EE89-4731-ACB7-E607EC79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公开专利原文中的技术结构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FF27-E202-4C56-A426-83880749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4CB95-9CFD-451F-8407-E381426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从摘要、说明书、权利要求和附图相互核对，才能理解公开方案。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343ED-9A2F-4D80-9E67-B6C9F5F85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62bb7361046ba"/>
          <a:stretch xmlns:a="http://schemas.openxmlformats.org/drawingml/2006/main"/>
        </p:blipFill>
        <p:spPr>
          <a:xfrm xmlns:a="http://schemas.openxmlformats.org/drawingml/2006/main">
            <a:off x="1580696" y="2952750"/>
            <a:ext cx="41728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A9F3D-3032-4C35-AB54-E562BA9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EP4636367A1  图2（原页局部）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0EEB5-DABE-40BA-82E9-5A42FCBB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中文阅读定位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31ABE-B5D3-49B1-A0F9-D076374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图2：样品处理、驱动、传感器和处理器。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权1：至少两个自由度的数据，例如不同方向的加速度或角速度。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权3、4：用训练模型识别模式，可先计算均值、能量等特征。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权11：按识别的运行状态停止设备。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5AEE6-F09E-487F-950B-01EED7A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左图为EPO公开原文第17页图2，右侧为中文阅读定位。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183BF-2862-4C33-8DEA-B6CB180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DD192-A25C-468E-BB8B-AB9EB07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0011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3A5DD-ED3A-400F-9A1E-CCEA3F7B72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9BDC4-AFFA-44BA-8A2B-B7FEFCC9AF6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01467-0342-4840-8414-519A4C2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69687-DFC8-459D-8C71-0A4C926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技术特征驱动的检索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9EFF8-9B30-4C72-B1C4-3AB39501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22629-C52C-43A8-A15F-31B525AC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检索词围绕设备、检测对象和控制动作展开，再扩展分类号与同族线索。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0D8F-7C5E-4562-A168-F3C720B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0904C-E2BB-4E87-B451-BDE82320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0E37D-9FF0-45F3-A99B-C3E2B37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原文与分类扩展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10F9B-258C-4B85-A722-35CF36F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离心机 / 不平衡检测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0B3F5-A983-4E28-BFF9-756693C1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centrifuge + imbalance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sensor + controller +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D800-C18D-4FF1-8070-476B010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核对公开日与定位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扩展B04B9/14等线索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3D151-34D4-4CC0-AEB4-204EC812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本次已读：US7255669B2、EP4636367A1。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14348-4F1E-42D5-AFD5-54DA144C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未完成全部数据库、同族、引证和法律状态核查，检索记录保留这些范围。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571E6-21C8-48A8-B2B8-55363A8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保存实际检索式、日期、命中文献与阅读范围，不把两个命中称为查新完成。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7E049-AC61-41AF-977A-BB165BD4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3A3F1-91B7-48C1-9116-BF155982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0547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42E52-C9C2-46DC-8D29-B457A372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28818-E1BD-4C4B-A095-45C490AB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公开技术特征的逐项对照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51A07-6956-45E8-B587-790728A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FE388-FD01-41D4-B955-0AB028A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逐项记录已读技术限定，并区分独立权利要求与从属权利要求增加的条件。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50CA8-D26F-45FD-85BA-1AC394FC9BE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1047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比较位置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US7255669B2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EP4636367A1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基础结构与输入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权15：机架、阻尼支撑、驱动与转动件；超幅振动造成接触冲击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权1：至少两个自由度数据；识别振动模式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模型或规则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权15：阈值随转速变化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权3引用前项，加训练模型；权4引用3，加特征表示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权15：检测输出超过阈值时停止驱动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权11：引用前述任一项，加按运行状态停止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DA760-A98E-404B-8BEA-F16CF6A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比较用于识别已有内容。实际新颖性等判断仍需完整方案、日期与更广检索。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C9AD-F1D9-48E8-8E62-D78B341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27E9F-31D1-4FB1-90AC-24197B7F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8870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CA906-3BFE-4D15-887F-D6D5E3E732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24438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EBA9F-F559-41A1-8E90-C89263345D8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02443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C19B-3D55-4C70-9D65-C23FBEB8D1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FC00B-D18D-4028-A409-AD0EC6D9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99CC8-8DD5-4CB7-B903-721C7852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发明挖掘中的具体追问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513F-AC8E-4BA9-A35A-0E7E99C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97FE8-4323-4DF6-9E49-1608494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“加上传感器和AI”仍需继续拆成部件、数据路径、判断条件和效果依据。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0E84A-56A3-4988-8F26-70455A7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待讨论设想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传感数据有效性检查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69D7-2573-48A4-9834-2DD2F46D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安装与数据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DD0CA-0404-42EF-80A3-FB4AE29D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安装在哪？时间标记怎样产生？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7DF1-61AB-47EB-8C6E-1C10904E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判断与异常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2B931-B1EA-4628-8D02-946B9131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怎样判丢帧、饱和，依据是什么？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25BB7-D6D9-40F7-87E5-41C8B19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控制与证据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1ECA6-EB84-4637-B1AA-CD076E4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怎样请求处理、恢复，效果怎样验证？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A1D58-A315-4F79-BE74-605E127B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本例未找到经核实的区别特征，问题清单用于继续收集技术事实。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CE4AF-12FD-49B3-AB01-DEDDCAC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来源：教学假设方案，未实施；专利法第2、6、22、24、26、64条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9DF73-43AA-441F-9077-4E14FE3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1194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47E38-9A58-42FD-83C0-A534FB11EBEA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5CA74-DEAE-4691-AFAA-9ABD39E550A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57864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F0187-C046-41F4-82C4-E84F99036FE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62062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A1CA4-74CF-420E-BE35-E6F39265E96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7237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F544B-DEAA-4BE7-B967-9C2613D613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36909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FFEFE-6172-4F60-BF56-766A81555B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36909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BB825-9121-4079-BA6F-71EB423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DD77-04DF-4715-96AE-1F38534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教学方案的结构与异常分支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06312-DACC-4089-B66D-B065F4B6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B9B39-10EA-4443-8B29-4EDF5F0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数据有效时识别状态，数据异常时记录故障，再按经验证规则处理控制请求。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CEBFE-8543-4D30-A709-BBCBC49D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S1 传感数据与时间标记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B794-809F-45A6-9732-3ED048B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S2 数据有效？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BC2C-408C-449C-9556-76F4820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S3 识别运行状态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8B2DF-12F9-4BE0-8156-2EDB2ECB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S4 记录传感故障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C5E39-D22D-4798-85B8-742916CE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形成控制处理请求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EC23F-24E6-4C50-970C-7C955D1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953250"/>
            <a:ext cx="3714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处理与恢复规则待验证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11829-A61F-4582-B751-7FF27F96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C58B4-36EF-4240-9533-71B2CBF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CB7FA-7C7C-4D7F-813D-CDE8241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数据异常时保留故障记录。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请求的内容、接收接口和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设备动作仍需设计与试验。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F791C-75B9-4CFB-857F-22A75FA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课程假设方案，无样机、无控制验证，也未证明区别于已有技术。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A8D7C-87C1-42BF-9E70-2FE2B99F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C2D5F-615D-4CEB-ADD4-D190DAD3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3233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772AD-C8A4-4312-B0FF-756A953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CFF68-C5AF-48C0-AA14-982A1913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实施说明中的可复现细节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E9EB4-F87B-4DF1-BA62-1924BC3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30409-CBDD-4B40-AC93-42620DD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实施例需要交代怎样实现，各项参数及异常处理都有技术依据。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337B-CD42-4527-9249-C583C7F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课程实施说明节选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62269-5766-4640-B2FD-C8ADAC60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1读取振动数据及时间标记。S2检查数据是否满足预定有效性条件。数据有效时，S3进入运行状态识别；数据异常时，S4记录传感故障。两条路径均形成控制处理请求。控制单元如何响应和恢复，仍需设备设计与试验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204F0-8ACB-4DC8-ABA1-42C276B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68613-F563-4295-A519-1B2D5C37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尚缺：安装位置、采样率、时间窗口、故障门槛、接口及制动与恢复细节。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07500-A879-4D80-BEE5-D20DB17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完整段落与待补参数随交底材料保存，当前不足以制造或控制真实设备。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0FCB8-87E9-436C-8FC4-2089A1F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DE299-81C6-4F84-932C-E3F48BD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6116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EE8D1-BF2C-4B2F-B7C0-0F45E02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633A2-3FF3-46B8-B8CD-0214D12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技术效果与证据对应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76C96-ECCD-47F8-9796-88E7212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64684-152F-47EA-9CEF-D359F5D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效果表述应有对应结构、对照条件和原始记录支持。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B7D4-EEEA-4162-9449-CABCCF32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333EF-4824-4144-8A26-0A7F68F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数据有效性检查、异常记录与控制请求，分别对应哪些具体部件或步骤？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D958D-F818-493F-B1D4-E8888D2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44C5B-6331-4A2C-B1B8-1460786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DC852-CC47-4CAF-9D32-7CF781E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对照什么方案，记录哪些误报、漏报与处理延迟，保留哪些原始数据？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E0128-3A6B-4C80-B57A-B7B467F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640C6-D21A-4F99-98ED-1071051D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A34DD-75FF-4835-B2D5-19645FC7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没有样机或台架试验，不填写准确率、响应时间或提升比例。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BF2CB-5306-4E8E-8CCB-D9371EA8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3DAA7-461E-4BD9-B00F-2A04C60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本例无性能结果，不填准确率、响应时间或提升百分比。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A9F69-3A80-4DAA-9ACE-EB96D1A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5BE91-3AA0-4A05-AC6D-99313DF5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9806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9FD7-A2AF-4ABD-B8D2-07EDDFEFA4C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8B4BA-2789-4A35-B875-FA1DB939A42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8F982-70D3-4C52-A23F-DDF60970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B689F-0ED3-44DC-9547-BFED73E5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权利要求的引用关系与图文支持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1EA8D-E5C2-4914-AC12-981DD9A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BC5D-5E63-47A4-B308-A6D8D76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从属权利要求保留所引用项的条件，再增加限定；阅读时须一起核对。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037C6-7A2C-4BD1-95DC-B4D88DC5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权利要求1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多自由度数据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识别振动模式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05CD5-7DA6-4B3F-B2A8-4B7DB8C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权利要求3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引用前项，再加训练模型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5AE75-F900-4513-845B-983868A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权利要求4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引用3，再加特征表示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58B10-C357-45BD-9EED-159C9A5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图只画权3引用权1的路径。权3也可引用权2，本图未画全部组合。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FDEC5-4240-4EEA-98B1-0A8448A5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D4E01-A85F-4EAE-961A-8F046E9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权利要求11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AEB16-7117-44A2-A864-AAFC909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865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引用前述任一项，再增加按运行状态停止。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各引用组合的条件应分别阅读。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EE8A0-09ED-4766-A16C-E0BB575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拟写特征应在说明书和附图找到支持；本例未起草正式权利要求。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8C650-F59C-475C-B437-F4C8F69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真实EP文献的引用关系节选；未画全部组合，不作保护范围或专利性结论。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343F5-4FDD-4A0D-A0A7-21B9A7AD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来源：EP4636367A1，EPO公开原文；专利法第2、6、22、24、26、64条；WIPO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F7B17-5ED8-446D-8647-F8B5B7F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889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9DD63-C0FE-4E38-8F72-BEBEB5683E2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E1EB6-7D98-4F6C-925D-BB844D64134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1A94C-3EB3-4A72-85A9-955A05B966D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353E7-0D80-4B77-9B64-C6463EBB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36FEC-D81C-4DF1-B638-F46CF982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Patent Agent的实际材料流程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2552-B79B-44EA-A817-361807F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E3C88-91FB-4ECF-B1ED-E257194B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公开原文阅读、教学材料整理与本地文件执行分别留证，交底书保留未决问题。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F9051-5264-4E83-B6EE-72F55EF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公开资料检索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B224F-CCCD-4BFE-82AB-20FBCCB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技术对照与追问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88B9E-35D7-4BF0-A776-3C5A32A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文件结构检查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D2E9C-B1B1-4B04-9B93-F09B125B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75E83-43FA-497D-A054-AC4918E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本轮Codex实际读原文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3655F-6584-43BF-8327-9C4F60C8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课程编写对照及设想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D1F9A-2C31-424F-93E2-0EDF632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本地读取已编写输入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93877-BE93-46E9-BB68-A0D7999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附流程图，保留来源与版本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B92E6-1390-4D18-9436-82D1D0E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实际结果：Word教学草稿已写出，仍待技术事实补充与研究者核对。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5A925-A704-42B6-828B-FFFE9B1E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本地填充脚本没有调用外部模型，没有完成查全、专利性或侵权判断。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467C5-9D5A-4590-94A2-C2E842F1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公开检索与文件执行分别留证；Word仍为教学草稿，不代表查新或法律审查完成。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7BDCE-920B-4447-9BE6-A14EBFD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来源：实际文件执行记录，无模型调用；教学假设方案，未实施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D4B25-C794-4DCD-A451-42A19FE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0237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3614C-8AB7-4E34-BA7E-7966B38DBFF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23862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9A763-CADE-4293-8820-90B365559A6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23862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9E93D-E8EE-4C69-A870-12268CA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53EE5-20C3-456C-98E5-90FB615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公开前的材料与权属核对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D37B2-5528-4148-8548-DEBA7F37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51534-9CC2-473F-9A73-2187783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论文、报告、演示和申请的安排，需要结合单位流程、贡献与既往公开记录一起核对。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693F9-1166-4E03-9C8E-47978D6E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技术事实与完整细节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EE037-DFE9-4533-92E3-FE9B131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贡献、合同与公开记录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DB754-6D27-497E-BADE-27AC74D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单位成果转化部门与专业人员核对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7A309-1766-4F54-B690-A625839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公开前核对申请安排。法定例外有适用条件，不能当作普遍宽限期。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E78A3-EFB0-49B5-8928-E5EED3D7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本节未提交申请或对外披露真实未公开发明；下一节为项目执行与结题。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6C12-3C22-4AE6-8561-0D5B453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EE716-24A7-4779-BA91-46EF722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1394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2026-10-19T14:25:21.8380000Z</dcterms:created>
  <dcterms:modified xsi:type="dcterms:W3CDTF">2026-10-19T14:25:21.8380000Z</dcterms:modified>
</coreProperties>
</file>