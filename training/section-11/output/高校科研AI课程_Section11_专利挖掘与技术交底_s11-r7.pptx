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4a0b847404452a" /><Relationship Type="http://schemas.openxmlformats.org/officeDocument/2006/relationships/extended-properties" Target="/docProps/app.xml" Id="Ree92a944924341df" /><Relationship Type="http://schemas.openxmlformats.org/officeDocument/2006/relationships/officeDocument" Target="/ppt/presentation.xml" Id="Rf5729d7d6d0e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16ea2a967f4c4e"/>
  </p:sldMasterIdLst>
  <p:notesMasterIdLst>
    <p:notesMasterId xmlns:r="http://schemas.openxmlformats.org/officeDocument/2006/relationships" r:id="R6500163f7f4b4dfb"/>
  </p:notesMasterIdLst>
  <p:sldIdLst>
    <p:sldId xmlns:r="http://schemas.openxmlformats.org/officeDocument/2006/relationships" id="256" r:id="Rc161f1710e74492e"/>
    <p:sldId xmlns:r="http://schemas.openxmlformats.org/officeDocument/2006/relationships" id="257" r:id="Ra49dabb40b854c3e"/>
    <p:sldId xmlns:r="http://schemas.openxmlformats.org/officeDocument/2006/relationships" id="258" r:id="Rfd0558e59a4740b7"/>
    <p:sldId xmlns:r="http://schemas.openxmlformats.org/officeDocument/2006/relationships" id="259" r:id="Rdbfec7931b3e4ccc"/>
    <p:sldId xmlns:r="http://schemas.openxmlformats.org/officeDocument/2006/relationships" id="260" r:id="Rfa0ee201574543b8"/>
    <p:sldId xmlns:r="http://schemas.openxmlformats.org/officeDocument/2006/relationships" id="261" r:id="Rda6a6fb4a06c49b6"/>
    <p:sldId xmlns:r="http://schemas.openxmlformats.org/officeDocument/2006/relationships" id="262" r:id="R3758f491f91e4a0a"/>
    <p:sldId xmlns:r="http://schemas.openxmlformats.org/officeDocument/2006/relationships" id="263" r:id="R701d3f946e2d4733"/>
    <p:sldId xmlns:r="http://schemas.openxmlformats.org/officeDocument/2006/relationships" id="264" r:id="R2b5bec64df4c4e1f"/>
    <p:sldId xmlns:r="http://schemas.openxmlformats.org/officeDocument/2006/relationships" id="265" r:id="Rb764af83bccb416f"/>
    <p:sldId xmlns:r="http://schemas.openxmlformats.org/officeDocument/2006/relationships" id="266" r:id="R3a03d653273c407b"/>
    <p:sldId xmlns:r="http://schemas.openxmlformats.org/officeDocument/2006/relationships" id="267" r:id="R948822add5bc46a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ba4ed114c0471f" /><Relationship Type="http://schemas.openxmlformats.org/officeDocument/2006/relationships/slideMaster" Target="/ppt/slideMasters/slideMaster1.xml" Id="Rb216ea2a967f4c4e" /><Relationship Type="http://schemas.openxmlformats.org/officeDocument/2006/relationships/notesMaster" Target="/ppt/notesMasters/notesMaster1.xml" Id="R6500163f7f4b4dfb" /><Relationship Type="http://schemas.openxmlformats.org/officeDocument/2006/relationships/presProps" Target="/ppt/presProps.xml" Id="R70aa956e7806429b" /><Relationship Type="http://schemas.openxmlformats.org/officeDocument/2006/relationships/tableStyles" Target="/ppt/tableStyles.xml" Id="R978a760a68644ee5" /><Relationship Type="http://schemas.openxmlformats.org/officeDocument/2006/relationships/slide" Target="/ppt/slides/slide1.xml" Id="Rc161f1710e74492e" /><Relationship Type="http://schemas.openxmlformats.org/officeDocument/2006/relationships/slide" Target="/ppt/slides/slide2.xml" Id="Ra49dabb40b854c3e" /><Relationship Type="http://schemas.openxmlformats.org/officeDocument/2006/relationships/slide" Target="/ppt/slides/slide3.xml" Id="Rfd0558e59a4740b7" /><Relationship Type="http://schemas.openxmlformats.org/officeDocument/2006/relationships/slide" Target="/ppt/slides/slide4.xml" Id="Rdbfec7931b3e4ccc" /><Relationship Type="http://schemas.openxmlformats.org/officeDocument/2006/relationships/slide" Target="/ppt/slides/slide5.xml" Id="Rfa0ee201574543b8" /><Relationship Type="http://schemas.openxmlformats.org/officeDocument/2006/relationships/slide" Target="/ppt/slides/slide6.xml" Id="Rda6a6fb4a06c49b6" /><Relationship Type="http://schemas.openxmlformats.org/officeDocument/2006/relationships/slide" Target="/ppt/slides/slide7.xml" Id="R3758f491f91e4a0a" /><Relationship Type="http://schemas.openxmlformats.org/officeDocument/2006/relationships/slide" Target="/ppt/slides/slide8.xml" Id="R701d3f946e2d4733" /><Relationship Type="http://schemas.openxmlformats.org/officeDocument/2006/relationships/slide" Target="/ppt/slides/slide9.xml" Id="R2b5bec64df4c4e1f" /><Relationship Type="http://schemas.openxmlformats.org/officeDocument/2006/relationships/slide" Target="/ppt/slides/slide10.xml" Id="Rb764af83bccb416f" /><Relationship Type="http://schemas.openxmlformats.org/officeDocument/2006/relationships/slide" Target="/ppt/slides/slide11.xml" Id="R3a03d653273c407b" /><Relationship Type="http://schemas.openxmlformats.org/officeDocument/2006/relationships/slide" Target="/ppt/slides/slide12.xml" Id="R948822add5bc46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a094cfcdb24a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1797f8c1da4df8" /><Relationship Type="http://schemas.openxmlformats.org/officeDocument/2006/relationships/notesMaster" Target="/ppt/notesMasters/notesMaster1.xml" Id="Rd3dc6e97c0ad43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cefbf60c544c1a" /><Relationship Type="http://schemas.openxmlformats.org/officeDocument/2006/relationships/notesMaster" Target="/ppt/notesMasters/notesMaster1.xml" Id="Re27db4d4deed4d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fdbd8cbbb544cb" /><Relationship Type="http://schemas.openxmlformats.org/officeDocument/2006/relationships/notesMaster" Target="/ppt/notesMasters/notesMaster1.xml" Id="Rc82c3acfeaa749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33ed4013c94882" /><Relationship Type="http://schemas.openxmlformats.org/officeDocument/2006/relationships/notesMaster" Target="/ppt/notesMasters/notesMaster1.xml" Id="Rc82cfe9ea30043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943aa888cc4c8c" /><Relationship Type="http://schemas.openxmlformats.org/officeDocument/2006/relationships/notesMaster" Target="/ppt/notesMasters/notesMaster1.xml" Id="Rd2424886e5bd4f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5b942a2e8248f4" /><Relationship Type="http://schemas.openxmlformats.org/officeDocument/2006/relationships/notesMaster" Target="/ppt/notesMasters/notesMaster1.xml" Id="R3fdc612ce2454b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774150050141fe" /><Relationship Type="http://schemas.openxmlformats.org/officeDocument/2006/relationships/notesMaster" Target="/ppt/notesMasters/notesMaster1.xml" Id="Red09e585cd564b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16cc6e51504fbe" /><Relationship Type="http://schemas.openxmlformats.org/officeDocument/2006/relationships/notesMaster" Target="/ppt/notesMasters/notesMaster1.xml" Id="R915b374b190540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5564dcf9c54b6f" /><Relationship Type="http://schemas.openxmlformats.org/officeDocument/2006/relationships/notesMaster" Target="/ppt/notesMasters/notesMaster1.xml" Id="R461821567f9449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040e6a95e9413a" /><Relationship Type="http://schemas.openxmlformats.org/officeDocument/2006/relationships/notesMaster" Target="/ppt/notesMasters/notesMaster1.xml" Id="Rc9cc625d18a54b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c119d3b58946ee" /><Relationship Type="http://schemas.openxmlformats.org/officeDocument/2006/relationships/notesMaster" Target="/ppt/notesMasters/notesMaster1.xml" Id="Ra2fafe854b1b49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d6c03af96540d6" /><Relationship Type="http://schemas.openxmlformats.org/officeDocument/2006/relationships/notesMaster" Target="/ppt/notesMasters/notesMaster1.xml" Id="R7f1a572f5c1d4e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本节围绕离心机检测案例，展示公开专利和课程设想的区别。发明挖掘从实际技术问题、方案和证据出发。交底材料供发明人与单位、代理专业人员沟通，不自动成为申请文件或授权结论。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二条说明发明是产品、方法或改进的技术方案；第22条规定新颖性、创造性、实用性；第26条说明充分公开和权利要求以说明书为依据；第64条保护范围以权利要求为准。交底书不是法定申请文件的替代物。发明、实用新型、外观设计对象不同，须依具体成果选择，AI不能直接判断所属类型或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O原文EP4636367A1，2025年10月22日公开。第17页图2包含样品处理部件、驱动、振动传感器和处理器。第14页权利要求1、3、4依次涉及至少两个自由度数据、训练模型及特征表示；第15页权利要求11涉及依据运行状态停止设备。本页只解释公开内容，不确认当前法律状态或据此分析侵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本次实际网络检索centrifuge imbalance sensor controller stop，找到US7255669B2及EP4636367A1。后者有EPO原文；前者读取Google Patents的授权文献说明书、权利要求与公开日期。检索非查全，未系统覆盖全部数据库、同族、引证和法律状态。分类B04B9/14来自EP首页，可作为扩展线索。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重读US7255669B2完整权利要求15，补上机架、阻尼支撑、驱动与转动件，以及超幅振动造成部件接触并检测冲击的结构限定。该项是独立权利要求；表中只是已读部分，不是完整保护范围解释。EP权利要求1不要求必须采用机器学习，权3引用前项并加训练模型，权4引用3并加特征表示，权11引用前述任一项并增加停止操作，不能说所有权11组合都要求训练模型。未作法律状态、侵权或专利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拟讨论传感器丢帧或饱和时的有效性检查；这只是追问方向，未核验是否已有公开，不称新发明点。追问安装位置和连接、时间标记、失效门槛、控制请求、恢复策略、区别和证据。未知信息保留待补，不由AI生成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从patent-packet/diagrams/flow.json读取6个节点及6条连接。S1读取传感数据与时间标记，S2判断有效性，有效路径S3识别运行状态，异常路径S4记录传感故障；两条路径汇入处理请求。如何响应、制动和恢复尚待设备设计和试验。PPT为原生对象，Word嵌入同源PNG，draw.io、SVG和JSON另附。标记对应实施说明，没有硬件或控制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读取、S2有效性、S3正常识别、S4故障记录，与第7页节点逐项对应；两条路径均形成控制处理请求。安装位置、采样、时间窗口、判断门槛、接口和制动恢复均没有实际材料，故不补造参数。图文一致只是整理检查，教学稿尚不能据此实现真实设备，也不声称符合充分公开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传感故障识别、误报漏报、处理延迟等应讨论的证据维度，全部待提供。未设计或实施实际台架实验。不把预计改善写成已证明性能，也不将其他专利的试验结果归给本例。Humanizer可把“显著提升”改成拟检查的具体问题，不能造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本页用真实EP4636367A1权利要求1、3、4演示选定引用链。权3原文引用any preceding claim，即1或2；此图只画其引用1的路径，未画2。权4明确引用3并加特征表示。权11引用前述任一项，即1至10；图下文字只说明它加上停止动作，没有把它画成必须依赖4。图是公开文本的中文阅读节选，不是本教学方案的权利要求草案。所有拟写特征还需在说明书和附图找到实现依据；本例未起草正式权利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Codex重读两份既有公开专利的指定条款和WIPO课件具体页面，不冒称进行了新的全面检索。本地重新运行脚本，读取已编写JSON与自编Word模板，核对结构、填充现成文字并附同源流程图，保存来源、问题、图和Word哈希。没有外部模型调用或专利性审查，同名Skill说明也不是独立自主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Section11实际本地文件执行记录</a:t>
            </a:r>
          </a:p>
          <a:p xmlns:a="http://schemas.openxmlformats.org/drawingml/2006/main">
            <a:r>
              <a:t>local:training/section-11/execution-evidence.json</a:t>
            </a:r>
          </a:p>
          <a:p xmlns:a="http://schemas.openxmlformats.org/drawingml/2006/main">
            <a:r>
              <a:t>定位：run_demo.py、来源账本、问题清单、Word与哈希；脚本只做结构检查及填充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6条涉及职务发明，第22条涉及现有技术，第24条例外适用有条件，不是所有公开都有六个月通用宽限期。课堂不作个案权属或期限建议。实际发明材料先在授权范围内整理，向单位成果转化部门和专业人员提供真实贡献、合同与公开时间线。下一节项目执行与结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5ce89c7cc43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b46561fa546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629b938f34b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fec8cf46046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ec16c504b42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b036facab4a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A543FE-36FA-4F6D-B494-A629223D9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944315-3ECD-493D-B67D-EDCF5E0CAB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ED46BD-7035-43AB-9EA1-30B3C4318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B2F22B-95C9-4B26-9754-BCD17A8E1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066DBF-6913-4C61-9863-1E4017D441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C65E1F-14BA-48FC-856D-2D34C87B7A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AA138C-9123-4021-935D-9C5BBCA69F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7E7509-F2D6-4200-AD1F-CFFDAB3840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7575FE-6A4F-424B-A842-BDEA0262F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02498E-127E-4F9C-BD66-3DD3E8559D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f8a5e652924c30" /><Relationship Type="http://schemas.openxmlformats.org/officeDocument/2006/relationships/slideLayout" Target="/ppt/slideLayouts/slideLayout1.xml" Id="Re0ea1b277be84790" /><Relationship Type="http://schemas.openxmlformats.org/officeDocument/2006/relationships/slideLayout" Target="/ppt/slideLayouts/slideLayout2.xml" Id="R3b2f640ec9524bb6" /><Relationship Type="http://schemas.openxmlformats.org/officeDocument/2006/relationships/slideLayout" Target="/ppt/slideLayouts/slideLayout3.xml" Id="Rb67c40eb1d5d4f54" /><Relationship Type="http://schemas.openxmlformats.org/officeDocument/2006/relationships/slideLayout" Target="/ppt/slideLayouts/slideLayout4.xml" Id="R847f36dc2d6640e7" /><Relationship Type="http://schemas.openxmlformats.org/officeDocument/2006/relationships/slideLayout" Target="/ppt/slideLayouts/slideLayout5.xml" Id="Ra663c202ff4d4ad1" /><Relationship Type="http://schemas.openxmlformats.org/officeDocument/2006/relationships/slideLayout" Target="/ppt/slideLayouts/slideLayout6.xml" Id="Rfa3faa73c36f41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ea1b277be84790"/>
    <p:sldLayoutId xmlns:r="http://schemas.openxmlformats.org/officeDocument/2006/relationships" id="2147483650" r:id="R3b2f640ec9524bb6"/>
    <p:sldLayoutId xmlns:r="http://schemas.openxmlformats.org/officeDocument/2006/relationships" id="2147483651" r:id="Rb67c40eb1d5d4f54"/>
    <p:sldLayoutId xmlns:r="http://schemas.openxmlformats.org/officeDocument/2006/relationships" id="2147483652" r:id="R847f36dc2d6640e7"/>
    <p:sldLayoutId xmlns:r="http://schemas.openxmlformats.org/officeDocument/2006/relationships" id="2147483653" r:id="Ra663c202ff4d4ad1"/>
    <p:sldLayoutId xmlns:r="http://schemas.openxmlformats.org/officeDocument/2006/relationships" id="2147483654" r:id="Rfa3faa73c36f41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da77cca944be7" /><Relationship Type="http://schemas.openxmlformats.org/officeDocument/2006/relationships/notesSlide" Target="/ppt/notesSlides/notesSlide1.xml" Id="R2fa170fd756b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8cb81c3d145a4" /><Relationship Type="http://schemas.openxmlformats.org/officeDocument/2006/relationships/notesSlide" Target="/ppt/notesSlides/notesSlide2.xml" Id="R54214e03c6b246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5d9c58175d482f" /><Relationship Type="http://schemas.openxmlformats.org/officeDocument/2006/relationships/image" Target="/ppt/media/image.png" Id="R621d0fa389b14786" /><Relationship Type="http://schemas.openxmlformats.org/officeDocument/2006/relationships/notesSlide" Target="/ppt/notesSlides/notesSlide3.xml" Id="R7c6b8844415d48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05b164ca1c465d" /><Relationship Type="http://schemas.openxmlformats.org/officeDocument/2006/relationships/notesSlide" Target="/ppt/notesSlides/notesSlide4.xml" Id="R59c27b581b2346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9868ce0514707" /><Relationship Type="http://schemas.openxmlformats.org/officeDocument/2006/relationships/notesSlide" Target="/ppt/notesSlides/notesSlide5.xml" Id="R5d426be920a645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5dd460f2a4b63" /><Relationship Type="http://schemas.openxmlformats.org/officeDocument/2006/relationships/notesSlide" Target="/ppt/notesSlides/notesSlide6.xml" Id="R23f3009aaba447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8aacf49404059" /><Relationship Type="http://schemas.openxmlformats.org/officeDocument/2006/relationships/notesSlide" Target="/ppt/notesSlides/notesSlide7.xml" Id="R0b093e74da7c40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d55ecf3ba4407" /><Relationship Type="http://schemas.openxmlformats.org/officeDocument/2006/relationships/notesSlide" Target="/ppt/notesSlides/notesSlide8.xml" Id="R360b3a558f4d4c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59ea98d7f4936" /><Relationship Type="http://schemas.openxmlformats.org/officeDocument/2006/relationships/notesSlide" Target="/ppt/notesSlides/notesSlide9.xml" Id="Rcb66b4f8dd4f44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33aeecae364cba" /><Relationship Type="http://schemas.openxmlformats.org/officeDocument/2006/relationships/notesSlide" Target="/ppt/notesSlides/notesSlide10.xml" Id="R9738babfff404f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b5b6abca14a14" /><Relationship Type="http://schemas.openxmlformats.org/officeDocument/2006/relationships/notesSlide" Target="/ppt/notesSlides/notesSlide11.xml" Id="Raa25c81b71f643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f32dd60740425c" /><Relationship Type="http://schemas.openxmlformats.org/officeDocument/2006/relationships/notesSlide" Target="/ppt/notesSlides/notesSlide12.xml" Id="R700cbf9776014c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72A7E-9BEE-4B42-946B-27272483DA5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26057-C2F6-43E6-87BF-094C7647339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1ACA0-0EBB-425B-A764-8553682287D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21339-323C-49B0-B6A4-01D8CE51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3E064-BC1D-4F42-9BF8-7C14DDFD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专利挖掘与技术交底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E0B4D-DFB1-4C2C-AAFC-9A59A105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69609-F522-478A-807E-2B23E2F6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先把技术方案讲清楚，再与公开技术逐项比较，形成能继续讨论的交底材料。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34F96-6758-4961-9643-A53221A7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真实技术材料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F50C1-1C9B-4B5D-845C-CCCB5C9C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具体方案与细节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32D48-F01D-49BF-8E2B-37880DD8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CF02C-10CD-46FB-8659-03E8F421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交底与待补事项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654F7-D421-43C5-B84C-B4FB3EE0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研究记录、结构和过程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7D91E-302B-4529-B8F8-491353E8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部件、步骤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参数与异常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5C5C5-6FA5-457C-9CCE-4D3C49AE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按技术特征读原文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5C1ED-730C-4119-94E2-B6CA5D6D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来源与缺口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进一步追问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14016-F58F-4593-8DDD-9178205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贯穿案例：实验室离心机的不平衡检测与传感数据检查。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2FEBB-61EB-42B0-8743-725F68F1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公开专利用于分析，课程设想未实施、未形成可专利性结论。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545B0-A431-4AB2-8AD8-22D2EBDA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来源：WIPO 2025原始PPT；专利法第2、6、22、24、26、64条；教学假设方案，未实施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FB38E-C12A-4BFE-9025-354BAE83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9363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4C02D-34FD-4B9A-9DC6-5BC860D6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A9D0E-C941-4DB7-92B4-1ED2C415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技术方案与交底材料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4F57B-2C61-421B-8CFB-8197F237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36222-08CB-42B9-87CC-32477499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科学发现、具体技术方案和专利权利要求，承担不同的表达任务。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8093E-CDFE-46BE-89F5-49B3469D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A2A24-BB0C-4D1D-8DE5-9F7B4A8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报告观察或认识。能否形成专利对象，需要看具体技术方案。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4253F-5F87-4C62-9D2C-C3B8E03D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800AC-EBC2-417A-B8A1-4AF6737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技术交底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A0C24-44A7-44A1-80F5-C5F234BD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说明解决什么技术问题，用哪些部件或步骤，怎样实施，有什么依据。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ADA89-D20A-4253-A467-C6E59CCB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C21FA-616C-44CF-BB04-5C79F24F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专利申请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9E36D-59B7-47A5-83CB-8F1933EA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发明和实用新型须具备新颖性、创造性、实用性，说明书与权利要求有法定要求。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45084-C13E-43C3-9465-A0239E8F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FF957-1CD7-41A6-8E7D-044FBB4C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交底材料记录事实、细节和证据；申请文件与保护范围另作专业核对。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F69B9-5F79-442B-95D6-F5758EE9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来源：专利法第2、6、22、24、26、64条；WIPO 2025原始PPT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B9076-D5C4-4A75-93E2-2EBE76F7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2404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917C9-A1C0-437B-8984-9B6CBA8A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FC595-A134-4405-9950-AA60B13E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公开专利原文中的技术结构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19741-C96C-4493-BBE9-BE37551F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FF67C-8A3F-4F03-8CE6-90F7B29A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从摘要、说明书、权利要求和附图相互核对，才能理解公开方案。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4A65B-71DE-4B78-B1C7-65438E9994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d0fa389b14786"/>
          <a:stretch xmlns:a="http://schemas.openxmlformats.org/drawingml/2006/main"/>
        </p:blipFill>
        <p:spPr>
          <a:xfrm xmlns:a="http://schemas.openxmlformats.org/drawingml/2006/main">
            <a:off x="1580696" y="2952750"/>
            <a:ext cx="4172857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54BD0-0BF5-46B2-AA03-E13B44CF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EP4636367A1  图2（原页局部）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1E8B5-4903-48C2-8B35-54FF7A12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中文阅读定位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EAB1F-CE9A-4FC7-AF9E-027699D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733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图2：样品处理、驱动、传感器和处理器。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权1：至少两个自由度的数据，例如不同方向的加速度或角速度。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权3、4：用训练模型识别模式，可先计算均值、能量等特征。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权11：按识别的运行状态停止设备。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1E8A2-A5C5-4113-B793-4360C3CB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左图为EPO公开原文第17页图2，右侧为中文阅读定位。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BFF61-260E-4D91-88C0-A3A854F9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856CB-8057-4054-A783-50486F18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8888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B6546-89C3-41AE-BFC4-0AE8C22F3D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37755-B40B-459F-98B6-904D70EDB19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86BF6-14FB-44F4-BC47-4A6CB9C0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370FF-CBB4-4E85-A25B-145CE4D0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技术特征驱动的检索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3E913-5422-434F-AF96-3B5E5D64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532F4-9EFD-4947-8605-A48C5046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检索词围绕设备、检测对象和控制动作展开，再扩展分类号与同族线索。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9DBAB-0D51-483B-AA64-1D281971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设备与任务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B56A2-43D1-4B87-8EC0-3CA4B32C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技术特征组合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5148D-15AD-463A-8518-921549F5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原文与分类扩展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41374-AF55-4027-B95B-4E2DE8CA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离心机 / 不平衡检测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88EE3-14C4-42EE-A255-3811D3B4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centrifuge + imbalance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sensor + controller +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09C8D-D3A9-4B5A-A502-1C139A04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核对公开日与定位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扩展B04B9/14等线索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2AB27-73DB-4A3E-B7AE-DD24CFA6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本次已读：US7255669B2、EP4636367A1。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1A012-8620-4CEE-A248-7E5E99E9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未完成全部数据库、同族、引证和法律状态核查，检索记录保留这些范围。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83AAB-6C20-43CE-9DDF-564BF91B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保存实际检索式、日期、命中文献与阅读范围，不把两个命中称为查新完成。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FC657-896D-46BD-8844-6E2C988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1ED6C-6383-4FF7-A015-89BAE071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29828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7A022-07CF-4213-BF38-BC41CFF5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7172F-DD9A-4C12-881D-1D6F2904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公开技术特征的逐项对照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F3407-6210-4F3D-92D7-65C35968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241CC-6964-4768-9A67-CA4989E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逐项记录已读技术限定，并区分独立权利要求与从属权利要求增加的条件。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5BAB7-C7D7-4F08-9477-FDD78CFFF302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381625"/>
                <a:gridCol w="5381625"/>
              </a:tblGrid>
              <a:tr h="1047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比较位置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US7255669B2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EP4636367A1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基础结构与输入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权15：机架、阻尼支撑、驱动与转动件；超幅振动造成接触冲击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权1：至少两个自由度数据；识别振动模式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模型或规则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权15：阈值随转速变化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权3引用前项，加训练模型；权4引用3，加特征表示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控制动作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权15：检测输出超过阈值时停止驱动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权11：引用前述任一项，加按运行状态停止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EA923-A454-45AB-99CB-972E9E1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比较用于识别已有内容。实际新颖性等判断仍需完整方案、日期与更广检索。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FAD48-8F19-4422-A879-CEA2A34D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606D5-CCF5-46C8-87E9-DF27565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8081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53172-15D2-4D09-8B5B-73B4CC0670F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24438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48671-9EF4-4A03-B070-DAC3B4C7200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024438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5E79E-7E5A-4D56-B7D2-F3DEEE31E27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804C2-AE2F-4BEE-B56C-3B45792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A1800-E380-494D-B595-86297F6E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发明挖掘中的具体追问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1BA2C-423C-4B41-9892-343BB55E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C2EB3-CF5F-4F41-A266-3B704F45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“加上传感器和AI”仍需继续拆成部件、数据路径、判断条件和效果依据。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92845-FAB0-49F5-A2B9-7AA9D377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286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待讨论设想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传感数据有效性检查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014B6-0CA8-4392-919F-AF6AA1E7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安装与数据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0D06F-B63D-4A48-8B70-D6ACC1C5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安装在哪？时间标记怎样产生？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25D73-24E0-4CCA-8DE4-5303D266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962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判断与异常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C284B-A295-4053-811E-C4EDE4FA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19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怎样判丢帧、饱和，依据是什么？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6AE48-5642-485D-891E-FD2EC575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控制与证据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7A9E3-CC2A-4476-8B95-F873E5C9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怎样请求处理、恢复，效果怎样验证？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452EE-A853-4684-9B50-6BF886B7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本例未找到经核实的区别特征，问题清单用于继续收集技术事实。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3C61C-7C07-40D0-B8AF-CC2A55E6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来源：教学假设方案，未实施；专利法第2、6、22、24、26、64条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E2005-A949-4E97-A354-9B915976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57227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7B956-54F6-45BE-B428-A45B4874FF1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620625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D8167-2DBE-4A6D-9B7D-C1784D81127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57864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330BC-6A2D-4AE7-955D-AA706B1DC5B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62062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6111A-4E07-431A-8247-BE2C5496D66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57237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4FBC6-4A33-4464-9FF7-AAE860F9632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39250" y="369093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3BF1A-87C7-4844-AE6F-6820EBD0483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3690938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381FD-5BEF-4911-9092-F9E4BBF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91752-6629-465B-B86E-D10B2E2E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教学方案的结构与异常分支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2E581-8F9B-4745-A3EF-DD4D2843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B0C81-29E0-4C34-98C6-F493F8F6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数据有效时识别状态，数据异常时记录故障，再按经验证规则处理控制请求。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2B49F-8801-430D-8572-8DE71087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S1 传感数据与时间标记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3DD1E-5AE8-482B-90EA-6C22DF2B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S2 数据有效？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FE13F-D52D-4102-B1C8-EB3C45C4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S3 识别运行状态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1FE9A-7597-4663-B8A4-22E1FA30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S4 记录传感故障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E673E-D0AB-4033-8687-D8282552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形成控制处理请求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3A38F-9EBA-4266-B760-10D77728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953250"/>
            <a:ext cx="3714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处理与恢复规则待验证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6F3B4-0211-40BE-8991-52D65A45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D379C-0140-4D8D-8E24-5CE5A9A6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24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37536-81E6-4A84-984F-2C9FD329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数据异常时保留故障记录。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请求的内容、接收接口和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设备动作仍需设计与试验。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51D55-3712-44C6-AE13-9C8A77D9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课程假设方案，无样机、无控制验证，也未证明区别于已有技术。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E945C-E4DB-42FA-A5F1-A946D0E0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3F27A-FDE1-43F4-9EDB-A8D26674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0443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D1D7C-1985-4F00-A951-7280A76A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F4375-C275-48FA-A2D8-CE02CB20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实施说明中的可复现细节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8BF73-6E47-4A4C-8CFB-E62C377C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3C558-A813-43D2-A5C1-F83B554C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实施例需要交代怎样实现，各项参数及异常处理都有技术依据。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BFCF4-4E8D-4C13-9093-673B55A8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课程实施说明节选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C6EC6-BEA4-4C72-94C2-145C57B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1读取振动数据及时间标记。S2检查数据是否满足预定有效性条件。数据有效时，S3进入运行状态识别；数据异常时，S4记录传感故障。两条路径均形成控制处理请求。控制单元如何响应和恢复，仍需设备设计与试验支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F146D-F505-4DE1-A5FC-AF3FB867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D43C4-5B03-4F25-9887-A8D3BD4C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尚缺：安装位置、采样率、时间窗口、故障门槛、接口及制动与恢复细节。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33799-6AF5-4A3F-B957-E9D7A304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完整段落与待补参数随交底材料保存，当前不足以制造或控制真实设备。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4C8E4-2BA1-4A4E-AF3C-27674D4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9FEC6-91E7-438D-9730-97009585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00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27E56-6F62-43B2-B2BF-55D9FC07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BFEF7-E3C2-434C-BBED-8F91A591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技术效果与证据对应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241A9-BDBD-4CD6-BD21-76B3B916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29F01-23DE-4BFD-BE8C-733CE14D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效果表述应有对应结构、对照条件和原始记录支持。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398F7-D95C-4BF8-BBF7-E553E171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768D7-3D60-4FDD-B007-A0371F5D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数据有效性检查、异常记录与控制请求，分别对应哪些具体部件或步骤？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88989-8DB7-46E1-AE29-61F59940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4E045-7D97-4FF8-AE6F-8C9C9DF3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554BD-EB27-4548-AF03-3A72EB8F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对照什么方案，记录哪些误报、漏报与处理延迟，保留哪些原始数据？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D449D-5F1D-44BD-8251-463B1B85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4F7CD-CD16-4DCB-B02D-8DC6F888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1E7C2-E10E-4260-B9B0-5DDA5DB5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没有样机或台架试验，不填写准确率、响应时间或提升比例。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1105D-0760-4494-AB96-0D650258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A4D61-385F-4868-A7DE-FDC1AD8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本例无性能结果，不填准确率、响应时间或提升百分比。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2E69F-89FD-4FDA-9016-0E7BA5B0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93795-C7B7-4A4A-BA3A-C145908F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82349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AA6AE-B897-481C-959B-2E7292D08C4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881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92022-AFDF-4548-8F5B-CA6458A0EA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881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2B76A-BD81-487D-8C4F-3D1C4402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D1C09-6E5F-4D97-88D6-09E220DA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权利要求的引用关系与图文支持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342CA-D137-4E86-A013-9B211359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6227B-C071-4C51-A95C-A4952126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从属权利要求保留所引用项的条件，再增加限定；阅读时须一起核对。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AF725-6787-4297-B571-941D164C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权利要求1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多自由度数据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识别振动模式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10969-CBD0-442F-87C4-103220B6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权利要求3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引用前项，再加训练模型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8EFAD-C876-4B0B-B683-0B7D3423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0"/>
            <a:ext cx="400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权利要求4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引用3，再加特征表示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197EB-DE82-4A16-B5F0-DBBF4255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图只画权3引用权1的路径。权3也可引用权2，本图未画全部组合。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038C7-7F11-4E51-B4D7-11740E9F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98D54-5381-4057-9204-9A47BFB7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权利要求11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7E25E-6B92-4E9B-BD6A-92EA6DF7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865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引用前述任一项，再增加按运行状态停止。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各引用组合的条件应分别阅读。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C8461-62A2-4334-9136-5B2A1EA7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拟写特征应在说明书和附图找到支持；本例未起草正式权利要求。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53166-8DD4-448B-96CE-B6E17C19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真实EP文献的引用关系节选；未画全部组合，不作保护范围或专利性结论。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19145-FCC7-47BC-B21C-C4F60770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来源：EP4636367A1，EPO公开原文；专利法第2、6、22、24、26、64条；WIPO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37989-9B9A-48A3-9DC5-9D58A0F0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212968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AB336-A6B8-4188-8852-B138F2437C5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8664D-DE8D-410B-A464-27BE525E44B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6DBCD-AF5B-444D-AD3E-9B50B6DFB1C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1E307-120D-4D75-AE64-39E2A5AF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51E6D-29C4-4E0A-A08A-173F9B6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Patent Agent的实际材料流程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1BB05-B716-44B9-AF59-C7088C71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ACF83-8763-415D-AFCF-2EB7CC5C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公开原文阅读、教学材料整理与本地文件执行分别留证，交底书保留未决问题。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F33E1-61C0-486D-A387-0DA7FBDD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公开资料检索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62691-78B3-4B95-800F-80924EB4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技术对照与追问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480C5-79C0-41DC-A886-3189EA17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文件结构检查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65FD6-24D9-4614-9A92-C14F91F7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6643-2B2E-4BB9-A1C9-39C17E6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本轮Codex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实际读原文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04B14-D8D6-43B6-A6EC-55B99CE4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课程编写对照及设想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C3EAA-7800-4E6B-8D72-37F57CA6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本地读取已编写输入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82B26-521D-4372-932A-EDB25A90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附流程图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保留来源与版本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AD79A-E8E3-493D-B9DD-40710CE1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实际结果：Word教学草稿已写出，仍待技术事实补充与研究者核对。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D1783-D3C8-4888-A5DB-F90EFE7F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本地填充脚本没有调用外部模型，没有完成查全、专利性或侵权判断。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1E3F0-CD53-43B9-926E-2BCBFE1F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公开检索与文件执行分别留证；Word仍为教学草稿，不代表查新或法律审查完成。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85603-29CE-415F-8A0A-2F122A3F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来源：实际文件执行记录，无模型调用；教学假设方案，未实施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3CCF0-6848-40E8-9802-4C12732F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96543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CA0FC-DC26-460A-8EAA-A1D376986DC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23862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ACC40-6838-43BA-A685-79070F50073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23862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BC35C-6D95-4C1D-B632-48222196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99997-D71E-4A0E-B72E-DC9480FB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公开前的材料与权属核对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2D971-93A7-4AE2-8152-13BC39A0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9E993-E758-419A-A5BA-E15090B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论文、报告、演示和申请的安排，需要结合单位流程、贡献与既往公开记录一起核对。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70492-C679-4B25-8D82-8A814DE7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技术事实与完整细节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62761-38CD-4A60-8C28-3620E91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贡献、合同与公开记录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1014D-8270-4CFC-BD5F-F9060519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15000"/>
            <a:ext cx="8096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单位成果转化部门与专业人员核对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EC915-A71D-4355-8435-B131373B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公开前核对申请安排。法定例外有适用条件，不能当作普遍宽限期。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BE5BB-D84E-4271-854E-F1EEB7B9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本节未提交申请或对外披露真实未公开发明；下一节为项目执行与结题。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49DE2-B502-464B-8F9F-088B2684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6A381-6213-42E0-935A-E047415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25432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2026-10-20T01:01:25.0610000Z</dcterms:created>
  <dcterms:modified xsi:type="dcterms:W3CDTF">2026-10-20T01:01:25.0610000Z</dcterms:modified>
</coreProperties>
</file>