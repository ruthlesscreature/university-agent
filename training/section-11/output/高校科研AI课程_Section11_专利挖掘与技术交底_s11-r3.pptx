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19de971e184141" /><Relationship Type="http://schemas.openxmlformats.org/officeDocument/2006/relationships/extended-properties" Target="/docProps/app.xml" Id="R6a253d2402e54986" /><Relationship Type="http://schemas.openxmlformats.org/officeDocument/2006/relationships/officeDocument" Target="/ppt/presentation.xml" Id="Rb4901b970c064e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17c8a6d0c4dca"/>
  </p:sldMasterIdLst>
  <p:notesMasterIdLst>
    <p:notesMasterId xmlns:r="http://schemas.openxmlformats.org/officeDocument/2006/relationships" r:id="Rffa5556d75f14b5b"/>
  </p:notesMasterIdLst>
  <p:sldIdLst>
    <p:sldId xmlns:r="http://schemas.openxmlformats.org/officeDocument/2006/relationships" id="256" r:id="Rea58930d22724752"/>
    <p:sldId xmlns:r="http://schemas.openxmlformats.org/officeDocument/2006/relationships" id="257" r:id="Ra20af2cedb644967"/>
    <p:sldId xmlns:r="http://schemas.openxmlformats.org/officeDocument/2006/relationships" id="258" r:id="Rcece66ec922e4e76"/>
    <p:sldId xmlns:r="http://schemas.openxmlformats.org/officeDocument/2006/relationships" id="259" r:id="R4b9ecc5c38a843f7"/>
    <p:sldId xmlns:r="http://schemas.openxmlformats.org/officeDocument/2006/relationships" id="260" r:id="R6aa98f07fb3a4d49"/>
    <p:sldId xmlns:r="http://schemas.openxmlformats.org/officeDocument/2006/relationships" id="261" r:id="R005ce9c3ba0f497e"/>
    <p:sldId xmlns:r="http://schemas.openxmlformats.org/officeDocument/2006/relationships" id="262" r:id="Rdc94ffc13c1a46f8"/>
    <p:sldId xmlns:r="http://schemas.openxmlformats.org/officeDocument/2006/relationships" id="263" r:id="R25cd65f3cf0c4887"/>
    <p:sldId xmlns:r="http://schemas.openxmlformats.org/officeDocument/2006/relationships" id="264" r:id="R759ce8be449a4b15"/>
    <p:sldId xmlns:r="http://schemas.openxmlformats.org/officeDocument/2006/relationships" id="265" r:id="Rbe04973a82294823"/>
    <p:sldId xmlns:r="http://schemas.openxmlformats.org/officeDocument/2006/relationships" id="266" r:id="Rcbcdebaeac8945b3"/>
    <p:sldId xmlns:r="http://schemas.openxmlformats.org/officeDocument/2006/relationships" id="267" r:id="R48563499a98441d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2ced6dd05d4f6f" /><Relationship Type="http://schemas.openxmlformats.org/officeDocument/2006/relationships/slideMaster" Target="/ppt/slideMasters/slideMaster1.xml" Id="Rb0317c8a6d0c4dca" /><Relationship Type="http://schemas.openxmlformats.org/officeDocument/2006/relationships/notesMaster" Target="/ppt/notesMasters/notesMaster1.xml" Id="Rffa5556d75f14b5b" /><Relationship Type="http://schemas.openxmlformats.org/officeDocument/2006/relationships/presProps" Target="/ppt/presProps.xml" Id="R24e079e727b6447d" /><Relationship Type="http://schemas.openxmlformats.org/officeDocument/2006/relationships/tableStyles" Target="/ppt/tableStyles.xml" Id="R4f15f6d7c22544a1" /><Relationship Type="http://schemas.openxmlformats.org/officeDocument/2006/relationships/slide" Target="/ppt/slides/slide1.xml" Id="Rea58930d22724752" /><Relationship Type="http://schemas.openxmlformats.org/officeDocument/2006/relationships/slide" Target="/ppt/slides/slide2.xml" Id="Ra20af2cedb644967" /><Relationship Type="http://schemas.openxmlformats.org/officeDocument/2006/relationships/slide" Target="/ppt/slides/slide3.xml" Id="Rcece66ec922e4e76" /><Relationship Type="http://schemas.openxmlformats.org/officeDocument/2006/relationships/slide" Target="/ppt/slides/slide4.xml" Id="R4b9ecc5c38a843f7" /><Relationship Type="http://schemas.openxmlformats.org/officeDocument/2006/relationships/slide" Target="/ppt/slides/slide5.xml" Id="R6aa98f07fb3a4d49" /><Relationship Type="http://schemas.openxmlformats.org/officeDocument/2006/relationships/slide" Target="/ppt/slides/slide6.xml" Id="R005ce9c3ba0f497e" /><Relationship Type="http://schemas.openxmlformats.org/officeDocument/2006/relationships/slide" Target="/ppt/slides/slide7.xml" Id="Rdc94ffc13c1a46f8" /><Relationship Type="http://schemas.openxmlformats.org/officeDocument/2006/relationships/slide" Target="/ppt/slides/slide8.xml" Id="R25cd65f3cf0c4887" /><Relationship Type="http://schemas.openxmlformats.org/officeDocument/2006/relationships/slide" Target="/ppt/slides/slide9.xml" Id="R759ce8be449a4b15" /><Relationship Type="http://schemas.openxmlformats.org/officeDocument/2006/relationships/slide" Target="/ppt/slides/slide10.xml" Id="Rbe04973a82294823" /><Relationship Type="http://schemas.openxmlformats.org/officeDocument/2006/relationships/slide" Target="/ppt/slides/slide11.xml" Id="Rcbcdebaeac8945b3" /><Relationship Type="http://schemas.openxmlformats.org/officeDocument/2006/relationships/slide" Target="/ppt/slides/slide12.xml" Id="R48563499a98441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0ed801dd3646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bc0fb6fc184a97" /><Relationship Type="http://schemas.openxmlformats.org/officeDocument/2006/relationships/notesMaster" Target="/ppt/notesMasters/notesMaster1.xml" Id="Ra6fd34bd0a8748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7aceeac4ff486e" /><Relationship Type="http://schemas.openxmlformats.org/officeDocument/2006/relationships/notesMaster" Target="/ppt/notesMasters/notesMaster1.xml" Id="R940b1662240742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4a91d14644d2a" /><Relationship Type="http://schemas.openxmlformats.org/officeDocument/2006/relationships/notesMaster" Target="/ppt/notesMasters/notesMaster1.xml" Id="R75dd4f90f15240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8e24e68ff514a2f" /><Relationship Type="http://schemas.openxmlformats.org/officeDocument/2006/relationships/notesMaster" Target="/ppt/notesMasters/notesMaster1.xml" Id="R69cb1c5008b447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8f045bff3744e6" /><Relationship Type="http://schemas.openxmlformats.org/officeDocument/2006/relationships/notesMaster" Target="/ppt/notesMasters/notesMaster1.xml" Id="R3ca8cf2d1b304a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1db9a484344706" /><Relationship Type="http://schemas.openxmlformats.org/officeDocument/2006/relationships/notesMaster" Target="/ppt/notesMasters/notesMaster1.xml" Id="R53d1d20006f24f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b169764928b4354" /><Relationship Type="http://schemas.openxmlformats.org/officeDocument/2006/relationships/notesMaster" Target="/ppt/notesMasters/notesMaster1.xml" Id="R50cd024c0b0e4a7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2e2f93eea4a98" /><Relationship Type="http://schemas.openxmlformats.org/officeDocument/2006/relationships/notesMaster" Target="/ppt/notesMasters/notesMaster1.xml" Id="R58f45cc2ed944b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31a8ee990745aa" /><Relationship Type="http://schemas.openxmlformats.org/officeDocument/2006/relationships/notesMaster" Target="/ppt/notesMasters/notesMaster1.xml" Id="R9a15e01beade44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e1af3f10a64fde" /><Relationship Type="http://schemas.openxmlformats.org/officeDocument/2006/relationships/notesMaster" Target="/ppt/notesMasters/notesMaster1.xml" Id="Rbb492127a0c74e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c2798492b642bb" /><Relationship Type="http://schemas.openxmlformats.org/officeDocument/2006/relationships/notesMaster" Target="/ppt/notesMasters/notesMaster1.xml" Id="R7135d33e2d26442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7abcc55f184c02" /><Relationship Type="http://schemas.openxmlformats.org/officeDocument/2006/relationships/notesMaster" Target="/ppt/notesMasters/notesMaster1.xml" Id="R9272d1ddd2f5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本节围绕离心机检测案例，展示公开专利和课程设想的区别。发明挖掘从实际技术问题、方案和证据出发。交底材料供发明人与单位、代理专业人员沟通，不自动成为申请文件或授权结论。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二条说明发明是产品、方法或改进的技术方案；第22条规定新颖性、创造性、实用性；第26条说明充分公开和权利要求以说明书为依据；第64条保护范围以权利要求为准。交底书不是法定申请文件的替代物。发明、实用新型、外观设计对象不同，须依具体成果选择，AI不能直接判断所属类型或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PO原文EP4636367A1，2025年10月22日公开。第17页图2包含样品处理部件、驱动、振动传感器和处理器。第14页权利要求1、3、4依次涉及至少两个自由度数据、训练模型及特征表示；第15页权利要求11涉及依据运行状态停止设备。本页只解释公开内容，不确认当前法律状态或据此分析侵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本次实际网络检索centrifuge imbalance sensor controller stop，找到US7255669B2及EP4636367A1。后者有EPO原文；前者读取Google Patents的授权文献说明书、权利要求与公开日期。检索非查全，未系统覆盖全部数据库、同族、引证和法律状态。分类B04B9/14来自EP首页，可作为扩展线索。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7255669B2说明书FIG7及权利要求15有转速相关阈值与停止控制。EP4636367A1权利要求1、3、4和11有多自由度振动、训练模型、特征表示及停止。表格仅记录这次读到的相关内容，不把省略内容当作未公开，也不作新颖性或创造性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EP4636367A1，Vibration detection in a laboratory instrument，公开日2025-10-22</a:t>
            </a:r>
          </a:p>
          <a:p xmlns:a="http://schemas.openxmlformats.org/drawingml/2006/main">
            <a:r>
              <a:t>https://data.epo.org/publication-server/rest/v1.2/publication-dates/2025-10-22/patents/EP4636367NWA1/document.pdf</a:t>
            </a:r>
          </a:p>
          <a:p xmlns:a="http://schemas.openxmlformats.org/drawingml/2006/main">
            <a:r>
              <a:t>定位：PDF第1页元数据，第14至15页权利要求1、3、4、11，第17页图2，说明书[0035]；附图仅作公开技术阅读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US7255669B2，Centrifuge with imbalance detector，文献公布日2007-08-14</a:t>
            </a:r>
          </a:p>
          <a:p xmlns:a="http://schemas.openxmlformats.org/drawingml/2006/main">
            <a:r>
              <a:t>https://patents.google.com/patent/US7255669B2/en</a:t>
            </a:r>
          </a:p>
          <a:p xmlns:a="http://schemas.openxmlformats.org/drawingml/2006/main">
            <a:r>
              <a:t>定位：Google Patents承载公开专利原文；读取说明书FIG7步骤与权利要求15；未核实当前法律状态，不作实施自由结论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拟讨论传感器丢帧或饱和时的有效性检查；这只是追问方向，未核验是否已有公开，不称新发明点。追问安装位置和连接、时间标记、失效门槛、控制请求、恢复策略、区别和证据。未知信息保留待补，不由AI生成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自编流程：传感输入和时间标记，有效性判断，正常路径识别运行状态，异常路径记录传感故障，形成处理请求。图仅描述信息流，不是接线图或真实控制器。真实离心机动作、接口、制动、失效安全和恢复均需工程验证。没有硬件或试验已完成的主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使用课程示例段落，描述S1读取、S2有效性、S3识别、S4请求与记录。安装位置、采样率、窗口和阈值未定；没有样机或原始测试，不填具体数字。第26条要求申请说明书充分公开，教学草稿存在缺口，不能称已满足该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列出传感故障识别、误报漏报、处理延迟等应讨论的证据维度，全部待提供。未设计或实施实际台架实验。不把预计改善写成已证明性能，也不将其他专利的试验结果归给本例。Humanizer可把“显著提升”改成拟检查的具体问题，不能造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1-S4与模块标记应一致。交底正文与图互相解释，权利要求从说明书支持的技术方案组织。可用反向核对查看每个拟写特征的出处；本课程未起草正式权利要求，也不套写宽泛保护范围。中国法第26和64条适用，WIPO课件仅参考文档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WIPO，PCT Seminar Presentation，Updated Compilation March 2025</a:t>
            </a:r>
          </a:p>
          <a:p xmlns:a="http://schemas.openxmlformats.org/drawingml/2006/main">
            <a:r>
              <a:t>https://www.wipo.int/pct/en/docs/pct-seminar.pdf</a:t>
            </a:r>
          </a:p>
          <a:p xmlns:a="http://schemas.openxmlformats.org/drawingml/2006/main">
            <a:r>
              <a:t>定位：已查看PDF物理页16、24、94、96；采用24说明书组织、94检索范围记录、96意见非最终授权的区分，不照搬外国程序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轮Codex实际检索读取公开原文，编写教学对照及问题；本地脚本读取已编写JSON与DOCX模板，完成结构检查与填充，保存来源、问题、流程和运行记录。该脚本无外部模型调用，未作专利性审查。不能把同名Skill说明文件当作已运行的独立自主进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Section11实际本地文件执行记录</a:t>
            </a:r>
          </a:p>
          <a:p xmlns:a="http://schemas.openxmlformats.org/drawingml/2006/main">
            <a:r>
              <a:t>local:training/section-11/execution-evidence.json</a:t>
            </a:r>
          </a:p>
          <a:p xmlns:a="http://schemas.openxmlformats.org/drawingml/2006/main">
            <a:r>
              <a:t>定位：run_demo.py、来源账本、问题清单、Word与哈希；脚本只做结构检查及填充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利法第6条涉及职务发明，第22条涉及现有技术，第24条例外适用有条件，不是所有公开都有六个月通用宽限期。课堂不作个案权属或期限建议。实际发明材料先在授权范围内整理，向单位成果转化部门和专业人员提供真实贡献、合同与公开时间线。下一节项目执行与结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中华人民共和国专利法（2020年修正），国家知识产权局原文</a:t>
            </a:r>
          </a:p>
          <a:p xmlns:a="http://schemas.openxmlformats.org/drawingml/2006/main">
            <a:r>
              <a:t>https://www.cnipa.gov.cn/art/2020/11/23/art_97_155167.html</a:t>
            </a:r>
          </a:p>
          <a:p xmlns:a="http://schemas.openxmlformats.org/drawingml/2006/main">
            <a:r>
              <a:t>定位：2026-10-18核查相关条款，未对具体方案作法律判断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课程自编离心机监测交底教学材料</a:t>
            </a:r>
          </a:p>
          <a:p xmlns:a="http://schemas.openxmlformats.org/drawingml/2006/main">
            <a:r>
              <a:t>local:training/section-11/patent-packet/patent.json</a:t>
            </a:r>
          </a:p>
          <a:p xmlns:a="http://schemas.openxmlformats.org/drawingml/2006/main">
            <a:r>
              <a:t>定位：方案、追问、实施细节及缺口；不是申请人发明成果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7e93196d0a4e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7aa6cadb604d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884a5fabb640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027627d9334d7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5ab5d3e4842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11f8d2a79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D7F372-292B-4923-90E8-E4A1235355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230429D-939D-4AF2-875B-6AFD1FC4B7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27FEB-758F-4E52-A260-3207A7595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60B40E-9348-4AFB-9CC4-EEE05CA55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62F148-A438-4DF3-82D0-FC4A390C5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14C82E-6AD8-4E08-923F-2C5A89076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70FCD4-C030-4E77-B2E8-80656CF53D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78E93E-CFFA-473A-9493-ADCFEEDF3C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CD32357-2934-4BAB-8F68-A7506FC7EC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EBD50D-D305-4B67-AB0F-992D37CC05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cdfcd16e06428b" /><Relationship Type="http://schemas.openxmlformats.org/officeDocument/2006/relationships/slideLayout" Target="/ppt/slideLayouts/slideLayout1.xml" Id="Rf351fc9a9a284853" /><Relationship Type="http://schemas.openxmlformats.org/officeDocument/2006/relationships/slideLayout" Target="/ppt/slideLayouts/slideLayout2.xml" Id="R24b5492d187f4558" /><Relationship Type="http://schemas.openxmlformats.org/officeDocument/2006/relationships/slideLayout" Target="/ppt/slideLayouts/slideLayout3.xml" Id="R872240686010436c" /><Relationship Type="http://schemas.openxmlformats.org/officeDocument/2006/relationships/slideLayout" Target="/ppt/slideLayouts/slideLayout4.xml" Id="Rc71805010ce74152" /><Relationship Type="http://schemas.openxmlformats.org/officeDocument/2006/relationships/slideLayout" Target="/ppt/slideLayouts/slideLayout5.xml" Id="Rca935a7bbf7f4c65" /><Relationship Type="http://schemas.openxmlformats.org/officeDocument/2006/relationships/slideLayout" Target="/ppt/slideLayouts/slideLayout6.xml" Id="Refbd993f7d784d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51fc9a9a284853"/>
    <p:sldLayoutId xmlns:r="http://schemas.openxmlformats.org/officeDocument/2006/relationships" id="2147483650" r:id="R24b5492d187f4558"/>
    <p:sldLayoutId xmlns:r="http://schemas.openxmlformats.org/officeDocument/2006/relationships" id="2147483651" r:id="R872240686010436c"/>
    <p:sldLayoutId xmlns:r="http://schemas.openxmlformats.org/officeDocument/2006/relationships" id="2147483652" r:id="Rc71805010ce74152"/>
    <p:sldLayoutId xmlns:r="http://schemas.openxmlformats.org/officeDocument/2006/relationships" id="2147483653" r:id="Rca935a7bbf7f4c65"/>
    <p:sldLayoutId xmlns:r="http://schemas.openxmlformats.org/officeDocument/2006/relationships" id="2147483654" r:id="Refbd993f7d784d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14184df84f48cb" /><Relationship Type="http://schemas.openxmlformats.org/officeDocument/2006/relationships/notesSlide" Target="/ppt/notesSlides/notesSlide1.xml" Id="R3a4376764848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c08cab6b8e4898" /><Relationship Type="http://schemas.openxmlformats.org/officeDocument/2006/relationships/notesSlide" Target="/ppt/notesSlides/notesSlide2.xml" Id="Rf4976c7844694d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377be9b254c9a" /><Relationship Type="http://schemas.openxmlformats.org/officeDocument/2006/relationships/image" Target="/ppt/media/image.png" Id="Rf0c467953c87423b" /><Relationship Type="http://schemas.openxmlformats.org/officeDocument/2006/relationships/notesSlide" Target="/ppt/notesSlides/notesSlide3.xml" Id="R71afa5cbfe7f4e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bda766cf2493f" /><Relationship Type="http://schemas.openxmlformats.org/officeDocument/2006/relationships/notesSlide" Target="/ppt/notesSlides/notesSlide4.xml" Id="R27614080919547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1d87ecf2c740c6" /><Relationship Type="http://schemas.openxmlformats.org/officeDocument/2006/relationships/notesSlide" Target="/ppt/notesSlides/notesSlide5.xml" Id="R1a7efca0dba049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9d6f173dd7441f" /><Relationship Type="http://schemas.openxmlformats.org/officeDocument/2006/relationships/notesSlide" Target="/ppt/notesSlides/notesSlide6.xml" Id="R48d37dc9cd2f4e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e26d10b148423c" /><Relationship Type="http://schemas.openxmlformats.org/officeDocument/2006/relationships/notesSlide" Target="/ppt/notesSlides/notesSlide7.xml" Id="R75b81429385e40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06eb6c2ae440e" /><Relationship Type="http://schemas.openxmlformats.org/officeDocument/2006/relationships/notesSlide" Target="/ppt/notesSlides/notesSlide8.xml" Id="R3f403821559a46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3c1b7480bd48dd" /><Relationship Type="http://schemas.openxmlformats.org/officeDocument/2006/relationships/notesSlide" Target="/ppt/notesSlides/notesSlide9.xml" Id="R4349502bdb4946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5eeeed13f40b9" /><Relationship Type="http://schemas.openxmlformats.org/officeDocument/2006/relationships/notesSlide" Target="/ppt/notesSlides/notesSlide10.xml" Id="Rab8212efc3ef4c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950fe9eb6a4c4a" /><Relationship Type="http://schemas.openxmlformats.org/officeDocument/2006/relationships/notesSlide" Target="/ppt/notesSlides/notesSlide11.xml" Id="R29c6c293d26947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9afa1cf0f488b" /><Relationship Type="http://schemas.openxmlformats.org/officeDocument/2006/relationships/notesSlide" Target="/ppt/notesSlides/notesSlide12.xml" Id="Ra2a7f32e79c44a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999B9-EEBF-49AD-BD5E-CCEB0C473AE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9DEC6A-4FB9-4859-86A6-561CD27AEC0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D3B8CC-7E07-4F4E-BE33-869E33F8EC5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A6925-0E50-4FAF-BFEB-A78556EE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1184-3E4E-4C6F-89C5-26831BA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专利挖掘与技术交底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9109D-7010-472B-BB84-D13D2FB0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21D76-43A4-410C-AA51-DA992143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先把技术方案讲清楚，再与公开技术逐项比较，形成能继续讨论的交底材料。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E9C238-69FE-4BB6-A3C8-6A0B4F4D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真实技术材料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1D618-7F0F-4950-8616-78966D97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具体方案与细节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664BD-16CD-442F-B19A-748E4F13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公开技术对照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3A4C1-6C8A-46D9-92DD-DAF08BAD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交底与待补事项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FF8066-D59F-41ED-8C38-877B535C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研究记录、结构和过程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81CF0A-1ED7-4394-A471-C2320A57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部件、步骤、参数与异常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51C42-DDEF-46AD-A729-F1A67224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按技术特征读原文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617036-3F29-4FF1-91D9-17A2C047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48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来源、缺口与进一步追问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7BCBA-F140-41EA-A600-045E37F4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008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贯穿案例：实验室离心机的不平衡检测与传感数据检查。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4F5FC-71F9-4059-AECA-D9BCB414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公开专利用于分析，课程设想未实施、未形成可专利性结论。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0A82CD-32E0-4135-99B8-D8F3D257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来源：WIPO 2025原始PPT；专利法第2、6、22、24、26、64条；教学假设方案，未实施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7545B-1751-4F95-A538-2F61489E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939710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CF1F0F-3257-451C-931B-5A572EAE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A192A-4247-43FB-9E21-DC87D40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技术方案与交底材料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01457-36A6-47BD-BF14-04355C34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742AA-AA94-4094-AFC9-85B81003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科学发现、具体技术方案和专利权利要求，承担不同的表达任务。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4ED6E-C71C-4A18-B656-E44DA71F2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科学发现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8FC32-F97C-447B-B530-4BFECD13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报告观察或认识。能否形成专利对象，需要看具体技术方案。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DAD6E-E1C9-4B99-B2BB-7CB06812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9E1CAC-1811-424F-AB6E-893DF0F8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技术交底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191AB-F53D-452F-A53B-F3BFBA09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说明解决什么技术问题，用哪些部件或步骤，怎样实施，有什么依据。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D6166-F984-48B1-A34E-C55A6F5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77BC8-A23D-47E9-A973-E4F066D1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专利申请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671B4-951D-45D5-BA04-7FFDD118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发明和实用新型须具备新颖性、创造性、实用性，说明书与权利要求有法定要求。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CE0A9D-1F2B-4BF5-BD74-47F1995E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6985AB-C9D7-4C63-91BF-E23F214C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交底材料记录事实、细节和证据；申请文件与保护范围另作专业核对。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C4B4A-4892-49EC-A059-A0F0D42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882B9-7AE2-494D-A115-46AE820C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8573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4D0C39-2FD3-4CCC-9938-ED385260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1AB2B-EB3F-43D2-B2CC-C23B0A9E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公开专利原文中的技术结构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DC329-4C38-430B-810E-0E6329FB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E08758-C5EB-43C4-9B6C-4AB31DC6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从摘要、说明书、权利要求和附图相互核对，才能理解公开方案。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4F2485-E4DB-4678-825B-E749C4C4979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c467953c87423b"/>
          <a:stretch xmlns:a="http://schemas.openxmlformats.org/drawingml/2006/main"/>
        </p:blipFill>
        <p:spPr>
          <a:xfrm xmlns:a="http://schemas.openxmlformats.org/drawingml/2006/main">
            <a:off x="1580696" y="2952750"/>
            <a:ext cx="4172857" cy="4381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90151-E879-42BA-B445-D1E25397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EP4636367A1  图2（原页局部）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A8FCA6-B1D5-431A-8AC9-2BD0644E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733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中文阅读定位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DE185-0FFC-44BF-8673-BCD4BEE7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00500"/>
            <a:ext cx="7334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图2：样品处理部件、驱动、振动传感器与处理器。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权利要求1、3、4：多自由度振动、训练模型与特征表示。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权利要求11：按识别的运行状态停止设备。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991C3-C2F1-4B9E-B767-EF8E7A28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左图为EPO公开原文第17页图2，右侧为中文阅读定位。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976EF-A510-438A-B55D-0BF14041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3D15B-54E1-438A-AEAE-9F9F7A8C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17391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55E589-A449-45A1-9B11-AA176EDBE3AD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2B8F1C-02EC-49E6-950F-A372D337340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714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0A46F-C55E-46CC-992D-0FE205ED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770A0-E3B7-4621-B349-60D10E56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技术特征驱动的检索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D5915-0416-41B7-8169-1C03C6940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EF7E8-334F-499B-BF57-52FB781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检索词围绕设备、检测对象和控制动作展开，再扩展分类号与同族线索。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FCBB1-20D9-4278-99E9-E2A7D9DF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设备与任务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347BA-E441-4476-B46B-BD1DE7DB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技术特征组合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FFD00-F565-4279-BFF4-4444FDE3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86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原文与分类扩展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7B889-976E-4B73-A145-0659AA09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离心机 / 不平衡检测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2E3B1E-943E-44D1-BA15-DC166911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centrifuge + imbalance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sensor + controller + stop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7842E2-1995-490A-9626-7C1B291D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667250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核对公开日与定位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扩展B04B9/14等线索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8DC0D5-8F10-40E9-A37D-F631A1CF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1371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本次已读：US7255669B2、EP4636367A1。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3E2EE-1B91-40CA-88EA-F473C941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未完成全部数据库、同族、引证和法律状态核查，检索记录保留这些范围。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9CC81-6EEE-4420-818B-0C00FE7E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保存实际检索式、日期、命中文献与阅读范围，不把两个命中称为查新完成。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2D7FC8-BB7A-4637-833D-412CEC91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来源：EP4636367A1，EPO公开原文；US7255669B2，说明书及权利要求15；WIPO 2025原始PPT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BD9E46-9B4B-4535-85DE-D8EAC73C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253723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3BF21-136F-469C-8E75-8CC198A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41F3-820E-4154-B75B-53356E63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公开技术特征的逐项对照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CB2AC-3CB4-4F29-A38A-BC38468C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3642C-6FB8-444A-825F-C91489A2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把传感、判断和控制分别定位，避免只凭标题判断自己的方案有区别。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AACC9-27F6-403C-90EB-1166C88BC57D}"/>
              </a:ext>
            </a:extLst>
          </p:cNvPr>
          <p:cNvGraphicFramePr/>
          <p:nvPr/>
        </p:nvGraphicFramePr>
        <p:xfrm>
          <a:off xmlns:a="http://schemas.openxmlformats.org/drawingml/2006/main" x="762000" y="3190875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381625"/>
                <a:gridCol w="5381625"/>
              </a:tblGrid>
              <a:tr h="10477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比较位置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US7255669B2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EP4636367A1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输入与判断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说明书读取转速并比较相应阈值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权利要求1：至少两个自由度振动数据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模型或规则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权利要求15：随转速变化的阈值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权利要求3、4：训练模型与特征表示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控制动作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权利要求15：满足条件停止驱动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权利要求11：根据运行状态停止设备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DA673-48AB-495F-8393-96DE7800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比较用于识别已有内容。实际新颖性等判断仍需完整方案、日期与更广检索。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39A504-AC0C-47E1-AB28-0CC1038E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来源：EP4636367A1，EPO公开原文；US7255669B2，说明书及权利要求15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57B8-BFA6-44A5-A613-B56D944B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931672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0E02CD-C8DC-4518-915B-91A2C353F34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048250" y="5024438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6C6F3-C928-45F4-B87E-F43063DB71E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5024438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3E88F5-0F5C-448B-958E-651A5A61A6E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048250" y="3548063"/>
            <a:ext cx="2000250" cy="1476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D2358B-63DA-47A0-8000-F3D40C69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C1A274-E337-42EA-96C5-8E2DEEEF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发明挖掘中的具体追问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848B3-F0D0-439B-A7AF-307BFA44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C2A55-189A-4427-9A4B-F76B75B5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“加上传感器和AI”仍需继续拆成部件、数据路径、判断条件和效果依据。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6343E-8950-45AB-85CB-62484A0F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286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待讨论设想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传感数据有效性检查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83061-642C-4BF6-8988-9F1CB305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4325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安装与数据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80E325-A262-4E3B-A560-8862D4BC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14325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安装在哪？时间标记怎样产生？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574374-5EFD-4CB9-AE25-6300311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19625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判断与异常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6F426-319F-47D0-9C5E-B36D1EBB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619625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怎样判丢帧、饱和，依据是什么？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043C4D-C145-4F88-BF9E-8939B1F5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6096000"/>
            <a:ext cx="3048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控制与证据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8D510-4B27-41D9-B9A9-8EF6B196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960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怎样请求处理、恢复，效果怎样验证？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06A43-3E26-439E-BA0F-733F2E03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本例未找到经核实的区别特征，问题清单用于继续收集技术事实。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9591A-878C-42E4-9C63-C9D92075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来源：教学假设方案，未实施；专利法第2、6、22、24、26、64条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B505BD-9412-4412-A1D3-4E964720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701135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BE2A2-77C6-41B7-97EE-CDA335B15A08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2620625" y="6238875"/>
            <a:ext cx="0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F0AEC-4798-4382-81D4-25E321DE379E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048750" y="5786438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8FE46-6266-4721-977B-69CF7A4E827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62062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D11B1-C9A1-4F10-81AF-38FDECE8A29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7381875" y="4143375"/>
            <a:ext cx="0" cy="1190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30D98A-260A-4929-B1AF-124D3A2135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048750" y="3690938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506414-0F38-4352-BE2F-A0D9AD04C4C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95750" y="3690938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1C602-6A75-406B-ADD5-FB84B549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88480-263C-48F9-B3A4-987110BB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教学方案的结构与异常分支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CD13E7-1A9B-4CA5-B05C-A197D55C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7D73F-08FD-4BC7-A465-55F3951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数据有效时识别状态，数据异常时记录故障，再按经验证规则处理控制请求。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C2F6B-8B41-4443-B595-8632D18B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传感数据与时间标记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39D27-4D13-4CE9-A3B3-B97CB5E0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数据有效？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3A83-F131-4925-8233-273D742E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2385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识别运行状态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7E5CE6-B7CF-43FE-8BB2-BC7028F7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33400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记录传感故障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14150-C8EA-4F8C-ACE2-C5080D0A2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按状态产生控制请求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AF902-3EE6-41DE-A6E2-6C7EB67F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953250"/>
            <a:ext cx="3714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处理与恢复：规则待验证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3AD7B-C0D3-4F96-A37E-6B9C1AA6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7662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有效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319198-48DC-491F-95BF-F0CB550A5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异常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45254-FDFB-45C4-A490-84C942EE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286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两条路径汇入控制请求。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怎样响应、制动和恢复，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仍需设备设计与试验支持。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6E33F4-7D7B-45A1-AAD4-8C04DF72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课程假设方案，无样机、无控制验证，也未证明区别于已有技术。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617774-83C1-42FD-999F-36EB82D0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F4381-1992-41F3-83C9-D6727479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91089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53EAD-4C6C-4411-AECD-76EC39CB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53782-325C-4C2F-B263-D0BCA733F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实施说明中的可复现细节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2044D0-9412-46B9-A1C6-00C5AAB5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A3DB0-0A3E-4C00-99CE-0978197F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实施例需要交代怎样实现，各项参数及异常处理都有技术依据。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E15530-316D-4EEA-97E6-73E0E17F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课程实施说明节选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31FA5-3B9B-475B-913E-69F1CAB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S1读取振动数据及时间标记。S2检查数据是否满足预定有效性条件。数据有效时，S3进入运行状态识别；数据异常时，S4记录故障并向控制单元发出处理请求。控制单元如何响应和恢复，须结合设备设计进一步确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288F5-E55C-4B9D-B03A-05AF1CF5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1B1D8-D484-43B0-B6BC-FFB5CB5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0"/>
            <a:ext cx="1371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尚缺：安装位置、采样率、时间窗口、故障门槛、接口及制动与恢复细节。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1E4A0-F86A-4E43-90EF-818BEE56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完整段落与待补参数随交底材料保存，当前不足以制造或控制真实设备。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A3ECB-AAE8-4BA2-B98C-76424723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CD0F4-5FA9-4878-B189-B19FD65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9590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D78F6-1ACE-4300-A0C4-83CC3B2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E9F50-BF63-48A9-9F89-0FAC5A1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技术效果与证据对应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24EEE-89AD-4855-892F-CB91EE60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EA674-DB98-47C2-9BF3-30BCFAE7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效果表述应有对应结构、对照条件和原始记录支持。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FB3A2-3149-41D9-BF04-61B74F11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方案特征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B2776-2A01-4AA1-B83A-CEA83025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数据有效性检查、异常记录与控制请求，分别对应哪些具体部件或步骤？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36FF6-5479-4DF7-866A-27A98DA6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E8877-72BC-4C81-8F56-B99DBEE3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比较与测量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73C62-311C-49FD-ACB0-B82DAD6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24375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对照什么方案，记录哪些误报、漏报与处理延迟，保留哪些原始数据？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57F17D-8202-4433-81D9-9B9E1570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F2B26-E8AD-4CED-8992-36E70AEC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49232-CD2A-455D-97A3-DA29AC2D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9055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没有样机或台架试验，不填写准确率、响应时间或提升比例。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4E701-A6F7-4F7C-BD1C-FE12E234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96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895CD5-8CE2-4F10-BE6F-7826F4A5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本例无性能结果，不填准确率、响应时间或提升百分比。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091D4F-B3F3-49F5-AE19-6B76D07D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来源：教学假设方案，未实施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45A8B-D8BD-455A-85A7-9AFDBA91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112598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DCE50A-FEE8-4F6C-8098-B20E5936013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3952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5F71B-7A6E-48BB-AF3F-7F8E83C9067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952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CE7E75-4B35-4C81-A4DB-55C695A8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89E08-DE21-4697-A380-8575EFFA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交底正文、附图与权利要求的对应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D3364-2A3E-4136-843F-404CBD72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5BDF5-018E-43CF-BCB0-6EBAF106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模块名称、步骤编号与方案描述保持一致，拟保护内容必须得到充分说明。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2FECF8-3DF1-427A-84AC-D92D0964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交底文字与标记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774BE-D1DE-4B1E-8A27-0B38681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附图与信息路径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E5017-B1B3-4B1B-A6AF-B6914A5B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524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拟保护技术特征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4B545-25FD-4A55-99AD-665E984F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模块名、步骤S1至S4一致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F0911-FCF4-49A0-9F93-3B6E6DE1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053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每个模块与正文互相解释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41BDC-D3F8-4720-993E-A1859897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05375"/>
            <a:ext cx="4000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回到说明书找具体支持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13652-DDAF-403E-934B-0E83306B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反向核对：每个拟写特征，都能找到实现细节及相应图文依据。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685D4-79A5-4CC9-8160-DC2A6CC2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当前尚未起草正式权利要求，交底材料仍有实施细节缺口。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0F009E-D128-4224-96F8-BE03F013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术语统一和来源对应能帮助检查材料，不能代替充分公开与保护范围判断。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E1BCB1-BDA5-4463-9D12-32FA3D10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来源：专利法第2、6、22、24、26、64条；WIPO 2025原始PPT；教学假设方案，未实施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D79AD-A7A4-4EE4-9E05-AF79C720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9446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632024-A42E-462A-99CC-6F0170D2ECD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56640A-322F-4351-8CCB-D0DFA4B68BB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1CA88-2ABC-4E9D-B0DE-8179F01516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3714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DE9BE-A019-4590-B920-B4766C92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BB0E5-4563-4ADA-AA81-5A304BE2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Patent Agent的实际材料流程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52BBD-D699-41BC-A25D-771F07E3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E6BA9-63A3-46B6-A25A-30296CF2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AI协助整理追问、对照和交底文字，执行器再核对结构并生成可编辑Word。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B16B2-898F-4745-AD54-72988E0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公开资料检索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0B547-077E-4CC5-A73C-8CBC7B9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技术对照与追问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8C479-CDFB-44F7-B504-E21C0955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文件结构检查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09D79-A0A8-44B6-B381-617693B6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286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Word与问题清单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69D487-2357-4750-A6F6-98EC0695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本轮Codex实际读原文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30C04-4396-4840-982B-DA580293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课程编写对照及设想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63451-15E9-42E7-8F82-6EB68DAB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本地读取已编写输入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9DE462-F40D-4FBC-8204-F6A1A012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66725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保留来源、流程与版本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CF0766-BFFB-4655-A555-77BB4C2A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实际结果：Word教学草稿已写出，仍待技术事实补充与研究者核对。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B16F3-5A52-4BD1-ACC2-357EF2573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本地填充脚本没有调用外部模型，没有完成查全、专利性或侵权判断。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6AE964-B12B-4BA0-B0AA-E8BA99D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公开检索与文件执行分别留证；Word仍为教学草稿，不代表查新或法律审查完成。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5D09E7-0756-473E-BD1A-0B00F48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来源：实际文件执行记录，无模型调用；教学假设方案，未实施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096DC-2B3E-40C1-AB3E-DEC394358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46828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F00A44-0F7D-451C-A76B-7B8419D03A7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7858125" y="4238625"/>
            <a:ext cx="390525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D76A69-4CB5-42B6-BDD7-2CFE418C89B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476625" y="4238625"/>
            <a:ext cx="4381500" cy="1476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378C3-9375-401E-9C68-2FC329BC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  专利挖掘与技术交底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EC283-642F-4B48-B75A-0633853D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公开前的材料与权属核对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F04658-4A61-45A0-BD44-EB8CE937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E9233-DC48-4072-B41F-2DFEEED7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论文、报告、演示和申请的安排，需要结合单位流程、贡献与既往公开记录一起核对。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D4F80-36C1-4F92-86E0-5856C108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技术事实与完整细节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82A555-9ECC-41F1-94D8-C65E5644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5429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贡献、合同与公开记录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A32B18-1AE7-4073-A873-91A4FD77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715000"/>
            <a:ext cx="8096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单位成果转化部门与专业人员核对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A94B85-3A80-46C2-8336-85B65E3D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公开前核对申请安排。法定例外有适用条件，不能当作普遍宽限期。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AE964-6496-4751-9E59-1F4A1335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本节未提交申请或对外披露真实未公开发明；下一节为项目执行与结题。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FD9FC-1E73-4CEB-998B-A9A703F5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来源：专利法第2、6、22、24、26、64条；教学假设方案，未实施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4FBA8-EEDB-4C4C-8A67-5076233C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8748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2026-10-18T12:50:52.9930000Z</dcterms:created>
  <dcterms:modified xsi:type="dcterms:W3CDTF">2026-10-18T12:50:52.9930000Z</dcterms:modified>
</coreProperties>
</file>