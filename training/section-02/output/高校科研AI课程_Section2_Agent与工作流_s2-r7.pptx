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b2861805b4251" /><Relationship Type="http://schemas.openxmlformats.org/officeDocument/2006/relationships/extended-properties" Target="/docProps/app.xml" Id="Ra817cb974ddc4128" /><Relationship Type="http://schemas.openxmlformats.org/officeDocument/2006/relationships/officeDocument" Target="/ppt/presentation.xml" Id="R5a977e6aafd245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796ba6a6934196"/>
  </p:sldMasterIdLst>
  <p:notesMasterIdLst>
    <p:notesMasterId xmlns:r="http://schemas.openxmlformats.org/officeDocument/2006/relationships" r:id="Rf9ffeaa0c5ef4a09"/>
  </p:notesMasterIdLst>
  <p:sldIdLst>
    <p:sldId xmlns:r="http://schemas.openxmlformats.org/officeDocument/2006/relationships" id="256" r:id="R8023a9456bcd4be1"/>
    <p:sldId xmlns:r="http://schemas.openxmlformats.org/officeDocument/2006/relationships" id="257" r:id="R2240786a64084bf7"/>
    <p:sldId xmlns:r="http://schemas.openxmlformats.org/officeDocument/2006/relationships" id="258" r:id="R5c7fa712a5984840"/>
    <p:sldId xmlns:r="http://schemas.openxmlformats.org/officeDocument/2006/relationships" id="259" r:id="Rbdfaf70da93b46cc"/>
    <p:sldId xmlns:r="http://schemas.openxmlformats.org/officeDocument/2006/relationships" id="260" r:id="Rc16f766733f44486"/>
    <p:sldId xmlns:r="http://schemas.openxmlformats.org/officeDocument/2006/relationships" id="261" r:id="Rc19b97159b9047ff"/>
    <p:sldId xmlns:r="http://schemas.openxmlformats.org/officeDocument/2006/relationships" id="262" r:id="Rdd2b6c4a34554892"/>
    <p:sldId xmlns:r="http://schemas.openxmlformats.org/officeDocument/2006/relationships" id="263" r:id="R54c72f98cad6455d"/>
    <p:sldId xmlns:r="http://schemas.openxmlformats.org/officeDocument/2006/relationships" id="264" r:id="R35b0e21f68144daf"/>
    <p:sldId xmlns:r="http://schemas.openxmlformats.org/officeDocument/2006/relationships" id="265" r:id="Rf4703eb22b8244a6"/>
    <p:sldId xmlns:r="http://schemas.openxmlformats.org/officeDocument/2006/relationships" id="266" r:id="Ra7fd01e894724d69"/>
    <p:sldId xmlns:r="http://schemas.openxmlformats.org/officeDocument/2006/relationships" id="267" r:id="R7e1f6661efb044e9"/>
    <p:sldId xmlns:r="http://schemas.openxmlformats.org/officeDocument/2006/relationships" id="268" r:id="R6ac95324bb0a4471"/>
    <p:sldId xmlns:r="http://schemas.openxmlformats.org/officeDocument/2006/relationships" id="269" r:id="R6ac04111809f490b"/>
    <p:sldId xmlns:r="http://schemas.openxmlformats.org/officeDocument/2006/relationships" id="270" r:id="R11724a5f374040e8"/>
    <p:sldId xmlns:r="http://schemas.openxmlformats.org/officeDocument/2006/relationships" id="271" r:id="Rfe5862ee96344c4b"/>
    <p:sldId xmlns:r="http://schemas.openxmlformats.org/officeDocument/2006/relationships" id="272" r:id="Rac49a2e44c0443d8"/>
    <p:sldId xmlns:r="http://schemas.openxmlformats.org/officeDocument/2006/relationships" id="273" r:id="R6d72b63d28b041f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2ca1c4bbf246ac" /><Relationship Type="http://schemas.openxmlformats.org/officeDocument/2006/relationships/slideMaster" Target="/ppt/slideMasters/slideMaster1.xml" Id="Rd0796ba6a6934196" /><Relationship Type="http://schemas.openxmlformats.org/officeDocument/2006/relationships/notesMaster" Target="/ppt/notesMasters/notesMaster1.xml" Id="Rf9ffeaa0c5ef4a09" /><Relationship Type="http://schemas.openxmlformats.org/officeDocument/2006/relationships/presProps" Target="/ppt/presProps.xml" Id="Ree177eea157d46a5" /><Relationship Type="http://schemas.openxmlformats.org/officeDocument/2006/relationships/tableStyles" Target="/ppt/tableStyles.xml" Id="Rd05b32f051864743" /><Relationship Type="http://schemas.openxmlformats.org/officeDocument/2006/relationships/slide" Target="/ppt/slides/slide1.xml" Id="R8023a9456bcd4be1" /><Relationship Type="http://schemas.openxmlformats.org/officeDocument/2006/relationships/slide" Target="/ppt/slides/slide2.xml" Id="R2240786a64084bf7" /><Relationship Type="http://schemas.openxmlformats.org/officeDocument/2006/relationships/slide" Target="/ppt/slides/slide3.xml" Id="R5c7fa712a5984840" /><Relationship Type="http://schemas.openxmlformats.org/officeDocument/2006/relationships/slide" Target="/ppt/slides/slide4.xml" Id="Rbdfaf70da93b46cc" /><Relationship Type="http://schemas.openxmlformats.org/officeDocument/2006/relationships/slide" Target="/ppt/slides/slide5.xml" Id="Rc16f766733f44486" /><Relationship Type="http://schemas.openxmlformats.org/officeDocument/2006/relationships/slide" Target="/ppt/slides/slide6.xml" Id="Rc19b97159b9047ff" /><Relationship Type="http://schemas.openxmlformats.org/officeDocument/2006/relationships/slide" Target="/ppt/slides/slide7.xml" Id="Rdd2b6c4a34554892" /><Relationship Type="http://schemas.openxmlformats.org/officeDocument/2006/relationships/slide" Target="/ppt/slides/slide8.xml" Id="R54c72f98cad6455d" /><Relationship Type="http://schemas.openxmlformats.org/officeDocument/2006/relationships/slide" Target="/ppt/slides/slide9.xml" Id="R35b0e21f68144daf" /><Relationship Type="http://schemas.openxmlformats.org/officeDocument/2006/relationships/slide" Target="/ppt/slides/slide10.xml" Id="Rf4703eb22b8244a6" /><Relationship Type="http://schemas.openxmlformats.org/officeDocument/2006/relationships/slide" Target="/ppt/slides/slide11.xml" Id="Ra7fd01e894724d69" /><Relationship Type="http://schemas.openxmlformats.org/officeDocument/2006/relationships/slide" Target="/ppt/slides/slide12.xml" Id="R7e1f6661efb044e9" /><Relationship Type="http://schemas.openxmlformats.org/officeDocument/2006/relationships/slide" Target="/ppt/slides/slide13.xml" Id="R6ac95324bb0a4471" /><Relationship Type="http://schemas.openxmlformats.org/officeDocument/2006/relationships/slide" Target="/ppt/slides/slide14.xml" Id="R6ac04111809f490b" /><Relationship Type="http://schemas.openxmlformats.org/officeDocument/2006/relationships/slide" Target="/ppt/slides/slide15.xml" Id="R11724a5f374040e8" /><Relationship Type="http://schemas.openxmlformats.org/officeDocument/2006/relationships/slide" Target="/ppt/slides/slide16.xml" Id="Rfe5862ee96344c4b" /><Relationship Type="http://schemas.openxmlformats.org/officeDocument/2006/relationships/slide" Target="/ppt/slides/slide17.xml" Id="Rac49a2e44c0443d8" /><Relationship Type="http://schemas.openxmlformats.org/officeDocument/2006/relationships/slide" Target="/ppt/slides/slide18.xml" Id="R6d72b63d28b041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1c8dd14b24e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04849485b64785" /><Relationship Type="http://schemas.openxmlformats.org/officeDocument/2006/relationships/notesMaster" Target="/ppt/notesMasters/notesMaster1.xml" Id="R1eff0e41ae27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1ad39d084c424b" /><Relationship Type="http://schemas.openxmlformats.org/officeDocument/2006/relationships/notesMaster" Target="/ppt/notesMasters/notesMaster1.xml" Id="Rec64b80a651a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b23f3105549f6" /><Relationship Type="http://schemas.openxmlformats.org/officeDocument/2006/relationships/notesMaster" Target="/ppt/notesMasters/notesMaster1.xml" Id="R38fb75e33fea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c829af54004e1c" /><Relationship Type="http://schemas.openxmlformats.org/officeDocument/2006/relationships/notesMaster" Target="/ppt/notesMasters/notesMaster1.xml" Id="R65cf19c5ea2243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c02297ab6c43e6" /><Relationship Type="http://schemas.openxmlformats.org/officeDocument/2006/relationships/notesMaster" Target="/ppt/notesMasters/notesMaster1.xml" Id="Rc93eccad9851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bfcea5a2264493" /><Relationship Type="http://schemas.openxmlformats.org/officeDocument/2006/relationships/notesMaster" Target="/ppt/notesMasters/notesMaster1.xml" Id="R904356cae0f243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4e1cea41534b0d" /><Relationship Type="http://schemas.openxmlformats.org/officeDocument/2006/relationships/notesMaster" Target="/ppt/notesMasters/notesMaster1.xml" Id="Re800bc0bc61342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7d6e67a4443bd" /><Relationship Type="http://schemas.openxmlformats.org/officeDocument/2006/relationships/notesMaster" Target="/ppt/notesMasters/notesMaster1.xml" Id="Rcc23b5b101ec44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474a08011e47f6" /><Relationship Type="http://schemas.openxmlformats.org/officeDocument/2006/relationships/notesMaster" Target="/ppt/notesMasters/notesMaster1.xml" Id="R832ab1b011d14e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760d42debd41fc" /><Relationship Type="http://schemas.openxmlformats.org/officeDocument/2006/relationships/notesMaster" Target="/ppt/notesMasters/notesMaster1.xml" Id="R87e7a147e70f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af74b07d8d49f8" /><Relationship Type="http://schemas.openxmlformats.org/officeDocument/2006/relationships/notesMaster" Target="/ppt/notesMasters/notesMaster1.xml" Id="R7a0c2bf61a6f4b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f08581c06c43d5" /><Relationship Type="http://schemas.openxmlformats.org/officeDocument/2006/relationships/notesMaster" Target="/ppt/notesMasters/notesMaster1.xml" Id="R76f61554aafe4c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d67ec62b384649" /><Relationship Type="http://schemas.openxmlformats.org/officeDocument/2006/relationships/notesMaster" Target="/ppt/notesMasters/notesMaster1.xml" Id="Rc3b9ac31399242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89519e5a6b4b0e" /><Relationship Type="http://schemas.openxmlformats.org/officeDocument/2006/relationships/notesMaster" Target="/ppt/notesMasters/notesMaster1.xml" Id="Rd4c8a09b3ef1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f6df5968094ed3" /><Relationship Type="http://schemas.openxmlformats.org/officeDocument/2006/relationships/notesMaster" Target="/ppt/notesMasters/notesMaster1.xml" Id="Rcfa406d1cbf143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6527c778bd4687" /><Relationship Type="http://schemas.openxmlformats.org/officeDocument/2006/relationships/notesMaster" Target="/ppt/notesMasters/notesMaster1.xml" Id="R27d8c0e4eb6a4f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eb99e67e824d10" /><Relationship Type="http://schemas.openxmlformats.org/officeDocument/2006/relationships/notesMaster" Target="/ppt/notesMasters/notesMaster1.xml" Id="Rcb492de622d240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f9bb997a594568" /><Relationship Type="http://schemas.openxmlformats.org/officeDocument/2006/relationships/notesMaster" Target="/ppt/notesMasters/notesMaster1.xml" Id="R4f8db4bfd1a040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教师熟悉的申报材料。说清楚讨论内容、调用工具、输出文件、核对材料分别是什么工作。一个系统可能同时提供这些能力，但完成程度要逐项查看。不要用产品名称替代任务分析。本节只解释组织方式，指南和模板的真实案例放在Section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理解要求：读指南，找出章节、限制与提交要求：要求清单及原文位置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组织内容：比较研究目标、研究内容与已有依据：段落与证据的对应关系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处理文件：按模板写入正文、表格和技术路线：可打开、可编辑的文件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检查交付：核对缺项、引用、排版和版本：问题清单与修订后的文件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先把四个层次分开。不要让学员记成Agentic AI等于ChatGPT、AI Agent等于Codex。Agentic可修饰工作方式或系统特征；Agent通常指承担执行任务的系统。学术和行业中的定义并非完全一致，这里提供课程采用的工作定义。产品能力会变化，本课不把界面差异说成永久边界。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模型：根据输入生成判断、文字或工具调用请求。：模型本身不等于一套完成文件任务的系统。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Agent：围绕目标，结合工具和反馈推进任务的执行系统。：具体系统的自主程度、权限和可靠性各不相同。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AI：描述 AI 具有目标导向、多步行动等特征的工作方式。：术语用法尚未统一，本课程按行为解释。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ChatGPT / Codex：人们使用的产品与工作环境。：它们可支持多种协作方式，能力也存在重叠。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个文献核验情境解释：决定补查材料是行动特征，承担补查并留存结果的是系统。这里只给概念例子，不展示伪造的查询记录。工程实践中，工作流与Agent经常组合使用，不能按名称把所有系统硬分成互不相容的两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比较维度：Agentic AI：工作方式：AI Agent：执行系统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讨论对象：主动拆分任务、调用工具、依据反馈调整：模型、工具、状态与运行安排组成的系统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科研例子：发现引文缺少 DOI 后，继续查出版页面：负责查找引文并输出核对表的文献核验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需要追问：哪些步骤由系统决定？何时由人确认？：连接哪些工具？材料保存在哪里？如何停止？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使用限制：是一组特征，没有统一的自主程度门槛：名称本身不能证明已执行、正确或可靠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沿上排读一遍，再沿反馈箭头回到下一步选择。强调工具返回结果才是观察信息；模型自己写的“已经查过”不能替代检索记录。不要将对外说明的操作理由当作模型内部思维链。停止条件应包括完成、材料不足、权限不足和超出约定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查到原文：核对题名、作者、年份和结论所处位置。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没有查到：记录检索范围与缺项；保留“尚未核实”。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遇到异常：判断是否重试、换来源，或交给研究者处理。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沿用Anthropic对预设路径与模型动态控制路径的架构区分。该文发表于2024年，适合讲基本模式，不能用其中工具介绍推断今天产品的完整功能。科研建议为课程迁移：申报主流程可固定，但查找缺失依据需要判断；身份资格、资助方向与科学结论仍由研究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比较维度：Workflow：预设工作流：Agent：动态决定部分步骤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下一步怎样确定：按事先规定的规则和顺序执行：结合当前材料与工具返回结果选择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科研情境：指南提取→字段检查→模板填入→导出：某项要求含糊，补查附件或历年说明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容易出现的问题：输入不符合预期时，流程可能卡住：可能绕远路、重复搜索或误判完成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控制办法：检查输入，设置分支与缺项提示：限定范围，保留记录，明确停止条件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官方文档说明能力重叠。表格表达常见工作关注点，并非排他性功能列表。不要讲成ChatGPT只能聊天或Codex只能编程；在有合适工具的环境中，两者都可以处理研究和文档任务。无需介绍具体账户套餐或接口参数，避免偏离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比较维度：ChatGPT 中的协作：Codex 中的协作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典型工作入口：问题、资料、文件与自然语言任务：工作目录、文件与自然语言任务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适合关注的内容：解释、比较、讨论，以及可用工具支持的产物：文件处理、脚本运行、版本记录及结果检查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都可能完成：在相应工具可用时开展研究、分析和文件制作：在相应工具可用时开展研究、分析和文件制作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使用前核对：当前账户、模式、连接工具和文件权限：当前环境、依赖、网络及文件权限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一个例子：AI在聊天里给出均值，和用明确的数据文件运行脚本得到均值，证据不同。即使有运行输出，也还需检查输入数据和计算方法。工具名称并不保证质量；文件能下载也不保证内容科学正确。科研材料涉及外部系统时，应按授权范围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检索工具：查询数据库或网页，读取材料：查询条件、来源链接、读取日期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计算工具：按脚本处理数据与生成统计量：数据版本、代码、运行输出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文档工具：写入 Word、表格或幻灯片：输出文件、预览及结构检查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连接工具：读取或修改获准连接的外部系统：操作对象、返回状态和变更记录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技能说成已经训练进模型的能力。Skill通常是任务资料包，可包含指令和可选脚本。一个只有说明文件的技能并非必然无用，但不能据此宣称自动检索、Word输出或整套流程已经运行。本页示例为课程编写的说明，没有执行日志，也不声称当前仓库实现了所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何时使用：描述适用任务，例如“核验参考文献”。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怎样处理：规定先查原文、再核对字段，并登记未核实项。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依据什么：附上规范、字段说明、模板或检查清单。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怎样交付：规定结果表的字段、文件格式和缺项说明。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是连接AI应用与外部系统的开放标准，不是某个模型、数据库或固定的工具集合。比喻只用于辅助理解，不把它讲成万能插口。学校的数据库授权和服务自身许可依旧适用。Prompt、Skill、工具可以不通过MCP组合；不要让学员误以为做科研任务必须安装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名称：主要作用：文献核验中的例子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Prompt：提示：说明这一次要做什么、有哪些限制：核验本次列表，保留未核实项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Skill：任务方法：保存可重复采用的步骤与资源：题名、作者、年份、DOI逐项比对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Tool：工具：执行某个具体操作：查询记录、读取PDF、导出表格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MCP：连接标准：让应用按共同约定连接外部工具或数据：通过支持MCP的服务访问获准数据源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是功能验收表，不声称某系统已经完成整条链。流程可包含固定步骤和动态补查。研究方案不能因为模板需要就自动补写前期成果；资料没有提供时应登记缺项。将内容组织与最终排版分开检查，可以减少正文未定时反复修饰格式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指南要求：要能追到具体章节、附件或原文条款。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研究内容：要区分已有结果、拟开展工作与缺少的材料。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最终文件：应保留可编辑正文、问题清单和版本信息。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概念框架讲多Agent，不实际启动多个Agent。部分任务并行有助于节约时间，但如果多个角色共享同一错误来源，并不能独立验证事实。讨论科研结论时应合并证据而非简单投票。难以划分、材料规模较小的任务，可以先由单一执行系统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按材料分工：分别读取不同论文，再按同一字段汇总：遗漏共同标准，重复或相互矛盾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按方法分工：检索、统计与制图分别处理：输入版本不同，结果无法衔接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按检查角度分工：核对来源、论证与格式：反复评价文字，缺少原始证据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统一汇总：处理冲突，保留依据与待判断项：把多数意见当成科学结论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记忆是系统保存和检索信息的安排，不是人类记忆的等价物。讲一个失败例子：接续任务时不清楚使用哪个指南版本，容易把已修改的要求覆盖。外部记录也可能陈旧或错误，所以要与当前文件核对；仅把全部聊天保存下来不等于有效的任务状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当前上下文：本次可用的指令、材料与工具结果：正在核对的一篇论文及目标字段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可检索记忆：后续能够再次取用的记录或资料：已经整理的文献笔记与来源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任务状态：哪些已完成、失败或等待确认：已核对条目、未取到原文的条目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文件版本：输入和输出各自采用哪个版本：指南修订日期、数据版本、文稿版本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没有必须逐字采用的统一中文译名，这里解释为运行安排。OpenAI文档中的Harness是其托管Codex实例的特定实现，Anthropic文章则讨论长任务的初始化、进展与测试。课程将它们抽象为通用职责，不把某一厂商结构直接说成所有系统定义。本页为概念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对教师而言：可以把它理解为执行任务所需的一整套运行安排。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不同于 Skill：Skill提供特定任务的做法；Harness负责承载和管理执行。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需要注意：不同系统的实现和命名不同，没有一张适用于全部产品的清单。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厂商工程材料中的进展文件、任务列表和增量处理迁移到科研工作。具体记录字段是本课程建议，并非行业强制标准。版本管理不一定要求教师学习Git；文件名、日期、来源清单也能承担一部分职责。后续云端演示会展示实际保存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任务要求：目标、范围与完成条件：内容不断增加，迟迟无法结束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输入材料：来源、文件名、日期与版本：旧指南或错误数据混入结果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中间结果：原文位置、处理步骤与待核对项：重复查找，无法追溯结论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最终产物：对应输入版本、输出路径与检查记录：无法判断哪份文件可供使用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权限时围绕实际材料，不讲密钥或后台设置。获得读取权不等于获得公开发布权；可以帮助形成投稿文件，也不表示可以自行提交。人工确认点应与后果相称，不必每个可逆的小动作都打断工作。这里列的是课程建议，不是法律意见或统一的机构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读取材料：可读取哪些文件与外部来源：敏感资料是否允许进入相应环境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修改文件：允许写入的位置，是否保留原件：覆盖关键文件或删除材料之前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对外操作：是否允许提交、发送或发布：投稿、申报和对外发送之前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结果判断：系统可检查哪些事项：研究结论、成果归属与作者确认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恢复不等于无限重试。任务中断时，进展文件应告诉后续执行者哪些动作已经发生；对外提交等动作尤其要先查状态。长任务文章展示了渐进式工作和进度记录，本页把原则迁移到检索与文件导出，案例为教学情境，没有伪装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检索未命中：可换关键词或来源；仍无依据时标记尚未核实。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文件导出失败：保留正文与错误信息；修复后重新导出并检查。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已执行但未确认：先查操作状态；不要盲目重复提交或覆盖。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软件层面的执行和科研层面的判断分开。模拟返回值的测试能检查程序对该输入的处理，不能证明真实服务已连接。即使真实工具跑过，也要说明测试的是哪份材料、什么场景。所有程序检查通过，不代表研究结果自动有效，也不替代用户对教学产物的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检查层次：可以检查什么：通过后仍不能推出什么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运行与文件：工具返回、文件存在、文件能否打开：不能说明内容正确或任务完整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结构与要求：章节、字段、格式及必需附件：不能说明科学论证成立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数据与来源：计算可复核，引文和原文对应：不能自动确认研究价值与因果关系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任务与专业判断：实际要求是否完成，限定是否恰当：不能由少量示例证明所有任务可靠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第一页面向申报书的例子。先讨论目标和证据，再决定工具与流程。系统采用何种名称不重要，关键是适用范围和交付证据清楚。对首次接触AI的教师，不要求独立搭建Agent；本节目标是理解系统如何工作，并能读懂后续演示及判断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需要讨论和解释：提供材料，围绕问题进行对话：概念、出处与适用条件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步骤稳定、重复处理：规定字段与顺序，建立工作流：输入范围、缺项和输出一致性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需要边查边判断：使用工具反馈推进的 Agent：检索路径、证据与停止原因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需要跨会话持续完成：补充 Harness 的状态与恢复安排：版本、进展、权限与可用产物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66c99af9745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07a630aca46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88882202441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ff612670642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b12d7b43a49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ca934cd41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5CF14-5D6A-41BE-92EE-75FCD34CC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4F46F9-FCFF-4097-8C6C-5E6AD91A4C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442886-3CFD-4209-90C6-8925A762D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37DF4-84D6-4656-A710-AD3FB5D1C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AFCC73-56A4-4B8D-B806-CB1C54238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149926-205D-4EED-A6A7-46685163B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1DA049-726E-4110-B809-7831CAC9C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103E3F-5523-4A73-9CA3-6FC77F120B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68C10-9B73-4100-8CAF-91CE366A8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B15D3-0A87-415D-989B-9C2F170295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4808ff9804160" /><Relationship Type="http://schemas.openxmlformats.org/officeDocument/2006/relationships/slideLayout" Target="/ppt/slideLayouts/slideLayout1.xml" Id="Rcc5050b2c62f44b4" /><Relationship Type="http://schemas.openxmlformats.org/officeDocument/2006/relationships/slideLayout" Target="/ppt/slideLayouts/slideLayout2.xml" Id="R1e11934117a54ed9" /><Relationship Type="http://schemas.openxmlformats.org/officeDocument/2006/relationships/slideLayout" Target="/ppt/slideLayouts/slideLayout3.xml" Id="Rcdb7030d34374af2" /><Relationship Type="http://schemas.openxmlformats.org/officeDocument/2006/relationships/slideLayout" Target="/ppt/slideLayouts/slideLayout4.xml" Id="Rd6dabb12c10945a7" /><Relationship Type="http://schemas.openxmlformats.org/officeDocument/2006/relationships/slideLayout" Target="/ppt/slideLayouts/slideLayout5.xml" Id="R3a80a845fbca40b5" /><Relationship Type="http://schemas.openxmlformats.org/officeDocument/2006/relationships/slideLayout" Target="/ppt/slideLayouts/slideLayout6.xml" Id="Rfcd18b4f6c75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050b2c62f44b4"/>
    <p:sldLayoutId xmlns:r="http://schemas.openxmlformats.org/officeDocument/2006/relationships" id="2147483650" r:id="R1e11934117a54ed9"/>
    <p:sldLayoutId xmlns:r="http://schemas.openxmlformats.org/officeDocument/2006/relationships" id="2147483651" r:id="Rcdb7030d34374af2"/>
    <p:sldLayoutId xmlns:r="http://schemas.openxmlformats.org/officeDocument/2006/relationships" id="2147483652" r:id="Rd6dabb12c10945a7"/>
    <p:sldLayoutId xmlns:r="http://schemas.openxmlformats.org/officeDocument/2006/relationships" id="2147483653" r:id="R3a80a845fbca40b5"/>
    <p:sldLayoutId xmlns:r="http://schemas.openxmlformats.org/officeDocument/2006/relationships" id="2147483654" r:id="Rfcd18b4f6c75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5b4f0c2cc4677" /><Relationship Type="http://schemas.openxmlformats.org/officeDocument/2006/relationships/notesSlide" Target="/ppt/notesSlides/notesSlide1.xml" Id="R60dd3f7c1d7846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1713946744a3e" /><Relationship Type="http://schemas.openxmlformats.org/officeDocument/2006/relationships/notesSlide" Target="/ppt/notesSlides/notesSlide2.xml" Id="R829094cbfe2141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e2dec5d934979" /><Relationship Type="http://schemas.openxmlformats.org/officeDocument/2006/relationships/notesSlide" Target="/ppt/notesSlides/notesSlide3.xml" Id="Rea30b70d502e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0349a434a43a9" /><Relationship Type="http://schemas.openxmlformats.org/officeDocument/2006/relationships/notesSlide" Target="/ppt/notesSlides/notesSlide4.xml" Id="Rfcd9351f2c9347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22c71960a4963" /><Relationship Type="http://schemas.openxmlformats.org/officeDocument/2006/relationships/notesSlide" Target="/ppt/notesSlides/notesSlide5.xml" Id="R2a3349190fab45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849542e844e2e" /><Relationship Type="http://schemas.openxmlformats.org/officeDocument/2006/relationships/notesSlide" Target="/ppt/notesSlides/notesSlide6.xml" Id="R9988c8379cf245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8761e96454733" /><Relationship Type="http://schemas.openxmlformats.org/officeDocument/2006/relationships/notesSlide" Target="/ppt/notesSlides/notesSlide7.xml" Id="R3b6820a024bc41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6595d8ab247a6" /><Relationship Type="http://schemas.openxmlformats.org/officeDocument/2006/relationships/notesSlide" Target="/ppt/notesSlides/notesSlide8.xml" Id="R9aea837be9aa49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5a9ec2bac4b59" /><Relationship Type="http://schemas.openxmlformats.org/officeDocument/2006/relationships/notesSlide" Target="/ppt/notesSlides/notesSlide9.xml" Id="R837b7833ccd741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6e5e5a47746e6" /><Relationship Type="http://schemas.openxmlformats.org/officeDocument/2006/relationships/notesSlide" Target="/ppt/notesSlides/notesSlide10.xml" Id="R76f59548fc304c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6e8d4ab434355" /><Relationship Type="http://schemas.openxmlformats.org/officeDocument/2006/relationships/notesSlide" Target="/ppt/notesSlides/notesSlide11.xml" Id="R740343c53b8b4f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f6c3e129548c9" /><Relationship Type="http://schemas.openxmlformats.org/officeDocument/2006/relationships/notesSlide" Target="/ppt/notesSlides/notesSlide12.xml" Id="Rab73c32c79aa4f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d2178280e4c5b" /><Relationship Type="http://schemas.openxmlformats.org/officeDocument/2006/relationships/notesSlide" Target="/ppt/notesSlides/notesSlide13.xml" Id="R297c32b910d74e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3891c89264987" /><Relationship Type="http://schemas.openxmlformats.org/officeDocument/2006/relationships/notesSlide" Target="/ppt/notesSlides/notesSlide14.xml" Id="R627e784bb40648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c95e1895e4d1a" /><Relationship Type="http://schemas.openxmlformats.org/officeDocument/2006/relationships/notesSlide" Target="/ppt/notesSlides/notesSlide15.xml" Id="R5b39c609848e40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b3b164e834dea" /><Relationship Type="http://schemas.openxmlformats.org/officeDocument/2006/relationships/notesSlide" Target="/ppt/notesSlides/notesSlide16.xml" Id="Rcfc3efb3984f4f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eb87bd54e49ff" /><Relationship Type="http://schemas.openxmlformats.org/officeDocument/2006/relationships/notesSlide" Target="/ppt/notesSlides/notesSlide17.xml" Id="R04a6782cd7954f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b1540c67347a0" /><Relationship Type="http://schemas.openxmlformats.org/officeDocument/2006/relationships/notesSlide" Target="/ppt/notesSlides/notesSlide18.xml" Id="R6b10e491a144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3BFA-1024-47D1-B0E5-02D1AF454F9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0C287-FEB0-4E77-8424-BC12821AE02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AE8CB-7A88-4562-8DFB-2318E32BBE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08F84-1EFE-4EC3-BB9C-2EA0AF6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FDB2D-0D64-4209-8B2A-E87EED7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 AI 协作与执行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228B-A928-4EAA-8975-F514E80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730AF-006F-4E21-A207-F46C9ED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同样是“整理一份申报书”，讨论内容与处理文件需要不同的工作安排。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0635D-D29B-4962-BAE8-4DE3CCE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638FB-01A8-4CC7-9B93-6040AFA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86F4-DEAA-4B7A-BEA9-EEE31B3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3E4AF-3B13-41F9-8553-480F686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5E7E-A66C-4B4E-B4A9-F817E9D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C941-EF94-4047-972E-FEB606F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申报书初稿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31BA2-9463-4041-9B7D-69E7195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CF28E-64FF-4A0D-AA67-9CE7638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47BE-8800-4CE0-8799-65D2E22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条款与附件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1061B-3B10-490C-9A5D-9742DCD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5A48-BBF8-4155-AF43-0634859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段落与证据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03D0-0519-4567-89BE-4BD72290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Word＋问题清单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C826E-841C-4556-9E29-8D27A27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人负责判断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B8C98-9D95-4AE0-BE7D-5E55D70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91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资格与方向是否匹配；研究问题是否成立；已有结果能否支持方案。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04611-C193-4727-AA56-C2706B9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教学情境：本页说明任务构成，不表示已运行某个 Grant Agent。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7DDC2-6894-4048-90DB-DB143C8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365AE-6100-4F88-8662-EBA3BAC0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1973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6353F-6020-4559-8135-63732697782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333875" y="5715000"/>
            <a:ext cx="1857375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A115F-E3E2-4138-9B49-96B58B72EF8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5072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12B58-C43F-462A-B7C5-4DDDAE3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5B3AE-7BE5-4D0A-9EDF-055AA51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模型、Agent 与产品的关系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3F301-8567-481A-8BA3-030CA88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E4C8-F5C4-4DA5-87B3-0089AD9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这些名称处在不同层次：有的表示能力来源，有的表示系统，有的表示工作方式。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9049D-A716-4C5F-B0EF-9714A8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7143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53B6-C162-4C55-90B1-9ED0427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FBED-9155-458F-8A5B-9706747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生成操作请求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2D7D-F3E3-4588-8877-8078BDF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执行并返回结果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2074-BBA1-432E-A70B-5106189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638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状态：已完成、失败、待核实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B96E-1C20-4140-B7B7-3AD046BD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这些系统如何工作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E4C2-2776-4D9E-AC24-263C8C9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31BB7-9BE5-41E0-8C64-28414DF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描述目标导向、多步行动、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根据反馈调整等特征。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50F5B-E7BA-474F-8F3A-C8B85A46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245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ChatGPT / 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01C87-4F55-4341-B0FA-7DF16EB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960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产品实例；能力有重叠，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不能分别等同于两个概念。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BD94A-90EE-467B-984F-99FF8DD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判断时看实际行为：是否采取行动、读取反馈，并据此改变下一步。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A90A5-E593-4989-8DB6-2C7B3E2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Docs：Use ChatGPT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87F5-16CC-4879-A6F2-586C8EF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91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C533F-C2D8-4899-BC07-845B567DBD0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0490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7465C-0AAE-4AAD-AE95-E8DA559022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4810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CD0CC-3710-4D56-AD35-E426B89CF9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385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F3340-5817-4436-9AEE-B85B0DA6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E374-53AC-4D66-AAAF-F3FC121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Agentic AI 与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5C494-6112-483A-B83F-5912A59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24E0-D35D-43AD-8EAD-72BAB3B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前者便于描述任务怎样推进，后者便于讨论由什么系统承担执行。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62F0E-B4EA-4A5A-844C-EBB6CBC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教学情境：核验一条缺少 DOI 的引文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C222C-1295-4765-8C53-0EB259C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待核验引文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BBD8-1749-4D2D-975B-FE6BCF6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7724-3192-49B2-9FE0-7E1EE57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0307F-E514-4F12-9762-A80548E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查出版页面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C046-7CA2-4B42-ABC3-9706DF4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606C7-D19E-4666-8C87-DCC0899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1910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5A55E-BC23-47B9-B41C-B06D2EC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34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E7E69-60EA-450B-99AF-B9236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438775"/>
            <a:ext cx="152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0384C-8917-4BDC-9CBE-B54A625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E212C-A68F-46EB-B4F1-92F284A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发现缺项后继续补查，依据结果决定下一步。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DAD3B-EACD-40D7-94DD-00DBD12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Agent 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CC9EF-BA91-472A-976E-BB48E02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3887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承担这一任务的模型、检索工具、文件工具和运行安排。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EBE9F-E5DB-4A9B-AACC-C576D99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同一个 Agent 可以在固定流程与灵活判断之间切换。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A7091-8D2D-4256-90DF-DB7BDB6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BFB9D-9B0F-459A-9DAE-86A569F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5670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240CF-1FA1-44EB-8E31-81D1E78A2D5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10025" y="3476625"/>
            <a:ext cx="3714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9114-3CFB-4A0C-89CD-E64DC2E60675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4005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A2AA-369A-45AE-8433-246CA5F15323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10025" y="5024438"/>
            <a:ext cx="10658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0A61B-8AC7-4CEA-978B-6D09C563F10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673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90D32-38EA-41D5-8FF5-8398E717FE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4478000" y="347662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7AEB0-B5B4-4EF2-996A-958C2803CB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28716-F278-495E-B0E9-9B053971C7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7D3FE-4B6E-4452-BBFF-1561DA2A88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8379E-9F8A-45BD-9251-187B28A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75BD-90E2-430F-A43B-DBEDE39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怎样依据反馈继续工作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2C36-86A4-4211-BECC-7122A3A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F4E8D-A099-439F-ACEB-4985B29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一次工具调用会产生新信息；系统应读取实际返回结果，再决定继续、改换办法或停止。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F7DC3-8078-467F-A87E-45048CF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读取任务与状态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7A356-2335-4FD2-860F-8D4564B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选择下一步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934C-5165-4838-805C-A1750DE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2050F-8860-4914-AB2D-511A59F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检查返回结果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7B3F0-260A-43EA-929A-547227D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目标、材料、已完成步骤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7B63-F0F2-4A52-B960-F8777C3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查原文、算数据或写文件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55D9-60BB-4393-AE8F-2152458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工具执行具体操作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FC96E-0EA0-4840-AECF-1E55D951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成功、失败、缺项与异常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5154-81A4-4E22-A343-CFBFC83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5E36D-1576-49A3-A1B7-6D5CA48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FCC2C-A450-4847-B48D-6A56307F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20623-A188-4A5E-8755-5D45E5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82A7A-AED6-4371-B3D2-310ECB6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反馈用于选择下一步；完成或受阻时停止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C251A-CC02-4FF6-9EB4-5506C672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查到原文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DBA86-F877-4A26-A32A-10BFCFE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核对题名、作者、年份和结论所处位置。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10E19-C328-42F1-BA71-ACAFEDC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没有查到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05082-FC07-4E7F-9E85-8AA817D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2460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记录检索范围与缺项；保留“尚未核实”。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76392-8E92-44AF-B2B9-55D4617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遇到异常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EE1B7-78D1-4E3B-B974-468B3F9D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532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判断是否重试、换来源，或交给研究者处理。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39832-FA2C-4BFC-97B8-59063DC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框架示意：箭头表示任务推进与反馈，不展示模型的内部思维过程。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FF5BA-A9D4-4370-B864-8D2C084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6D1DE-42E1-44CD-95CF-41C30284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748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EC62-59EF-4E8A-935E-0D49F135572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477500" y="5834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66F87-BD8B-45CA-BC30-E6145029BC4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334125" y="58340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AC656-7454-4406-8BBB-39433874D3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76337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00DE6-64EB-40C0-AC4B-948097E21F8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48750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DFA9-F004-4393-8A0E-17DD96CFCB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3412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5150-7AA8-4EC2-A4EC-BAE8655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EA73-8328-46CB-9373-C59F4C12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固定工作流与动态决策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575B-58BC-4EE5-A2E8-B9A32CC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AF004-EEC6-4B18-8989-463C798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步骤稳定的任务适合预设流程；材料不完整、路径难以预先列出的任务需要更多动态判断。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0549D-0F7B-4E91-87F1-29B51F1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D4441-EB83-4BAB-BBD3-461F6BF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提取条款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C4FD-FA65-43A1-A03C-80308A7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4B854-059E-4181-B7B6-4C7E0B9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8C46B-3C6F-46FE-882E-957D16F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D9464-1D26-4274-B107-6A08150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步骤和分支预先规定，适合要求稳定、重复处理的任务。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AA40E-A699-4183-9A08-86D90E6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动态补查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9B78A-2B2D-4384-B9F8-D89882D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29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要求含糊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AC67E-AB5F-4399-81CC-060ACF8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读附件／说明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F61C3-2455-4BE6-9420-111659B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确认或登记缺项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A216C-0063-4247-B14C-2A27802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62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按材料选择下一步；主流程可以固定，局部环节保留动态判断。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4D8AF-6A23-40EE-A9C7-0B92692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组合方式：主流程固定，把证据补查等不确定环节交给 Agent。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DF9A4-57DF-4972-B081-EFC541C7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B370-22DC-407F-ADAA-A965F9C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73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42399-8522-4878-937D-C0325D1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FADFC-31D8-4C55-90BF-BDBDD25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ChatGPT 与 Codex 的使用侧重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E621-859B-4B28-918B-8AA587C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FDD05-36CA-4A58-858E-FED1D466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两者能力有重叠。选择时应看材料、工具和交付方式是否适合当前任务。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263E-EC02-4F3D-92C3-E3F639E18E2A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典型工作入口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问题、资料、文件与自然语言任务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工作目录、文件与自然语言任务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适合关注的内容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解释、比较、讨论，以及可用工具支持的产物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文件处理、脚本运行、版本记录及结果检查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都可能完成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使用前核对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当前账户、模式、连接工具和文件权限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当前环境、依赖、网络及文件权限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CA1A-6A80-405E-9CFF-7F18B31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产品功能以当前环境为准；“聊天界面”也可能承载 Agent 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48FB3-AA59-4CCC-A287-F2FFF61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Docs：Use 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4E527-ABE6-43BF-A46A-39D94D1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4509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A0B00-443F-4C25-910C-39F4B4B6E4A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FF556-C9C6-4508-A95A-8306C8031F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24E8C-05A0-4707-BDA9-254DF8E6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03144-B960-410D-A9C0-1FFBCB7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工具调用与执行证据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5D422-761B-4683-BC76-4C37EF7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104ED-FACC-4E2A-82DE-65D9C9A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模型可以提出操作；工具实际执行后，才会有可检查的返回结果。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CB5A8-D042-46EF-8533-C9082BC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模型提出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操作请求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E01A8-19C6-484D-9B81-AFBAF05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390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95F7-B938-4283-AD9E-3E7956A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可检查的结果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0374E-E4DB-4D7E-9FDA-B1A6B0A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57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5CF27-A148-4E0F-8334-4DB64C7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9D976-1214-4137-AFD7-C5ABD0E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ABB3C-A6E0-4A71-801D-C9809B1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721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查询条件、来源与读取日期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0A064-6B2E-4884-A121-EF2582D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9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616BC-6F8A-49CC-A134-ADD6B34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198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数据版本、代码与运行输出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83C0E-D554-483F-9BC5-70078DD2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675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写文件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97E16-E556-47FE-BDDB-348C819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8675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可编辑文件、预览与检查记录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9DC67-7CDB-4308-8983-036532B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“已完成”应能对应到真实文件或操作记录；生成一段描述不等于执行。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2CBAA-04BD-481F-B809-FDCF2BB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1BB54-BC1F-49BD-A80B-E160AC6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3960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5E96F-6C84-4E29-AFCA-1477067C74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4762500"/>
            <a:ext cx="1619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FCD54-F810-4C89-9C2B-488AFD4E07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4762500"/>
            <a:ext cx="16192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9E066-FE2D-4ED4-AE04-1E24354333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0" y="3619500"/>
            <a:ext cx="16192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614D2-8219-453C-B14C-CB0130D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1356-7D53-45C6-BABA-C4F5E4C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7739A-6A75-4CB1-B103-8836594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B6E18-9292-4FC6-A983-0D84B52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Skill 把一类任务的处理要求、参考材料和必要脚本放在一起，供 Agent 按需使用。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6609-2086-4051-A3D7-3FE29E8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Skill：文献核验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E25A5-D09C-4D00-AED2-C4C24E0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DBB9-E0FE-4E94-B083-88D2B61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6CE46-1610-4EE3-B508-0FB35AF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B3334-D8CC-40A9-90E9-F97BBE2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核对步骤与缺项处理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E64CC-59D2-411F-81EB-4AED062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参考规范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8BC4A-0A7F-4DB9-9CBA-E6D1FD6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768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997BA-39E4-48DD-8118-EDB5980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816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A1944-127A-46AF-B48B-6BE40A5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字段、模板与来源要求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67299-76FC-4734-85A6-08F5376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可选脚本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243FF-E04A-439E-A8D9-9B229D21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F080E-D825-4ED1-A5CB-076F84C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5802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082C6-01DC-44B5-864F-282B8A8D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检索、比对或文件输出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FF2AA-ADC0-4E3A-B534-4446637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只有 SKILL.md，也可以是指令型技能；能否执行还取决于工具、资源和环境。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3B85D-B2D3-4B85-B818-3C91F74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28BE7-8270-41CD-B267-A0E0CBE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3293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EE8-120E-4959-A088-90CA29E21D03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429375" y="5334000"/>
            <a:ext cx="147637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AE782-8D2D-45CA-8A5B-7B927F399CC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47148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6297B-7C9B-464A-8908-9AC6046354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714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9D760-F039-4C97-AC53-66D9FDC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77AA-CEED-4179-B4C0-AE260B3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Prompt、Skill、工具与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9F7DF-17AE-41C2-8951-8D4591A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1E8B0-3331-49CC-BF8E-B6ACD1AB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它们分别处理任务要求、可复用方法、具体操作和连接方式。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B2020-E548-47AE-9F29-1655509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本次任务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7031-4BDE-4CAE-A95C-4E32475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6382-18C4-4B32-A8C0-8DD74FF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65C1C-2FB4-4E6F-9A4A-38E41CD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0B51C-0164-4021-879A-484191B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381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工具／数据服务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CE777-0E4C-43D4-9854-F3DF817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614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MCP 可作为连接方式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F3D-68B3-401B-A031-54AB4FC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628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8719-7578-45A9-8ADC-E46F199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这次要核验什么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A9D77-A907-40B1-BD12-D19D5C5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673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查记录、读材料、导出表格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2E870-58A7-4EA4-9DE3-443384E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不采用 MCP 的工具，也可被系统调用。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5A5EC-7405-4E15-94EA-206ADEE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MCP 不赋予数据库访问资格；Skill 也不能替代工具权限或真实材料。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C2A15-7923-43DC-96F6-D78C17A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skills；MCP 官方：What is MCP?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940B9-3C3D-4C25-AA5E-58DBAC4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8248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046C-60CD-4C79-8D97-A7F89AF64F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C119D-A90A-4957-A955-2DD6C86786C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7921C-9D82-481C-8362-B4A547B3CC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3EBFB-336F-4DCD-A071-62794C0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FE8C3-DE9F-408A-8E8B-BF33A6CB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申报材料处理的工作流框架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F03A-B904-40B0-81ED-A20E445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10B16-455E-46C1-97EE-9456106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把每一步的输入、输出和检查条件写清楚，才能判断文件是在推进，还是只生成了更多文字。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2CF3-B4F2-44A4-BA6A-887EF8D8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解析指南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3F77C-AB38-4F1E-BB4D-450687C7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19C1-68A7-4D65-BF1B-8842D63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F03A-C893-4694-8D2A-7A51C8B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核对并导出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CE951-50BE-4021-99C4-6E67597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保留条款与原文位置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C7A4E-8908-446D-AC5E-47D6B52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章节、字段、字数与附件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6BFB4-3C12-479B-B1DB-BA9DAE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只使用已提供的研究依据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E4F7D-89F6-4977-8C15-7AF3C77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检查缺项、引用及文件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F1D23-DBF7-424C-BCB7-61B492D1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0CF16-8573-4589-8608-58C09E5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要能追到具体章节、附件或原文条款。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9056F-84C6-4AF8-9EB8-1DEEC3A3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44818-A876-4045-892F-42A42E5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要区分已有结果、拟开展工作与缺少的材料。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6A2E7-4D2F-4E82-A666-46A692B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最终文件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86AD8-E302-49CF-8F1B-4C988CF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应保留可编辑正文、问题清单和版本信息。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D2C36-1A1E-4D04-9402-3100D7F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教学框架：完整 Grant Agent 的实际材料、操作与运行结果在 Section 10 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9B5D1-92E1-4C14-B951-F7416C25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ED631-C7A7-4B4E-99D8-268D022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418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B8C31-E310-48C9-953C-407F85F8902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EC07D-71DC-4FA8-B03D-38892D1D13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29000" y="4857750"/>
            <a:ext cx="200025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A1930-B783-46EC-94F9-DDDD05240EE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EAEEA-8F78-4D1A-9E6B-B4CBC1BFB2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29000" y="4857750"/>
            <a:ext cx="20002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6D78-64C5-409E-A9C6-717191F4207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9750" y="3500438"/>
            <a:ext cx="2286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A7B97-F3C9-4058-B887-044695AF42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429000" y="3500438"/>
            <a:ext cx="20002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0BF8B-C0EA-4ED9-9CBB-B705A44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9E48-5633-42BB-9DDA-D7DEBC4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 Agent 协作的适用范围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BC4B-3AE6-452E-BE63-3148EB4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C3C4F-2599-4926-A4DF-35E80F8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多个角色有助于分工，也会增加信息传递和结果合并的负担。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842C-A7B9-4392-8464-137602E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同一任务与材料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96C18-B65A-46F6-A1F4-EEED1DF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70B5-D543-478D-87E0-E5FF378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AC35D-8892-4F98-AC61-D435E4E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38625"/>
            <a:ext cx="276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合并结果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保留冲突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3004-DB6B-4FB8-A413-66EC46F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63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BE874-7B50-427C-BC51-6C1235E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911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25E5-CF96-44DB-BC35-00BC3CB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4D07E-6C1C-463C-954B-FF88FA4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处理统计数据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3615-9EF7-4334-A6BF-D6E39857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核对引用与论证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2274-08A9-4193-93D0-C115CFF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共享输入版本、字段标准和来源记录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A3263-711A-400E-B46E-7617536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分工是组织选择；多个模型给出同样答案，也需要核对原始证据。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D675C-9ECC-4DD6-A31D-6B2196A1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agents；Stanford CS224N（2026），Lecture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ADD68-5EBB-4B9A-8127-B1203A9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3594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C9741-114B-49FB-B620-D3120B69718E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7762875" y="4429125"/>
            <a:ext cx="4286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52FA4-83E5-4F6E-BBF7-3DDD099A9090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524625" y="4429125"/>
            <a:ext cx="1238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43334-B6A5-4952-B440-9302D45FECD6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190750" y="4429125"/>
            <a:ext cx="5572125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63110-DCDA-4BD5-BF1E-BCA9914555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334500" y="3762375"/>
            <a:ext cx="1714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84E46-17AE-403B-A9A2-DDAEC036CB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3762375"/>
            <a:ext cx="952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468DE-A32F-4128-BA35-16093DC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6BEA-5C94-417F-BA72-649040C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上下文、记忆与任务状态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E0DE-3B9F-406C-9E9A-8FDF1F0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BE67E-E920-4C4A-9FEB-289A41F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长任务需要把关键进展保存下来，不能只依赖当前对话中的文字。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B69E-C25C-45FA-9832-12A1CE5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当前任务上下文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B099F-97BB-4712-AE62-71C08C1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4AC4-7EDD-40B3-B6E4-498EBC1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BFCFC-6280-4B32-BD38-40E2352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A2FC-78D1-46C4-A88E-78181CB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86125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接续任务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5D4BA-070D-4858-8D55-4374798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027DB-568D-4D74-AD3B-9AC48A6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4CBE4-7AEC-4516-BA91-84A7057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515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F3BD-1AB4-429D-9400-5A09AB4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1F438-07A8-42F9-9C71-1CB4E99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8103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D71B3-47BA-4285-805D-9C20C75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9151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61A50-6D07-4DA9-8437-9517B6D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4857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待核实／失败项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65DD9-C8AE-4E35-A723-7A2FA4F1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103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7006-A782-4B7F-B3F3-C5872AC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15150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C3C4B-56FA-4F32-9D67-9CC40F63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摘要用于接续；原文件、来源位置与版本仍需保留。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1C811-5FAE-4FF4-999E-515E728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对话摘要有助于接续任务；重要结果仍应保留原文件与可定位出处。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C029E-8C05-407E-AE1B-BB4D434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10；Anthropic：Effective harnesses（2025）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12075-9339-4BB1-8E7F-E5337483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31821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52DD4-7408-488E-80BE-7BF8824BD48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382125" y="5429250"/>
            <a:ext cx="26670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2F78-4CF1-4551-B706-1F1F2CA3A0E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91500" y="47625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5CB3D-FA82-422B-B65D-E63DE8B979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29000" y="4762500"/>
            <a:ext cx="1333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C68B4-98CA-4EF3-8FB9-E5A9A5F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4CFB-A6E3-4CD1-AFB2-529C307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Harness：让 Agent 持续工作的运行安排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20AA-77D9-41A8-B43B-FF96E4C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1C66A-A8E2-4BDB-B7F0-854FB8D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模型负责生成判断和操作请求；Harness 组织这些请求怎样执行、留痕、接续和停止。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1B0F1-B7F0-40C3-897D-292CF90C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0191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F5D3-6E5C-40DC-815B-8FFD856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38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Harness：组织执行、保存进度、处理异常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349D-5307-4DCD-94E0-FF1B63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597C3-F251-4562-8B8E-05238CBD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D9A90-9742-42E9-B194-FDDB965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96250-4625-49D5-932B-BDC99F2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模型选择下一步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 Skill 中的方法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B7A24-AEFA-4456-8525-718F67E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390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返回实际结果或错误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8EDA-0CA3-4441-90F9-EE941FD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34125"/>
            <a:ext cx="923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状态记录与结果检查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77F70-F20F-4F00-ACA1-29D96AF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权限与完成条件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A0FE6-1E99-4F63-AEF8-5328D68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课程框架：用于理解运行职责，不要求掌握接口、代码或部署参数。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7DD37-74CA-4838-96E6-BB964C6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Docs：Architecture；Anthropic：Effective harnesses（2025）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3F962-E5FB-4F0F-A4B7-7577AD9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2683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4469-34D0-40E2-8DD9-E53EB95AE47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4762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CFE5E-64B8-4BCA-B63E-9B621B00B98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42975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D8958-436E-4FA3-9B73-25CACB7086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0050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F3CC5-1786-45BB-8336-9024330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2F4C2-D78F-4A1F-97D8-E553411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中的材料与版本管理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12C1E-DB59-4BE8-AEAD-4D0717F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33EA0-8BEC-41A4-89AC-B892F07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同一个任务接着做，首先要确认接着处理的是哪份材料、哪一版要求。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B600-5CF9-4B64-BCDB-FAE3874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来源＋版本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E9071-3CF4-4A46-90E0-E886988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2FE5F-D827-4458-8185-AACA5A4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0635F-7568-4BFF-A7F2-A8C0F42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运行中的任务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E39E-314D-4282-9F0D-E862052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输出文件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对应输入版本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9D6D-9BE1-4D9D-AF51-3093943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DCF46-CA46-49DE-A5D5-627C7F8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C30DC-90E7-4260-941B-57D8653D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704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进展记录：已完成／待核对／失败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E3BB1-57D8-4AEA-A235-1727989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864E9-EAF8-41F3-8C58-6B1F51D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000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标记受影响的章节 → 重新核对 → 再更新完成状态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AED82-55CF-4B16-B44D-258E2C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教学情境：指南更新后，应标记受影响的章节并重新核对，不能沿用旧的完成状态。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59E8D-45BB-4CBD-B20C-C847704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7C22-5812-4A31-B7EC-E39757E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84463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0B000-118E-4B79-AEB1-BC8A63AB26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25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692A-8DBA-4997-8113-D255FF6C50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751D7-0D11-4A44-B53E-DFF9787E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A2102-3283-4EA2-8CEC-85680E8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中的工具权限与人工确认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0BAA2-BC21-4AA1-9AC3-541779C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68D20-3C60-4587-BD09-1A03BCB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任务可以连续推进，但读取、修改和对外提交需要分别确定允许范围。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E76A-C9B8-4616-A81A-6E9045C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B38EE-9D80-4E32-854D-9AB3484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F9CA-0DB7-4D96-9A88-D22B94A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对外提交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C982E-42D3-40E2-AA1A-759B74A9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限定文件与外部来源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319E2-90C6-4F04-9F71-8B5C642E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限定写入位置，保留原件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D06DB-73BA-4667-85A0-FFFF737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按授权范围，保留人工确认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0D693-7996-4489-A7D2-D27980B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283A0-9450-4459-B46A-F2A5C77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敏感材料的使用；关键文件覆盖；投稿、申报与对外发送。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7A504-BDDC-41BD-B83A-FAA6BAF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本页是科研运行建议；权限细节须与学校要求、工具能力及任务授权一致。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8AA73-24B4-4994-9ED1-632BD6E2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Docs：Architecture；MCP 官方：What is MCP?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6D5E9-8F4A-4038-A0FC-A6AA9D7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7549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977F4-BD5F-4745-9E60-FED5076E26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FFA62-0A71-4A83-9A9C-62C7D7FF5CE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9D775-415E-4961-8BA8-6996386A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28274-A285-4582-8DC6-7FEB884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中的失败恢复与停止条件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B9BB-EA8E-4FC4-BFC3-F391137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3592-A3ED-4AB5-90D0-396DE1D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可靠的接续需要知道失败在哪里、已经保存什么，以及重试是否会产生重复操作。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F2C35-36C5-4AAE-AD33-0B70345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记录失败位置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AC025-5C0D-4237-9F0B-073E0D5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判断能否重试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6D75-F6C4-4CC2-87D1-2836E7D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恢复或交接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5230-DE01-4CD8-A486-F729B34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工具、输入版本和错误信息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A57ED-A51E-4C82-B394-735EAE8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权限、来源、次数与重复写入风险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2A50A-8003-4AB6-A573-043BF58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继续未完成部分或交给研究者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DA0FD-7D83-4C01-B2F9-0B85B31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检索未命中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F21A1-9BDC-42A3-8B0E-D227C77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可换关键词或来源；仍无依据时标记尚未核实。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4DB20-4F4A-479F-A032-452E6047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文件导出失败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08F62-C5A7-43B3-8B96-14C00B8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保留正文与错误信息；修复后重新导出并检查。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8D310-5FCE-4F70-BDCC-5C97E80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已执行但未确认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79322-3360-4C54-8BF2-3365C06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先查操作状态；不要盲目重复提交或覆盖。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33254-8C6E-46F8-A80F-EBD2BC7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达到完成条件、资源上限或人工判断点时停止，并留下清楚的交接记录。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141F3-C802-43C8-B53C-A7193B9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7681C-5A52-4497-BC31-70C1A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7324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8A008-AB4E-476B-ACEE-A1C53D9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2CB3B-966D-4FDA-AFA3-C5488F37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的完成情况怎样核验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F822-F901-47A1-A8D8-DC471E3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6C9E5-00ED-4E90-BADA-51359DA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从运行成功到科研可用，需要检查不同层次的结果。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6A26-DC58-4ECE-88C8-917B033561A2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检查层次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可以检查什么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通过后仍不能推出什么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运行与文件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工具返回、文件存在、文件能否打开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不能说明内容正确或任务完整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结构与要求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章节、字段、格式及必需附件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不能说明科学论证成立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数据与来源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计算可复核，引文和原文对应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不能自动确认研究价值与因果关系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任务与专业判断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实际要求是否完成，限定是否恰当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不能由少量示例证明所有任务可靠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736D-8153-4123-A1D1-0F9103C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演示一次成功，应报告具体输入、范围和检查项；测试结果按实际覆盖范围解释。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D10B-40D2-4902-B116-C44A6FA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B85D6-3BC7-47FB-A4DD-E399B6D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73197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AF5D4-40BC-4D54-887B-91494AEB8A5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29750" y="68341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76FAE-94FA-4C43-903B-285E06FFD0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24250" y="4953000"/>
            <a:ext cx="1714500" cy="1881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24B79-BE6E-4E70-AC61-4FC5184B524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429750" y="5662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627D5-55C2-41E2-9B87-7FFE233E3B5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24250" y="4953000"/>
            <a:ext cx="1714500" cy="709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C10E-6CA4-4711-9ABD-5B3F1868703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44910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78E72-247A-456F-8F31-7C0F743572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524250" y="4491038"/>
            <a:ext cx="1714500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6D88-076A-452F-B78D-238E0045FCF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3194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2CB6-207C-4260-9601-A9874B1940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524250" y="3319463"/>
            <a:ext cx="1714500" cy="1633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1A4A4-4666-462C-8B40-F88ED3D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912A2-0CAA-4292-9582-3DF3E57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科研任务怎样选择协作方式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B3B7-ECE9-45E5-A071-0B257A7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7F1E-E3B4-4680-A8A6-E669F83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先判断任务是否需要工具执行和持续记录，再决定采用多大的自动化范围。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35DB-1530-4293-A8D7-833B0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当前科研任务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35FE-EBE3-42BE-A944-9206547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讨论与解释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0FA69-30FE-4D7C-8F09-817ABDB2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对话协作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888B8-2081-4550-AE0A-D7DA7AF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2432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步骤稳定、重复处理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9E49-9367-4466-96AF-FED5FF2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2432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479FC-163F-42FB-A6AF-0C39890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590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需要边查边判断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316F0-D104-425B-9D32-E125C1E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9590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Agent＋工具反馈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8CB55-58F5-411A-8663-AFD53843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6747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需要跨会话持续完成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BD753-FEC4-4195-824B-F56E646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补充状态与恢复安排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F696-8AF6-499B-8119-D8CDB86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后续课程：按科研任务展开；Section 10 看申报流程，Section 14 看真实运行与接续。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9D7F6-54CF-425A-967D-08109F4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agents；OpenAI Docs：Architecture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D82C5-EA94-41F2-99C3-C993F1D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0038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2026-10-17T13:56:02.5690000Z</dcterms:created>
  <dcterms:modified xsi:type="dcterms:W3CDTF">2026-10-17T13:56:02.5690000Z</dcterms:modified>
</coreProperties>
</file>