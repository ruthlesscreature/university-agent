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6e543466ca4a7b" /><Relationship Type="http://schemas.openxmlformats.org/officeDocument/2006/relationships/extended-properties" Target="/docProps/app.xml" Id="R34334e19a8bd46af" /><Relationship Type="http://schemas.openxmlformats.org/officeDocument/2006/relationships/officeDocument" Target="/ppt/presentation.xml" Id="Rab0e415dca7e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d437b82804557"/>
  </p:sldMasterIdLst>
  <p:notesMasterIdLst>
    <p:notesMasterId xmlns:r="http://schemas.openxmlformats.org/officeDocument/2006/relationships" r:id="R791520340ec54fef"/>
  </p:notesMasterIdLst>
  <p:sldIdLst>
    <p:sldId xmlns:r="http://schemas.openxmlformats.org/officeDocument/2006/relationships" id="256" r:id="R344950c90f3c4c21"/>
    <p:sldId xmlns:r="http://schemas.openxmlformats.org/officeDocument/2006/relationships" id="257" r:id="R8f12609c0bb14180"/>
    <p:sldId xmlns:r="http://schemas.openxmlformats.org/officeDocument/2006/relationships" id="258" r:id="R0e825023196e432b"/>
    <p:sldId xmlns:r="http://schemas.openxmlformats.org/officeDocument/2006/relationships" id="259" r:id="R2c7a28b009a64c39"/>
    <p:sldId xmlns:r="http://schemas.openxmlformats.org/officeDocument/2006/relationships" id="260" r:id="Ra7b862d3dd5e4e75"/>
    <p:sldId xmlns:r="http://schemas.openxmlformats.org/officeDocument/2006/relationships" id="261" r:id="R10a5a9a1690d42bf"/>
    <p:sldId xmlns:r="http://schemas.openxmlformats.org/officeDocument/2006/relationships" id="262" r:id="Rb4fd60fb80f04095"/>
    <p:sldId xmlns:r="http://schemas.openxmlformats.org/officeDocument/2006/relationships" id="263" r:id="Rcd2dc6c67dab4d55"/>
    <p:sldId xmlns:r="http://schemas.openxmlformats.org/officeDocument/2006/relationships" id="264" r:id="R6d08af9d5c5444e1"/>
    <p:sldId xmlns:r="http://schemas.openxmlformats.org/officeDocument/2006/relationships" id="265" r:id="Rc4735b5750aa4743"/>
    <p:sldId xmlns:r="http://schemas.openxmlformats.org/officeDocument/2006/relationships" id="266" r:id="R667be808d1d8426a"/>
    <p:sldId xmlns:r="http://schemas.openxmlformats.org/officeDocument/2006/relationships" id="267" r:id="Reff0d74012924b5c"/>
    <p:sldId xmlns:r="http://schemas.openxmlformats.org/officeDocument/2006/relationships" id="268" r:id="Rd0d1cdbe18424137"/>
    <p:sldId xmlns:r="http://schemas.openxmlformats.org/officeDocument/2006/relationships" id="269" r:id="R1b7433abede84b29"/>
    <p:sldId xmlns:r="http://schemas.openxmlformats.org/officeDocument/2006/relationships" id="270" r:id="Rf0459ce7c85c44f5"/>
    <p:sldId xmlns:r="http://schemas.openxmlformats.org/officeDocument/2006/relationships" id="271" r:id="R87cb6b19adc84e91"/>
    <p:sldId xmlns:r="http://schemas.openxmlformats.org/officeDocument/2006/relationships" id="272" r:id="Rbc097c6002ab41d5"/>
    <p:sldId xmlns:r="http://schemas.openxmlformats.org/officeDocument/2006/relationships" id="273" r:id="Rd80c5d22808e42a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99325e51da4bda" /><Relationship Type="http://schemas.openxmlformats.org/officeDocument/2006/relationships/slideMaster" Target="/ppt/slideMasters/slideMaster1.xml" Id="R748d437b82804557" /><Relationship Type="http://schemas.openxmlformats.org/officeDocument/2006/relationships/notesMaster" Target="/ppt/notesMasters/notesMaster1.xml" Id="R791520340ec54fef" /><Relationship Type="http://schemas.openxmlformats.org/officeDocument/2006/relationships/presProps" Target="/ppt/presProps.xml" Id="R9a15f2d549c54cf6" /><Relationship Type="http://schemas.openxmlformats.org/officeDocument/2006/relationships/tableStyles" Target="/ppt/tableStyles.xml" Id="R17bc9809227e456c" /><Relationship Type="http://schemas.openxmlformats.org/officeDocument/2006/relationships/slide" Target="/ppt/slides/slide1.xml" Id="R344950c90f3c4c21" /><Relationship Type="http://schemas.openxmlformats.org/officeDocument/2006/relationships/slide" Target="/ppt/slides/slide2.xml" Id="R8f12609c0bb14180" /><Relationship Type="http://schemas.openxmlformats.org/officeDocument/2006/relationships/slide" Target="/ppt/slides/slide3.xml" Id="R0e825023196e432b" /><Relationship Type="http://schemas.openxmlformats.org/officeDocument/2006/relationships/slide" Target="/ppt/slides/slide4.xml" Id="R2c7a28b009a64c39" /><Relationship Type="http://schemas.openxmlformats.org/officeDocument/2006/relationships/slide" Target="/ppt/slides/slide5.xml" Id="Ra7b862d3dd5e4e75" /><Relationship Type="http://schemas.openxmlformats.org/officeDocument/2006/relationships/slide" Target="/ppt/slides/slide6.xml" Id="R10a5a9a1690d42bf" /><Relationship Type="http://schemas.openxmlformats.org/officeDocument/2006/relationships/slide" Target="/ppt/slides/slide7.xml" Id="Rb4fd60fb80f04095" /><Relationship Type="http://schemas.openxmlformats.org/officeDocument/2006/relationships/slide" Target="/ppt/slides/slide8.xml" Id="Rcd2dc6c67dab4d55" /><Relationship Type="http://schemas.openxmlformats.org/officeDocument/2006/relationships/slide" Target="/ppt/slides/slide9.xml" Id="R6d08af9d5c5444e1" /><Relationship Type="http://schemas.openxmlformats.org/officeDocument/2006/relationships/slide" Target="/ppt/slides/slide10.xml" Id="Rc4735b5750aa4743" /><Relationship Type="http://schemas.openxmlformats.org/officeDocument/2006/relationships/slide" Target="/ppt/slides/slide11.xml" Id="R667be808d1d8426a" /><Relationship Type="http://schemas.openxmlformats.org/officeDocument/2006/relationships/slide" Target="/ppt/slides/slide12.xml" Id="Reff0d74012924b5c" /><Relationship Type="http://schemas.openxmlformats.org/officeDocument/2006/relationships/slide" Target="/ppt/slides/slide13.xml" Id="Rd0d1cdbe18424137" /><Relationship Type="http://schemas.openxmlformats.org/officeDocument/2006/relationships/slide" Target="/ppt/slides/slide14.xml" Id="R1b7433abede84b29" /><Relationship Type="http://schemas.openxmlformats.org/officeDocument/2006/relationships/slide" Target="/ppt/slides/slide15.xml" Id="Rf0459ce7c85c44f5" /><Relationship Type="http://schemas.openxmlformats.org/officeDocument/2006/relationships/slide" Target="/ppt/slides/slide16.xml" Id="R87cb6b19adc84e91" /><Relationship Type="http://schemas.openxmlformats.org/officeDocument/2006/relationships/slide" Target="/ppt/slides/slide17.xml" Id="Rbc097c6002ab41d5" /><Relationship Type="http://schemas.openxmlformats.org/officeDocument/2006/relationships/slide" Target="/ppt/slides/slide18.xml" Id="Rd80c5d22808e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b31f45d5344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602672be344f9" /><Relationship Type="http://schemas.openxmlformats.org/officeDocument/2006/relationships/notesMaster" Target="/ppt/notesMasters/notesMaster1.xml" Id="R896748bb3ae6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44fcd8e7446d0" /><Relationship Type="http://schemas.openxmlformats.org/officeDocument/2006/relationships/notesMaster" Target="/ppt/notesMasters/notesMaster1.xml" Id="R8d932cf62eea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b6084f845a408c" /><Relationship Type="http://schemas.openxmlformats.org/officeDocument/2006/relationships/notesMaster" Target="/ppt/notesMasters/notesMaster1.xml" Id="R15aba59201674d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d7b6108df54aeb" /><Relationship Type="http://schemas.openxmlformats.org/officeDocument/2006/relationships/notesMaster" Target="/ppt/notesMasters/notesMaster1.xml" Id="R46213d2094ed47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9e06f0eb5049c1" /><Relationship Type="http://schemas.openxmlformats.org/officeDocument/2006/relationships/notesMaster" Target="/ppt/notesMasters/notesMaster1.xml" Id="R598ae78b77a941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976753ef554bb4" /><Relationship Type="http://schemas.openxmlformats.org/officeDocument/2006/relationships/notesMaster" Target="/ppt/notesMasters/notesMaster1.xml" Id="Rd69d9b4f64cc42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13bd93136e4ab9" /><Relationship Type="http://schemas.openxmlformats.org/officeDocument/2006/relationships/notesMaster" Target="/ppt/notesMasters/notesMaster1.xml" Id="Rc1543d55e6b5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03aa99afe24527" /><Relationship Type="http://schemas.openxmlformats.org/officeDocument/2006/relationships/notesMaster" Target="/ppt/notesMasters/notesMaster1.xml" Id="R0041512f3b0745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8d2a17bd754201" /><Relationship Type="http://schemas.openxmlformats.org/officeDocument/2006/relationships/notesMaster" Target="/ppt/notesMasters/notesMaster1.xml" Id="R414bdb30d7bd46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c5eb6e5b642f4" /><Relationship Type="http://schemas.openxmlformats.org/officeDocument/2006/relationships/notesMaster" Target="/ppt/notesMasters/notesMaster1.xml" Id="Racc7020461ef4a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159a78ff9344cd" /><Relationship Type="http://schemas.openxmlformats.org/officeDocument/2006/relationships/notesMaster" Target="/ppt/notesMasters/notesMaster1.xml" Id="Rbdeed73ebd3a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2106891f54484b" /><Relationship Type="http://schemas.openxmlformats.org/officeDocument/2006/relationships/notesMaster" Target="/ppt/notesMasters/notesMaster1.xml" Id="R4eb9bf82dc4d41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c91d1d10c74cc7" /><Relationship Type="http://schemas.openxmlformats.org/officeDocument/2006/relationships/notesMaster" Target="/ppt/notesMasters/notesMaster1.xml" Id="R1fb958ee05df4a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487b9c6e434fc7" /><Relationship Type="http://schemas.openxmlformats.org/officeDocument/2006/relationships/notesMaster" Target="/ppt/notesMasters/notesMaster1.xml" Id="Rbb231c1a73564b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186062abb24cd1" /><Relationship Type="http://schemas.openxmlformats.org/officeDocument/2006/relationships/notesMaster" Target="/ppt/notesMasters/notesMaster1.xml" Id="Rd1f94af43e754f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eb908d6762471f" /><Relationship Type="http://schemas.openxmlformats.org/officeDocument/2006/relationships/notesMaster" Target="/ppt/notesMasters/notesMaster1.xml" Id="R93c2c24a65964d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b6b98db7dd4090" /><Relationship Type="http://schemas.openxmlformats.org/officeDocument/2006/relationships/notesMaster" Target="/ppt/notesMasters/notesMaster1.xml" Id="R8d9516255b0445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4e018d5b044dcb" /><Relationship Type="http://schemas.openxmlformats.org/officeDocument/2006/relationships/notesMaster" Target="/ppt/notesMasters/notesMaster1.xml" Id="Rc6ddc4993cff41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教师熟悉的申报材料。说清楚讨论内容、调用工具、输出文件、核对材料分别是什么工作。一个系统可能同时提供这些能力，但完成程度要逐项查看。不要用产品名称替代任务分析。本节只解释组织方式，指南和模板的真实案例放在Section 10。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先把四个层次分开。不要让学员记成Agentic AI等于ChatGPT、AI Agent等于Codex。Agentic可修饰工作方式或系统特征；Agent通常指承担执行任务的系统。学术和行业中的定义并非完全一致，这里提供课程采用的工作定义。产品能力会变化，本课不把界面差异说成永久边界。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个文献核验情境解释：决定补查材料是行动特征，承担补查并留存结果的是系统。这里只给概念例子，不展示伪造的查询记录。工程实践中，工作流与Agent经常组合使用，不能按名称把所有系统硬分成互不相容的两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沿上排读一遍，再沿反馈箭头回到下一步选择。强调工具返回结果才是观察信息；模型自己写的“已经查过”不能替代检索记录。不要将对外说明的操作理由当作模型内部思维链。停止条件应包括完成、材料不足、权限不足和超出约定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沿用Anthropic对预设路径与模型动态控制路径的架构区分。该文发表于2024年，适合讲基本模式，不能用其中工具介绍推断今天产品的完整功能。科研建议为课程迁移：申报主流程可固定，但查找缺失依据需要判断；身份资格、资助方向与科学结论仍由研究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官方文档说明能力重叠。表格表达常见工作关注点，并非排他性功能列表。不要讲成ChatGPT只能聊天或Codex只能编程；在有合适工具的环境中，两者都可以处理研究和文档任务。无需介绍具体账户套餐或接口参数，避免偏离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Use ChatGPT</a:t>
            </a:r>
          </a:p>
          <a:p xmlns:a="http://schemas.openxmlformats.org/drawingml/2006/main">
            <a:r>
              <a:t>https://learn.chatgpt.com/docs/use-chatgpt</a:t>
            </a:r>
          </a:p>
          <a:p xmlns:a="http://schemas.openxmlformats.org/drawingml/2006/main">
            <a:r>
              <a:t>定位：Go from idea to useful result; Compare ChatGPT Work and Codex on desktop；核对2026-10-17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一个例子：AI在聊天里给出均值，和用明确的数据文件运行脚本得到均值，证据不同。即使有运行输出，也还需检查输入数据和计算方法。工具名称并不保证质量；文件能下载也不保证内容科学正确。科研材料涉及外部系统时，应按授权范围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把技能说成已经训练进模型的能力。Skill通常是任务资料包，可包含指令和可选脚本。一个只有说明文件的技能并非必然无用，但不能据此宣称自动检索、Word输出或整套流程已经运行。本页示例为课程编写的说明，没有执行日志，也不声称当前仓库实现了所有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是连接AI应用与外部系统的开放标准，不是某个模型、数据库或固定的工具集合。比喻只用于辅助理解，不把它讲成万能插口。学校的数据库授权和服务自身许可依旧适用。Prompt、Skill、工具可以不通过MCP组合；不要让学员误以为做科研任务必须安装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Build skills</a:t>
            </a:r>
          </a:p>
          <a:p xmlns:a="http://schemas.openxmlformats.org/drawingml/2006/main">
            <a:r>
              <a:t>https://learn.chatgpt.com/docs/build-skills</a:t>
            </a:r>
          </a:p>
          <a:p xmlns:a="http://schemas.openxmlformats.org/drawingml/2006/main">
            <a:r>
              <a:t>定位：技能包含指令、资源及可选脚本；How ChatGPT and Codex use skills；核对2026-10-17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是功能验收表，不声称某系统已经完成整条链。流程可包含固定步骤和动态补查。研究方案不能因为模板需要就自动补写前期成果；资料没有提供时应登记缺项。将内容组织与最终排版分开检查，可以减少正文未定时反复修饰格式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概念框架讲多Agent，不实际启动多个Agent。部分任务并行有助于节约时间，但如果多个角色共享同一错误来源，并不能独立验证事实。讨论科研结论时应合并证据而非简单投票。难以划分、材料规模较小的任务，可以先由单一执行系统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系统保存和检索信息的安排，不是人类记忆的等价物。讲一个失败例子：接续任务时不清楚使用哪个指南版本，容易把已修改的要求覆盖。外部记录也可能陈旧或错误，所以要与当前文件核对；仅把全部聊天保存下来不等于有效的任务状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ness没有必须逐字采用的统一中文译名，这里解释为运行安排。OpenAI文档中的Harness是其托管Codex实例的特定实现，Anthropic文章则讨论长任务的初始化、进展与测试。课程将它们抽象为通用职责，不把某一厂商结构直接说成所有系统定义。本页为概念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厂商工程材料中的进展文件、任务列表和增量处理迁移到科研工作。具体记录字段是本课程建议，并非行业强制标准。版本管理不一定要求教师学习Git；文件名、日期、来源清单也能承担一部分职责。后续云端演示会展示实际保存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权限时围绕实际材料，不讲密钥或后台设置。获得读取权不等于获得公开发布权；可以帮助形成投稿文件，也不表示可以自行提交。人工确认点应与后果相称，不必每个可逆的小动作都打断工作。这里列的是课程建议，不是法律意见或统一的机构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Context Protocol: What is MCP?</a:t>
            </a:r>
          </a:p>
          <a:p xmlns:a="http://schemas.openxmlformats.org/drawingml/2006/main">
            <a:r>
              <a:t>https://modelcontextprotocol.io/docs/2026-07-28/getting-started/intro</a:t>
            </a:r>
          </a:p>
          <a:p xmlns:a="http://schemas.openxmlformats.org/drawingml/2006/main">
            <a:r>
              <a:t>定位：开放标准，用于连接AI应用与外部系统；核对2026-10-17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不等于无限重试。任务中断时，进展文件应告诉后续执行者哪些动作已经发生；对外提交等动作尤其要先查状态。长任务文章展示了渐进式工作和进度记录，本页把原则迁移到检索与文件导出，案例为教学情境，没有伪装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Effective harnesses for long-running agents, 2025-11-26</a:t>
            </a:r>
          </a:p>
          <a:p xmlns:a="http://schemas.openxmlformats.org/drawingml/2006/main">
            <a:r>
              <a:t>https://www.anthropic.com/engineering/effective-harnesses-for-long-running-agents</a:t>
            </a:r>
          </a:p>
          <a:p xmlns:a="http://schemas.openxmlformats.org/drawingml/2006/main">
            <a:r>
              <a:t>定位：Feature list; Incremental progress; Testing and environment；迁移到科研情境的建议由本课程编写。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软件层面的执行和科研层面的判断分开。模拟返回值的测试能检查程序对该输入的处理，不能证明真实服务已连接。即使真实工具跑过，也要说明测试的是哪份材料、什么场景。所有程序检查通过，不代表研究结果自动有效，也不替代用户对教学产物的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Stanford CS224N, Winter 2026, Lecture 10: RAG and Agents</a:t>
            </a:r>
          </a:p>
          <a:p xmlns:a="http://schemas.openxmlformats.org/drawingml/2006/main">
            <a:r>
              <a:t>https://web.stanford.edu/class/cs224n/slides_w26/cs224n-2026-lecture10-rag-agents.pdf</a:t>
            </a:r>
          </a:p>
          <a:p xmlns:a="http://schemas.openxmlformats.org/drawingml/2006/main">
            <a:r>
              <a:t>定位：PDF第29—30页：定义与组成；第61页：执行环境；第68页：评估；第70页：工具循环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第一页面向申报书的例子。先讨论目标和证据，再决定工具与流程。系统采用何种名称不重要，关键是适用范围和交付证据清楚。对首次接触AI的教师，不要求独立搭建Agent；本节目标是理解系统如何工作，并能读懂后续演示及判断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Anthropic, Building effective agents, 2024-12-19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定位：What are agents; Workflows; Agents。用于解释架构模式，不据此比较当前产品。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Agents API Architecture</a:t>
            </a:r>
          </a:p>
          <a:p xmlns:a="http://schemas.openxmlformats.org/drawingml/2006/main">
            <a:r>
              <a:t>https://developers.openai.com/api/docs/guides/agents-api/architecture</a:t>
            </a:r>
          </a:p>
          <a:p xmlns:a="http://schemas.openxmlformats.org/drawingml/2006/main">
            <a:r>
              <a:t>定位：The pieces; Add an environment; Receive progress and results。平台实现示例，不作为所有Agent的统一定义。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aae5893de41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5987f24fa47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167dbb30c47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0f4b07c4043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be7c417094c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b3ce7cb8bd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0E18FC-A552-4D5F-BF53-0EC26C4A1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1C5267E-4AEF-42CD-93C6-BF0A0B2EF6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D5D23B-AE2C-4E49-B99E-9CAF17EE50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9196DD-49DB-4489-BDB2-098C780D4D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50998A-0815-4F83-A9E4-73C23105E4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EBBF82-65ED-45D6-9D45-82A63B479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8FE5AF-762D-4ECA-8287-845458886E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CA4A68-FEDC-473A-B913-810940C088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C56CB5-44B4-430A-85F0-2AC188C97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B4494A-8CDC-45E4-AD37-E43F5ECB5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2923bd66c4ea3" /><Relationship Type="http://schemas.openxmlformats.org/officeDocument/2006/relationships/slideLayout" Target="/ppt/slideLayouts/slideLayout1.xml" Id="R06a6f6929083445c" /><Relationship Type="http://schemas.openxmlformats.org/officeDocument/2006/relationships/slideLayout" Target="/ppt/slideLayouts/slideLayout2.xml" Id="R39e687bd657b4393" /><Relationship Type="http://schemas.openxmlformats.org/officeDocument/2006/relationships/slideLayout" Target="/ppt/slideLayouts/slideLayout3.xml" Id="R07498531bee64bf8" /><Relationship Type="http://schemas.openxmlformats.org/officeDocument/2006/relationships/slideLayout" Target="/ppt/slideLayouts/slideLayout4.xml" Id="R7598d755dfde46c8" /><Relationship Type="http://schemas.openxmlformats.org/officeDocument/2006/relationships/slideLayout" Target="/ppt/slideLayouts/slideLayout5.xml" Id="R393c8cf336ed4524" /><Relationship Type="http://schemas.openxmlformats.org/officeDocument/2006/relationships/slideLayout" Target="/ppt/slideLayouts/slideLayout6.xml" Id="Rffde76a6911647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6f6929083445c"/>
    <p:sldLayoutId xmlns:r="http://schemas.openxmlformats.org/officeDocument/2006/relationships" id="2147483650" r:id="R39e687bd657b4393"/>
    <p:sldLayoutId xmlns:r="http://schemas.openxmlformats.org/officeDocument/2006/relationships" id="2147483651" r:id="R07498531bee64bf8"/>
    <p:sldLayoutId xmlns:r="http://schemas.openxmlformats.org/officeDocument/2006/relationships" id="2147483652" r:id="R7598d755dfde46c8"/>
    <p:sldLayoutId xmlns:r="http://schemas.openxmlformats.org/officeDocument/2006/relationships" id="2147483653" r:id="R393c8cf336ed4524"/>
    <p:sldLayoutId xmlns:r="http://schemas.openxmlformats.org/officeDocument/2006/relationships" id="2147483654" r:id="Rffde76a6911647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753540b204b23" /><Relationship Type="http://schemas.openxmlformats.org/officeDocument/2006/relationships/notesSlide" Target="/ppt/notesSlides/notesSlide1.xml" Id="R5ee5672e2cef47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4b897808f4299" /><Relationship Type="http://schemas.openxmlformats.org/officeDocument/2006/relationships/notesSlide" Target="/ppt/notesSlides/notesSlide2.xml" Id="Rf1bfc2b93cd44e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df2622e954620" /><Relationship Type="http://schemas.openxmlformats.org/officeDocument/2006/relationships/notesSlide" Target="/ppt/notesSlides/notesSlide3.xml" Id="Rad36c6d6cb5d4e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bf63389f64ef8" /><Relationship Type="http://schemas.openxmlformats.org/officeDocument/2006/relationships/notesSlide" Target="/ppt/notesSlides/notesSlide4.xml" Id="R954a54b43146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3932c63c34e43" /><Relationship Type="http://schemas.openxmlformats.org/officeDocument/2006/relationships/notesSlide" Target="/ppt/notesSlides/notesSlide5.xml" Id="Rea0f1c08b0524f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7fb86e9ac4ff8" /><Relationship Type="http://schemas.openxmlformats.org/officeDocument/2006/relationships/notesSlide" Target="/ppt/notesSlides/notesSlide6.xml" Id="R2aae27ed57d146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1d9b79ffd4288" /><Relationship Type="http://schemas.openxmlformats.org/officeDocument/2006/relationships/notesSlide" Target="/ppt/notesSlides/notesSlide7.xml" Id="Rbc22d524cfc746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1dd799b03144e2" /><Relationship Type="http://schemas.openxmlformats.org/officeDocument/2006/relationships/notesSlide" Target="/ppt/notesSlides/notesSlide8.xml" Id="R1eb1d34d480f4d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327ce047154edc" /><Relationship Type="http://schemas.openxmlformats.org/officeDocument/2006/relationships/notesSlide" Target="/ppt/notesSlides/notesSlide9.xml" Id="Rda8ffef809a642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06dccc7224474" /><Relationship Type="http://schemas.openxmlformats.org/officeDocument/2006/relationships/notesSlide" Target="/ppt/notesSlides/notesSlide10.xml" Id="Rf51a3b0d313a4b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78f23943247f3" /><Relationship Type="http://schemas.openxmlformats.org/officeDocument/2006/relationships/notesSlide" Target="/ppt/notesSlides/notesSlide11.xml" Id="R9a830141250240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2d8f057c349ac" /><Relationship Type="http://schemas.openxmlformats.org/officeDocument/2006/relationships/notesSlide" Target="/ppt/notesSlides/notesSlide12.xml" Id="R0bd5c28f09d04c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3312de7744c2e" /><Relationship Type="http://schemas.openxmlformats.org/officeDocument/2006/relationships/notesSlide" Target="/ppt/notesSlides/notesSlide13.xml" Id="Rd4cae1f447e740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ad55364614b67" /><Relationship Type="http://schemas.openxmlformats.org/officeDocument/2006/relationships/notesSlide" Target="/ppt/notesSlides/notesSlide14.xml" Id="R615914dc0a7c4c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217681d3f418f" /><Relationship Type="http://schemas.openxmlformats.org/officeDocument/2006/relationships/notesSlide" Target="/ppt/notesSlides/notesSlide15.xml" Id="R293a3d9ffe7746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d184c5aaa4aa3" /><Relationship Type="http://schemas.openxmlformats.org/officeDocument/2006/relationships/notesSlide" Target="/ppt/notesSlides/notesSlide16.xml" Id="R7ebc3e242f4544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f709863c744ad" /><Relationship Type="http://schemas.openxmlformats.org/officeDocument/2006/relationships/notesSlide" Target="/ppt/notesSlides/notesSlide17.xml" Id="Rc048ece1b95048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bd581fce64815" /><Relationship Type="http://schemas.openxmlformats.org/officeDocument/2006/relationships/notesSlide" Target="/ppt/notesSlides/notesSlide18.xml" Id="Rf5d88db4ad3a47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73A6C-84CB-47FF-ACA5-D72D902D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23C58-73F6-4059-8A4A-091C2294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 AI 协作与执行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A9A1D-7776-4F7D-80EC-8348C95A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B8719-AD06-4E01-9C19-134113FE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同样是“整理一份申报书”，讨论内容与处理文件需要不同的工作安排。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7EF67-DDEE-4A54-AA0E-14DD595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9F6E-8617-46DD-85BD-DBDD99C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具体工作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3B7C-E3E7-4108-BADE-D93E65F1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可以检查的结果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97E64-BDB0-4F47-9086-184BDE3F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理解要求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51CC4-A8A0-420E-8F79-0DA6D39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读指南，找出章节、限制与提交要求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D4C9B-A561-494A-930E-881DDE78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要求清单及原文位置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B1199-07B3-47F9-8457-83CFC8D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C4079-A2ED-4FFB-9EA9-FB45F60B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BA75C-16D0-4022-B0FB-2F3B72C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比较研究目标、研究内容与已有依据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BC8E1-FC45-4F21-968F-F619ED0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段落与证据的对应关系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DB028-B3DA-4E48-B653-49D8881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4CDDD-639B-4D88-B57D-C112FAA8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处理文件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8878E-6050-4689-A32E-00BD9D5A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按模板写入正文、表格和技术路线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C36911-EF7B-4FC7-9E37-C86FD6E5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可打开、可编辑的文件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C2ED4-25ED-40E1-8638-172B2FE1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C000D-8C6D-4AB8-8345-7300F4FE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CA8AB-5039-46B9-A49F-7D72C8E5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核对缺项、引用、排版和版本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884B8-4481-4E11-ABAC-F7E6E10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问题清单与修订后的文件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BB256-4826-4E90-9D91-A9E36696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教学情境：本页说明任务构成，不表示已运行某个 Grant Agent。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4D41F-98E6-4C82-BD69-148D1B5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00520-FAEE-4E72-A9ED-C5DC915F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0806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2E10B-9989-498C-8CA8-A1EA4240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A5ACE-6F0B-4011-8EBE-8DEC2DD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模型、Agent 与产品的关系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86F3B-F02F-43BA-A230-9BFB37D9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DA61D-8057-4A14-A4C6-300E2721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这些名称处在不同层次：有的表示能力来源，有的表示系统，有的表示工作方式。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05CC0-9595-459D-898E-0BBB3931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90C8-4F70-4875-9F6A-37A7AEB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根据输入生成判断、文字或工具调用请求。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06B11-6638-40A5-9C57-3738F164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模型本身不等于一套完成文件任务的系统。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54768-4AB9-4CBF-B225-FC0B7900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F3F1E-AF0A-46FC-A23A-ABF9D714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99B0F-B2F6-44A5-8430-A1AB3496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围绕目标，结合工具和反馈推进任务的执行系统。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D6666-F113-4A72-AA49-DCDDD5C6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具体系统的自主程度、权限和可靠性各不相同。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7EF76-46FA-4E1F-8297-2767D9FF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C4BA-EAAC-406A-A1CB-E02F5BE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29928-5606-4E6A-A23D-CEFBE57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57800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 AI 具有目标导向、多步行动等特征的工作方式。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0C6A7-5F5C-485A-95E4-5697E10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术语用法尚未统一，本课程按行为解释。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5B8C3-A0C6-4CB8-8269-89689479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F5952-903F-4E1C-B68F-FD0E831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365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/ Codex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20299-5EF2-4A9E-AC33-636F3B86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43650"/>
            <a:ext cx="1019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人们使用的产品与工作环境。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8C6B5-00A8-498C-9B84-BCC2E42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8389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它们可支持多种协作方式，能力也存在重叠。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E1941-5F5E-48DE-BA64-63CFE0BC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判断时看实际行为：是否采取行动、读取反馈，并据此改变下一步。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A6D79-7D5F-4D29-B8D8-27B5FBA0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Docs：Use ChatGPT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5BB8F-D6FB-4335-BAA2-6E2B9686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7983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BA656-4008-40ED-B313-DB3719F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6BCFC-A737-4057-8973-301D669B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Agentic AI 与 AI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B3D62-D95F-4627-B0D0-53EA6B1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B5B67-D510-482E-A70E-9EFEE245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前者便于描述任务怎样推进，后者便于讨论由什么系统承担执行。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C2810-A523-440B-8DE3-342F993E1569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Agentic AI：工作方式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Agent：执行系统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讨论对象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主动拆分任务、调用工具、依据反馈调整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模型、工具、状态与运行安排组成的系统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科研例子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发现引文缺少 DOI 后，继续查出版页面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负责查找引文并输出核对表的文献核验 Agent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需要追问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哪些步骤由系统决定？何时由人确认？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连接哪些工具？材料保存在哪里？如何停止？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使用限制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是一组特征，没有统一的自主程度门槛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名称本身不能证明已执行、正确或可靠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F1736-0D8B-43DF-AD04-33C567E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同一个 Agent 可以在固定流程与灵活判断之间切换。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DDF9E-9C5C-4714-BCC0-A8352C1D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167AF-75C2-4F58-B803-46D430D8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0521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87FB0-96A7-4B5D-AC4A-815A0AB53EC8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10025" y="3476625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3B02D-BD16-48CE-A77F-DDE9B61E9926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4005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9724A-8C17-4C9B-9839-7E7AC8A1E79C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010025" y="5024438"/>
            <a:ext cx="106584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7E26E-3112-4E25-BD05-0EB015344B89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673263" y="3486150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7E23D-8AD2-460F-97F0-79DD36C5C20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4478000" y="3476625"/>
            <a:ext cx="190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D6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82022-ED2F-4FDE-ACCD-D97683FED9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12148-49E4-4833-83E1-F45B2D6FA3E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C8A58-8563-441C-9FA6-AFE772AA536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B8EAEB-A4C4-42AA-928D-634C7CB9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5A7E7-989C-402C-BECF-28290CF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怎样依据反馈继续工作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2D802-7EEF-482F-AB4D-EC563530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64648-470B-4AE8-A40F-72A6A1A9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一次工具调用会产生新信息；系统应读取实际返回结果，再决定继续、改换办法或停止。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CD89F-ADD7-4505-BD27-FC61E4CC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读取任务与状态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4E0C-0151-4380-8253-10BF6EB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选择下一步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A39F-C456-4D1F-8A32-E7C815C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739B-A719-4D28-A604-456F35AD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检查返回结果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39A66-EAF8-4210-A7CB-4B9BF343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目标、材料、已完成步骤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EEC81-D262-4ED2-9FB1-B62F360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查原文、算数据或写文件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D4324-D2FC-411C-9033-18D84A03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工具执行具体操作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8FAD5-8497-49A8-A1E6-3C5C2F01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成功、失败、缺项与异常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DA26F-FFA3-4BD5-ABDB-13916E0F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6BA50-829A-46C3-B8C4-97AC9F5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44B3C-7FAA-4113-B453-632902C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19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1F5D2-6D72-40BE-8061-4C0EED77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2903B-0819-44EE-BA5C-DD55826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530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反馈用于选择下一步；完成或受阻时停止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9D115-B325-41C7-B7EE-D17CD97E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查到原文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B403A-D362-4823-B116-0A6D4FE8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核对题名、作者、年份和结论所处位置。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E5E72-E5DA-4630-AEEE-2FF1072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没有查到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8D1FD-0A78-4196-9248-86640AB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32460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记录检索范围与缺项；保留“尚未核实”。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625D29-22C7-4C00-A0D3-5E6666C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遇到异常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92993-A24C-40BE-9F98-AE170E9D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532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判断是否重试、换来源，或交给研究者处理。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F0A001-6D4E-4594-A869-9D2E3568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框架示意：箭头表示任务推进与反馈，不展示模型的内部思维过程。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68EDD-738E-4564-BFCD-5353EAE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10；Anthropic：Building effective agents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B651DA-8BF8-4086-9E0A-3D5182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9291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B0E2-F00D-4FBC-845D-702E8A1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8864F-C7FC-4D94-A6A2-17A930DD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固定工作流与动态决策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A84F7-B06F-4E26-A688-C694013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9FB64-680E-46C1-9F56-302D4D8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步骤稳定的任务适合预设流程；材料不完整、路径难以预先列出的任务需要更多动态判断。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D5474-A6B3-4FE3-B592-54A68E6EDDEB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Workflow：预设工作流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Agent：动态决定部分步骤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下一步怎样确定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按事先规定的规则和顺序执行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结合当前材料与工具返回结果选择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科研情境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指南提取→字段检查→模板填入→导出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某项要求含糊，补查附件或历年说明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容易出现的问题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输入不符合预期时，流程可能卡住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可能绕远路、重复搜索或误判完成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控制办法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检查输入，设置分支与缺项提示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限定范围，保留记录，明确停止条件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3DDA7-840D-4A1C-86E2-6201CBE9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组合方式：主流程固定，把证据补查等不确定环节交给 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3B3B5-1438-4C3F-9FA4-56515A12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20F86-4072-4DCF-A8AE-094687D5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6954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59551-B468-4A6A-9538-5045159D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1B1ED-ABF1-4B77-8291-C32DE9BA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ChatGPT 与 Codex 的使用侧重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CE8BF-FE32-4F18-A6C4-47CCD949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93C2-5FB3-4504-9E4E-328206BD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两者能力有重叠。选择时应看材料、工具和交付方式是否适合当前任务。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ECFBA-BD69-4A37-B146-FE61115AE8F6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中的协作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典型工作入口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问题、资料、文件与自然语言任务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工作目录、文件与自然语言任务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适合关注的内容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解释、比较、讨论，以及可用工具支持的产物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文件处理、脚本运行、版本记录及结果检查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都可能完成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在相应工具可用时开展研究、分析和文件制作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使用前核对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当前账户、模式、连接工具和文件权限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当前环境、依赖、网络及文件权限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21700-BE20-4A95-B423-D73E46C8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产品功能以当前环境为准；“聊天界面”也可能承载 Agent 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372A5-8E09-461A-B905-53167622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Docs：Use 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C7715-1BCA-4872-866D-6A029FF5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2452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ED9AF-8DF4-43BA-A549-2286132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4BE86-ECAA-4A9F-AABE-20582F9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工具调用与执行证据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1C02-C461-4C0F-87C9-A46BF90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FBACA-CFE9-4628-933F-4209B46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模型可以提出操作；工具实际执行后，才会有可检查的返回结果。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6C15C-2212-4CB6-AA7A-B6938A3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工具类型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6DC4F-5307-4986-B739-9A2D3B6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实际执行什么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4B8EB-0481-47DB-AB0E-37CABA7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应保留的证据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1A305-5D62-40B4-B2C3-46939986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A40FE-AF28-47E8-AC9E-08704F3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查询数据库或网页，读取材料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384F5-196F-4D42-ACB7-58825EBA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查询条件、来源链接、读取日期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B4BA3-3618-4651-8456-5326E83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736D5-F278-4419-90BD-9486EC3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计算工具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58E40-7253-4C9E-8ACF-F035303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按脚本处理数据与生成统计量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D993F-184C-4F42-9B8C-8EF8E13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数据版本、代码、运行输出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FE5CC-C8A6-4D99-AED7-3996E44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C4EC-3EF1-46A4-B602-64F985AA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文档工具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07B77-10BA-4E16-BCEE-8030AEC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写入 Word、表格或幻灯片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D37E5-4364-4403-A18B-45CB6A66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输出文件、预览及结构检查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F0355-B878-42EE-8CC2-62F5ED9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85024-4298-445D-9593-117C833E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DA619-2FEA-4036-A50E-331A160B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读取或修改获准连接的外部系统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05FE6-8D33-4CBE-8882-8CF57217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操作对象、返回状态和变更记录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D99D0-E2D1-453E-8AD0-87963539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“已完成”应能对应到真实文件或操作记录；生成一段描述不等于执行。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6434E-68D3-4FDA-9444-960ED658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10；OpenAI Docs：Architecture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0D297-135B-4AA5-BD5D-3EBF37CD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3297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DB428-C0A3-4DC6-A15D-91D359D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A0502-306F-46BB-9ACD-63381A65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Skill：可复用的任务做法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E04E0-135D-43D6-B4B9-A2936172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93512-8F16-4FA4-B2B1-C4DD467D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Skill 把一类任务的处理要求、参考材料和必要脚本放在一起，供 Agent 按需使用。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7EE7-86D9-41F2-B6CC-AB20FA75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何时使用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8EB5A-D880-44A0-935F-B4DEAB5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描述适用任务，例如“核验参考文献”。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DAB84-E01A-404F-ACEB-F4CEAB2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191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44421-5982-4963-BEC5-95742AA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5A5F5-16A7-4B1E-B7CA-93BDA6F6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规定先查原文、再核对字段，并登记未核实项。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BFE0A-A8D2-44B0-A3C2-16BE7E12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8191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C2AEB-81A5-4975-ADCD-EBE40ED9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依据什么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F1B14-EAE7-44EE-AF58-5759FCD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附上规范、字段说明、模板或检查清单。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1CE1-E895-42ED-8E2E-D3D69B19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8191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67FFA-B498-46DC-BD6E-E13F4EE0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4FDA7-1133-471B-8066-0F5FEC33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150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规定结果表的字段、文件格式和缺项说明。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6231C-3E1D-430D-8298-C3DD1818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文献核验 Skill 的课程示例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A5C1C-74BA-45CE-9026-6CD5F170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24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20B48-A7E3-4839-BD74-377D1A21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958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参考文献列表及已有 DOI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F5EA2-7C61-475B-8735-D689168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768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18997-6B45-4226-969A-0E0465F1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483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查出版记录，逐项比对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9070E-B95C-4651-857A-13A67790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293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B70DB-0C52-4D46-A86E-93B9341C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008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已核实、存在差异、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尚未核实的记录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9F401-68D6-43D0-87F0-B9B463EC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只有 SKILL.md，也可以是指令型技能；能否执行还取决于工具、资源和环境。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9D1BD-562A-4CA9-AC71-1D35E9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B4DE3-CEB5-4ECB-B70F-D8E6428E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9565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7C0EC-1AFC-45B1-8676-88712E35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61022-964D-45BD-BDE1-C0FA915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Prompt、Skill、工具与 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D31C1-B3F6-42C6-AB0D-E13FE50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F90ED-09C4-41E4-8287-3E89EF76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它们分别处理任务要求、可复用方法、具体操作和连接方式。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619B7-C656-4489-AC42-C74D3035CA5B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主要作用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文献核验中的例子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Prompt：提示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说明这一次要做什么、有哪些限制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核验本次列表，保留未核实项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Skill：任务方法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保存可重复采用的步骤与资源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题名、作者、年份、DOI逐项比对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Tool：工具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执行某个具体操作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查询记录、读取PDF、导出表格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MCP：连接标准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让应用按共同约定连接外部工具或数据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通过支持MCP的服务访问获准数据源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8680-CEF4-4056-BDA7-D1939914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MCP 不赋予数据库访问资格；Skill 也不能替代工具权限或真实材料。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D40E2-9D9C-47BB-B68E-D51BEAEC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Docs：Build skills；MCP 官方：What is MCP?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BCF9F-5A02-42C7-81D5-6FC0350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058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957C6-58FC-40B0-A4F8-13A40E65638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CAC4E-132D-4E4F-9659-732DEE45332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E96E8-B385-45CA-A5EB-46C3999FBA5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476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62785-4290-4335-84DF-2FD8558F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6A393-DCA8-4E2A-885C-653B0C3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申报材料处理的工作流框架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30671-5B60-45E1-98DD-4137B339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29E65-FF95-4C39-B270-0E437BC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把每一步的输入、输出和检查条件写清楚，才能判断文件是在推进，还是只生成了更多文字。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2BADA-E01F-4F2B-86E7-607638F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解析指南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F0646-1DFE-4E8F-B284-0C993710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对应模板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0349-7958-40B2-BE69-041285F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11E2B-749C-4CBD-91F7-F69C32DF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05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核对并导出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E36A9-EE7E-4BD5-AB87-BC52BAE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保留条款与原文位置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070CC-661F-48FA-98EF-ECFE7A4B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章节、字段、字数与附件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05379-47D3-4E2B-BBBC-B090926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只使用已提供的研究依据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78068-77B5-4257-AD25-B2D891B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0290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检查缺项、引用及文件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6C16E-11AD-445B-A93F-6ADA494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指南要求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E34A8-42B8-420A-9B9A-42BA9FCA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要能追到具体章节、附件或原文条款。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B79AB-BDA0-4EA9-A731-FF5721B0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1F71B-43FB-49D4-9A88-C3F239F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要区分已有结果、拟开展工作与缺少的材料。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A3E24-D811-4FA8-8C21-24BC60F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最终文件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EB4C0-BF01-4560-9378-DAE139C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应保留可编辑正文、问题清单和版本信息。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DF055-D087-4C54-98E5-F4208FDE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教学框架：完整 Grant Agent 的实际材料、操作与运行结果在 Section 10 展示。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4A867-242B-4295-A81D-29A57E26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17464-EEB6-40A6-92DF-541CE5E4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62787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952DF-94DC-4CDD-A500-6E5A5E7D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48035-8FCA-4DE8-A44C-83A6341F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 Agent 协作的适用范围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39EBD-F668-4E07-B715-FA08415B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899B9-BF4C-4398-B57E-021EFD6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多个角色有助于分工，也会增加信息传递和结果合并的负担。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14ADF-81D7-476D-BEF9-56759F3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分工方式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DD43D-5E16-429D-B83B-8283F78B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可承担的任务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42B90-E3BD-4DA2-A53E-65449001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需要防止的问题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C264D-74A4-44B1-86F6-9D07154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按材料分工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D93C4-5797-4256-B452-752BBC7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分别读取不同论文，再按同一字段汇总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EB9B2-90FA-4A8F-9296-3F447C46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遗漏共同标准，重复或相互矛盾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71725-BD85-4DF3-A5D7-FCC1232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DF382-B309-4643-8F05-AEF9BC4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按方法分工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0A0DC-CA94-4D62-A02E-AFE7EA69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检索、统计与制图分别处理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0295A-12E6-4C33-9E84-A0BFE090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输入版本不同，结果无法衔接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2D58E-5E3E-4F77-9F8E-3D165B9C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B95EE-F587-4787-A6C6-8570A2B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按检查角度分工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D5D7F-6FB4-4FCB-980C-A2B387F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核对来源、论证与格式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23123-1BF0-495D-BB3D-CE5869CB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反复评价文字，缺少原始证据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1EE1D-C502-4ED4-B3D5-0D4871B5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BCE26-CC3D-474E-9428-FBBE2F3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统一汇总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5D8CF-BAC1-41ED-96CB-BE258C2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处理冲突，保留依据与待判断项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BA2A1-02CD-44C5-A78A-D8FED8D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把多数意见当成科学结论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6BBEF4-C7DF-4069-AB5E-83CA8FA4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分工是组织选择；多个模型给出同样答案，也需要核对原始证据。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66FF0-13E6-4F30-B5AA-95A27098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agents；Stanford CS224N（2026），Lecture 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DE125-E1FA-458E-9845-3D6E491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6896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337DD-F353-426A-A812-42DEFB7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E7A8E-D9CF-4E3F-9D6A-AC9A2C5C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上下文、记忆与任务状态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750B2-62EF-409D-91E0-040A0B11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E6B33-41A4-47D2-9A0C-E9A65C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长任务需要把关键进展保存下来，不能只依赖当前对话中的文字。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56B23-657C-403E-935B-76DB1BB7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信息类型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370CB-98BE-45CA-AD4C-1CB6321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保存什么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6287-D4BB-4B22-B976-0BE1F6E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170C2-9D60-4E61-96B8-BEF42A2F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C2B7B-BFEE-4318-93C8-96831518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本次可用的指令、材料与工具结果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BE90D-6BAA-431A-A7CF-4E8C311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正在核对的一篇论文及目标字段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B83AD-5D7D-4F7D-B04F-D3B8A8B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42BBD-4FD0-4697-8AEF-40602C91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可检索记忆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8A3D8-9EB5-46F0-8F1C-7AF54D74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后续能够再次取用的记录或资料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8CAB0-B4A8-4704-A881-8CE8A9C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已经整理的文献笔记与来源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17C74-44EF-43FD-93B2-D653779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04A42-FDF6-4B06-9C13-45E4A9DC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B8AEB-B52F-4862-B9C0-25773432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哪些已完成、失败或等待确认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A1683-C14F-4FEC-A7B5-A5326AF9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已核对条目、未取到原文的条目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87C81-7D2B-4E25-A860-586A575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3115B-5A4E-4241-89D3-6E43ED75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文件版本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1A658-3501-4BEA-81AC-92CEC9A0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输入和输出各自采用哪个版本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9C378-7631-4852-9B55-D481E93D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指南修订日期、数据版本、文稿版本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7E165-0A7E-4797-8BD3-EC180AEE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对话摘要有助于接续任务；重要结果仍应保留原文件与可定位出处。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1B3E7-485F-482D-B95B-D1E83B5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10；Anthropic：Effective harnesses（2025）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C618F-E7FB-41A2-82D1-8CA5A3C6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43412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B826E-2C8D-4ED0-B63F-2DD61E83EA6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68C15-FDF4-4A5F-A496-7FA3C188C8F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39A91-3B5D-48C2-9620-3BDC758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08CC9-5A4A-4C00-89BF-5B02399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Harness：让 Agent 持续工作的运行安排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00560-DACB-49C2-9996-C78F0433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9BF4E-D527-468A-BA51-7084046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模型负责生成判断和操作请求；Harness 组织这些请求怎样执行、留痕、接续和停止。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4886E-E31F-410E-8146-B7B3D91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17FA1-5CE3-4919-9A78-950BDE3B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模型与工具循环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89882-AB93-4B72-B493-FF54CBD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状态与结果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1FE30-A8B3-4072-8CCC-235F1660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材料版本、允许范围、完成条件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A6500-D749-4886-9461-E93C8509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运行工具，接收反馈，处理异常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C5D13-4268-4AA6-9CAC-49F37CE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保存进展，核对产物，决定结束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8ECE2-09A5-489E-8AA3-AA50DE8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对教师而言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D4F32-E2BB-41A6-817D-E23B0E0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可以把它理解为执行任务所需的一整套运行安排。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8FC78-6AF1-44C7-BD22-7DA8536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不同于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60AEB-9E95-4DA6-8839-1F6FAA20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Skill提供特定任务的做法；Harness负责承载和管理执行。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D0C4E-B979-4252-946F-F962B30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需要注意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74F16-7372-41B0-9524-0F4C6C19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不同系统的实现和命名不同，没有一张适用于全部产品的清单。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3B2EB-ADF7-480E-9CB9-82C8FE54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课程框架：用于理解运行职责，不要求掌握接口、代码或部署参数。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55C1D-B3B6-45CA-BB5E-58DBDC8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35688-2BC2-41FD-A6F5-63D37BF6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19251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33C75-9C4F-473C-ABF4-2184E710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7D288-4283-4BAF-A36E-657F20E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中的材料与版本管理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3D49F-FC86-4D43-8C7F-574495AC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FEF76-B78E-448E-B476-08713C7B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同一个任务接着做，首先要确认接着处理的是哪份材料、哪一版要求。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4505B-40C3-4200-B9A1-6672E24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管理对象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8A2EB-FD7C-4246-BAC2-16E4F48C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需要记录什么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C942A-C8F5-4C6A-8A1D-273B6CB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缺少记录的后果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14F3C-6610-4A8F-A680-E1268AE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A876-D97A-4223-AD14-595CA099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目标、范围与完成条件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52907-48B8-426A-8639-1F8DDE0E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内容不断增加，迟迟无法结束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A10A0-874C-4FFA-8199-A085A5E2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A0894-2252-4C2F-9D2F-468B047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387BD-BA42-4207-8982-D32E6D05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来源、文件名、日期与版本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53C2C-F06E-408B-AA20-FC4955D7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旧指南或错误数据混入结果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1AF54-5709-43D5-95A6-5AB29BF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9AB43-890B-4EA5-8D77-1036CD3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中间结果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D42F5-2803-4D63-9D48-8BCAD20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原文位置、处理步骤与待核对项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B5B8D-6FE6-4E1B-ADAD-7E0AD5A6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重复查找，无法追溯结论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BD240-3A6B-45B6-A7A9-07FCA8D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25DE9-934B-4EAC-8D0D-9EEE6069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最终产物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23707-8ACD-412B-99FC-D95496E6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对应输入版本、输出路径与检查记录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65178-AC7E-4B67-9B6A-58FE5729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无法判断哪份文件可供使用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517B2-EC28-4F65-B44A-34EA4B8E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教学情境：指南更新后，应标记受影响的章节并重新核对，不能沿用旧的完成状态。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78FD6-8703-4EAC-99CC-86E2104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harnesses（2025）；OpenAI Docs：Architecture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BBBE1-3C27-4579-A64B-C7613128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542628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31884-578E-46A5-A5C9-01705C30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166D1-61CA-47EE-917F-1C465F7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中的工具权限与人工确认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8E754-F9DC-437E-AE41-11A36F69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679EF-2F83-44B1-8EAA-DF0E366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任务可以连续推进，但读取、修改和对外提交需要分别确定允许范围。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DC958-8002-403C-92A0-3EAF4511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操作范围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F658C-4615-4F71-BBA0-35D1C49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运行前说明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C5E7A-686F-4921-881A-B9FD1A83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适合保留的确认点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5CB51-4CF1-4A4E-9E1C-B036CBE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读取材料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1B667-B914-4C76-8933-785AA49C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可读取哪些文件与外部来源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10654-8EB3-4A7D-BCB6-E588D0C6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敏感资料是否允许进入相应环境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6CD258-4916-472A-8303-2D50886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2A198-91B0-4F64-8F63-0780399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修改文件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C5322-658B-4BFB-97B0-DC72E74B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允许写入的位置，是否保留原件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C7905-866A-4E6F-8B05-8DE28F7E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覆盖关键文件或删除材料之前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75405-CE3F-4A43-BFE7-BADF1ADF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7041A-1DC2-42F7-A7AF-BFF13B1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对外操作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78FC8-1282-4551-90FA-39BA80B5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是否允许提交、发送或发布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D17E8-4E6F-4960-8932-A477A876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投稿、申报和对外发送之前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85281-F295-4DD8-B454-E5B2906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A67AC-4372-48E2-88F3-8EE1FFD3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结果判断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8FC54-AA82-441E-BB83-8BB95A8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系统可检查哪些事项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1AAA3-E385-42C2-B3AB-C3F6B562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研究结论、成果归属与作者确认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7438F-36E4-40D6-A5B1-26A9EE29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本页是科研运行建议；权限细节须与学校要求、工具能力及任务授权一致。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9929F6-1B21-45B7-93C3-DC89792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 Docs：Architecture；MCP 官方：What is MCP?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F3F97-72AA-486B-B116-9B790EDA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74925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0C2BF-B08F-48D1-BA7D-1268CE5EB6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E5F9-5038-45C8-96C1-93C87358794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76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E9CA2-8282-4063-A23D-5B0EE67C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9FA30-FDD7-4837-A831-BCE3517E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Harness 中的失败恢复与停止条件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8ABD8-EA4C-4795-92C4-0F71634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40E67-FF92-4286-9E11-E01B61B5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可靠的接续需要知道失败在哪里、已经保存什么，以及重试是否会产生重复操作。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296DA-4B7A-44A1-9107-98ABC88E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记录失败位置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9D294-16B7-411C-9253-C2DB00F0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判断能否重试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71EA8-DEEA-44F7-802A-ED5A6625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恢复或交接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C9EF-4CCB-4CF2-A8C6-324B7CB6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工具、输入版本和错误信息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F4B0C-F109-4967-97D8-D064F204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权限、来源、次数与重复写入风险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27782-DE53-4765-8CEA-771F1C3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29075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继续未完成部分或交给研究者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BB2D6-8B48-4A3F-BA72-A6124C6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检索未命中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F4E93-9B32-4AFD-93C3-FB71D92C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可换关键词或来源；仍无依据时标记尚未核实。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A7E41-B566-4310-95B8-03F15827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文件导出失败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5406C-9935-4680-9A90-53180E56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1502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保留正文与错误信息；修复后重新导出并检查。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D0AB7-1BED-4206-9648-37EB5A2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已执行但未确认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DCE77-E5DB-41DE-B66A-B48BBBBF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43675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先查操作状态；不要盲目重复提交或覆盖。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607B1-4E02-4DB6-BE62-4524A418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达到完成条件、资源上限或人工判断点时停止，并留下清楚的交接记录。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2072F-8383-4A55-A2B1-5ADD017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来源：Anthropic：Effective harnesses（2025）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B70C7-99FC-4759-9167-D7663CC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25398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DF072-1680-442F-BF52-85A40038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812F2-FA31-4458-97A1-DC78188D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Agent 的完成情况怎样核验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3CC6E-6D7A-4DF1-AEAD-5A793204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1EF43-67C4-4019-BF26-9C7591AB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从运行成功到科研可用，需要检查不同层次的结果。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610B-1B76-4428-BDDD-BD6852046FE2}"/>
              </a:ext>
            </a:extLst>
          </p:cNvPr>
          <p:cNvGraphicFramePr/>
          <p:nvPr/>
        </p:nvGraphicFramePr>
        <p:xfrm>
          <a:off xmlns:a="http://schemas.openxmlformats.org/drawingml/2006/main" x="762000" y="304800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619750"/>
                <a:gridCol w="56197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可以检查什么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通过后仍不能推出什么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运行与文件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工具返回、文件存在、文件能否打开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不能说明内容正确或任务完整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结构与要求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章节、字段、格式及必需附件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不能说明科学论证成立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数据与来源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计算可复核，引文和原文对应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不能自动确认研究价值与因果关系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任务与专业判断</a:t>
                      </a:r>
                    </a:p>
                  </a:txBody>
                  <a:tcPr marL="152400" marR="152400" marT="152400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实际要求是否完成，限定是否恰当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不能由少量示例证明所有任务可靠</a:t>
                      </a:r>
                    </a:p>
                  </a:txBody>
                  <a:tcPr marL="152400" marR="152400" marT="152400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876A0-6F7B-4C34-B56D-AFF2460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演示一次成功，应报告具体输入、范围和检查项；测试结果按实际覆盖范围解释。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3358-1E12-4801-8E87-0D958F2D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来源：Stanford CS224N（2026），Lecture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EA0CA-F65A-4B76-97BC-FEC9DCBC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3603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47B67B-1605-4DDD-8533-D3656603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  Agentic AI、AI Agent 与科研工作流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B7A14-D7C2-4D28-90B2-4F5266E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科研任务怎样选择协作方式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3A80-E613-4514-9D7F-11424B2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C15B1-8E57-4DEC-A703-13D53370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先判断任务是否需要工具执行和持续记录，再决定采用多大的自动化范围。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197A-7D11-4956-9ECE-68DA7AD8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905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CD625-EDD9-498B-8D34-141FD665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适合的起点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200A2-42E3-4EAB-A973-D68C4BF6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交付时重点核对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DCAA8-2CF8-49F0-B00D-EDF495CF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需要讨论和解释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86899-0F4C-46B4-AF83-B2EE6A9E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提供材料，围绕问题进行对话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3BD6E-76F9-419B-A89A-0D4D5C61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概念、出处与适用条件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2D880-0AA2-42D9-A40A-01096ED4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560C5-A586-4260-A6DE-137947DB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步骤稳定、重复处理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E9D98-C026-44C7-8B89-DCE5805B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规定字段与顺序，建立工作流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5DE06-0CA6-4968-89AC-DB8E7AF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291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输入范围、缺项和输出一致性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B0BE3-C441-4FF8-804A-B2339B4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2677B-BA53-40F6-BB6A-69FFFC6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需要边查边判断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1D6CA-28AD-4CF6-A8CA-92A9349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435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使用工具反馈推进的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6C8D2-6E77-4344-88D3-87AB5245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43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检索路径、证据与停止原因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82707-898C-4C2A-9CBF-C70EEDED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72477-6643-4415-9912-7AF69DB7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需要跨会话持续完成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52C95-2609-4232-BF16-4DA325BF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57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补充 Harness 的状态与恢复安排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25C1AD-03F8-4D8A-8F69-329BDD36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版本、进展、权限与可用产物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12519E-B5F6-46CD-9C22-0C67180D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后续课程：按科研任务展开；Section 10 看申报流程，Section 14 看真实运行与接续。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95CF8-AEF3-4805-A342-9EECE1E9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058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来源：Anthropic：Building effective agents；OpenAI Docs：Architecture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C37E7-3B07-4D2D-B3F7-22E7E8A4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82010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7939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2026-10-17T13:41:58.1590000Z</dcterms:created>
  <dcterms:modified xsi:type="dcterms:W3CDTF">2026-10-17T13:41:58.1590000Z</dcterms:modified>
</coreProperties>
</file>