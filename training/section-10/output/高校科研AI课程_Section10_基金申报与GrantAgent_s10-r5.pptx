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943bf001314407" /><Relationship Type="http://schemas.openxmlformats.org/officeDocument/2006/relationships/extended-properties" Target="/docProps/app.xml" Id="R4c81ec0c00ef4ced" /><Relationship Type="http://schemas.openxmlformats.org/officeDocument/2006/relationships/officeDocument" Target="/ppt/presentation.xml" Id="R4e88beccb36c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edf9bfacaf458c"/>
  </p:sldMasterIdLst>
  <p:notesMasterIdLst>
    <p:notesMasterId xmlns:r="http://schemas.openxmlformats.org/officeDocument/2006/relationships" r:id="Red7e4adf96d74d7e"/>
  </p:notesMasterIdLst>
  <p:sldIdLst>
    <p:sldId xmlns:r="http://schemas.openxmlformats.org/officeDocument/2006/relationships" id="256" r:id="R1d8f37ed06094ee7"/>
    <p:sldId xmlns:r="http://schemas.openxmlformats.org/officeDocument/2006/relationships" id="257" r:id="Rb082c197a5b34224"/>
    <p:sldId xmlns:r="http://schemas.openxmlformats.org/officeDocument/2006/relationships" id="258" r:id="Rc0396056116741f4"/>
    <p:sldId xmlns:r="http://schemas.openxmlformats.org/officeDocument/2006/relationships" id="259" r:id="Ra61e32f9577b4735"/>
    <p:sldId xmlns:r="http://schemas.openxmlformats.org/officeDocument/2006/relationships" id="260" r:id="R43a90ccbce564ac0"/>
    <p:sldId xmlns:r="http://schemas.openxmlformats.org/officeDocument/2006/relationships" id="261" r:id="Ra738587f649f48a6"/>
    <p:sldId xmlns:r="http://schemas.openxmlformats.org/officeDocument/2006/relationships" id="262" r:id="Rc8da8b4253024db8"/>
    <p:sldId xmlns:r="http://schemas.openxmlformats.org/officeDocument/2006/relationships" id="263" r:id="R05e2a118446948cc"/>
    <p:sldId xmlns:r="http://schemas.openxmlformats.org/officeDocument/2006/relationships" id="264" r:id="R65a0b784ecde4597"/>
    <p:sldId xmlns:r="http://schemas.openxmlformats.org/officeDocument/2006/relationships" id="265" r:id="Re4cfb26321ef48a4"/>
    <p:sldId xmlns:r="http://schemas.openxmlformats.org/officeDocument/2006/relationships" id="266" r:id="R9a1ab2b73f24454a"/>
    <p:sldId xmlns:r="http://schemas.openxmlformats.org/officeDocument/2006/relationships" id="267" r:id="R3deb7f8728594a3b"/>
    <p:sldId xmlns:r="http://schemas.openxmlformats.org/officeDocument/2006/relationships" id="268" r:id="Rd42d2302b8d94fc2"/>
    <p:sldId xmlns:r="http://schemas.openxmlformats.org/officeDocument/2006/relationships" id="269" r:id="Rd8fcabc61f0f4ec1"/>
    <p:sldId xmlns:r="http://schemas.openxmlformats.org/officeDocument/2006/relationships" id="270" r:id="R48a06acf4d15446d"/>
    <p:sldId xmlns:r="http://schemas.openxmlformats.org/officeDocument/2006/relationships" id="271" r:id="Ra35e002bc9ad4fc8"/>
    <p:sldId xmlns:r="http://schemas.openxmlformats.org/officeDocument/2006/relationships" id="272" r:id="Rc7f3d7587bf44a9c"/>
    <p:sldId xmlns:r="http://schemas.openxmlformats.org/officeDocument/2006/relationships" id="273" r:id="Rdcaf639e74694e26"/>
    <p:sldId xmlns:r="http://schemas.openxmlformats.org/officeDocument/2006/relationships" id="274" r:id="R904b1b4a277c4f33"/>
    <p:sldId xmlns:r="http://schemas.openxmlformats.org/officeDocument/2006/relationships" id="275" r:id="R329903e8af214e65"/>
    <p:sldId xmlns:r="http://schemas.openxmlformats.org/officeDocument/2006/relationships" id="276" r:id="R302f959de16b4186"/>
    <p:sldId xmlns:r="http://schemas.openxmlformats.org/officeDocument/2006/relationships" id="277" r:id="R31265ecf488d4fad"/>
    <p:sldId xmlns:r="http://schemas.openxmlformats.org/officeDocument/2006/relationships" id="278" r:id="R59dead8fc91f479f"/>
    <p:sldId xmlns:r="http://schemas.openxmlformats.org/officeDocument/2006/relationships" id="279" r:id="R818655278b6c46f1"/>
    <p:sldId xmlns:r="http://schemas.openxmlformats.org/officeDocument/2006/relationships" id="280" r:id="Rf7efcca4cad34308"/>
    <p:sldId xmlns:r="http://schemas.openxmlformats.org/officeDocument/2006/relationships" id="281" r:id="Rf534720f47874f7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97a392595499a" /><Relationship Type="http://schemas.openxmlformats.org/officeDocument/2006/relationships/slideMaster" Target="/ppt/slideMasters/slideMaster1.xml" Id="R08edf9bfacaf458c" /><Relationship Type="http://schemas.openxmlformats.org/officeDocument/2006/relationships/notesMaster" Target="/ppt/notesMasters/notesMaster1.xml" Id="Red7e4adf96d74d7e" /><Relationship Type="http://schemas.openxmlformats.org/officeDocument/2006/relationships/presProps" Target="/ppt/presProps.xml" Id="Rc244934b7a664b1a" /><Relationship Type="http://schemas.openxmlformats.org/officeDocument/2006/relationships/tableStyles" Target="/ppt/tableStyles.xml" Id="R2d47e1bf07d64279" /><Relationship Type="http://schemas.openxmlformats.org/officeDocument/2006/relationships/slide" Target="/ppt/slides/slide1.xml" Id="R1d8f37ed06094ee7" /><Relationship Type="http://schemas.openxmlformats.org/officeDocument/2006/relationships/slide" Target="/ppt/slides/slide2.xml" Id="Rb082c197a5b34224" /><Relationship Type="http://schemas.openxmlformats.org/officeDocument/2006/relationships/slide" Target="/ppt/slides/slide3.xml" Id="Rc0396056116741f4" /><Relationship Type="http://schemas.openxmlformats.org/officeDocument/2006/relationships/slide" Target="/ppt/slides/slide4.xml" Id="Ra61e32f9577b4735" /><Relationship Type="http://schemas.openxmlformats.org/officeDocument/2006/relationships/slide" Target="/ppt/slides/slide5.xml" Id="R43a90ccbce564ac0" /><Relationship Type="http://schemas.openxmlformats.org/officeDocument/2006/relationships/slide" Target="/ppt/slides/slide6.xml" Id="Ra738587f649f48a6" /><Relationship Type="http://schemas.openxmlformats.org/officeDocument/2006/relationships/slide" Target="/ppt/slides/slide7.xml" Id="Rc8da8b4253024db8" /><Relationship Type="http://schemas.openxmlformats.org/officeDocument/2006/relationships/slide" Target="/ppt/slides/slide8.xml" Id="R05e2a118446948cc" /><Relationship Type="http://schemas.openxmlformats.org/officeDocument/2006/relationships/slide" Target="/ppt/slides/slide9.xml" Id="R65a0b784ecde4597" /><Relationship Type="http://schemas.openxmlformats.org/officeDocument/2006/relationships/slide" Target="/ppt/slides/slide10.xml" Id="Re4cfb26321ef48a4" /><Relationship Type="http://schemas.openxmlformats.org/officeDocument/2006/relationships/slide" Target="/ppt/slides/slide11.xml" Id="R9a1ab2b73f24454a" /><Relationship Type="http://schemas.openxmlformats.org/officeDocument/2006/relationships/slide" Target="/ppt/slides/slide12.xml" Id="R3deb7f8728594a3b" /><Relationship Type="http://schemas.openxmlformats.org/officeDocument/2006/relationships/slide" Target="/ppt/slides/slide13.xml" Id="Rd42d2302b8d94fc2" /><Relationship Type="http://schemas.openxmlformats.org/officeDocument/2006/relationships/slide" Target="/ppt/slides/slide14.xml" Id="Rd8fcabc61f0f4ec1" /><Relationship Type="http://schemas.openxmlformats.org/officeDocument/2006/relationships/slide" Target="/ppt/slides/slide15.xml" Id="R48a06acf4d15446d" /><Relationship Type="http://schemas.openxmlformats.org/officeDocument/2006/relationships/slide" Target="/ppt/slides/slide16.xml" Id="Ra35e002bc9ad4fc8" /><Relationship Type="http://schemas.openxmlformats.org/officeDocument/2006/relationships/slide" Target="/ppt/slides/slide17.xml" Id="Rc7f3d7587bf44a9c" /><Relationship Type="http://schemas.openxmlformats.org/officeDocument/2006/relationships/slide" Target="/ppt/slides/slide18.xml" Id="Rdcaf639e74694e26" /><Relationship Type="http://schemas.openxmlformats.org/officeDocument/2006/relationships/slide" Target="/ppt/slides/slide19.xml" Id="R904b1b4a277c4f33" /><Relationship Type="http://schemas.openxmlformats.org/officeDocument/2006/relationships/slide" Target="/ppt/slides/slide20.xml" Id="R329903e8af214e65" /><Relationship Type="http://schemas.openxmlformats.org/officeDocument/2006/relationships/slide" Target="/ppt/slides/slide21.xml" Id="R302f959de16b4186" /><Relationship Type="http://schemas.openxmlformats.org/officeDocument/2006/relationships/slide" Target="/ppt/slides/slide22.xml" Id="R31265ecf488d4fad" /><Relationship Type="http://schemas.openxmlformats.org/officeDocument/2006/relationships/slide" Target="/ppt/slides/slide23.xml" Id="R59dead8fc91f479f" /><Relationship Type="http://schemas.openxmlformats.org/officeDocument/2006/relationships/slide" Target="/ppt/slides/slide24.xml" Id="R818655278b6c46f1" /><Relationship Type="http://schemas.openxmlformats.org/officeDocument/2006/relationships/slide" Target="/ppt/slides/slide25.xml" Id="Rf7efcca4cad34308" /><Relationship Type="http://schemas.openxmlformats.org/officeDocument/2006/relationships/slide" Target="/ppt/slides/slide26.xml" Id="Rf534720f4787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a9d06821c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54bc1389e543fa" /><Relationship Type="http://schemas.openxmlformats.org/officeDocument/2006/relationships/notesMaster" Target="/ppt/notesMasters/notesMaster1.xml" Id="Rb9abe41c478348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7c4661b18c4075" /><Relationship Type="http://schemas.openxmlformats.org/officeDocument/2006/relationships/notesMaster" Target="/ppt/notesMasters/notesMaster1.xml" Id="R07f1842b77944a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5c89418fb14646" /><Relationship Type="http://schemas.openxmlformats.org/officeDocument/2006/relationships/notesMaster" Target="/ppt/notesMasters/notesMaster1.xml" Id="R79c2d3e7f4ea47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140108d1b4fa1" /><Relationship Type="http://schemas.openxmlformats.org/officeDocument/2006/relationships/notesMaster" Target="/ppt/notesMasters/notesMaster1.xml" Id="R6ed5e3fb0e874d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1d77e0f6874cf0" /><Relationship Type="http://schemas.openxmlformats.org/officeDocument/2006/relationships/notesMaster" Target="/ppt/notesMasters/notesMaster1.xml" Id="Rc97b22f9d97140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013210ef2e4983" /><Relationship Type="http://schemas.openxmlformats.org/officeDocument/2006/relationships/notesMaster" Target="/ppt/notesMasters/notesMaster1.xml" Id="R6b9163e27dd849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4be48f529b47e0" /><Relationship Type="http://schemas.openxmlformats.org/officeDocument/2006/relationships/notesMaster" Target="/ppt/notesMasters/notesMaster1.xml" Id="R1470e1865f0842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babddff724431a" /><Relationship Type="http://schemas.openxmlformats.org/officeDocument/2006/relationships/notesMaster" Target="/ppt/notesMasters/notesMaster1.xml" Id="R2e4995db0fb247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ddffb53aae452b" /><Relationship Type="http://schemas.openxmlformats.org/officeDocument/2006/relationships/notesMaster" Target="/ppt/notesMasters/notesMaster1.xml" Id="R20eee06d3b004f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8f75f2cb2c4ea4" /><Relationship Type="http://schemas.openxmlformats.org/officeDocument/2006/relationships/notesMaster" Target="/ppt/notesMasters/notesMaster1.xml" Id="R8143ffc255944d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5c30c5d392427e" /><Relationship Type="http://schemas.openxmlformats.org/officeDocument/2006/relationships/notesMaster" Target="/ppt/notesMasters/notesMaster1.xml" Id="R0d69d8caff4e42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54e1e835d94bc1" /><Relationship Type="http://schemas.openxmlformats.org/officeDocument/2006/relationships/notesMaster" Target="/ppt/notesMasters/notesMaster1.xml" Id="R1e7d88a10bb14d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a3a8308595403e" /><Relationship Type="http://schemas.openxmlformats.org/officeDocument/2006/relationships/notesMaster" Target="/ppt/notesMasters/notesMaster1.xml" Id="Rb0ed05f08e6c46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3da6c63cd04905" /><Relationship Type="http://schemas.openxmlformats.org/officeDocument/2006/relationships/notesMaster" Target="/ppt/notesMasters/notesMaster1.xml" Id="R082c1e3c621247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31054982664f4b" /><Relationship Type="http://schemas.openxmlformats.org/officeDocument/2006/relationships/notesMaster" Target="/ppt/notesMasters/notesMaster1.xml" Id="Ra9bd93f701d046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0b344b8e3444c4" /><Relationship Type="http://schemas.openxmlformats.org/officeDocument/2006/relationships/notesMaster" Target="/ppt/notesMasters/notesMaster1.xml" Id="R16e122dfc58945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5708d603164cee" /><Relationship Type="http://schemas.openxmlformats.org/officeDocument/2006/relationships/notesMaster" Target="/ppt/notesMasters/notesMaster1.xml" Id="Rc9e2bddfaba342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0de6d27d75414d" /><Relationship Type="http://schemas.openxmlformats.org/officeDocument/2006/relationships/notesMaster" Target="/ppt/notesMasters/notesMaster1.xml" Id="Ra3270157d52f42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793b25c1f64cca" /><Relationship Type="http://schemas.openxmlformats.org/officeDocument/2006/relationships/notesMaster" Target="/ppt/notesMasters/notesMaster1.xml" Id="R94ddcbf52fbd49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3fb5f77ad24701" /><Relationship Type="http://schemas.openxmlformats.org/officeDocument/2006/relationships/notesMaster" Target="/ppt/notesMasters/notesMaster1.xml" Id="R4b02d866ed9d473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6d4fa28f2d418d" /><Relationship Type="http://schemas.openxmlformats.org/officeDocument/2006/relationships/notesMaster" Target="/ppt/notesMasters/notesMaster1.xml" Id="R0461414327b44a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b4c44e23914d09" /><Relationship Type="http://schemas.openxmlformats.org/officeDocument/2006/relationships/notesMaster" Target="/ppt/notesMasters/notesMaster1.xml" Id="Rf982efe2632f49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461c31a51044fe" /><Relationship Type="http://schemas.openxmlformats.org/officeDocument/2006/relationships/notesMaster" Target="/ppt/notesMasters/notesMaster1.xml" Id="R19da41cb692942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d02851461034d62" /><Relationship Type="http://schemas.openxmlformats.org/officeDocument/2006/relationships/notesMaster" Target="/ppt/notesMasters/notesMaster1.xml" Id="Rf3351bccc9cf47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b37b366a6aa4435" /><Relationship Type="http://schemas.openxmlformats.org/officeDocument/2006/relationships/notesMaster" Target="/ppt/notesMasters/notesMaster1.xml" Id="Rc6c631fbb45540a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bcde24a08e4a3d" /><Relationship Type="http://schemas.openxmlformats.org/officeDocument/2006/relationships/notesMaster" Target="/ppt/notesMasters/notesMaster1.xml" Id="Rbb2950a2690a4b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本节先讲申报论证，再看本地材料流程。公开规定按2026年国自然示例讲解；贯穿研究设计和12个月安排为课程模拟，未实施、未投稿。Agent承担资料整理与文件检查的范围另行标明。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部门、省部级、地方和校内项目不构成统一的填报制度。分别查资助范围、资格、限项、期限、预算方式和正式模板。本页仅讲核对方法，不提供未核验的省级年龄或经费规定。国自然仅作为有官方依据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2025年12月30日官方改版说明：立项依据、研究内容、研究基础。研究内容不预设固定提纲，按自身研究逻辑组织。正文原则上不超过30页。适用范围限上述两类，不能推到所有基金；页数需对最终排版核对。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年1月14日通告一（二）8：人工核实生成信息和参考文献，全面如实声明使用情况并标识；不得使用生成式AI直接生成的申请书，不得用未核实生成内容。Humanizer语言修改不能替代核验、声明或研究者本人写作。此要求直接改变演示成果的使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以真实通告的模板、研究基础和AI要求建立人工提取记录。提取不等于取得申报资格。记录来源条款和核查日期，正式模板没有取得时仍保留缺口。课程guide.json另为模拟规则，不混用为官方文件。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研究者论文须核对实际署名与贡献；现有数据说明获取方式与处理；实验条件和合作承诺要有证明。公开论文支持研究背景，不能直接证明申请人做过实验。当前示例没有申请人真实材料，基础部分保留缺口。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研究情境设为大学入门统计课程。比较同一模型下完整解答和先写思路再获得下一步提示；主要关注一周后无AI新题测验。该问题、对象和研究安排为教学模拟，不声称已招募学生、获批伦理或通过创新性判断。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Bastani等2025年PNAS研究来自高中数学情境，比较不同AI辅导条件，并设置无辅助测验。已读作者公开版Experimental Design。这里仅转述研究设计，不引用效果数字，也不将高中结果直接推广到大学。正式立项需继续核对最终版、勘误和相关文献；当前未完成全面检索。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科学问题为提示方式与独立解题关系。目标具体到比较表现并检查过程。内容包括材料预试、辅导比较、独立测验和过程解释。讲这些名词是为使论证清楚，并不把2026国自然研究内容重新固定成旧式小标题。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预试检查题目和评分一致性；比较研究记录独立测验；过程分析检查尝试与求助、修正。每项应有自己的可解释产物，避免一个预期效应不出现，其他研究全部无法进行。未设定具体样本量和提升比例。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虚线表示课程假说，不能作已证实机制图。过程指标与测验间的相关可能还受既有水平、投入时间、教师实施等因素影响；即使随机分配提示条件，也不能自动把过程中介变量解释成因果机制。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与Section 6 s6-r5方案保持同一比较：分步提示与完整解答，练习后一周的5道无AI新题为主要测量，各0至20分、总分0至100分。题目效度、评分规则、分配单位和独立性待核。先前每组50人的容量例子只基于假设差异6分、标准差10分及90%保留率，不能直接填成实际申报人数；本节没有据此补造样本依据或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图与Section 8 s8-r6及Section 6 s6-r5拟议方案对应。PPT的8个节点、8条连接读取grant-packet/diagrams/route.json；同目录保留draw.io、SVG及实际PNG，Word嵌入同一PNG。材料未齐时的返工另见decision.json及Word图2；不凭空填标准或通过结论。技术路线箭头表示工作次序和后续测量，不是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高中数学研究已比较不同辅导设计，因此不能笼统把AI辅导、分步提示或独立测验本身称为首次。大学统计情境不同可提出比较问题，但换对象本身不证明科学创新。需要系统查相关研究并形成具体差异及价值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公开研究和可下载数据不是申请人前期工作。前期论文需说明本人贡献及与关键任务的关系；设备、课程准入、合作分工需实际材料支持。本教学例缺这些材料，不能写已有成熟系统、显著效果或充分条件。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提示规则不稳定先修订与重试；退出或缺失需记录原因并按预定分析方案处理；不能分组时考虑调整目标，但观察性记录不能沿用随机比较的因果解释。具体门槛要依据预试与方案，不随意给出80%或90%。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模拟12个月，安排1—3月材料和准入、4—5月预试、6—9月实施与测量、10—12月分析归档。任务按前置条件推进，不能机械以月份宣布伦理或预试已通过。国自然研究期限由系统按类别生成，此模拟期限不作为填写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明确青年A、B、C类等实行包干制，申请时无需编制预算；其余类型按规定预算制编报。本页说明教学研究的资源测算逻辑：任务、用量、价格依据和费用归属；未编造报价或项目总额。资源安排不能把包干理解为不需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以下完整段落为课程模拟：比较提示方式与独立解题；两种辅导条件；过程记录与无AI新题；结果用于判断条件差异而非承诺提升。已完成与拟开展分开写。正式摘要字数和字段按当年系统，不凭旧模板预设。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原句故意设置国际领先、全面揭示与大幅提升，均无证据。改句仅说明准备比较的提示方式和无AI测验。语言清楚不意味着材料真实或新颖性已通过，不通过润色掩盖缺失信息。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在此指任务运行时保留输入、步骤、来源和错误记录的规则。讲授时沿实际文件读取：guide.json与教学模板，grant.json中的既有段落，diagrams中的研究路线，mapping和evidence-ledger，最终Word及issues。运行器能核对结构、映射和来源标识并写出文件；不能凭来源ID判断文献支持度，也没有自动判断科学创新或可行性。程序一次执行到草稿和问题清单写出，没有逐节点审批；正式申报职责另按官方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T1对应问题假说、T2对应比较与测量、T3对应来源和缺口。真实来自本次grant.json和mapping.json，课程规则不是国自然评分表。脚本只核对映射字段与引用标识有效，不证明假说正确或评价设计充分。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新执行run_demo.py，真实读取guide.json、grant.json、自编模板及两幅路线PNG，完成结构核对、现成段落填充、路线嵌入与记录写出。run.json保存输入、指南、模板、图和Word哈希及时间事件，状态draft_review_required；external_model_called=false，scientific_validation=not_performed。四项异常也重新实际运行，保存实际失败日志。研究设想由课程编写，无模型自主研究、检索或真实云端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demo.py另执行4个负例，每个都调用实际文件流程；不是手工拼接失败日志。检查实际错误和期望一致。旧文件流程的final签核控制只属于该导出接口，不泛化为所有网页流程逐节点审批。负例不证明系统抵御所有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自本轮实际生成Word首页。正文有立项依据、研究内容、研究基础，来源与未决问题另列，最后附路线及材料核对图。两幅图的PNG实际嵌入DOCX并与源文件哈希比对，编辑源draw.io和SVG随包。Word中的图是嵌入图片，PPT图和draw.io/SVG可分别编辑。自编模板非官方模板，研究尚未实施，稿件仅用于教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当期类别与模板、研究逻辑、事实和引用、基础与贡献、伦理授权、其他项目及预算要求、AI使用声明。程序只能覆盖明确规则。保存最终版本并按系统提交，Agent不代签、不伪造单位审批。下一节专利挖掘与交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e39ee761b4e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925df82714e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0c3f76e144f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2e6422ed847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15a22cc624b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49b62a28f45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4C31F5-C8BF-4F62-BE26-17C7A269B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34D657-C905-4D94-9A3B-3E4F57553C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4B286A-2CB2-4F38-9B8D-B57B2F1C2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54FD6C-2652-43C1-AC63-FBEF39B8E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5D7AE2-269E-4971-9F5A-CB407C814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7AE8C3-B7CD-4BF9-A0A4-A995DC6BF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A8C6C7-9AA0-4073-9114-5AB55C5633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323BB3-EE1A-4432-A8E1-708EC01A5C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428621-20B6-4121-86CC-CF6661BE2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72960C-724E-4F1F-92F5-B218203CD0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eb421fd8c4e41" /><Relationship Type="http://schemas.openxmlformats.org/officeDocument/2006/relationships/slideLayout" Target="/ppt/slideLayouts/slideLayout1.xml" Id="R900a11853d52477e" /><Relationship Type="http://schemas.openxmlformats.org/officeDocument/2006/relationships/slideLayout" Target="/ppt/slideLayouts/slideLayout2.xml" Id="Re5f8ba6f454e4614" /><Relationship Type="http://schemas.openxmlformats.org/officeDocument/2006/relationships/slideLayout" Target="/ppt/slideLayouts/slideLayout3.xml" Id="Rb4e78b371d13450d" /><Relationship Type="http://schemas.openxmlformats.org/officeDocument/2006/relationships/slideLayout" Target="/ppt/slideLayouts/slideLayout4.xml" Id="R4859a9700f3d44d8" /><Relationship Type="http://schemas.openxmlformats.org/officeDocument/2006/relationships/slideLayout" Target="/ppt/slideLayouts/slideLayout5.xml" Id="Rb525bb4a8d21415c" /><Relationship Type="http://schemas.openxmlformats.org/officeDocument/2006/relationships/slideLayout" Target="/ppt/slideLayouts/slideLayout6.xml" Id="R20679110f923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a11853d52477e"/>
    <p:sldLayoutId xmlns:r="http://schemas.openxmlformats.org/officeDocument/2006/relationships" id="2147483650" r:id="Re5f8ba6f454e4614"/>
    <p:sldLayoutId xmlns:r="http://schemas.openxmlformats.org/officeDocument/2006/relationships" id="2147483651" r:id="Rb4e78b371d13450d"/>
    <p:sldLayoutId xmlns:r="http://schemas.openxmlformats.org/officeDocument/2006/relationships" id="2147483652" r:id="R4859a9700f3d44d8"/>
    <p:sldLayoutId xmlns:r="http://schemas.openxmlformats.org/officeDocument/2006/relationships" id="2147483653" r:id="Rb525bb4a8d21415c"/>
    <p:sldLayoutId xmlns:r="http://schemas.openxmlformats.org/officeDocument/2006/relationships" id="2147483654" r:id="R20679110f923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4f2bb4590425a" /><Relationship Type="http://schemas.openxmlformats.org/officeDocument/2006/relationships/notesSlide" Target="/ppt/notesSlides/notesSlide1.xml" Id="R7a7d078c3e044b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79d4cb7774248" /><Relationship Type="http://schemas.openxmlformats.org/officeDocument/2006/relationships/notesSlide" Target="/ppt/notesSlides/notesSlide2.xml" Id="R6e79f1550d3a40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596126943b4bcf" /><Relationship Type="http://schemas.openxmlformats.org/officeDocument/2006/relationships/notesSlide" Target="/ppt/notesSlides/notesSlide3.xml" Id="R11f6a9c9a5c94e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75de49ebf84ba8" /><Relationship Type="http://schemas.openxmlformats.org/officeDocument/2006/relationships/notesSlide" Target="/ppt/notesSlides/notesSlide4.xml" Id="Rab533e455b6942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abb8d2a304c06" /><Relationship Type="http://schemas.openxmlformats.org/officeDocument/2006/relationships/notesSlide" Target="/ppt/notesSlides/notesSlide5.xml" Id="Rcbd82224de134b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5982d222b499e" /><Relationship Type="http://schemas.openxmlformats.org/officeDocument/2006/relationships/notesSlide" Target="/ppt/notesSlides/notesSlide6.xml" Id="R1f77bc2e3df64c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af83eb0aa4689" /><Relationship Type="http://schemas.openxmlformats.org/officeDocument/2006/relationships/notesSlide" Target="/ppt/notesSlides/notesSlide7.xml" Id="Rb0f9e859ec4e49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e0dd4aa934f85" /><Relationship Type="http://schemas.openxmlformats.org/officeDocument/2006/relationships/notesSlide" Target="/ppt/notesSlides/notesSlide8.xml" Id="R558f68e4f2d64e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0c916974f4aaa" /><Relationship Type="http://schemas.openxmlformats.org/officeDocument/2006/relationships/notesSlide" Target="/ppt/notesSlides/notesSlide9.xml" Id="R3ce255c51dcd40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f1d1ddde54281" /><Relationship Type="http://schemas.openxmlformats.org/officeDocument/2006/relationships/notesSlide" Target="/ppt/notesSlides/notesSlide10.xml" Id="R864e95f4cee346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2482c7fd504fd3" /><Relationship Type="http://schemas.openxmlformats.org/officeDocument/2006/relationships/notesSlide" Target="/ppt/notesSlides/notesSlide11.xml" Id="R4eb148d3e62f44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ba6809f8ae43a0" /><Relationship Type="http://schemas.openxmlformats.org/officeDocument/2006/relationships/notesSlide" Target="/ppt/notesSlides/notesSlide12.xml" Id="Rce613e5cd2984c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d10f5df804df6" /><Relationship Type="http://schemas.openxmlformats.org/officeDocument/2006/relationships/notesSlide" Target="/ppt/notesSlides/notesSlide13.xml" Id="R9fa86c775f7049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9381d5ab24ede" /><Relationship Type="http://schemas.openxmlformats.org/officeDocument/2006/relationships/notesSlide" Target="/ppt/notesSlides/notesSlide14.xml" Id="R207268a2cd5349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7ac4b88004ca7" /><Relationship Type="http://schemas.openxmlformats.org/officeDocument/2006/relationships/notesSlide" Target="/ppt/notesSlides/notesSlide15.xml" Id="R20080647266749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9313b017e4510" /><Relationship Type="http://schemas.openxmlformats.org/officeDocument/2006/relationships/notesSlide" Target="/ppt/notesSlides/notesSlide16.xml" Id="R33c7837bd90a45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03898aa244e4f" /><Relationship Type="http://schemas.openxmlformats.org/officeDocument/2006/relationships/notesSlide" Target="/ppt/notesSlides/notesSlide17.xml" Id="R3a5c5d9c6f3d41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34e8dace74dcc" /><Relationship Type="http://schemas.openxmlformats.org/officeDocument/2006/relationships/notesSlide" Target="/ppt/notesSlides/notesSlide18.xml" Id="R9049f41cf35244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98783748f43ad" /><Relationship Type="http://schemas.openxmlformats.org/officeDocument/2006/relationships/notesSlide" Target="/ppt/notesSlides/notesSlide19.xml" Id="R1018b799c94d45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c8b22ceeb64cf3" /><Relationship Type="http://schemas.openxmlformats.org/officeDocument/2006/relationships/notesSlide" Target="/ppt/notesSlides/notesSlide20.xml" Id="Re79c111520594a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cf49a9f0d4b0e" /><Relationship Type="http://schemas.openxmlformats.org/officeDocument/2006/relationships/notesSlide" Target="/ppt/notesSlides/notesSlide21.xml" Id="R2426fcc174d441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8fd7e851d4231" /><Relationship Type="http://schemas.openxmlformats.org/officeDocument/2006/relationships/notesSlide" Target="/ppt/notesSlides/notesSlide22.xml" Id="Rd5f344ed79394a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fba88e0264f31" /><Relationship Type="http://schemas.openxmlformats.org/officeDocument/2006/relationships/notesSlide" Target="/ppt/notesSlides/notesSlide23.xml" Id="Rbb77ed6647ba48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46f2e1ab14e26" /><Relationship Type="http://schemas.openxmlformats.org/officeDocument/2006/relationships/notesSlide" Target="/ppt/notesSlides/notesSlide24.xml" Id="R65f5f199ec6248e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99f0687184703" /><Relationship Type="http://schemas.openxmlformats.org/officeDocument/2006/relationships/image" Target="/ppt/media/image.png" Id="R064848795833419e" /><Relationship Type="http://schemas.openxmlformats.org/officeDocument/2006/relationships/notesSlide" Target="/ppt/notesSlides/notesSlide25.xml" Id="R4c04a868defd44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d77296d834f0c" /><Relationship Type="http://schemas.openxmlformats.org/officeDocument/2006/relationships/notesSlide" Target="/ppt/notesSlides/notesSlide26.xml" Id="R68017a131e6547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884C0-07E2-4675-8AF5-8BE7F8F226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9F505-59D8-4A6B-A060-F5C0CA9159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69D7C-9C78-48C8-B603-C9158F0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EB506-4FCA-4420-9993-95AED3F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基金申报与Grant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1A60-E5C0-43AE-A3CC-BE91F56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EE88F-A155-451E-ACFA-BCAE259E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申请书需要把值得研究的问题、可信的方案和申请人的工作积累连起来。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A81D0-7EAA-4DC7-B4D8-FEE1EE02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为什么值得研究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687A2-A435-484D-9FC5-A84D76D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准备怎样研究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22AD4-53C0-458B-BD18-7E45539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凭什么能完成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826D4-C64A-45E1-8A8A-B01D667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已有证据和仍未知的问题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98F70-7DEA-42C7-AFC4-58BF0677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可检验的方案与预期认识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B2A09-66A4-4D6E-8522-B6E532B3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真实前期工作和实施条件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07BD7-03A2-4E0E-8683-8A807E4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本节贯穿示例：分步提示与大学生独立解题。后半节查看实际本地文件流程。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B5B1-FEAA-4050-94A8-59B9437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研究设计、文件生成与正式申报，分别核对依据和状态。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6ED7A-F1FF-40B9-8994-1DB14AD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2026原始课件；国自然2026申请书改版说明；课程教学模拟，未实施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F1315-CB43-495F-9966-441F04FF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5946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E8905-36D8-42B0-ACAF-AEA6689BF2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81500" y="4976813"/>
            <a:ext cx="19050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36AE8-BE09-4F06-B86A-A73A3E21B5B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500" y="4976813"/>
            <a:ext cx="1905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6544B-F093-4C09-90BD-5090BED1AE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548063"/>
            <a:ext cx="19050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73B08-80E6-44F5-A688-6B12857F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2B9D4-0951-41A9-9852-5A7468A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不同资助项目的要求来源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7BF07-6C7F-41B4-8D63-DB97424D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D987-A83E-419A-B15B-09B57A24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同一个研究设想，必须按所申报项目的当期指南重新检查。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CCA79-71F5-4097-A3C2-EF86F24D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619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拟开展的研究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7E4B7-FD1E-445D-94B7-F1FC0F4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国家自然科学基金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80F9-2806-4A7E-8197-FC68F3D3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核对项目类型、研究属性与当年申请要求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94932-DF3A-4B91-9797-5C4BA4FE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省部级及地方项目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E4359-F22A-4DBA-A8DC-18648DBC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回到对应部门当期指南，逐条核对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55B5B-43B0-4746-A0D4-7540AA9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校内与其他资助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9FD32-A1EB-4D8A-B87C-1CE6372E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以发布方文件和正式模板为准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C9FF9-9B01-4EC3-B62B-C3D275B5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研究主题相似，不能据此沿用另一项目的资格、预算或期限。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82900-C5B5-4312-BF47-26305C6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B4756-8CA3-40CC-9E3F-5AD53E09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9454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26448-AE0E-49E2-BC33-91136E7536B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14625" y="54578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6B670-B053-44B1-A3DD-0F3B3BF0DD7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14625" y="40481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1577F-D271-428B-BDDD-322499D3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1C19C-5464-44E2-AF54-5254C62B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2026年国自然正文结构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27CB6-1DEC-4143-8D30-BFFB167B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559D7-9497-4913-A5D8-C16C78F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面上项目与青年科学基金项目（C类）的正文调整为三个部分。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EF254-7EFD-44C8-9AE1-529CB2F6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A6E0E-FDB3-4B4F-A2D3-D4E0BFD4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为什么开展这项研究？研究价值是什么？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70CA9-A51A-4EEA-BC6C-B98F860C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A19D8-C2CB-465E-9EAF-8EE7BBA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按研究逻辑安排工作，说明怎样回答问题。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6F03B-4653-447F-9F3A-E90EC65E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0F5B6-9EB9-4E2F-8AE8-C19E1C0D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055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展示前期积累及其与本项目的关系。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9D534-3006-4176-BC1C-BAE4699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正文原则上不超过30页，适用于面上项目与青年科学基金项目（C类）。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CB3B1-1349-4286-AB27-7B546FB2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正式填写须从科学基金网络信息系统下载当年最新版。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06A05-750E-42A9-B60A-50624F5F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2345B-E35F-4280-BA4E-668503CD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6718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19390-832C-4AD5-B8F8-4A379166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633C6-9FAA-4065-BF8C-3E89833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国自然申请中的AI使用要求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3B613-3D19-4882-9452-2FA439EE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6071-B368-4E2A-AFFE-6226964B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AI参与资料整理时，申请人仍须核实信息、声明使用情况并按规定标识。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C832B-8682-4C09-A447-9B594EA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资料与引用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50721-35F8-42A9-A36D-D9D728E5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AI辅助跟踪动态、整理文献时，申请人逐项核实信息与文献真实性、准确性。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EDD1A-395C-4288-A137-EACF118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64E2C-35BE-46D9-822C-41049D0E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CDFBC-7A3F-4009-9673-FE6D04BB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全面如实声明AI使用情况，并按规定对相关内容作出标识。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A38F9-6E8E-4207-A254-E620887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BC28B-667E-4EB3-A2BE-EE7055B6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申请书正文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889E2-8E63-43A4-8A26-3867E7CE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不得使用生成式AI直接生成的申请书，也不得使用未经核实的生成内容。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C7CF5-8862-479E-8F4B-955F1847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E7EDD-E508-4A06-A2A4-05F79A04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本节AI协助编写的研究设计和Word仅作教学演示，不作国自然申请书使用。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C16B1-2263-46A5-9ED6-EA0EBDA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87ABC-E2CE-4573-AC39-9DD7F8C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434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7107F-0BA0-4943-8702-A64B3D09980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6E43E-BA5A-4E9C-B605-D622826DBE5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8FB62-EA5E-4DF0-A381-F3A689214BE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19A81-9AE4-4376-976A-B5A6637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9389F-1A26-4BB1-BF94-6A8F3E45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指南要求与申请书位置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20BD4-C939-457E-9846-A50551A6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4D559-0DD4-41CD-82D7-0781104D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每条要求都要对应材料、正文位置和仍需补齐的事项。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037E1-C0DC-4884-BFA2-C9F6245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官方原文与条款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08C19-FE13-43D0-B1D8-F12ABBB6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7A305-4479-4440-AAA8-9E52BC04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对应材料和位置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E7137-154F-4186-B450-85637B4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列明缺口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4D775-31A4-473C-A351-0658B32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保存文件日期和来源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C09AD-04E0-4B1A-8E60-6D2FA832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区别正文结构、资格与附件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7FA33-3BE5-4FC1-909F-4A244F2F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哪些事实由谁提供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195E2-3403-4F39-A2DF-7ED6CF1E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未取得或未核实的事项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1A333-BD69-481B-A006-E529EB41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示例：最新版模板 → 从系统下载 → 保留原件 → 核对章节和最终排版。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8B361-3948-410D-850E-0EF5DCF9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本节另有自编guide.json，只控制课堂文件演示，不能替代官方指南。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1FB5B-C217-4346-BC09-A054D1EC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公开要求的提取记录，与本地模拟指南分别保存。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CD4FA-2EAD-4108-92CA-954B130D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92E31-5BFA-4032-9094-994E780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576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C6B29-06D9-4DCE-99DF-F13EB7BF149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4953000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C9430-2FC9-4657-A0D4-8ED6CA861FA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62500" y="4953000"/>
            <a:ext cx="200025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001A8-001E-47C2-8569-432B44B3E5A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48063"/>
            <a:ext cx="200025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78FCC-2526-4C73-8C96-678AA302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12392-16D8-4DB6-A3D8-0D805662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申报前的材料盘点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2BFE1-5A97-4F32-8EEF-7D6E0184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E94FD-A3EE-4156-A87B-F87CCD9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已有文献、研究者工作和拟开展的研究，需要分别登记。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64ABE-58E2-4082-B9E1-44731657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材料登记与用途核对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F052C-A981-4E05-A64A-A5F2E8F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公开文献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F2EE5-94BA-482A-A800-63EB830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支持研究现状与方法选择，注明阅读范围。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714A7-4064-4CFF-975F-E77DAE9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申请人已有工作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AAA6C-2E66-4636-8AE0-F20EC7A1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核对论文贡献、数据记录与相关工作积累。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77C43-632A-4A14-8A09-F4C1E25B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960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52E76-6A96-414B-ADCD-46C3C506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写明研究设想、待办条件和未验证关系。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6FBE8-85C0-4949-9115-1DC9C15B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缺少材料时，保留问题及其影响，不用通用措辞补成团队成果。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DFE3D-E187-48DA-9C74-DB9C19A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4A84B-E89F-4B9C-926D-58475238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4462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4DA8C-7FE7-4E72-8577-A3A06DA1254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9C425-CF69-4308-BD29-6C40F06C955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52425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024E4-9148-4294-9B43-3BD294F2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053C4-4490-490F-B526-F11E9B92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贯穿示例与待回答的问题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66B3C-2E99-49D4-90F6-DFAAB84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BEB33-EF16-44E9-BEF8-50BC4969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分步提示是否影响大学生离开AI后的独立解题表现？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8923F-3366-440E-82EB-DA12659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同一门大学入门统计课程，同一模型、题目与练习时间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9B8A1-31F7-4268-B8B5-12C3D9B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允许直接获得解答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DE938-1B58-47C7-B160-E33EDF1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先展示思路，再给下一步线索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7B383-122C-4F64-964F-0EB22E32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主要观察：一周后无AI新题的独立作答表现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60A99-82C6-4FD9-A273-E669A12C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课程自编研究设想，尚未实施，也未证明适合某个基金类别。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7146D-10CB-42DA-B302-729F881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681DD-F779-4CBC-A8FD-1E24D68A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3397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CA790-7091-4AA8-ADE9-C17130D8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06A62-6295-4DE0-83F2-F62BA7FC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立项依据中的文献与本例问题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B23CF-614B-4EA4-A1F2-1CC37A3F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7DB2-2C16-4A1B-939A-53EFA8D1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已有研究的对象、干预和测量，可以帮助限定本例准备追问的内容。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25B9-23BD-4D24-8E71-2A891BF6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公开研究：高中数学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95B5-3F02-480E-8FF2-39C0AA10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Bastani等（PNAS，2025）比较不同AI辅导条件，并另设无辅助测验。研究设计把工具使用阶段与独立作答阶段分别观察。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34D2A-B4AD-4EFD-8B25-CEBE3E48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本例拟追问：大学统计课程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80F6B-65C8-4132-AF37-1F2C42AD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在相同模型和任务下，先写思路再获得分步提示，是否改变独立解题表现？需继续检索同类研究，判断具体差异。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4FF3D-9502-4921-97F5-463D1390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5C223-3715-470C-9B1B-C1075CE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高中研究的设计启发可以借鉴；大学场景中的效果与创新性仍需证据。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DE4FD-E1B5-41DB-9D2D-1C2BCDE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真实文献提供背景。本例的大学情境和提示比较仍是待验证设想。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034EE-B1D7-4A7F-BA68-AE617516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来源：Bastani等2025研究设计；本例另拟；课程教学模拟，未实施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8C2F8-2150-4891-8FFC-6CC597C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3380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F74D5-A52B-4A4E-A327-324DCC3C3CF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76500" y="54578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8A7CD-7416-4EF6-ADD2-B97135608E9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76500" y="39528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AC11B-D902-426B-BD50-13FD39DF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23B5C-ACAD-4E1E-8D15-4110B4B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科学问题、目标与研究内容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6C051-B175-4F39-8FD0-91F2A4B6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EE0EB-E3B9-4D81-9D04-29A0940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问题说明未知关系，目标说明准备弄清什么，研究内容安排取得证据的工作。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4D5C8-8710-46BE-A463-4D362C9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13E03-09C0-41B0-ACFF-2C2E5039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648CA-CD13-4577-AB08-840E0090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6C7F2-3A75-4826-BDBC-1CB49422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提示方式与离开AI后的独立解题，有怎样的关系？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5D653-B54F-4C97-9406-B652D9B8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比较两种条件下的独立测验表现，检查作答过程。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7A60B-E119-4A96-8AF3-BF039DF3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484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预试题目和评分，实施比较，记录过程，联合解释。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33378-1F8A-4DE4-8677-4F001B4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概念用于组织思路，正文按研究自身逻辑展开。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6577A-1705-4D8B-BF45-770944E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来源：国自然2026申请书改版说明；课程教学模拟，未实施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6D1CA-899A-4271-B495-B8A84109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33698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B2D6E-087F-4CD4-ADA9-B621C02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605A6-C421-451F-AC9A-2396F18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研究内容与可检验结果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8CCEB-AF9A-45AB-976B-98080CD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BF506-6947-4C5E-A612-0F05B2CD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每项研究内容需要说明观察什么、怎样判断，以及得不到预期结果时仍能回答什么。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54CCE-1BA9-45DC-9E42-FCE585F5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题目与评分预试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A45E8-48E0-4A27-9254-0D47D79E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检查题目难度与评分规则，形成可复查的材料和修订记录。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314D3-C10F-4A30-9C14-67BEF18F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A5495-6F54-4F1E-88A6-49DC4B6A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辅导条件比较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9CD7F-C427-45C5-A25A-A6E542D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统一测量，记录两组过程及无AI新题成绩，报告差异与不确定性。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E1BE5-EE1D-44BD-965D-CC24B509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7726B-F95C-41A7-A05F-F7B4737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过程与结果解释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3B652-AB18-4657-968C-EF6EEECC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比较尝试、求助和修正记录。未出现预期差异时，也如实分析设计与适用范围。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AEB0C-817B-4B0A-9AD4-6F73EB7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C321E-2AFE-4476-BE9D-C57E5A7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研究计划中的产物是预期安排，不能写成已经取得的结果。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B9912-BA35-44D2-8CBF-6C614B85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AEE4A-6771-4893-ADB7-A86ADE76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95312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8714F-C592-44CD-B8FF-65AF877C6ED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84B6E-21E0-4290-BB6D-5F4295C3A54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EA73D-5228-4AAF-A1CA-FBBA4C24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E8809-8D4E-403A-9460-8C26A6EC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研究假说与其他可能解释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A4151-4046-4319-B53D-BAA4E33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30811-2592-47E8-B37C-4DC9B883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提示方式、独立尝试与后续测验之间的关系，需要通过设计和数据检验。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56DA9-62D4-4FD6-93A1-1491DFD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553AB-0385-4570-84A1-234850F8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独立尝试与修正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0F313-6D38-440E-A1C9-A451A1DC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DD5E9-FF58-4C2B-9ADB-1C72F7E9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记录实际提供的提示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D96E4-CBA2-4812-996D-AE82224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保留步骤和修改过程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084E9-CE5F-4980-AC56-E873C2A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采用统一测验与评分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6FAC5-C627-46C1-A1AA-5F9A8F5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其他可能解释：既有水平、学习投入、题目难度、教师实施及组间交流。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759C7-4F43-449E-B123-DE30BA3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虚线为待检验关系；既有水平和实施差异等因素需另行考虑。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B0CD6-10ED-4556-9F35-307764B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902B7-D46A-4A9D-94B6-B4D6EDA3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7658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A00FB-DB37-478A-951C-3DBBF38C615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5000625"/>
            <a:ext cx="1333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90AAE-951F-4093-BE15-C73B4BD5940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67125"/>
            <a:ext cx="1333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091C8-C147-48AF-96DB-ED1301AFFC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76750" y="4929188"/>
            <a:ext cx="171450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6802A-BF86-4AF1-86EE-628D16C28F1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476750" y="3667125"/>
            <a:ext cx="1714500" cy="1262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3AE31-6E0E-46C2-A301-73670521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4FA2-FFBA-475B-AABA-051D7432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比较设计与测量安排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6CB4C-6F10-40E9-849D-07351F8E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5FC80-3CB3-4F30-BD5E-5EB1A47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两组使用同一模型、题目和练习时长，一周后按统一规则评价无AI新题作答。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6E00A-EE53-4F04-ADB2-CB0236AE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核对准入与分配方案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54CA8-9CA3-4B73-BFBE-3A387ED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BE3E8-5511-4E2A-A1A9-EA538DA6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03D97-BC76-4E73-8EE5-A7D4D5CD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76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5DB23-6FC6-4C97-905F-16A9CEB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保留实际求助与作答记录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3D427-2DFB-4D4A-B984-99E50940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评分规则与分析方案预先确定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4D36E-8C3A-4B56-8B1C-F459068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研究设计教学示意。样本量、分配方式、伦理与授权仍待核定。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868E6-1078-4ECA-9231-FB59C4C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297CC-FFC7-42CB-93DC-DB9A056F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3449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699F1-A729-490A-A181-06677088998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2E79E-DDF0-4B19-9F63-992EB001721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3A491-3997-41A2-832D-557E3F1701A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640ED-105B-41B5-850A-FBA62236362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02C3D-936F-4A56-AA8B-5F6649E75C3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280C9-E49E-4884-8CC4-B819A2A3D3E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CDDAC-2368-4972-9DD9-AC282C89FB5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7C601-6A15-4684-90D9-CA824A57F51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138CA-5714-4595-9DFA-77810C5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1411D-E042-4D9C-A639-7607BC5A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比较实施与一周后测量的技术路线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CE60E-9B7F-445C-9C45-7997268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EBCEC-C85C-43A1-BC11-FD9E7A1F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两种条件分别保留过程记录，再用同一测量时点和评分规则比较。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7D644-202E-41A7-8503-1D669336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AC4D6-4108-4A76-B048-68E35B0F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AECD1-C929-4D3F-98DE-600D9E6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99513-015E-4EE5-82D6-5887827A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990AB-ECBE-4AC5-860B-209A494A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E8EB6-4D01-4796-A29E-0558FE27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E4E02-F16B-4EEB-96F1-856B469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CF880-82A5-41A2-9DA2-4C6A0BFE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43A74-6ADE-46E6-A817-054C8A4B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86BF8-6964-4CD1-B283-0D37151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教学拟议，未实施。预试、分配、测量质量及启动条件仍待核定。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7F581-92A4-4BDA-9CEE-A8C8EEE2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13CA7-B2B4-418D-BD9A-3CD403A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855686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CFFD7-70AB-4665-A56F-40D614CF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A658F-0AF9-441E-A0D8-4EA54766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创新点的比较依据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170EB-A5C9-46F9-92C0-6E113C3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DCC67-027D-4DD2-ADD0-B255E45F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创新论证需要明确：与哪些已有工作比较，增加了哪项可检验认识。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8C442-FA86-4F4F-9993-4F4857E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已有工作覆盖什么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A9E33-3A14-4ECB-9847-EFCDB0B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不同AI辅导设计、练习阶段与无辅助测验，已有公开研究涉及。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8E70F-BE3D-4A61-A5BF-EFEDE42C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2E507-B3DF-4B35-B4A8-C5AE6E6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本例准备比较什么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784FC-57FD-4D79-AB20-5BA232F1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大学统计课程中的具体提示方式，以及过程记录与独立表现的对应。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6F209-04FB-474C-B31E-9FDB4CF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A3F1A-A639-437D-82C8-4310D314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创新论证仍需什么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B65BD-7FD6-4F30-B1B1-C86E179C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检索相关大学研究，说明具体未解问题及其价值，再判断是否形成新认识。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DF2C2-EF2B-4553-98BB-6D59EB8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5463-3F04-4987-8359-B029164C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当前只给出创新论证的比较方式，创新性仍待文献与专家核对。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6F40F-C7EC-440B-A0ED-F365B6E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2026原始课件；Bastani等2025研究设计；本例另拟；课程教学模拟，未实施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5A969-3478-4DAE-88DD-276E776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45920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22131-043B-401F-B1A7-15C88D73B6C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5D090-B0D1-4BEA-9CFF-4768245EBD7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331D1-6D49-4F67-A10F-A3562A8D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0D599-1FE2-4422-A892-C5D18F49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研究基础与实施条件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555B3-8D4B-4EA8-B161-EBE5EBB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8476-ECA1-4A30-B59A-2084FEF7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申请人的已有工作，需要与本项目的关键任务逐项对应。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BD212-01FF-40BC-B1E1-7376B6FC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D33B4-AB77-40C8-B9C5-34D11DFD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已有工作与贡献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D7488-0E1B-42BA-8AC3-DD0DC5B5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条件证明与缺口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31229-16EC-4E2D-BA41-82C3C78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例如题目设计、实施和分析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A278-6931-4ED8-B584-FA6AE1B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提供相关论文、数据、工具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及本人贡献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D417B-26B4-447B-B3F7-661DC73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核对准入、设备、合作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A18BB-6268-4E26-ADEE-C116A109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本例实际状态：没有申请人前期成果、课程准入证明或合作承诺。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4E4B5-C60E-464C-82F7-2B8516C9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公开文献支持研究背景，申请人研究基础仍需真实材料。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ABF26-29BE-46B1-A6FE-694A758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本例未提供申请人真实研究基础，不能据此判断具备申报条件。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C4327-E0B2-4814-B631-C3552B05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731BE-754B-4662-8D7A-986AB059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32529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B43BC-1BF1-444D-A251-E17F8698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98A3D-E08A-407D-A313-2951D3C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风险与替代方案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D09DA-1ED4-4FAB-9278-1031CCFC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BAAEA-47ED-4FFE-ADAF-42C11A26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替代路径应说明触发条件、调整动作，以及调整后还能支持什么结论。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28F31-D5F1-4E38-A7DB-B3E367A6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提示规则不稳定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6429B-22D6-45B7-9A30-05E87D5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触发：预试未达到预定要求。动作：修订提示和材料，再做预试核对。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4AEF3-1A3B-4B71-86BC-37E50422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77F59-2859-4041-82B4-5FD4685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退出或记录缺失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D3D13-274E-4620-9CA9-A258156A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记录发生原因，按预先方案处理，报告缺失及其对解释的影响。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9CCA8-31F7-48CF-B88C-E8A54A6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D8408-DE09-4CBB-BAEB-B42E229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无法按计划分组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9766E-55A3-4291-A823-FC3BA69E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先评估调整目标与设计的可行性。改为观察性研究时，重新限定因果解释。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BEAD8-AEC6-4DA2-9071-92166749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BC8C3-0EE2-4681-9274-B05502B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备用方案改变设计时，结论的适用范围也随之调整。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22BAF-8C51-418C-86E9-5408C498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08B80-5D04-4328-A3B2-532ED14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791663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3302D-FDC3-4F5D-8956-24A71561ECA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A58F8-5AA7-42A3-A12A-160D8A38B53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26115-DBD7-4BC6-BB86-8DE4B0AA9CD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DDA1F-242B-42FA-BE96-8955033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50DE1-4D78-4567-B3F8-D6DF04F4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研究进度与任务依赖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76D6B-BCF5-477A-A06A-31565BBD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BAC11-D55F-42FC-B9BD-1092E19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时间安排要给材料核对、预试、实施和解释留出实际位置。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8F5FB-52BF-4216-B4A6-0FC82975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1—3月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5E74D-8054-4072-A1CE-1C0FA00F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4—5月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D4D66-4725-4443-B421-13CC8844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6—9月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8EFEE-AA06-4B3E-BB9D-56C31B2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10—12月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2A1B1-F3D6-4429-85E0-929962D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伦理与授权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D4E52-E8AC-413B-B5CB-E380FE2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题目、评分与规则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457E0-BB04-49AB-8B5B-9A4F32D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实际辅导与独立测验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3833E-F05C-4395-A77D-1F783749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报告差异、限制与版本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B219B-29B8-46EE-BA2B-2000A0B9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材料与准入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742F3-23F0-4CEC-A5A5-ED888803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预试与修订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38A36-C284-4E3F-B9E6-358A0510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实施与测量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9788D-F2D5-49C3-BDCA-5948DAF6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分析与归档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01B66-99DD-4366-8906-D6DA308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进度依赖前置条件。伦理或预试未通过时，后续实施顺延并记录原因。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112F9-2804-49D3-BE10-9D926BB1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12个月仅用于课程示例，不是2026国自然项目期限。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1AB93-CA26-4468-9193-0C6E5885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B1FCF-243B-4B08-B950-2AB843F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917545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BCA56-0255-41EB-8118-874CB0748DE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5DEA1-22CC-451C-9DD5-CD6E15E7EC0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A699C-8EBA-4FEA-9750-0B17A5DD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9227B-8004-4110-AE74-33B6B5DA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研究任务与经费依据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179E4-B874-46B2-BEDC-5E25FFC0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69FAF-D265-4D13-BB71-9E83BF80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先识别研究需要的资源，再按对应类别和单位要求说明成本。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B3B84-A910-4149-9AD1-84979F9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73A0A-1AB7-47A8-B592-48701B39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F9700-98A0-4E5A-8240-6E4DB05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费用依据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236BF-53CF-4A77-AA7F-46E2F03C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需要哪些人员、材料与计算条件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2E728-BAB2-46B8-AAA9-85DF509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按实施次数、工作量与使用时长估算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6EA8D-F915-4934-8C26-0C5142FB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核对报价、费用归属和当期规定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7D04E-C1D6-436C-BD9D-0FB551A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2026国自然案例：青年A、B、C类等实行包干制，申请时无需编制预算；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其余项目按规定实行预算制，结合实际研究需要编报。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01BCF-E39E-4A8B-ABEA-24930DE0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预算方式按所申报类别核对，不把示例测算当作官方额度。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27DBA-0D72-4451-B540-278889B5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07655-1B27-4C98-AD4E-399AF44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300024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415E0-C196-43FA-BE81-06527B4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45FB0-47D1-4582-B252-5B5FBFF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摘要与正文的相互对应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29BE1-0BF1-4723-A231-D04E526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CABAE-8429-4163-86B7-F12CC981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摘要集中说明具体问题、主要做法和准备获得的认识，信息与正文一致。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1B82C-376E-4231-A0AF-5C863746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完整段落示例：问题、做法与准备回答的内容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8368B-FA54-4597-A2C3-76ABB26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拟比较大学入门统计课程中两种AI辅导方式与独立解题表现的关系。在模型、题目和练习时间一致的条件下，设置完整解答与分步提示条件，记录学习者的尝试、求助与修正过程，并在一周后使用无AI新题测验评价独立作答。结合过程记录与测验结果，判断两种条件的差异及其适用范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39AB1-FCF4-4B2A-8E6B-86F6370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“拟比较”“设置”“评价”描述研究安排；这里没有承诺提升幅度或写入前期成果。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D3BE3-DA7A-432D-B91A-DFFA5A18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课程自编摘要示例，不是可直接提交的基金申请摘要。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D8B54-C6B4-4DEC-8C1A-3895D0F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90CEF-C79F-4FA0-9CFA-F3C25B4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63058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F238A-2E9D-4AED-8902-49D0B45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060D8-55C7-4B44-8873-AA373715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申报材料中的Humanizer修订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F2DAC-026D-4A36-8A15-0D1302AE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CC6D0-3E19-4D80-A810-BC4EAFBE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空泛的研究意义可以改成具体问题、比较方式和可回答的范围。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D6BD4-525B-450E-B771-0220F8CE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CE7A1-FE1D-4D6A-BEA0-2DD99B8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本项目将构建国际领先的智能教学体系，全面揭示学习规律，大幅提升人才培养质量。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03EC0-E7E1-47C4-8480-3DFB0A3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14F09-47C6-42DB-9354-22DA0E35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修订：具体到比较对象与测量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4F69E-52B4-4C6F-902D-E4CC07E0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本例拟比较完整解答与分步提示两种辅导方式，用一周后无AI新题测验观察独立解题表现，并分析作答过程与结果的对应。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97D75-0DA5-4D54-8DD6-B4EFA6BD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两段均为教学模拟；修订不增加任何前期成果或效果数字。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B90D7-1A97-4219-91C6-11369AC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0F3A4-672A-413C-980F-2E4B6FAB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253488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6AD09-2354-4EC4-AE2B-7A04C92EEBD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979AD-45FB-4D81-A94D-14E1995A74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3423D-47E6-48CF-A5A7-84A458BB656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3754A-C21C-4153-A647-67BC3505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65AB8-54FE-4FBE-BB53-1149C42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Grant Agent的工作流与Harness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A33F0-E5D6-4731-8A2C-1587199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0D8F4-989C-4C86-93C8-FC14F5D0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运行记录把输入版本、核对动作、输出文件和未解决问题连在一起。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F997B-AC03-49C1-ABE6-9AC2E79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8A62E-B325-46BE-8CB3-BAF0B74C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EBE02-D9E0-4820-84E7-28E90A39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内容与路线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A90A1-AE72-455F-A9D7-6E31A025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核对与Word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43CD8-9463-446B-962C-C00E25A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保留原件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D4E9A-F819-4391-A1CA-99C7E960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登记事实、来源与缺口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6993F-6E35-4C4F-A03A-95A78F59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组织段落和步骤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49E24-4E7F-4A40-B19A-2E8E1B02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逐项检查并保留版本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EA200-239E-418C-9069-6DC9AE7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EDEAE-C034-438C-81EC-22A9A75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Harness：保存输入版本、步骤状态、来源定位与失败原因的运行规则。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DF5AE-63E0-4695-890D-1BD2650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框架图说明整体工作。本次本地执行范围在后页单独列出。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A4F6A-1DDB-45C0-B593-91C016E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0C941-6153-4915-9091-10C37F91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750001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CB7B5-B95A-4760-836B-E0FFAD1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946BA-0F72-4D81-B919-8F2E8DE6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要求、章节与产物的实际映射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5AA2-2C80-4762-B81B-ED6631E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75432-4527-40FC-8DAF-311A4A9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教学指南中的每条要求，都能在映射文件中找到目标、产物和检查方式。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032B3-9731-41C5-8BCE-D0ADE3A58722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095750"/>
                <a:gridCol w="638175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模拟要求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对应研究目标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实际产物与检查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 问题与假说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明确待检验关系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问题说明与过程记录；检查变量对应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 比较与测量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形成测量方案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分组、测验与分析安排；保留待核定事项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 来源与缺口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保留事实状态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来源账本与Word；检查定位和问题清单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12F0D-D576-465F-A4B7-54F78C18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TEACH-SECTION10-01为课程模拟指南；映射检查不等于科学评审。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99AD0-68A4-4D2B-99A7-E22EEAC0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91DFB-06E9-4DE3-962C-0DDE759E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877879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E6608-8895-482A-ACDA-7017FE58E5C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80C60-E479-4388-A1F3-8E0186911A2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54815-92DC-4921-A08F-7D99FD3B52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B31F8-9233-44FD-8E01-D6826A9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CB963-1CF7-4DB2-A524-6FF04FC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本地执行记录与文件输出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4FE6-4387-43E5-9500-BECA303E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BF2D7-AB0A-4389-99AA-FDD981F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本次实际读取JSON和Word模板，完成结构核对、填充并写出草稿。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163AA-FDFF-4372-936F-F0378E7A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BE469-5825-4ACD-B024-42CCD84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结构核对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87FB4-2D1E-403D-A895-90518486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填入与附图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68DBF-2318-4E6E-A32A-6B929933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草稿写出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DC638-7343-4EFB-9374-78187281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guide.json /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grant.json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EFD43-BEF5-4EC0-A9AA-8B2404F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检查章节、来源标识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9E4C9-C249-4F39-A321-EB9165A0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现成段落与两幅路线图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B9192-8BBA-4DB7-A65C-6B0934C6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与问题清单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E67DC-79AE-4BD5-87F3-D7C2226A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实际状态：草稿已写出，仍待研究者核对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DD0B0-9F55-4526-AF5C-0B2B088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外部模型调用：无。科学有效性核验：未执行。输入、模板、指南与Word均可核对文件版本。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FD529-AB71-4328-A404-B22E934C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真实本地运行，无外部模型调用；输入段落已由课程编写。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39289-10D5-4816-967D-A554478C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54391-7297-4DBC-8C15-A207E1F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967547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7B14D-1358-4ECD-A1A3-A03F400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FE2B3-1F0B-4F24-BEB8-E94CE0B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异常材料的实际拦截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D1376-B8F5-49EF-86C6-17C6650B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78473-EB31-4D36-8E68-D635DC9E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指南章节不一致、未知来源、模板缺章和未经签核的最终导出，均有真实失败记录。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08A9C-1CED-4EB6-B0EE-D8A2A63F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指南与章节不一致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313A8-AFC6-4E07-AF06-F2B5A27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检出章节名与指南不一致，停止写出Word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13596-57A0-4A63-9F3D-0924916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5B4FD-E311-4493-B604-61589FA4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引用未登记来源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A3FE5-D855-4BC8-8B28-5F96A3C1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来源标识未登记，停止写出Word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31449-C81B-49C3-842A-7596530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4ACFA-BC6D-4AAE-AC10-C6C2C9B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模板缺少必需章节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03F7C-0992-4D3F-B4C9-A80ED29F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未找到研究内容的填充位置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8BA8D-7467-46F2-A30B-A295E7C8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5522B-BC41-4705-B82D-C5C0BE18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未经签核请求最终导出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DBBE8-FE57-4C35-8A9D-B006F33A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最终导出被拒绝，未生成正式稿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5FCDB-C247-4C00-8B49-DC7C0C15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15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48F38-B65F-4A9C-800E-57BA3C3A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4项异常已实际触发拦截；覆盖范围以具体检查规则为限。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76E6A-610A-4813-A3A0-583F4CF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03123-C5ED-4EAF-A273-482C3384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964755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01CA9-5A8F-4C7D-B1AB-425B569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D0206-C38C-463B-BCC5-28B60C3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生成后的Word及其使用范围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F162B-33CA-42FA-9D63-84129CB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42E0C-8478-4E1A-AC0E-764D24E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Word包含研究段落、来源与未决问题，并附同一版本的技术路线和返工图。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27F1-150A-4B64-98D1-E3BE04B86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848795833419e"/>
          <a:stretch xmlns:a="http://schemas.openxmlformats.org/drawingml/2006/main"/>
        </p:blipFill>
        <p:spPr>
          <a:xfrm xmlns:a="http://schemas.openxmlformats.org/drawingml/2006/main">
            <a:off x="929770" y="3000375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0E8F8-87C2-4C1E-90B9-3C96C117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实际Word第一页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7B6E7-BB1A-4C37-BC69-7DDB890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可编辑正文与独立记录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C2310-37AB-4DCE-83F1-7C7EB95A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正文：立项依据、研究内容、研究基础。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附图：比较与后续测量、材料核对与返工。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来源和问题：登记材料位置，保留尚缺的基础、设计条件和创新依据。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86588-8E69-4C98-B1D3-2F41C43C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模板为课程自编，非官方申请书模板。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FC6F4-288B-47C1-8D17-D3F597BF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页面预览来自本地DOCX实际渲染；完整Word与来源账本随包保留。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60D3D-6509-4B6E-ADF4-46C1001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73830-CC3A-498F-8DF5-9F13AEB0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357344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19183-E0AE-4536-A02A-77577254B54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14337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04927-AF11-49D5-89D1-270A44B98DF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14337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F3244-81C8-4249-AAF0-3972F464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E253B-8A2A-428A-90A0-F24A86E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提交前的完整性与研究者判断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14374-5642-472F-8CAC-2540B55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A29DF-CC79-43D4-AA4B-BA3DE8E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正式申报要核对当年要求、真实研究材料和最终排版，再由申请人与单位履行职责。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725E2-5AE8-4E10-A1BD-6B93AB4F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当年官方要求与模板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68E9A-04A1-4C59-9283-C8C9DCA2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真实材料与研究者论证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37E5D-2603-422D-A22E-B27FFE84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核对事实、引用、贡献、伦理与使用声明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FAE4F-2627-4236-9D8C-A30054E0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申请人与单位按职责核对最终版本，按正式系统流程提交。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F4F86-64C4-49FC-A2CB-1470D054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下一节：专利挖掘与技术交底。本节产物仍为教学材料。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72D93-C567-4B6D-9A30-D34EED13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0FB0-224F-4A9B-B805-0C137E0A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46790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2026-10-20T01:01:25.6710000Z</dcterms:created>
  <dcterms:modified xsi:type="dcterms:W3CDTF">2026-10-20T01:01:25.6710000Z</dcterms:modified>
</coreProperties>
</file>