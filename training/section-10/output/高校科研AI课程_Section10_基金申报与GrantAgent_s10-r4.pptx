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6d8bfb746544e3" /><Relationship Type="http://schemas.openxmlformats.org/officeDocument/2006/relationships/extended-properties" Target="/docProps/app.xml" Id="R6654c8da4ee44e98" /><Relationship Type="http://schemas.openxmlformats.org/officeDocument/2006/relationships/officeDocument" Target="/ppt/presentation.xml" Id="R8ee25420facf41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26c8ace7f04f6b"/>
  </p:sldMasterIdLst>
  <p:notesMasterIdLst>
    <p:notesMasterId xmlns:r="http://schemas.openxmlformats.org/officeDocument/2006/relationships" r:id="Rec4f8002ada84eb9"/>
  </p:notesMasterIdLst>
  <p:sldIdLst>
    <p:sldId xmlns:r="http://schemas.openxmlformats.org/officeDocument/2006/relationships" id="256" r:id="R5cfd935eb34f4bcc"/>
    <p:sldId xmlns:r="http://schemas.openxmlformats.org/officeDocument/2006/relationships" id="257" r:id="R1ff9628d4e4d4d30"/>
    <p:sldId xmlns:r="http://schemas.openxmlformats.org/officeDocument/2006/relationships" id="258" r:id="R6cea0413418541e6"/>
    <p:sldId xmlns:r="http://schemas.openxmlformats.org/officeDocument/2006/relationships" id="259" r:id="Rf190b5b37e084d94"/>
    <p:sldId xmlns:r="http://schemas.openxmlformats.org/officeDocument/2006/relationships" id="260" r:id="R1b117043269a40cc"/>
    <p:sldId xmlns:r="http://schemas.openxmlformats.org/officeDocument/2006/relationships" id="261" r:id="Rb7f0e4154aa7421c"/>
    <p:sldId xmlns:r="http://schemas.openxmlformats.org/officeDocument/2006/relationships" id="262" r:id="R1c3ac33740a14de5"/>
    <p:sldId xmlns:r="http://schemas.openxmlformats.org/officeDocument/2006/relationships" id="263" r:id="R34e00df627ab4089"/>
    <p:sldId xmlns:r="http://schemas.openxmlformats.org/officeDocument/2006/relationships" id="264" r:id="R566fe45266544c8c"/>
    <p:sldId xmlns:r="http://schemas.openxmlformats.org/officeDocument/2006/relationships" id="265" r:id="R966b11c8e4cd4420"/>
    <p:sldId xmlns:r="http://schemas.openxmlformats.org/officeDocument/2006/relationships" id="266" r:id="R0fe9b56206944724"/>
    <p:sldId xmlns:r="http://schemas.openxmlformats.org/officeDocument/2006/relationships" id="267" r:id="R90bb2572bab345d3"/>
    <p:sldId xmlns:r="http://schemas.openxmlformats.org/officeDocument/2006/relationships" id="268" r:id="R57dbedff728441f9"/>
    <p:sldId xmlns:r="http://schemas.openxmlformats.org/officeDocument/2006/relationships" id="269" r:id="R7cd1eac0ce374519"/>
    <p:sldId xmlns:r="http://schemas.openxmlformats.org/officeDocument/2006/relationships" id="270" r:id="Re99072499e374c42"/>
    <p:sldId xmlns:r="http://schemas.openxmlformats.org/officeDocument/2006/relationships" id="271" r:id="Rf4f7d1dda18d4f2b"/>
    <p:sldId xmlns:r="http://schemas.openxmlformats.org/officeDocument/2006/relationships" id="272" r:id="Rb8afa13fd5c344f6"/>
    <p:sldId xmlns:r="http://schemas.openxmlformats.org/officeDocument/2006/relationships" id="273" r:id="Rac8404ed57ad4910"/>
    <p:sldId xmlns:r="http://schemas.openxmlformats.org/officeDocument/2006/relationships" id="274" r:id="Rc96295c79dab4bfa"/>
    <p:sldId xmlns:r="http://schemas.openxmlformats.org/officeDocument/2006/relationships" id="275" r:id="R93bad12dbe4441aa"/>
    <p:sldId xmlns:r="http://schemas.openxmlformats.org/officeDocument/2006/relationships" id="276" r:id="R98fede744ccb4d94"/>
    <p:sldId xmlns:r="http://schemas.openxmlformats.org/officeDocument/2006/relationships" id="277" r:id="R45516a7d3d1c4bcc"/>
    <p:sldId xmlns:r="http://schemas.openxmlformats.org/officeDocument/2006/relationships" id="278" r:id="R05dbbb7c68894864"/>
    <p:sldId xmlns:r="http://schemas.openxmlformats.org/officeDocument/2006/relationships" id="279" r:id="R7bfe544123a24dc7"/>
    <p:sldId xmlns:r="http://schemas.openxmlformats.org/officeDocument/2006/relationships" id="280" r:id="R252861a0ebd14218"/>
    <p:sldId xmlns:r="http://schemas.openxmlformats.org/officeDocument/2006/relationships" id="281" r:id="Rdf7e2caaafb947a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0f5acff6f94c7b" /><Relationship Type="http://schemas.openxmlformats.org/officeDocument/2006/relationships/slideMaster" Target="/ppt/slideMasters/slideMaster1.xml" Id="R3e26c8ace7f04f6b" /><Relationship Type="http://schemas.openxmlformats.org/officeDocument/2006/relationships/notesMaster" Target="/ppt/notesMasters/notesMaster1.xml" Id="Rec4f8002ada84eb9" /><Relationship Type="http://schemas.openxmlformats.org/officeDocument/2006/relationships/presProps" Target="/ppt/presProps.xml" Id="R83200f87639444d8" /><Relationship Type="http://schemas.openxmlformats.org/officeDocument/2006/relationships/tableStyles" Target="/ppt/tableStyles.xml" Id="R44a7189323514f20" /><Relationship Type="http://schemas.openxmlformats.org/officeDocument/2006/relationships/slide" Target="/ppt/slides/slide1.xml" Id="R5cfd935eb34f4bcc" /><Relationship Type="http://schemas.openxmlformats.org/officeDocument/2006/relationships/slide" Target="/ppt/slides/slide2.xml" Id="R1ff9628d4e4d4d30" /><Relationship Type="http://schemas.openxmlformats.org/officeDocument/2006/relationships/slide" Target="/ppt/slides/slide3.xml" Id="R6cea0413418541e6" /><Relationship Type="http://schemas.openxmlformats.org/officeDocument/2006/relationships/slide" Target="/ppt/slides/slide4.xml" Id="Rf190b5b37e084d94" /><Relationship Type="http://schemas.openxmlformats.org/officeDocument/2006/relationships/slide" Target="/ppt/slides/slide5.xml" Id="R1b117043269a40cc" /><Relationship Type="http://schemas.openxmlformats.org/officeDocument/2006/relationships/slide" Target="/ppt/slides/slide6.xml" Id="Rb7f0e4154aa7421c" /><Relationship Type="http://schemas.openxmlformats.org/officeDocument/2006/relationships/slide" Target="/ppt/slides/slide7.xml" Id="R1c3ac33740a14de5" /><Relationship Type="http://schemas.openxmlformats.org/officeDocument/2006/relationships/slide" Target="/ppt/slides/slide8.xml" Id="R34e00df627ab4089" /><Relationship Type="http://schemas.openxmlformats.org/officeDocument/2006/relationships/slide" Target="/ppt/slides/slide9.xml" Id="R566fe45266544c8c" /><Relationship Type="http://schemas.openxmlformats.org/officeDocument/2006/relationships/slide" Target="/ppt/slides/slide10.xml" Id="R966b11c8e4cd4420" /><Relationship Type="http://schemas.openxmlformats.org/officeDocument/2006/relationships/slide" Target="/ppt/slides/slide11.xml" Id="R0fe9b56206944724" /><Relationship Type="http://schemas.openxmlformats.org/officeDocument/2006/relationships/slide" Target="/ppt/slides/slide12.xml" Id="R90bb2572bab345d3" /><Relationship Type="http://schemas.openxmlformats.org/officeDocument/2006/relationships/slide" Target="/ppt/slides/slide13.xml" Id="R57dbedff728441f9" /><Relationship Type="http://schemas.openxmlformats.org/officeDocument/2006/relationships/slide" Target="/ppt/slides/slide14.xml" Id="R7cd1eac0ce374519" /><Relationship Type="http://schemas.openxmlformats.org/officeDocument/2006/relationships/slide" Target="/ppt/slides/slide15.xml" Id="Re99072499e374c42" /><Relationship Type="http://schemas.openxmlformats.org/officeDocument/2006/relationships/slide" Target="/ppt/slides/slide16.xml" Id="Rf4f7d1dda18d4f2b" /><Relationship Type="http://schemas.openxmlformats.org/officeDocument/2006/relationships/slide" Target="/ppt/slides/slide17.xml" Id="Rb8afa13fd5c344f6" /><Relationship Type="http://schemas.openxmlformats.org/officeDocument/2006/relationships/slide" Target="/ppt/slides/slide18.xml" Id="Rac8404ed57ad4910" /><Relationship Type="http://schemas.openxmlformats.org/officeDocument/2006/relationships/slide" Target="/ppt/slides/slide19.xml" Id="Rc96295c79dab4bfa" /><Relationship Type="http://schemas.openxmlformats.org/officeDocument/2006/relationships/slide" Target="/ppt/slides/slide20.xml" Id="R93bad12dbe4441aa" /><Relationship Type="http://schemas.openxmlformats.org/officeDocument/2006/relationships/slide" Target="/ppt/slides/slide21.xml" Id="R98fede744ccb4d94" /><Relationship Type="http://schemas.openxmlformats.org/officeDocument/2006/relationships/slide" Target="/ppt/slides/slide22.xml" Id="R45516a7d3d1c4bcc" /><Relationship Type="http://schemas.openxmlformats.org/officeDocument/2006/relationships/slide" Target="/ppt/slides/slide23.xml" Id="R05dbbb7c68894864" /><Relationship Type="http://schemas.openxmlformats.org/officeDocument/2006/relationships/slide" Target="/ppt/slides/slide24.xml" Id="R7bfe544123a24dc7" /><Relationship Type="http://schemas.openxmlformats.org/officeDocument/2006/relationships/slide" Target="/ppt/slides/slide25.xml" Id="R252861a0ebd14218" /><Relationship Type="http://schemas.openxmlformats.org/officeDocument/2006/relationships/slide" Target="/ppt/slides/slide26.xml" Id="Rdf7e2caaafb947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3f10c6eae541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f67645b5d74049" /><Relationship Type="http://schemas.openxmlformats.org/officeDocument/2006/relationships/notesMaster" Target="/ppt/notesMasters/notesMaster1.xml" Id="R280568e10ef649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894ef1c5b9407d" /><Relationship Type="http://schemas.openxmlformats.org/officeDocument/2006/relationships/notesMaster" Target="/ppt/notesMasters/notesMaster1.xml" Id="Rd38a705a85f34e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d9ac26ec434efe" /><Relationship Type="http://schemas.openxmlformats.org/officeDocument/2006/relationships/notesMaster" Target="/ppt/notesMasters/notesMaster1.xml" Id="R4e9c13a1e9c441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c817aad71f4ca0" /><Relationship Type="http://schemas.openxmlformats.org/officeDocument/2006/relationships/notesMaster" Target="/ppt/notesMasters/notesMaster1.xml" Id="R41a77848e35e47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6a68917f604467" /><Relationship Type="http://schemas.openxmlformats.org/officeDocument/2006/relationships/notesMaster" Target="/ppt/notesMasters/notesMaster1.xml" Id="Rc563a5cc043244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7063a33ae64972" /><Relationship Type="http://schemas.openxmlformats.org/officeDocument/2006/relationships/notesMaster" Target="/ppt/notesMasters/notesMaster1.xml" Id="Rccb0d5264f5245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a80fb520f94fae" /><Relationship Type="http://schemas.openxmlformats.org/officeDocument/2006/relationships/notesMaster" Target="/ppt/notesMasters/notesMaster1.xml" Id="R0bded440eee149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524a6e93ef4e25" /><Relationship Type="http://schemas.openxmlformats.org/officeDocument/2006/relationships/notesMaster" Target="/ppt/notesMasters/notesMaster1.xml" Id="R0bf42a5d61c54f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40de64f3314158" /><Relationship Type="http://schemas.openxmlformats.org/officeDocument/2006/relationships/notesMaster" Target="/ppt/notesMasters/notesMaster1.xml" Id="R8765119203d544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d863fd7fad4597" /><Relationship Type="http://schemas.openxmlformats.org/officeDocument/2006/relationships/notesMaster" Target="/ppt/notesMasters/notesMaster1.xml" Id="R6e79624f28174c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8dd1c6b2e04b6f" /><Relationship Type="http://schemas.openxmlformats.org/officeDocument/2006/relationships/notesMaster" Target="/ppt/notesMasters/notesMaster1.xml" Id="Rb1b8fd5916074a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65dea33fc242f2" /><Relationship Type="http://schemas.openxmlformats.org/officeDocument/2006/relationships/notesMaster" Target="/ppt/notesMasters/notesMaster1.xml" Id="Rd787c13bd5664f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cc850f4f1443f8" /><Relationship Type="http://schemas.openxmlformats.org/officeDocument/2006/relationships/notesMaster" Target="/ppt/notesMasters/notesMaster1.xml" Id="Rff9533ddd59043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c715941fdd457b" /><Relationship Type="http://schemas.openxmlformats.org/officeDocument/2006/relationships/notesMaster" Target="/ppt/notesMasters/notesMaster1.xml" Id="R1d3c6e4afaa74a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5e2a4c9a914f65" /><Relationship Type="http://schemas.openxmlformats.org/officeDocument/2006/relationships/notesMaster" Target="/ppt/notesMasters/notesMaster1.xml" Id="R3405ac639bcd4d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15977c926c45f0" /><Relationship Type="http://schemas.openxmlformats.org/officeDocument/2006/relationships/notesMaster" Target="/ppt/notesMasters/notesMaster1.xml" Id="R7cc6c8a2eabc47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c31e0f49d740cb" /><Relationship Type="http://schemas.openxmlformats.org/officeDocument/2006/relationships/notesMaster" Target="/ppt/notesMasters/notesMaster1.xml" Id="R8a4e803f17c64c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2d668701c034c1f" /><Relationship Type="http://schemas.openxmlformats.org/officeDocument/2006/relationships/notesMaster" Target="/ppt/notesMasters/notesMaster1.xml" Id="R575406bd82ea405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c5b990256634c9c" /><Relationship Type="http://schemas.openxmlformats.org/officeDocument/2006/relationships/notesMaster" Target="/ppt/notesMasters/notesMaster1.xml" Id="Rb9550ece038b4c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8e1f9379a942a8" /><Relationship Type="http://schemas.openxmlformats.org/officeDocument/2006/relationships/notesMaster" Target="/ppt/notesMasters/notesMaster1.xml" Id="R13bd9143252b49f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c3a9aeabc9447af" /><Relationship Type="http://schemas.openxmlformats.org/officeDocument/2006/relationships/notesMaster" Target="/ppt/notesMasters/notesMaster1.xml" Id="R8ff69c17a86d42d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1c861fd7a6346aa" /><Relationship Type="http://schemas.openxmlformats.org/officeDocument/2006/relationships/notesMaster" Target="/ppt/notesMasters/notesMaster1.xml" Id="R5323a18b853843e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ac7ae6224224a86" /><Relationship Type="http://schemas.openxmlformats.org/officeDocument/2006/relationships/notesMaster" Target="/ppt/notesMasters/notesMaster1.xml" Id="R31c36e9576fa441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19d319c17f347da" /><Relationship Type="http://schemas.openxmlformats.org/officeDocument/2006/relationships/notesMaster" Target="/ppt/notesMasters/notesMaster1.xml" Id="R628ceb19464f463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ae69c08e7524b21" /><Relationship Type="http://schemas.openxmlformats.org/officeDocument/2006/relationships/notesMaster" Target="/ppt/notesMasters/notesMaster1.xml" Id="Rba9c00185eab4c3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10bfca058bd45b3" /><Relationship Type="http://schemas.openxmlformats.org/officeDocument/2006/relationships/notesMaster" Target="/ppt/notesMasters/notesMaster1.xml" Id="Rc2e630160d6448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本节先讲申报论证，再看本地材料流程。公开规定按2026年国自然示例讲解；贯穿研究设计和12个月安排为课程模拟，未实施、未投稿。Agent承担资料整理与文件检查的范围另行标明。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央部门、省部级、地方和校内项目不构成统一的填报制度。分别查资助范围、资格、限项、期限、预算方式和正式模板。本页仅讲核对方法，不提供未核验的省级年龄或经费规定。国自然仅作为有官方依据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2025年12月30日官方改版说明：立项依据、研究内容、研究基础。研究内容不预设固定提纲，按自身研究逻辑组织。正文原则上不超过30页。适用范围限上述两类，不能推到所有基金；页数需对最终排版核对。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2026年1月14日通告一（二）8：人工核实生成信息和参考文献，全面如实声明使用情况并标识；不得使用生成式AI直接生成的申请书，不得用未核实生成内容。Humanizer语言修改不能替代核验、声明或研究者本人写作。此要求直接改变演示成果的使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以真实通告的模板、研究基础和AI要求建立人工提取记录。提取不等于取得申报资格。记录来源条款和核查日期，正式模板没有取得时仍保留缺口。课程guide.json另为模拟规则，不混用为官方文件。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研究者论文须核对实际署名与贡献；现有数据说明获取方式与处理；实验条件和合作承诺要有证明。公开论文支持研究背景，不能直接证明申请人做过实验。当前示例没有申请人真实材料，基础部分保留缺口。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研究情境设为大学入门统计课程。比较同一模型下完整解答和先写思路再获得下一步提示；主要关注一周后无AI新题测验。该问题、对象和研究安排为教学模拟，不声称已招募学生、获批伦理或通过创新性判断。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Bastani等2025年PNAS研究来自高中数学情境，比较不同AI辅导条件，并设置无辅助测验。已读作者公开版Experimental Design。这里仅转述研究设计，不引用效果数字，也不将高中结果直接推广到大学。正式立项需继续核对最终版、勘误和相关文献；当前未完成全面检索。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Bastani等，Generative AI without guardrails can harm learning: Evidence from high school mathematics，PNAS 2025，10.1073/pnas.2422633122</a:t>
            </a:r>
          </a:p>
          <a:p xmlns:a="http://schemas.openxmlformats.org/drawingml/2006/main">
            <a:r>
              <a:t>https://hamsabastani.github.io/education_llm.pdf</a:t>
            </a:r>
          </a:p>
          <a:p xmlns:a="http://schemas.openxmlformats.org/drawingml/2006/main">
            <a:r>
              <a:t>定位：作者公开版Experimental Design（PDF第4—6页及相邻说明），仅转述比较条件与无辅助测量，不使用效果数字。另查到勘误10.1073/pnas.2518204122元数据，勘误全文未读取；不声称已完成最终版与勘误的完整核验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科学问题为提示方式与独立解题关系。目标具体到比较表现并检查过程。内容包括材料预试、辅导比较、独立测验和过程解释。讲这些名词是为使论证清楚，并不把2026国自然研究内容重新固定成旧式小标题。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国家自然科学基金委，关注！！！2026年申请书改版，2025-12-30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定位：正文三部分、研究内容组织与原则上30页；仅面上与青年C类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预试检查题目和评分一致性；比较研究记录独立测验；过程分析检查尝试与求助、修正。每项应有自己的可解释产物，避免一个预期效应不出现，其他研究全部无法进行。未设定具体样本量和提升比例。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虚线表示课程假说，不能作已证实机制图。过程指标与测验间的相关可能还受既有水平、投入时间、教师实施等因素影响；即使随机分配提示条件，也不能自动把过程中介变量解释成因果机制。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与Section 6 s6-r5方案保持同一比较：分步提示与完整解答，练习后一周的5道无AI新题为主要测量，各0至20分、总分0至100分。题目效度、评分规则、分配单位和独立性待核。先前每组50人的容量例子只基于假设差异6分、标准差10分及90%保留率，不能直接填成实际申报人数；本节没有据此补造样本依据或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图与Section 8 s8-r6及Section 6 s6-r5拟议方案对应。PPT的8个节点、8条连接读取grant-packet/diagrams/route.json；同目录保留draw.io、SVG及实际PNG，Word嵌入同一PNG。材料未齐时的返工另见decision.json及Word图2；不凭空填标准或通过结论。技术路线箭头表示工作次序和后续测量，不是因果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有高中数学研究已比较不同辅导设计，因此不能笼统把AI辅导、分步提示或独立测验本身称为首次。大学统计情境不同可提出比较问题，但换对象本身不证明科学创新。需要系统查相关研究并形成具体差异及价值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Bastani等，Generative AI without guardrails can harm learning: Evidence from high school mathematics，PNAS 2025，10.1073/pnas.2422633122</a:t>
            </a:r>
          </a:p>
          <a:p xmlns:a="http://schemas.openxmlformats.org/drawingml/2006/main">
            <a:r>
              <a:t>https://hamsabastani.github.io/education_llm.pdf</a:t>
            </a:r>
          </a:p>
          <a:p xmlns:a="http://schemas.openxmlformats.org/drawingml/2006/main">
            <a:r>
              <a:t>定位：作者公开版Experimental Design（PDF第4—6页及相邻说明），仅转述比较条件与无辅助测量，不使用效果数字。另查到勘误10.1073/pnas.2518204122元数据，勘误全文未读取；不声称已完成最终版与勘误的完整核验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公开研究和可下载数据不是申请人前期工作。前期论文需说明本人贡献及与关键任务的关系；设备、课程准入、合作分工需实际材料支持。本教学例缺这些材料，不能写已有成熟系统、显著效果或充分条件。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提示规则不稳定先修订与重试；退出或缺失需记录原因并按预定分析方案处理；不能分组时考虑调整目标，但观察性记录不能沿用随机比较的因果解释。具体门槛要依据预试与方案，不随意给出80%或90%。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Mitchell S. V. Elkind，Grant Writing，NIH StrokeNet，2026-09-10</a:t>
            </a:r>
          </a:p>
          <a:p xmlns:a="http://schemas.openxmlformats.org/drawingml/2006/main">
            <a:r>
              <a:t>https://nihstrokenet.org/docs/default-source/default-document-library/elkind-grant-writing-9-10-26.pdf?sfvrsn=0</a:t>
            </a:r>
          </a:p>
          <a:p xmlns:a="http://schemas.openxmlformats.org/drawingml/2006/main">
            <a:r>
              <a:t>定位：PDF物理页21、27、29、36、40、51已逐页查看；仅参考研究论证、可检验性、风险与讲授组织，不搬用NIH制度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模拟12个月，安排1—3月材料和准入、4—5月预试、6—9月实施与测量、10—12月分析归档。任务按前置条件推进，不能机械以月份宣布伦理或预试已通过。国自然研究期限由系统按类别生成，此模拟期限不作为填写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通告明确青年A、B、C类等实行包干制，申请时无需编制预算；其余类型按规定预算制编报。本页说明教学研究的资源测算逻辑：任务、用量、价格依据和费用归属；未编造报价或项目总额。资源安排不能把包干理解为不需要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以下完整段落为课程模拟：比较提示方式与独立解题；两种辅导条件；过程记录与无AI新题；结果用于判断条件差异而非承诺提升。已完成与拟开展分开写。正式摘要字数和字段按当年系统，不凭旧模板预设。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原句故意设置国际领先、全面揭示与大幅提升，均无证据。改句仅说明准备比较的提示方式和无AI测验。语言清楚不意味着材料真实或新颖性已通过，不通过润色掩盖缺失信息。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在此指任务运行时保留输入、步骤、来源和错误记录的规则。讲授时沿实际文件读取：guide.json与教学模板，grant.json中的既有段落，diagrams中的研究路线，mapping和evidence-ledger，最终Word及issues。运行器能核对结构、映射和来源标识并写出文件；不能凭来源ID判断文献支持度，也没有自动判断科学创新或可行性。程序一次执行到草稿和问题清单写出，没有逐节点审批；正式申报职责另按官方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T1对应问题假说、T2对应比较与测量、T3对应来源和缺口。真实来自本次grant.json和mapping.json，课程规则不是国自然评分表。脚本只核对映射字段与引用标识有效，不证明假说正确或评价设计充分。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重新执行run_demo.py，真实读取guide.json、grant.json、自编模板及两幅路线PNG，完成结构核对、现成段落填充、路线嵌入与记录写出。run.json保存输入、指南、模板、图和Word哈希及时间事件，状态draft_review_required；external_model_called=false，scientific_validation=not_performed。四项异常也重新实际运行，保存实际失败日志。研究设想由课程编写，无模型自主研究、检索或真实云端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_demo.py另执行4个负例，每个都调用实际文件流程；不是手工拼接失败日志。检查实际错误和期望一致。旧文件流程的final签核控制只属于该导出接口，不泛化为所有网页流程逐节点审批。负例不证明系统抵御所有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自本轮实际生成Word首页。正文有立项依据、研究内容、研究基础，来源与未决问题另列，最后附路线及材料核对图。两幅图的PNG实际嵌入DOCX并与源文件哈希比对，编辑源draw.io和SVG随包。Word中的图是嵌入图片，PPT图和draw.io/SVG可分别编辑。自编模板非官方模板，研究尚未实施，稿件仅用于教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本节实际文件流程与执行记录</a:t>
            </a:r>
          </a:p>
          <a:p xmlns:a="http://schemas.openxmlformats.org/drawingml/2006/main">
            <a:r>
              <a:t>local:training/section-10/execution-evidence.json</a:t>
            </a:r>
          </a:p>
          <a:p xmlns:a="http://schemas.openxmlformats.org/drawingml/2006/main">
            <a:r>
              <a:t>定位：run_demo.py、runtime-snapshot/local_workflow.py、grant-packet/output/run.json；无外部模型调用，无科学核验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查当期类别与模板、研究逻辑、事实和引用、基础与贡献、伦理授权、其他项目及预算要求、AI使用声明。程序只能覆盖明确规则。保存最终版本并按系统提交，Agent不代签、不伪造单位审批。下一节专利挖掘与交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关于2026年度国家自然科学基金项目申请与结题等有关事项的通告，2026-01-14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定位：一（二）1、2、4、5、6、8、10、11及依托单位事项，2026-10-18核查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课程自编研究设计与材料整理规则</a:t>
            </a:r>
          </a:p>
          <a:p xmlns:a="http://schemas.openxmlformats.org/drawingml/2006/main">
            <a:r>
              <a:t>local:training/section-10/grant-packet/grant.json</a:t>
            </a:r>
          </a:p>
          <a:p xmlns:a="http://schemas.openxmlformats.org/drawingml/2006/main">
            <a:r>
              <a:t>定位：TEACH-SECTION10-01、教学段落、技术路线及缺口，非官方指南和模板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78fcf7a6e42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ceaa6beab46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dcd42cd94748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cae85884c47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ca58e385144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8b364089544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521487-73C3-42E6-AB3F-E086368A17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87573C-9842-4F9A-ADED-415388BFC5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CC67D3-6184-49F5-9020-4133B5514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BAB843-1E26-4877-AA37-45EE5D007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269D84-3023-4F7B-8344-78B697E5D8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D30176-91A4-4BD1-831E-530F9C3CF7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42C71A-4F5E-4A76-BDB4-D32DD55AFA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428D46-7219-46B6-80ED-480E8F9F5B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94CCC1-0955-46A7-9519-ABA36AF694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FF8120-558B-42E5-8398-7121794837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1b80f9f4474a77" /><Relationship Type="http://schemas.openxmlformats.org/officeDocument/2006/relationships/slideLayout" Target="/ppt/slideLayouts/slideLayout1.xml" Id="R978f01881f574172" /><Relationship Type="http://schemas.openxmlformats.org/officeDocument/2006/relationships/slideLayout" Target="/ppt/slideLayouts/slideLayout2.xml" Id="R5902d6b4246c426c" /><Relationship Type="http://schemas.openxmlformats.org/officeDocument/2006/relationships/slideLayout" Target="/ppt/slideLayouts/slideLayout3.xml" Id="R4ebb596d5bb44293" /><Relationship Type="http://schemas.openxmlformats.org/officeDocument/2006/relationships/slideLayout" Target="/ppt/slideLayouts/slideLayout4.xml" Id="Rb5fdd18f01364a88" /><Relationship Type="http://schemas.openxmlformats.org/officeDocument/2006/relationships/slideLayout" Target="/ppt/slideLayouts/slideLayout5.xml" Id="R007f20eff47c4daf" /><Relationship Type="http://schemas.openxmlformats.org/officeDocument/2006/relationships/slideLayout" Target="/ppt/slideLayouts/slideLayout6.xml" Id="Rc2497753e32649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8f01881f574172"/>
    <p:sldLayoutId xmlns:r="http://schemas.openxmlformats.org/officeDocument/2006/relationships" id="2147483650" r:id="R5902d6b4246c426c"/>
    <p:sldLayoutId xmlns:r="http://schemas.openxmlformats.org/officeDocument/2006/relationships" id="2147483651" r:id="R4ebb596d5bb44293"/>
    <p:sldLayoutId xmlns:r="http://schemas.openxmlformats.org/officeDocument/2006/relationships" id="2147483652" r:id="Rb5fdd18f01364a88"/>
    <p:sldLayoutId xmlns:r="http://schemas.openxmlformats.org/officeDocument/2006/relationships" id="2147483653" r:id="R007f20eff47c4daf"/>
    <p:sldLayoutId xmlns:r="http://schemas.openxmlformats.org/officeDocument/2006/relationships" id="2147483654" r:id="Rc2497753e32649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9316e28ce4d55" /><Relationship Type="http://schemas.openxmlformats.org/officeDocument/2006/relationships/notesSlide" Target="/ppt/notesSlides/notesSlide1.xml" Id="R916a16f0b1ab42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750616317f438a" /><Relationship Type="http://schemas.openxmlformats.org/officeDocument/2006/relationships/notesSlide" Target="/ppt/notesSlides/notesSlide2.xml" Id="Ra049d97bb19b4e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6c577d112943d2" /><Relationship Type="http://schemas.openxmlformats.org/officeDocument/2006/relationships/notesSlide" Target="/ppt/notesSlides/notesSlide3.xml" Id="Rbe65240643924e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301cac8ee4aa2" /><Relationship Type="http://schemas.openxmlformats.org/officeDocument/2006/relationships/notesSlide" Target="/ppt/notesSlides/notesSlide4.xml" Id="R81e668c57dd74b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78d7b15de64b39" /><Relationship Type="http://schemas.openxmlformats.org/officeDocument/2006/relationships/notesSlide" Target="/ppt/notesSlides/notesSlide5.xml" Id="R5bf3b959b4304c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bac2de411649b8" /><Relationship Type="http://schemas.openxmlformats.org/officeDocument/2006/relationships/notesSlide" Target="/ppt/notesSlides/notesSlide6.xml" Id="Rdac2f85a335946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a0c10cc2ab409e" /><Relationship Type="http://schemas.openxmlformats.org/officeDocument/2006/relationships/notesSlide" Target="/ppt/notesSlides/notesSlide7.xml" Id="R427404ca57274c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6b76140df9409b" /><Relationship Type="http://schemas.openxmlformats.org/officeDocument/2006/relationships/notesSlide" Target="/ppt/notesSlides/notesSlide8.xml" Id="Rd54e3b5350a54d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1ea3458ed4632" /><Relationship Type="http://schemas.openxmlformats.org/officeDocument/2006/relationships/notesSlide" Target="/ppt/notesSlides/notesSlide9.xml" Id="R79e85fcdd92843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3230732b15446f" /><Relationship Type="http://schemas.openxmlformats.org/officeDocument/2006/relationships/notesSlide" Target="/ppt/notesSlides/notesSlide10.xml" Id="R019d8ccee79d44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9920b0d32e4aa3" /><Relationship Type="http://schemas.openxmlformats.org/officeDocument/2006/relationships/notesSlide" Target="/ppt/notesSlides/notesSlide11.xml" Id="R34bdc8c4337441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85def72a448ff" /><Relationship Type="http://schemas.openxmlformats.org/officeDocument/2006/relationships/notesSlide" Target="/ppt/notesSlides/notesSlide12.xml" Id="R76c3579a89c14f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9093c1ae94c32" /><Relationship Type="http://schemas.openxmlformats.org/officeDocument/2006/relationships/notesSlide" Target="/ppt/notesSlides/notesSlide13.xml" Id="Raababdf1535641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a400401b94621" /><Relationship Type="http://schemas.openxmlformats.org/officeDocument/2006/relationships/notesSlide" Target="/ppt/notesSlides/notesSlide14.xml" Id="R04c73c7f50f948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11e6d5fd264ea0" /><Relationship Type="http://schemas.openxmlformats.org/officeDocument/2006/relationships/notesSlide" Target="/ppt/notesSlides/notesSlide15.xml" Id="Ra0a23fb049d548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ee4edd044e47ff" /><Relationship Type="http://schemas.openxmlformats.org/officeDocument/2006/relationships/notesSlide" Target="/ppt/notesSlides/notesSlide16.xml" Id="R92b3e16cdbfb4c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5ae03305b7470d" /><Relationship Type="http://schemas.openxmlformats.org/officeDocument/2006/relationships/notesSlide" Target="/ppt/notesSlides/notesSlide17.xml" Id="R842931eff2794f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887b3d5164d0f" /><Relationship Type="http://schemas.openxmlformats.org/officeDocument/2006/relationships/notesSlide" Target="/ppt/notesSlides/notesSlide18.xml" Id="R702ce75646ad475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4a85f20f004700" /><Relationship Type="http://schemas.openxmlformats.org/officeDocument/2006/relationships/notesSlide" Target="/ppt/notesSlides/notesSlide19.xml" Id="Rdb14b4ff354340b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d3201280ab4ea2" /><Relationship Type="http://schemas.openxmlformats.org/officeDocument/2006/relationships/notesSlide" Target="/ppt/notesSlides/notesSlide20.xml" Id="R3c82079733eb418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709327de7459e" /><Relationship Type="http://schemas.openxmlformats.org/officeDocument/2006/relationships/notesSlide" Target="/ppt/notesSlides/notesSlide21.xml" Id="R40d5204c3d614a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677880a074458b" /><Relationship Type="http://schemas.openxmlformats.org/officeDocument/2006/relationships/notesSlide" Target="/ppt/notesSlides/notesSlide22.xml" Id="Ra7ac6aa0a2d5417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f076989184609" /><Relationship Type="http://schemas.openxmlformats.org/officeDocument/2006/relationships/notesSlide" Target="/ppt/notesSlides/notesSlide23.xml" Id="R0f448289043a4cd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c761581ee44a9a" /><Relationship Type="http://schemas.openxmlformats.org/officeDocument/2006/relationships/notesSlide" Target="/ppt/notesSlides/notesSlide24.xml" Id="R6134cc75da2a445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a309c14eb24c4f" /><Relationship Type="http://schemas.openxmlformats.org/officeDocument/2006/relationships/image" Target="/ppt/media/image.png" Id="Ree7f5fe83a6b46d1" /><Relationship Type="http://schemas.openxmlformats.org/officeDocument/2006/relationships/notesSlide" Target="/ppt/notesSlides/notesSlide25.xml" Id="R02df37b13dea4f7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8c788e7cc045f0" /><Relationship Type="http://schemas.openxmlformats.org/officeDocument/2006/relationships/notesSlide" Target="/ppt/notesSlides/notesSlide26.xml" Id="Rb614bbaf67424e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44C65-390D-409C-B5CE-BB55E29A026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143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A3953-06EB-4E88-8F5D-235B58764A2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143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B3F26-C83B-483E-BCFF-9EEA097A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C5143-8F53-4D32-B1D6-F4ABA4E1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基金申报与Grant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29DA0-6BCD-445D-9954-8E5D2195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64289-96C3-4197-9A2E-80EF4F56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申请书需要把值得研究的问题、可信的方案和申请人的工作积累连起来。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869D0-76EE-49E6-861D-9C38C509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为什么值得研究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6D524-DE75-406B-9FBA-FF023B23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准备怎样研究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A4AD2-FD28-4BBC-99A3-64E69A33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14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凭什么能完成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6E790-7024-4383-9329-ACF5F636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已有证据和仍未知的问题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86E38-C9D1-419D-8F0C-A703124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可检验的方案与预期认识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1ECA4-AFDC-41CE-8E85-529D7C18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4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真实前期工作和实施条件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A323F-4FE3-41FF-9177-0C001FAB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本节贯穿示例：分步提示与大学生独立解题。后半节查看实际本地文件流程。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6EBA0-508C-4A85-A951-17BB92D1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研究设计、文件生成与正式申报，分别核对依据和状态。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32BEE-ADC7-45AD-A918-737B7B34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2026原始课件；国自然2026申请书改版说明；课程教学模拟，未实施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4CC46-FAB6-4726-9C59-3137A7E4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7884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49D7C-4CFD-4292-BAC2-6D302841049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381500" y="4976813"/>
            <a:ext cx="19050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F1E74-428A-48B8-BA04-4A44E43949F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81500" y="4976813"/>
            <a:ext cx="19050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E8B33-1A50-4565-9D19-F7412220834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381500" y="3548063"/>
            <a:ext cx="19050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522CD-B2BF-4764-9C3E-7814C770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C681A-804E-48DB-9CE1-A94B25EE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不同资助项目的要求来源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4DD40-75ED-4D61-8A16-D0FC4485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C3F77-6FB7-46FF-B1BD-C0E3D319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同一个研究设想，必须按所申报项目的当期指南重新检查。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E34B4-F5CF-48B9-89F4-E8BEAFC8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619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拟开展的研究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96D89-D28E-45B7-8003-E300F6A2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国家自然科学基金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57CDC-6198-4926-87F1-0ED28C04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核对项目类型、研究属性与当年申请要求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2600E-7502-40C1-B24C-468A9A70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省部级及地方项目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6E39C-4FFD-49FA-AAAD-E436C1C8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1962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回到对应部门当期指南，逐条核对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DBC5F-0350-4BA3-B4F2-883B3ABD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96000"/>
            <a:ext cx="400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校内与其他资助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6D4C6-45E3-419D-81D1-5BB5A6E6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960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以发布方文件和正式模板为准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74DE4-9F3C-4E7D-ACCC-B9A2AAAB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研究主题相似，不能据此沿用另一项目的资格、预算或期限。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402BB-4399-4814-AD1B-6EED0751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E21E5D-0090-4080-8B28-BC0A37AD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19916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3E689-EB63-40AF-AAF1-F7720AD5ADFE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714625" y="54578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0D600-154B-4066-ABF3-C734D7E5E2F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714625" y="40481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F3BF3-08CF-425F-8C88-6E5E848D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4261B-09B7-4F9E-BD88-EE4C969C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2026年国自然正文结构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6C697-2FF0-4484-BD08-5017D6A4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25D09-F366-42F0-ADC4-3DAAFDE6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面上项目与青年科学基金项目（C类）的正文调整为三个部分。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A9658-9791-43C2-A0F8-D0DC136D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B7DCE-53CA-463E-ACAD-6C98B942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为什么开展这项研究？研究价值是什么？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BB985-F451-486B-83FC-A6E26B87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C364F-1835-4706-BA79-B8F5DB66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按研究逻辑安排工作，说明怎样回答问题。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9B75B-C120-45D6-89E2-986A15E5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55D31-FB70-4090-82A2-4A656CD6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05525"/>
            <a:ext cx="828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展示前期积累及其与本项目的关系。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C4F7D-C2EA-460B-88B1-F18EAB2B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正文原则上不超过30页，适用于面上项目与青年科学基金项目（C类）。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780EE-EB76-4BC1-BEC7-670B0150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正式填写须从科学基金网络信息系统下载当年最新版。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6C22D-B677-43A5-93F8-CC41F311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来源：国自然2026申请书改版说明；国自然2026申请通告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CA62B-9187-4203-8792-8A368BC1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154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9BC46-77A4-49BC-B6B9-1057D5E3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12A8F-BD4F-4A9C-BD7D-56A12CC3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国自然申请中的AI使用要求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F5AB0-AA5D-4927-A308-5C191EED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1819D-06BB-4FAA-A6F9-3C5A130D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AI参与资料整理时，申请人仍须核实信息、声明使用情况并按规定标识。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3FC9D-D528-4FC0-8EDE-E0C86E63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资料与引用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AA7F7-EE55-494D-A48A-7848ABC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AI辅助跟踪动态、整理文献时，申请人逐项核实信息与文献真实性、准确性。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34BC0-577D-423F-8DCE-A84221E9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6A8BE-AEF6-45F9-9C2B-E6E02E33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使用情况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DA32C-1C2C-4137-8701-DD0A638B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全面如实声明AI使用情况，并按规定对相关内容作出标识。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EF6E7-E725-43FA-B2E8-C854E849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C4616-C55D-4981-8869-F00C0E41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申请书正文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1AD08-D544-4195-AD62-CC27D2C6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不得使用生成式AI直接生成的申请书，也不得使用未经核实的生成内容。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08E17-771A-4B86-9A42-08DF7192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7EADC-EB84-4B92-AFB0-75A25D4E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本节AI协助编写的研究设计和Word仅作教学演示，不作国自然申请书使用。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8789E-730E-4F27-8A78-ADA03C86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2B840-C7DB-44AD-B6B1-D8002ACC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1959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50835-93DF-44FD-8437-4A137407574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4D5FB-00FF-4109-BFB5-92637FD854A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60FA6-C6CF-4AFE-A877-315870937C6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BE0231-6291-42E6-BBBC-4D5AEB32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D9706-8A45-437E-BCDA-0E4370CC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指南要求与申请书位置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A71BA-143C-445E-B33E-307BF66F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82459-C626-4413-9944-16276517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每条要求都要对应材料、正文位置和仍需补齐的事项。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8794E-9960-4FBC-848E-43381D31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官方原文与条款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EAD11-712C-4A36-9590-B53AAB78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提取具体要求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41663-1EA8-4CE4-8C05-694E4414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对应材料和位置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C63FD-5C88-492B-A0CC-9CF23571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列明缺口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A64D8-3C8E-4249-8C4A-11CE1629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保存文件日期和来源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6D2A4-8F2A-4866-8F96-44E3796C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区别正文结构、资格与附件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A293F-684B-4626-BE9B-E5537968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哪些事实由谁提供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21D25-A3B3-4B1C-8C88-64EB7767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未取得或未核实的事项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1FB22-C607-4CDE-BC4F-8898869D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示例：最新版模板 → 从系统下载 → 保留原件 → 核对章节和最终排版。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DA90F-69DA-4FE6-AFE3-BDBDEDB3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本节另有自编guide.json，只控制课堂文件演示，不能替代官方指南。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1F15F-A5A0-4804-B503-DABEA09E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公开要求的提取记录，与本地模拟指南分别保存。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FB74E-BEA0-4E32-9978-B6CB34E0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来源：国自然2026申请书改版说明；国自然2026申请通告；课程教学模拟，未实施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4E260-A8D6-4EC1-ACBB-445EF30B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26554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69C00-057A-4F12-97E1-7C4379A8D32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62500" y="4953000"/>
            <a:ext cx="200025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1F20D-0CED-44A2-B8B4-AD2905D0E1F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762500" y="4953000"/>
            <a:ext cx="200025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992DB-4669-45B4-8368-8A8AD65EA34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762500" y="3548063"/>
            <a:ext cx="2000250" cy="1404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E3678-9A35-4ACF-8A61-AE043E90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0BF60-3558-46B4-9A43-66C359E5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申报前的材料盘点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D6183-439F-4F47-BDCD-6C9B8204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DEF60-8BF4-45DC-B2EC-54164975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已有文献、研究者工作和拟开展的研究，需要分别登记。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DB9B3-1C60-4ED6-806B-1867952C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材料登记与用途核对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17375-A909-451D-949A-59066313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公开文献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32C55-28A4-4171-BC65-47AF43C3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4325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支持研究现状与方法选择，注明阅读范围。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5D311-C844-417B-8A09-95FE07FC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9625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申请人已有工作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1BEA9-80A4-46F5-81EB-9397D096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19625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核对论文贡献、数据记录与相关工作积累。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C3E0A-1ADB-4D86-9B04-B64EDF97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096000"/>
            <a:ext cx="3619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拟开展研究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BDE111-F4CE-40A8-8DD0-38142AEF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960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写明研究设想、待办条件和未验证关系。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B49D4-73EE-4CBB-BD07-B3B7273C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缺少材料时，保留问题及其影响，不用通用措辞补成团队成果。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33B80-1970-4A52-B371-CDEB211D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CF705-D7E0-4F24-837C-F4EE2D39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66049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4CB5D-830F-48B7-8D01-F8D250025936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5334000"/>
            <a:ext cx="409575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80476-CCCC-406A-ACCA-32ADFC7ACC43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524250" y="5334000"/>
            <a:ext cx="409575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AAED9-1577-4871-A888-12AAF1D3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83E88-313A-4F6C-90E8-FBE2C1A3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贯穿示例与待回答的问题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2C5DB-5D19-4757-8B72-DC3B99AD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898D3-DFE5-4C9E-964B-82CDFF22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分步提示是否影响大学生离开AI后的独立解题表现？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0EE1A-FCE6-4A94-9557-8623146C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同一门大学入门统计课程，同一模型、题目与练习时间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FF0BE-BECF-4493-8365-0F6A3FF7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552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允许直接获得解答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62D9D-3041-4EF6-AB88-71429E6E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5524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先展示思路，再给下一步线索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BA84B-F065-4AAA-8CBD-6B291BCD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667500"/>
            <a:ext cx="762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主要观察：一周后无AI新题的独立作答表现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100A3-18D5-4573-B4FE-45AEAD0B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课程自编研究设想，尚未实施，也未证明适合某个基金类别。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DB80C-9EC5-4731-97BF-82301A20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DF789-C204-4C0B-AF7A-CDE37FBA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221315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2F32A-15B8-4CC6-939C-D386C6E9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14AE3-36A3-4D99-8F1F-9746A759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立项依据中的文献与本例问题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D1754-07F8-4271-9AEC-BCA692A7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4BA52-4596-4974-90E3-14D7E519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已有研究的对象、干预和测量，可以帮助限定本例准备追问的内容。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CEE54-9D3D-464A-B26B-BFEDBDD5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公开研究：高中数学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99A6A-3D7D-4605-9738-F0E03821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Bastani等（PNAS，2025）比较不同AI辅导条件，并另设无辅助测验。研究设计把工具使用阶段与独立作答阶段分别观察。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4B888-D8C1-4592-B0DC-243047F9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本例拟追问：大学统计课程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01F1B-E09A-436F-9179-C9C5AE1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在相同模型和任务下，先写思路再获得分步提示，是否改变独立解题表现？需继续检索同类研究，判断具体差异。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9C0C5-BF2F-4BD8-9DEB-1FEEF445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81152-7261-41D2-85D5-16ADC2C9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高中研究的设计启发可以借鉴；大学场景中的效果与创新性仍需证据。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463DF-23B0-4800-B845-169930A5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真实文献提供背景。本例的大学情境和提示比较仍是待验证设想。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316C5-2DD1-4727-9EDB-484AF61D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来源：Bastani等2025研究设计；本例另拟；课程教学模拟，未实施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5582D-C1D9-40AD-8A0A-0F32DB2A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02053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37B3B-7B82-42EE-AAA7-7FCD62942132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476500" y="545782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78DA7-146D-4D39-85B1-3FA4E95687ED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76500" y="39528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3F747-4201-4055-8975-E476C87B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27193-BA5E-4ED0-AF6D-9BE9A65B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科学问题、目标与研究内容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52AF2-F82F-4E8A-9B4D-FE703525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3790B-85BE-4AC8-847A-C2556F38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问题说明未知关系，目标说明准备弄清什么，研究内容安排取得证据的工作。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96AF1-CAC3-4B98-A74E-527064FF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FF4F5-8209-40F8-9E61-C25206C8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D17F7-3063-46E3-BBBF-8FF3999E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342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DC633-05B1-4B1A-9074-4696D5C8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提示方式与离开AI后的独立解题，有怎样的关系？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7CB09-7574-4E03-AA15-B1A630A0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比较两种条件下的独立测验表现，检查作答过程。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F5623-AD1C-41C5-B27F-39954DD8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4840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预试题目和评分，实施比较，记录过程，联合解释。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D8D30-B019-4817-A123-6D2923EB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概念用于组织思路，正文按研究自身逻辑展开。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63514-0909-459B-8144-0C51C10C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来源：国自然2026申请书改版说明；课程教学模拟，未实施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8BE13-925E-4831-B5DC-A83AC511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45409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925D8-3684-4D22-B354-09FA7F67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06E3F-4B70-4A47-8F74-9FAC80B3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研究内容与可检验结果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0F2A5-7B91-4A03-8054-046DDCD6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C4C33-A510-4356-A96C-D2037E57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每项研究内容需要说明观察什么、怎样判断，以及得不到预期结果时仍能回答什么。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E3A0D-FC9E-41E0-B50A-DF97B555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题目与评分预试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D88E4-1CFC-4141-969C-86F59BC2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检查题目难度与评分规则，形成可复查的材料和修订记录。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7DF1B-BC89-4FEE-B8DF-FCB43FC8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D08B5-C4E8-4046-ABBA-28CA1E25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辅导条件比较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44BA8-BAD4-45B9-B48F-B233C088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统一测量，记录两组过程及无AI新题成绩，报告差异与不确定性。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A9204-7F4F-4F4E-8474-24F32B59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1B152-1488-40D4-97B3-9905014F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过程与结果解释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3C141-3612-4322-991E-BD4FB037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比较尝试、求助和修正记录。未出现预期差异时，也如实分析设计与适用范围。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11F2A-18A6-4B69-8D1B-6F1C4025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0677C-1E9E-42BE-9CAB-D9F08CDC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研究计划中的产物是预期安排，不能写成已经取得的结果。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1DBF4-5DC8-4B13-9245-50E7EFF6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7CC18-55E2-4DF9-BDCB-88A7DDFC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631881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A13CD-B134-4EB7-BC85-6144B484E53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43975-93D2-4EE9-BF7E-12E1785EF88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F1A16-14C2-4B00-9105-7C281BA2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C8DCA-0615-4EE7-95E2-A49891CC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研究假说与其他可能解释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434AE-0B88-4C8C-A16B-B8AAE278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D47CB-05EB-49CF-B5DB-E90E58F1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提示方式、独立尝试与后续测验之间的关系，需要通过设计和数据检验。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AF480-2AB8-4C9A-981E-0FDC9413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6C01C-EBD3-49FB-9CE9-754E4D10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独立尝试与修正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B824A-EE83-428D-AE17-C939DCCF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无AI新题表现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F41A6-B816-47F6-97F0-13C2D0DF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记录实际提供的提示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6BA99-6B6A-4CC2-9C4A-EA02B4B7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保留步骤和修改过程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39D9F-B8C4-4B8A-85B6-05A3E9D8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91125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采用统一测验与评分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9B86E-C852-43E3-AD64-44C76CAE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其他可能解释：既有水平、学习投入、题目难度、教师实施及组间交流。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4004E-E25D-4F14-AAA1-5821808C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虚线为待检验关系；既有水平和实施差异等因素需另行考虑。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51F5D-34D1-4742-B745-6AA6EEBB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56D3D-45B9-4757-B8E8-23E1C1D4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41316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42DD5-F0A1-4E9F-8DD7-0DFD56EF150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0001250" y="5000625"/>
            <a:ext cx="133350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5FD88-5EFF-470A-AD3F-4818D33B5A7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01250" y="3667125"/>
            <a:ext cx="1333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E968A-8EC2-44B3-9F24-602DFE758C3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76750" y="4929188"/>
            <a:ext cx="1714500" cy="1690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51F13-2374-42F9-BC43-5E71F435453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476750" y="3667125"/>
            <a:ext cx="1714500" cy="1262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CA2B1-149B-40B9-8EA3-FC0F4FA1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7748B-0129-4843-BABF-93320146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比较设计与测量安排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45A3B-B578-4062-87F3-BF9FEE91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7A9FB-D202-4AD3-9439-1BA42414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两组使用同一模型、题目和练习时长，一周后按统一规则评价无AI新题作答。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04FF8-29B4-4502-BA75-BDA3A541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核对准入与分配方案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9A797-5294-4E99-A34F-7D2689F6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3DEBC-EB3D-4EA7-93D6-064F3ADE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C5E40-2D5C-4497-B586-B4AF35BE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76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A30E1-21E6-4581-B172-D15F8320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保留实际求助与作答记录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8D4BA-81C4-45D2-A545-41E47EA2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913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评分规则与分析方案预先确定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A8771-50EF-4867-85C3-39B63E83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研究设计教学示意。样本量、分配方式、伦理与授权仍待核定。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6312F-228D-4ADD-8AED-9D469143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7CBD8D-4966-4A47-9D10-214AAAC7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210236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83FAB-7226-42FB-81C3-D26C1F5C0A3B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2858750" y="5715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C59C0-C77E-4895-8CA2-52A268C7CF3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620250" y="5191125"/>
            <a:ext cx="1619250" cy="2143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2AFB6-C0FD-4775-862E-A3E4BF7F5A8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20250" y="4833938"/>
            <a:ext cx="1619250" cy="357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B64A6-FC1C-43D6-BF17-2FA52D128A9E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715250" y="6715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28FD1-F4E9-48B1-BEE7-AD26ACD4E9F8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715250" y="41433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D1F00-32CC-4742-9715-FA8FD9452AA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5238750"/>
            <a:ext cx="1714500" cy="1071563"/>
          </a:xfrm>
          <a:prstGeom xmlns:a="http://schemas.openxmlformats.org/drawingml/2006/main" prst="bentConnector3">
            <a:avLst>
              <a:gd name="adj1" fmla="val 86667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04002-A284-4B94-A106-A2088AE51E6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38563"/>
            <a:ext cx="1714500" cy="1500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5470D-B501-465B-AC8A-007884E00FF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28875" y="40481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060D6-B2E7-4EAF-9FAC-7AF0928E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ED9EB-D102-4038-9756-9CC7124A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比较实施与一周后测量的技术路线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58357-E594-45C9-B292-7211920F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EC292-0917-4711-9E4A-D562855E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两种条件分别保留过程记录，再用同一测量时点和评分规则比较。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17AC4-A236-4BDC-8A0E-1316E962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题目与评分规则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EE7E9-B54F-45E5-BF59-B055CA89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材料预试与分配安排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DFE14-93F4-4BDE-AB8F-67D38B5A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53DC5-C941-44D0-AAE3-713FD615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A6DEE-1F96-42C1-8E5B-432B640F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29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提示组过程记录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8E0B9-2DDD-46E2-8D82-137D19FF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00875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解答组过程记录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81331-3046-4619-9309-63CD0D42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672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一周后无AI新题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D48BB-C999-4547-98AA-BFCB9E59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6275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按预定方案比较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71966-8E84-4A00-ADF3-7AAB3485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用同一编号对应组别、过程与测验；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测量缺失和执行偏离单独登记。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990CF-CFDB-4604-86FD-92249AFD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教学拟议，未实施。预试、分配、测量质量及启动条件仍待核定。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B1950-B6E3-4119-8690-F7B619C4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30AD80-5BBF-452F-B522-2DD29FF2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039385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69B77-5E01-4273-B505-4E316559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0BA02-E677-49E4-95A1-B3ED592E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创新点的比较依据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DAE14-7B37-4581-98A4-F60371B9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744E1-03DC-4993-AACB-0B0C9679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创新论证需要明确：与哪些已有工作比较，增加了哪项可检验认识。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1C335-4243-4142-91E2-DF9CBBF1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已有工作覆盖什么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A4420-4332-41D3-A788-C3C2BEF8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不同AI辅导设计、练习阶段与无辅助测验，已有公开研究涉及。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C5B2D-A697-49EC-B681-E47ED2D0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3D215-D000-4EF0-8F4D-DB07F0D4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本例准备比较什么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5CDD8-EB74-43D1-93FE-C986FECE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大学统计课程中的具体提示方式，以及过程记录与独立表现的对应。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D6E63-72C9-442A-9F83-C8C7CEEF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BF487-DFCA-451F-8906-F7E6899F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创新论证仍需什么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F060D-7165-43E0-8CE5-DDB72B6F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检索相关大学研究，说明具体未解问题及其价值，再判断是否形成新认识。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E3EFC-D769-4993-96D9-E44303A1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A59C7-9F1D-4601-A522-18F12F04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当前只给出创新论证的比较方式，创新性仍待文献与专家核对。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BF5DF-0644-495A-926F-54C684DA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2026原始课件；Bastani等2025研究设计；本例另拟；课程教学模拟，未实施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633B1-6784-4FD1-AB3E-800D9EE9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706981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795C7-D18A-4A40-B15F-AB9AC05D3DB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000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84B5D-D947-4BF0-9083-1A88B4D9A3F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000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97D5B-FAF6-4FF2-A301-7D8CADBF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3CBFA-A849-4644-9A24-0D6CB685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研究基础与实施条件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57667-B4B3-4F84-8FF3-0472EEEE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C0F0F-3FD1-40C8-BA34-6F644FCC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申请人的已有工作，需要与本项目的关键任务逐项对应。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333AB-AF0A-40BC-B047-BE333D00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关键研究任务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CA7E0-A431-40EE-A983-8321C8E9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已有工作与贡献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57352-678F-4A81-ADAE-3F5917C3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7187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条件证明与缺口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B3DAF-7445-4335-B71B-18107292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例如题目设计、实施和分析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D247D-67E4-491D-8734-BB6197E0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提供相关论文、数据、工具及本人贡献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F02C0-2949-4F78-BC6B-6BDEABD5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05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核对准入、设备、合作和时间安排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15F5B-11F3-4719-A10B-2C1807FA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本例实际状态：没有申请人前期成果、课程准入证明或合作承诺。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9659A-3843-4861-A4A4-B41286D7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公开文献支持研究背景，申请人研究基础仍需真实材料。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A15B0-DC6E-4680-A055-6C19D85A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本例未提供申请人真实研究基础，不能据此判断具备申报条件。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50144-426F-4205-A8F4-24312FEE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F127B-881E-4CC3-A9AF-3994806C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74408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2E340-FCD7-4103-A735-BC17574A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AFA56-3023-4B7D-9DFC-715EC330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风险与替代方案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E34C8-F59B-4BF0-B035-02EEC8E0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6E8E3-9243-4A28-BF09-1D4D3D78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替代路径应说明触发条件、调整动作，以及调整后还能支持什么结论。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85D4B-3B6D-4873-9003-CD5373A4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提示规则不稳定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C3C9C-1397-446B-80D2-30F610AC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触发：预试未达到预定要求。动作：修订提示和材料，再做预试核对。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048EC-B18C-4CFB-850B-8D27E520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5CF0C-A4D1-45C1-A117-067CF98C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退出或记录缺失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87A9B-CC3E-493E-9DEC-B9B76CC7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记录发生原因，按预先方案处理，报告缺失及其对解释的影响。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74DD1-B35F-4A43-9C51-B6469BA8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792DC-98FD-4B0D-B007-96C92789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无法按计划分组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2BF0A-417D-4643-B33C-8AC19BFF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先评估调整目标与设计的可行性。改为观察性研究时，重新限定因果解释。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FE765-05C3-467C-8E6D-04AA943C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A76BD-2183-4A16-8785-3A3C436E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备用方案改变设计时，结论的适用范围也随之调整。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2CF6E-56F7-46A0-9175-54682D28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来源：NIH StrokeNet 2026原始课件；课程教学模拟，未实施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6395B-9628-456F-B67B-806803F3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896093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E11BE-D841-4592-8FF3-BBDAB0E462B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BAF32-CB15-494B-A511-1E0162472FB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D7AF6-12D6-4D87-B1AF-5AEDE35F7DD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77646-3A30-4916-8881-9CCA5312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1DEEF-5ABE-44E7-9117-ED8D0E6A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研究进度与任务依赖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55B30-246B-449D-A45A-BD41347D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AAA81-A16A-4352-BCF9-BD5F8BDE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时间安排要给材料核对、预试、实施和解释留出实际位置。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D2E44-AF46-43AA-B8B0-010E8A5F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1—3月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38255-985B-4ECA-9436-FD1E7E91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4—5月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ECBA5-A097-4B1D-8A2B-E5B5620C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6—9月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DEA7C-7BDA-4EE7-B320-6298BFDA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10—12月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0629A-E06E-4D13-B135-B2BF1BBE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文献、材料、伦理与授权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DB3E7-B695-4263-BB32-FFED8B26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题目、评分与规则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DAE43-5C79-461F-9A00-157494C5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实际辅导与独立测验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4A6321-08B7-4621-B2B1-1288962A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报告差异、限制与版本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89BB7-5A1F-4685-80FA-1103EEC0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材料与准入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AA1A8-A41C-4731-9B42-FC28E41D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预试与修订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99144-FD01-40EB-B23B-4C54F22C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实施与测量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55BFA-4144-4F0D-8209-3796D4F6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9531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分析与归档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19C84-6C1F-47C5-8DF2-94538BEB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进度依赖前置条件。伦理或预试未通过时，后续实施顺延并记录原因。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9212B-AB2B-46EA-945C-0AE67B30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12个月仅用于课程示例，不是2026国自然项目期限。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9F3B6-6EF3-42B9-93C5-5ECE5D19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46D58-6FDE-4EA7-BA35-959980BD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769830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86E6C-4898-429B-9375-898A715405B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45801-54E7-40B1-A25C-C8EA5062FC9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623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70882-F7A6-4AAC-8440-9422DD1E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6B259-750C-4770-AAA9-135C79C2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研究任务与经费依据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804E0-9ADE-42F1-B5E8-2F1B2B3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AA796-2EE7-4AFA-ABDD-327E34DE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先识别研究需要的资源，再按对应类别和单位要求说明成本。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57E6A-E6E9-4CEF-91FA-B6001433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DED22-50B1-4E1B-AD79-40284DA2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38617-514E-4B1E-BA04-45649071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337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费用依据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396C0-F1A7-48E1-B094-1D34FB6A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需要哪些人员、材料与计算条件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A62F8-189F-4585-A171-C66CA1C8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按实施次数、工作量与使用时长估算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5A03D-5162-4D87-A956-38281D7C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核对报价、费用归属和当期规定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8D8F1-4C6F-406A-A2FF-40069A68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2026国自然案例：青年A、B、C类等实行包干制，申请时无需编制预算；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其余项目按规定实行预算制，结合实际研究需要编报。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CE438-F43E-4F19-859A-7AD1E358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预算方式按所申报类别核对，不把示例测算当作官方额度。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F8515-6346-43BE-9CDF-97E15F9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2FDC4-9C43-42E5-A14A-6E4B8E6D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414699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00830-2ADD-4721-BE9A-36B38E2D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830A4-A885-45B7-8E0D-2ED74B64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摘要与正文的相互对应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FE179-DD5C-42FB-AF0C-4B2C0114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CAD6A-9E17-432E-997D-53558358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摘要集中说明具体问题、主要做法和准备获得的认识，信息与正文一致。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D867D-2DCC-4D83-9196-2546624E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完整段落示例：问题、做法与准备回答的内容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D2977-48F2-4654-B3C7-0356CE1A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71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拟比较大学入门统计课程中两种AI辅导方式与独立解题表现的关系。在模型、题目和练习时间一致的条件下，设置完整解答与分步提示条件，记录学习者的尝试、求助与修正过程，并在一周后使用无AI新题测验评价独立作答。结合过程记录与测验结果，判断两种条件的差异及其适用范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C88EE-FBE1-47D8-A9EE-306F2638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“拟比较”“设置”“评价”描述研究安排；这里没有承诺提升幅度或写入前期成果。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7AE02-C445-46BF-BF9A-93C17288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课程自编摘要示例，不是可直接提交的基金申请摘要。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D3E85-0C96-42B1-8796-108828FD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BE53B-368B-41BA-8F8D-7315B430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656272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A5185-3BDD-4893-AA3F-C549F27C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DE27C-C978-482D-9BF1-729217F1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申报材料中的Humanizer修订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EFC5D-8551-4A7F-B35B-22764CE9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9FB3B-C448-4F63-826B-4A96F9C6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空泛的研究意义可以改成具体问题、比较方式和可回答的范围。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4E653-EB45-46C6-98A9-E6D8F851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原句：故意设置问题的教学模拟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1BCC4-9BE7-4C9F-9D6D-59B20E91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本项目将构建国际领先的智能教学体系，全面揭示学习规律，大幅提升人才培养质量。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B971C-FCC4-414A-AD53-7BDBBE8F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8BBF9-94BF-4D2F-8828-1731675A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修订：具体到比较对象与测量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05EC6-E2FC-4FB7-B094-38BFF2CE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本例拟比较完整解答与分步提示两种辅导方式，用一周后无AI新题测验观察独立解题表现，并分析作答过程与结果的对应。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6F68F-95EA-4B7C-A6E7-B88F84DF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两段均为教学模拟；修订不增加任何前期成果或效果数字。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F9B8A-201E-41BA-A67A-B2821215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来源：课程教学模拟，未实施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9A48D-52CE-4203-B92B-3A3C87F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040189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784B4-C51A-479C-AC68-51179DD5D09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4FE1B-5080-4E5D-B96D-53740440F3F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A9261-D337-4E5A-9FD8-0627D964E0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57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E9550-D5D6-4B67-94E1-51478D16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7E458-ABE1-443B-9B36-76B656CB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Grant Agent的工作流与Harness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B0E50-C5BB-4565-9C5E-87938714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02460-9B82-4CDF-A31D-60C9974E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运行记录把输入版本、核对动作、输出文件和未解决问题连在一起。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FFA6D-2056-4EA3-9E9D-CFE1DCFB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指南与模板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9E8C5-1500-44A3-992D-066A0ADC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研究者材料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23A24-3F2B-4BE5-A806-CEAEF938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内容与路线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C9293-EABE-45B6-A2CC-148A1AA1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核对与Word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4FE8B-24A6-45CB-8097-C2733C31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保留原件，提取具体要求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D9ADF-634A-45C8-83C4-62EC9DE1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登记事实、来源与缺口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EFC20-3CAF-42B6-A45A-9AD14CC4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按研究逻辑组织段落和步骤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575BA-9BFC-4650-B654-A87722F5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逐项检查并保留版本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00192-9083-49B9-ABFD-69FEA64A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C1C49-C4F3-4E38-B836-9A2B9EA7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Harness：保存输入版本、步骤状态、来源定位与失败原因的运行规则。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7375C-2A58-4A2D-8176-D6774345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框架图说明整体工作。本次本地执行范围在后页单独列出。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3BB3E-CE8A-4A58-8AC6-54C40E64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3A05D9-A44C-49E8-A851-C1878FA4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856103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256B1-84D3-4093-9CEA-166C9FD8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8F607-C78C-411F-9378-794B0335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要求、章节与产物的实际映射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4C6A9-62F4-4A3C-A102-364715CB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EE84F-C96D-4D14-BECC-D1F1EE61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教学指南中的每条要求，都能在映射文件中找到目标、产物和检查方式。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43AC0-BA59-4C0C-8816-C4A2FD2AE8E0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095750"/>
                <a:gridCol w="638175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模拟要求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对应研究目标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实际产物与检查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T1 问题与假说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 明确待检验关系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问题说明与过程记录；检查变量对应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T2 比较与测量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 形成测量方案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分组、测验与分析安排；保留待核定事项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T3 来源与缺口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G3 保留事实状态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来源账本与Word；检查定位和问题清单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246A3-E91D-4F41-BAC8-FEA42D6A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TEACH-SECTION10-01为课程模拟指南；映射检查不等于科学评审。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A7744-257C-49CE-A149-94C60A16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9A1FE-8C5C-40C0-8118-9D2FB5E1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085445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902EF-806B-4E77-A5D8-AF9A9D4780B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86DD5-DFBA-43B9-8E8F-72C58F999CC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58FAC-29F5-4027-831D-61716ECAFD7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62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7E4F5-13E0-4592-842D-F6A17449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39ABE-0011-458C-AE0A-6C1D555B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本地执行记录与文件输出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A9800-5F84-49D7-B248-D4D3E436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1AF43-60CE-4EC6-A746-056C682E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本次实际读取JSON和Word模板，完成结构核对、填充并写出草稿。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76637-176A-467A-80CA-A8034064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891F4-6CC5-4665-9FEA-46C5F421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结构核对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4C965-5CCE-4DE1-951A-08198F23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填入与附图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EF84B-EAE6-4916-BFEB-B7397A22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33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草稿写出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B3318-713F-4D84-B60F-02EC0A60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guide.json / grant.json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D5CDF-0B24-4B24-ABDF-BB188945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检查章节、来源标识与映射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12816-3474-49CC-B571-AD2116F7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现成段落与两幅路线图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D77A0-0073-4003-BB25-D1EF034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Word、来源账本与问题清单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CBB04-2092-4109-B970-0117F1A7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实际状态：草稿已写出，仍待研究者核对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6008D-9FFF-4AF7-9127-4CF0771D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外部模型调用：无。科学有效性核验：未执行。输入、模板、指南与Word均可核对文件版本。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BE5FC-947B-4AF7-8716-E128BC52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真实本地运行，无外部模型调用；输入段落已由课程编写。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5D332-4411-4A8A-9BE0-275FA7F4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77DF0-8700-4270-885D-C2B39F56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383819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5A703-CAD8-4CFF-9EDB-9781DFBA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19976-39C9-4AF6-ADC0-E5348CA7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异常材料的实际拦截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CD94A-E60E-4982-A2CB-378BEAC1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BD53E-6E50-4B93-B9D5-9AD37879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指南章节不一致、未知来源、模板缺章和未经签核的最终导出，均有真实失败记录。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31C4C-46CA-40FB-AC4A-7C0F8AD8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指南与章节不一致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5098F-BEA0-4622-B384-B53A4ADA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检出章节名与指南不一致，停止写出Word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41B0F-0023-4099-9EFC-CB57A439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871AE-95F3-4089-A6B6-C3267A06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引用未登记来源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5E024-E07A-4876-8692-2C5694C8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38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来源标识未登记，停止写出Word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3BC60-6F8F-4B16-AD71-2EC06E3E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4AF79-63C4-4691-A7D6-AF30B735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模板缺少必需章节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23C2A-FA44-459D-B923-ED9F2BB7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未找到研究内容的填充位置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5C895-F48D-4A3B-81A3-469A41B2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3FDCF-25B2-4336-9F37-3329B532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未经签核请求最终导出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9712A-8E6A-4EBE-B67F-8E6020ED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2937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最终导出被拒绝，未生成正式稿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5DA45-A722-416A-A04F-22952D29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152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9A36F-A40D-4B68-B6D7-853DD34B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4项异常已实际触发拦截；覆盖范围以具体检查规则为限。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7DA83-0A40-48FA-A346-D23FE8F9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5C37F-9319-40CE-B80B-CE84C91B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83736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AA5D2-AA3C-4CD0-ABEB-7DA33C99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5C0DE-D045-478E-9665-CAA51ECB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生成后的Word及其使用范围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36591-E576-48B9-8164-D081E6DD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9070E-5E82-4D57-8F19-B90F38E1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Word包含研究段落、来源与未决问题，并附同一版本的技术路线和返工图。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8258A-205C-4605-9BF4-E9BB33D4B3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f5fe83a6b46d1"/>
          <a:stretch xmlns:a="http://schemas.openxmlformats.org/drawingml/2006/main"/>
        </p:blipFill>
        <p:spPr>
          <a:xfrm xmlns:a="http://schemas.openxmlformats.org/drawingml/2006/main">
            <a:off x="929770" y="3000375"/>
            <a:ext cx="3569710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9306F-07DA-446D-987D-51F3CD84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实际Word第一页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691B6-4BDC-4D46-97C9-3ACA316A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可编辑正文与独立记录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D20FB-E6BC-4BAA-8595-BE5FB22E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828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正文：立项依据、研究内容、研究基础。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附图：比较与后续测量、材料核对与返工。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来源和问题：登记材料位置，保留尚缺的基础、设计条件和创新依据。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B3CBB-C945-4171-94C6-2DC1D909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91375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模板为课程自编，非官方申请书模板。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084D5-9E8C-4130-8D23-7B6D730B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页面预览来自本地DOCX实际渲染；完整Word与来源账本随包保留。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F40F9-46C9-4D8F-83D3-C04FEE4B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来源：Section10实际本地文件记录；课程教学模拟，未实施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DECEE-FCB8-4FB5-8DFF-6DC844EB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014513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EC0D6-3C30-42BD-ACEB-652FC649A13B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7858125" y="4143375"/>
            <a:ext cx="390525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C6015-1C68-48AC-8CFC-BB26EDFC3C6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76625" y="4143375"/>
            <a:ext cx="438150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2E4F5-6733-414C-B5A2-A39F39F1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  基金申报与Grant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40021-D99F-4C16-9370-E0D4835E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提交前的完整性与研究者判断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60059-DF1D-454C-B5B8-5C2960A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4F62B-A05F-4F47-AA3F-70708880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正式申报要核对当年要求、真实研究材料和最终排版，再由申请人与单位履行职责。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F2710-9918-4CB0-B837-1BF55717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当年官方要求与模板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E0C59-1BA5-4E8B-A09D-5D1561B3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真实材料与研究者论证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10AF2-8CDC-49F7-A7A7-799515CB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19750"/>
            <a:ext cx="809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核对事实、引用、贡献、伦理与使用声明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1ACB5-E229-431F-B79F-5C0A789F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申请人与单位按职责核对最终版本，按正式系统流程提交。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3343A-0AB7-4B54-B6CA-69F11414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下一节：专利挖掘与技术交底。本节产物仍为教学材料。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EB5AD-86F3-46BD-A52D-20BD86A5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来源：国自然2026申请通告；课程教学模拟，未实施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AF114-0DAE-4AD0-9259-9A8C8601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024296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2026-10-19T13:44:53.3840000Z</dcterms:created>
  <dcterms:modified xsi:type="dcterms:W3CDTF">2026-10-19T13:44:53.3840000Z</dcterms:modified>
</coreProperties>
</file>