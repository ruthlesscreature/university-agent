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b0bcab10324d56" /><Relationship Type="http://schemas.openxmlformats.org/officeDocument/2006/relationships/extended-properties" Target="/docProps/app.xml" Id="R90209d61c51e43c1" /><Relationship Type="http://schemas.openxmlformats.org/officeDocument/2006/relationships/officeDocument" Target="/ppt/presentation.xml" Id="Rd8a87b4765ef4e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54eceef0e84490"/>
  </p:sldMasterIdLst>
  <p:notesMasterIdLst>
    <p:notesMasterId xmlns:r="http://schemas.openxmlformats.org/officeDocument/2006/relationships" r:id="Ra827b1f86390469b"/>
  </p:notesMasterIdLst>
  <p:sldIdLst>
    <p:sldId xmlns:r="http://schemas.openxmlformats.org/officeDocument/2006/relationships" id="256" r:id="R07b3af48956d4db7"/>
    <p:sldId xmlns:r="http://schemas.openxmlformats.org/officeDocument/2006/relationships" id="257" r:id="R4960c528401d4153"/>
    <p:sldId xmlns:r="http://schemas.openxmlformats.org/officeDocument/2006/relationships" id="258" r:id="R668bb27872664770"/>
    <p:sldId xmlns:r="http://schemas.openxmlformats.org/officeDocument/2006/relationships" id="259" r:id="R117de9f3afca4fd2"/>
    <p:sldId xmlns:r="http://schemas.openxmlformats.org/officeDocument/2006/relationships" id="260" r:id="R0d411badbb454c42"/>
    <p:sldId xmlns:r="http://schemas.openxmlformats.org/officeDocument/2006/relationships" id="261" r:id="R421ca1b7e25d42cf"/>
    <p:sldId xmlns:r="http://schemas.openxmlformats.org/officeDocument/2006/relationships" id="262" r:id="R4cd416effcef47ed"/>
    <p:sldId xmlns:r="http://schemas.openxmlformats.org/officeDocument/2006/relationships" id="263" r:id="Rb1cc71dd3efc4661"/>
    <p:sldId xmlns:r="http://schemas.openxmlformats.org/officeDocument/2006/relationships" id="264" r:id="Rcf44b3f219d04c5b"/>
    <p:sldId xmlns:r="http://schemas.openxmlformats.org/officeDocument/2006/relationships" id="265" r:id="Re38676644caa4c2b"/>
    <p:sldId xmlns:r="http://schemas.openxmlformats.org/officeDocument/2006/relationships" id="266" r:id="Rc58ac8d03ac540b7"/>
    <p:sldId xmlns:r="http://schemas.openxmlformats.org/officeDocument/2006/relationships" id="267" r:id="R1929378f57fd43ce"/>
    <p:sldId xmlns:r="http://schemas.openxmlformats.org/officeDocument/2006/relationships" id="268" r:id="R4b3c92aad6444410"/>
    <p:sldId xmlns:r="http://schemas.openxmlformats.org/officeDocument/2006/relationships" id="269" r:id="R7728ae7bb9aa475f"/>
    <p:sldId xmlns:r="http://schemas.openxmlformats.org/officeDocument/2006/relationships" id="270" r:id="R7bcfa654afbd46d6"/>
    <p:sldId xmlns:r="http://schemas.openxmlformats.org/officeDocument/2006/relationships" id="271" r:id="R699ee64604574b93"/>
    <p:sldId xmlns:r="http://schemas.openxmlformats.org/officeDocument/2006/relationships" id="272" r:id="Rf494556e061445d7"/>
    <p:sldId xmlns:r="http://schemas.openxmlformats.org/officeDocument/2006/relationships" id="273" r:id="R7ca1b007d5824b73"/>
    <p:sldId xmlns:r="http://schemas.openxmlformats.org/officeDocument/2006/relationships" id="274" r:id="R5f51526e30f44eb1"/>
    <p:sldId xmlns:r="http://schemas.openxmlformats.org/officeDocument/2006/relationships" id="275" r:id="R781b9b0f2c994088"/>
    <p:sldId xmlns:r="http://schemas.openxmlformats.org/officeDocument/2006/relationships" id="276" r:id="Re6f17643e5724eb9"/>
    <p:sldId xmlns:r="http://schemas.openxmlformats.org/officeDocument/2006/relationships" id="277" r:id="R0c6e39552f8d42df"/>
    <p:sldId xmlns:r="http://schemas.openxmlformats.org/officeDocument/2006/relationships" id="278" r:id="Rc6ba2979739e419b"/>
    <p:sldId xmlns:r="http://schemas.openxmlformats.org/officeDocument/2006/relationships" id="279" r:id="R489addffeb4f489b"/>
    <p:sldId xmlns:r="http://schemas.openxmlformats.org/officeDocument/2006/relationships" id="280" r:id="Rf10bf5310a39486a"/>
    <p:sldId xmlns:r="http://schemas.openxmlformats.org/officeDocument/2006/relationships" id="281" r:id="Rfd48be6a5232494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d9189b8eb437f" /><Relationship Type="http://schemas.openxmlformats.org/officeDocument/2006/relationships/slideMaster" Target="/ppt/slideMasters/slideMaster1.xml" Id="R2854eceef0e84490" /><Relationship Type="http://schemas.openxmlformats.org/officeDocument/2006/relationships/notesMaster" Target="/ppt/notesMasters/notesMaster1.xml" Id="Ra827b1f86390469b" /><Relationship Type="http://schemas.openxmlformats.org/officeDocument/2006/relationships/presProps" Target="/ppt/presProps.xml" Id="R2f78e682d5194bfc" /><Relationship Type="http://schemas.openxmlformats.org/officeDocument/2006/relationships/tableStyles" Target="/ppt/tableStyles.xml" Id="R51c71f42dcea40a4" /><Relationship Type="http://schemas.openxmlformats.org/officeDocument/2006/relationships/slide" Target="/ppt/slides/slide1.xml" Id="R07b3af48956d4db7" /><Relationship Type="http://schemas.openxmlformats.org/officeDocument/2006/relationships/slide" Target="/ppt/slides/slide2.xml" Id="R4960c528401d4153" /><Relationship Type="http://schemas.openxmlformats.org/officeDocument/2006/relationships/slide" Target="/ppt/slides/slide3.xml" Id="R668bb27872664770" /><Relationship Type="http://schemas.openxmlformats.org/officeDocument/2006/relationships/slide" Target="/ppt/slides/slide4.xml" Id="R117de9f3afca4fd2" /><Relationship Type="http://schemas.openxmlformats.org/officeDocument/2006/relationships/slide" Target="/ppt/slides/slide5.xml" Id="R0d411badbb454c42" /><Relationship Type="http://schemas.openxmlformats.org/officeDocument/2006/relationships/slide" Target="/ppt/slides/slide6.xml" Id="R421ca1b7e25d42cf" /><Relationship Type="http://schemas.openxmlformats.org/officeDocument/2006/relationships/slide" Target="/ppt/slides/slide7.xml" Id="R4cd416effcef47ed" /><Relationship Type="http://schemas.openxmlformats.org/officeDocument/2006/relationships/slide" Target="/ppt/slides/slide8.xml" Id="Rb1cc71dd3efc4661" /><Relationship Type="http://schemas.openxmlformats.org/officeDocument/2006/relationships/slide" Target="/ppt/slides/slide9.xml" Id="Rcf44b3f219d04c5b" /><Relationship Type="http://schemas.openxmlformats.org/officeDocument/2006/relationships/slide" Target="/ppt/slides/slide10.xml" Id="Re38676644caa4c2b" /><Relationship Type="http://schemas.openxmlformats.org/officeDocument/2006/relationships/slide" Target="/ppt/slides/slide11.xml" Id="Rc58ac8d03ac540b7" /><Relationship Type="http://schemas.openxmlformats.org/officeDocument/2006/relationships/slide" Target="/ppt/slides/slide12.xml" Id="R1929378f57fd43ce" /><Relationship Type="http://schemas.openxmlformats.org/officeDocument/2006/relationships/slide" Target="/ppt/slides/slide13.xml" Id="R4b3c92aad6444410" /><Relationship Type="http://schemas.openxmlformats.org/officeDocument/2006/relationships/slide" Target="/ppt/slides/slide14.xml" Id="R7728ae7bb9aa475f" /><Relationship Type="http://schemas.openxmlformats.org/officeDocument/2006/relationships/slide" Target="/ppt/slides/slide15.xml" Id="R7bcfa654afbd46d6" /><Relationship Type="http://schemas.openxmlformats.org/officeDocument/2006/relationships/slide" Target="/ppt/slides/slide16.xml" Id="R699ee64604574b93" /><Relationship Type="http://schemas.openxmlformats.org/officeDocument/2006/relationships/slide" Target="/ppt/slides/slide17.xml" Id="Rf494556e061445d7" /><Relationship Type="http://schemas.openxmlformats.org/officeDocument/2006/relationships/slide" Target="/ppt/slides/slide18.xml" Id="R7ca1b007d5824b73" /><Relationship Type="http://schemas.openxmlformats.org/officeDocument/2006/relationships/slide" Target="/ppt/slides/slide19.xml" Id="R5f51526e30f44eb1" /><Relationship Type="http://schemas.openxmlformats.org/officeDocument/2006/relationships/slide" Target="/ppt/slides/slide20.xml" Id="R781b9b0f2c994088" /><Relationship Type="http://schemas.openxmlformats.org/officeDocument/2006/relationships/slide" Target="/ppt/slides/slide21.xml" Id="Re6f17643e5724eb9" /><Relationship Type="http://schemas.openxmlformats.org/officeDocument/2006/relationships/slide" Target="/ppt/slides/slide22.xml" Id="R0c6e39552f8d42df" /><Relationship Type="http://schemas.openxmlformats.org/officeDocument/2006/relationships/slide" Target="/ppt/slides/slide23.xml" Id="Rc6ba2979739e419b" /><Relationship Type="http://schemas.openxmlformats.org/officeDocument/2006/relationships/slide" Target="/ppt/slides/slide24.xml" Id="R489addffeb4f489b" /><Relationship Type="http://schemas.openxmlformats.org/officeDocument/2006/relationships/slide" Target="/ppt/slides/slide25.xml" Id="Rf10bf5310a39486a" /><Relationship Type="http://schemas.openxmlformats.org/officeDocument/2006/relationships/slide" Target="/ppt/slides/slide26.xml" Id="Rfd48be6a5232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07b6415b0a49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29e8ec1a8c4341" /><Relationship Type="http://schemas.openxmlformats.org/officeDocument/2006/relationships/notesMaster" Target="/ppt/notesMasters/notesMaster1.xml" Id="R32e94c04861143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374a4608d54f4a" /><Relationship Type="http://schemas.openxmlformats.org/officeDocument/2006/relationships/notesMaster" Target="/ppt/notesMasters/notesMaster1.xml" Id="Rf5503be2f6c043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e4f10ddb864223" /><Relationship Type="http://schemas.openxmlformats.org/officeDocument/2006/relationships/notesMaster" Target="/ppt/notesMasters/notesMaster1.xml" Id="R1b157cac8d644f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d3d0cfa64a476c" /><Relationship Type="http://schemas.openxmlformats.org/officeDocument/2006/relationships/notesMaster" Target="/ppt/notesMasters/notesMaster1.xml" Id="Red26c2a2a4fe41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6c89559ac74f0b" /><Relationship Type="http://schemas.openxmlformats.org/officeDocument/2006/relationships/notesMaster" Target="/ppt/notesMasters/notesMaster1.xml" Id="R3654c02a67dd40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0ac5a84f4546a1" /><Relationship Type="http://schemas.openxmlformats.org/officeDocument/2006/relationships/notesMaster" Target="/ppt/notesMasters/notesMaster1.xml" Id="R7d4ca94024524a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8a9641068b40db" /><Relationship Type="http://schemas.openxmlformats.org/officeDocument/2006/relationships/notesMaster" Target="/ppt/notesMasters/notesMaster1.xml" Id="R992ebf86ee3d43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222b167504a4c" /><Relationship Type="http://schemas.openxmlformats.org/officeDocument/2006/relationships/notesMaster" Target="/ppt/notesMasters/notesMaster1.xml" Id="R176cc63dac3843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74f580c5104939" /><Relationship Type="http://schemas.openxmlformats.org/officeDocument/2006/relationships/notesMaster" Target="/ppt/notesMasters/notesMaster1.xml" Id="R86bebdff8deb42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0ed16291e54cb8" /><Relationship Type="http://schemas.openxmlformats.org/officeDocument/2006/relationships/notesMaster" Target="/ppt/notesMasters/notesMaster1.xml" Id="R2cf924e43a0943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3148fa481647ad" /><Relationship Type="http://schemas.openxmlformats.org/officeDocument/2006/relationships/notesMaster" Target="/ppt/notesMasters/notesMaster1.xml" Id="R904e379b733b48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5279e5eace4746" /><Relationship Type="http://schemas.openxmlformats.org/officeDocument/2006/relationships/notesMaster" Target="/ppt/notesMasters/notesMaster1.xml" Id="R85c9d66699c342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dc9659c8bd4a6d" /><Relationship Type="http://schemas.openxmlformats.org/officeDocument/2006/relationships/notesMaster" Target="/ppt/notesMasters/notesMaster1.xml" Id="Rddba272956eb4a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8b7c40b2154c72" /><Relationship Type="http://schemas.openxmlformats.org/officeDocument/2006/relationships/notesMaster" Target="/ppt/notesMasters/notesMaster1.xml" Id="Rb64e4e9a15b743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90ecf15d814f75" /><Relationship Type="http://schemas.openxmlformats.org/officeDocument/2006/relationships/notesMaster" Target="/ppt/notesMasters/notesMaster1.xml" Id="R7e55da5a96d240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8a323b1cf24d23" /><Relationship Type="http://schemas.openxmlformats.org/officeDocument/2006/relationships/notesMaster" Target="/ppt/notesMasters/notesMaster1.xml" Id="R6c22274074204d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7feccd46a8419b" /><Relationship Type="http://schemas.openxmlformats.org/officeDocument/2006/relationships/notesMaster" Target="/ppt/notesMasters/notesMaster1.xml" Id="Rec59a33b9bc241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77f77136ab4d7f" /><Relationship Type="http://schemas.openxmlformats.org/officeDocument/2006/relationships/notesMaster" Target="/ppt/notesMasters/notesMaster1.xml" Id="Rea7e17ee6c834b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0709001c1e4bcb" /><Relationship Type="http://schemas.openxmlformats.org/officeDocument/2006/relationships/notesMaster" Target="/ppt/notesMasters/notesMaster1.xml" Id="Rc01a3436bad446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a04c27ab9043e5" /><Relationship Type="http://schemas.openxmlformats.org/officeDocument/2006/relationships/notesMaster" Target="/ppt/notesMasters/notesMaster1.xml" Id="R0b8cad8166b943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70b0bb66ff4073" /><Relationship Type="http://schemas.openxmlformats.org/officeDocument/2006/relationships/notesMaster" Target="/ppt/notesMasters/notesMaster1.xml" Id="Rece7873fac2848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793b3441604951" /><Relationship Type="http://schemas.openxmlformats.org/officeDocument/2006/relationships/notesMaster" Target="/ppt/notesMasters/notesMaster1.xml" Id="R2dc4e3a385cb48c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84ccb7cd1c04ca1" /><Relationship Type="http://schemas.openxmlformats.org/officeDocument/2006/relationships/notesMaster" Target="/ppt/notesMasters/notesMaster1.xml" Id="R74385b7706634e1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8519c388fc04dc2" /><Relationship Type="http://schemas.openxmlformats.org/officeDocument/2006/relationships/notesMaster" Target="/ppt/notesMasters/notesMaster1.xml" Id="Rf244a8d8649249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9281ca612740ad" /><Relationship Type="http://schemas.openxmlformats.org/officeDocument/2006/relationships/notesMaster" Target="/ppt/notesMasters/notesMaster1.xml" Id="Rea1200f474a64bd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b0b4c5f9c13430f" /><Relationship Type="http://schemas.openxmlformats.org/officeDocument/2006/relationships/notesMaster" Target="/ppt/notesMasters/notesMaster1.xml" Id="R70ab57507286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本节先讲申报论证，再看本地材料流程。公开规定按2026年国自然示例讲解；贯穿研究设计和12个月安排为课程模拟，未实施、未投稿。Agent承担资料整理与文件检查的范围另行标明。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部门、省部级、地方和校内项目不构成统一的填报制度。分别查资助范围、资格、限项、期限、预算方式和正式模板。本页仅讲核对方法，不提供未核验的省级年龄或经费规定。国自然仅作为有官方依据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2025年12月30日官方改版说明：立项依据、研究内容、研究基础。研究内容不预设固定提纲，按自身研究逻辑组织。正文原则上不超过30页。适用范围限上述两类，不能推到所有基金；页数需对最终排版核对。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年1月14日通告一（二）8：人工核实生成信息和参考文献，全面如实声明使用情况并标识；不得使用生成式AI直接生成的申请书，不得用未核实生成内容。Humanizer语言修改不能替代核验、声明或研究者本人写作。此要求直接改变演示成果的使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以真实通告的模板、研究基础和AI要求建立人工提取记录。提取不等于取得申报资格。记录来源条款和核查日期，正式模板没有取得时仍保留缺口。课程guide.json另为模拟规则，不混用为官方文件。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研究者论文须核对实际署名与贡献；现有数据说明获取方式与处理；实验条件和合作承诺要有证明。公开论文支持研究背景，不能直接证明申请人做过实验。当前示例没有申请人真实材料，基础部分保留缺口。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研究情境设为大学入门统计课程。比较同一模型下常规问答和先写思路再获得下一步提示；主要关注无AI新题测验。该问题、对象和研究安排为教学模拟，不声称已招募学生、获批伦理或通过创新性判断。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Bastani等2025年PNAS研究来自高中数学情境，比较不同AI辅导条件，并设置无辅助测验。已读作者公开版Experimental Design。这里仅转述研究设计，不引用效果数字，也不将高中结果直接推广到大学。正式立项需继续核对最终版、勘误和相关文献；当前未完成全面检索。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科学问题为提示方式与独立解题关系。目标具体到比较表现并检查过程。内容包括材料预试、辅导比较、独立测验和过程解释。讲这些名词是为使论证清楚，并不把2026国自然研究内容重新固定成旧式小标题。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预试检查题目和评分一致性；比较研究记录独立测验；过程分析检查尝试与求助、修正。每项应有自己的可解释产物，避免一个预期效应不出现，其他研究全部无法进行。未设定具体样本量和提升比例。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虚线表示课程假说，不能作已证实机制图。过程指标与测验间的相关可能还受既有水平、投入时间、教师实施等因素影响；即使随机分配提示条件，也不能自动把过程中介变量解释成因果机制。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组模型、题目和练习时长拟保持一致。分步提示与常规问答形成干预差异。主要结局为无AI新题成绩；样本量按结局和设计计算，不能由AI随意填人数。分配单位待定，若按班级分配需考虑组内相关；伦理与准入未核定，尚未实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路线含题目与评分核对、准入及分配方案、两种辅导条件、过程与独立测验、解释和归档。判断条件必须在研究前明确。当前没有凭空填入一致性阈值或通过结论。技术路线文件随包提供，可编辑。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高中数学研究已比较不同辅导设计，因此不能笼统把AI辅导、分步提示或独立测验本身称为首次。大学统计情境不同可提出比较问题，但换对象本身不证明科学创新。需要系统查相关研究并形成具体差异及价值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公开研究和可下载数据不是申请人前期工作。前期论文需说明本人贡献及与关键任务的关系；设备、课程准入、合作分工需实际材料支持。本教学例缺这些材料，不能写已有成熟系统、显著效果或充分条件。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提示规则不稳定先修订与重试；退出或缺失需记录原因并按预定分析方案处理；不能分组时考虑调整目标，但观察性记录不能沿用随机比较的因果解释。具体门槛要依据预试与方案，不随意给出80%或90%。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模拟12个月，安排1—3月材料和准入、4—5月预试、6—9月实施与测量、10—12月分析归档。任务按前置条件推进，不能机械以月份宣布伦理或预试已通过。国自然研究期限由系统按类别生成，此模拟期限不作为填写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明确青年A、B、C类等实行包干制，申请时无需编制预算；其余类型按规定预算制编报。本页说明教学研究的资源测算逻辑：任务、用量、价格依据和费用归属；未编造报价或项目总额。资源安排不能把包干理解为不需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以下完整段落为课程模拟：比较提示方式与独立解题；两种辅导条件；过程记录与无AI新题；结果用于判断条件差异而非承诺提升。已完成与拟开展分开写。正式摘要字数和字段按当年系统，不凭旧模板预设。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原句故意设置国际领先、全面揭示与大幅提升，均无证据。改句仅说明准备比较的提示方式和无AI测验。语言清楚不意味着材料真实或新颖性已通过，不通过润色掩盖缺失信息。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Harness为任务运行时的组织与检查规则。展示指南要求、已有材料、内容组织、技术路线、核对与Word。各步Skill是规范，是否实际执行要看工具和日志。本节本地脚本执行结构核对和填充，输入研究段落由课程编写；不自动检索或自主设计。云端现状另核，不以此证明云端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T1对应问题假说、T2对应比较与测量、T3对应来源和缺口。真实来自本次grant.json和mapping.json，课程规则不是国自然评分表。脚本只核对映射字段与引用标识有效，不证明假说正确或评价设计充分。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本次execution-evidence.json与output/run.json，输入、模板、指南和成果有哈希。状态为draft_review_required；external_model_called=false；scientific_validation=not_performed。自动整理材料和科学有效性分别检查，不伪装模型执行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demo.py另执行4个负例，每个都调用实际文件流程；不是手工拼接失败日志。检查实际错误和期望一致。旧文件流程的final签核控制只属于该导出接口，不泛化为所有网页流程逐节点审批。负例不证明系统抵御所有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图片为本次实际生成Word的第一页渲染，不是AI生成的界面。教学模板为自编，不是官方模板。正文3部分与输入对应，来源和缺口单列。材料未获研究者签核，当前不能正式申报；正式文本须由申请人按当年政策撰写和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当期类别与模板、研究逻辑、事实和引用、基础与贡献、伦理授权、其他项目及预算要求、AI使用声明。程序只能覆盖明确规则。保存最终版本并按系统提交，Agent不代签、不伪造单位审批。下一节专利挖掘与交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c78032ff24e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aa10a2a094a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0828e5af342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f2642fd2d42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75047845248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a67de43ac41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A43CFD-45C9-4CD5-B824-A55E7BE3A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427960-0671-4A17-BDE1-16CA58957D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B4F172-80D2-4E40-9A75-F39B961E3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40444B-5DA0-4ADD-9CA5-51E26B60A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07A9FD-3027-4719-977C-A7A8772E7A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6FC06D-AB2E-4C01-B13E-C4AE45AB6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14C106-363A-4A5B-AAAD-BDBEC86187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2EA4F9-B93B-47B3-BF50-F13FA547CF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0475B0-A756-405A-B577-FD60A9D55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9269FC-0372-46BF-ABC9-22CF02163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ed7536bed24874" /><Relationship Type="http://schemas.openxmlformats.org/officeDocument/2006/relationships/slideLayout" Target="/ppt/slideLayouts/slideLayout1.xml" Id="Reec9872908ed4424" /><Relationship Type="http://schemas.openxmlformats.org/officeDocument/2006/relationships/slideLayout" Target="/ppt/slideLayouts/slideLayout2.xml" Id="Rd9224da486644c16" /><Relationship Type="http://schemas.openxmlformats.org/officeDocument/2006/relationships/slideLayout" Target="/ppt/slideLayouts/slideLayout3.xml" Id="Rf20583f369d841ee" /><Relationship Type="http://schemas.openxmlformats.org/officeDocument/2006/relationships/slideLayout" Target="/ppt/slideLayouts/slideLayout4.xml" Id="R73d815caf0a647cd" /><Relationship Type="http://schemas.openxmlformats.org/officeDocument/2006/relationships/slideLayout" Target="/ppt/slideLayouts/slideLayout5.xml" Id="R374c8c5aad884f08" /><Relationship Type="http://schemas.openxmlformats.org/officeDocument/2006/relationships/slideLayout" Target="/ppt/slideLayouts/slideLayout6.xml" Id="R95926a80d0d74b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c9872908ed4424"/>
    <p:sldLayoutId xmlns:r="http://schemas.openxmlformats.org/officeDocument/2006/relationships" id="2147483650" r:id="Rd9224da486644c16"/>
    <p:sldLayoutId xmlns:r="http://schemas.openxmlformats.org/officeDocument/2006/relationships" id="2147483651" r:id="Rf20583f369d841ee"/>
    <p:sldLayoutId xmlns:r="http://schemas.openxmlformats.org/officeDocument/2006/relationships" id="2147483652" r:id="R73d815caf0a647cd"/>
    <p:sldLayoutId xmlns:r="http://schemas.openxmlformats.org/officeDocument/2006/relationships" id="2147483653" r:id="R374c8c5aad884f08"/>
    <p:sldLayoutId xmlns:r="http://schemas.openxmlformats.org/officeDocument/2006/relationships" id="2147483654" r:id="R95926a80d0d74b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b33827fd64d04" /><Relationship Type="http://schemas.openxmlformats.org/officeDocument/2006/relationships/notesSlide" Target="/ppt/notesSlides/notesSlide1.xml" Id="Rfbe215eb4c47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f4713b98d4db4" /><Relationship Type="http://schemas.openxmlformats.org/officeDocument/2006/relationships/notesSlide" Target="/ppt/notesSlides/notesSlide2.xml" Id="R941d3de9aa2648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29a238eed45b6" /><Relationship Type="http://schemas.openxmlformats.org/officeDocument/2006/relationships/notesSlide" Target="/ppt/notesSlides/notesSlide3.xml" Id="R879755e8769841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9418d409b4ed6" /><Relationship Type="http://schemas.openxmlformats.org/officeDocument/2006/relationships/notesSlide" Target="/ppt/notesSlides/notesSlide4.xml" Id="Rf1b858e8a38446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213c53c514b75" /><Relationship Type="http://schemas.openxmlformats.org/officeDocument/2006/relationships/notesSlide" Target="/ppt/notesSlides/notesSlide5.xml" Id="R3b32bcb8b04449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93ef5601a41e0" /><Relationship Type="http://schemas.openxmlformats.org/officeDocument/2006/relationships/notesSlide" Target="/ppt/notesSlides/notesSlide6.xml" Id="Rae7add6bf10946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db2d66f9f4d11" /><Relationship Type="http://schemas.openxmlformats.org/officeDocument/2006/relationships/notesSlide" Target="/ppt/notesSlides/notesSlide7.xml" Id="Rd6788a08d50a4b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654ad402c47eb" /><Relationship Type="http://schemas.openxmlformats.org/officeDocument/2006/relationships/notesSlide" Target="/ppt/notesSlides/notesSlide8.xml" Id="Rf5ac766896fd43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2d0632eec40b3" /><Relationship Type="http://schemas.openxmlformats.org/officeDocument/2006/relationships/notesSlide" Target="/ppt/notesSlides/notesSlide9.xml" Id="R17397d23b37f4d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d34b85c4947c9" /><Relationship Type="http://schemas.openxmlformats.org/officeDocument/2006/relationships/notesSlide" Target="/ppt/notesSlides/notesSlide10.xml" Id="Rc5ce22672b2246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5a156d0214fcb" /><Relationship Type="http://schemas.openxmlformats.org/officeDocument/2006/relationships/notesSlide" Target="/ppt/notesSlides/notesSlide11.xml" Id="R614603265364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cc66975304b20" /><Relationship Type="http://schemas.openxmlformats.org/officeDocument/2006/relationships/notesSlide" Target="/ppt/notesSlides/notesSlide12.xml" Id="R15cd018b058b4d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7bad1885046bf" /><Relationship Type="http://schemas.openxmlformats.org/officeDocument/2006/relationships/notesSlide" Target="/ppt/notesSlides/notesSlide13.xml" Id="R8f0c4186df544e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26cc116a842a3" /><Relationship Type="http://schemas.openxmlformats.org/officeDocument/2006/relationships/notesSlide" Target="/ppt/notesSlides/notesSlide14.xml" Id="R5d33b8c3371c47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87040615f435c" /><Relationship Type="http://schemas.openxmlformats.org/officeDocument/2006/relationships/notesSlide" Target="/ppt/notesSlides/notesSlide15.xml" Id="Rc0bfb887d35f45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1ba78a16347d7" /><Relationship Type="http://schemas.openxmlformats.org/officeDocument/2006/relationships/notesSlide" Target="/ppt/notesSlides/notesSlide16.xml" Id="R7e2c57f8df8549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3ddd622494532" /><Relationship Type="http://schemas.openxmlformats.org/officeDocument/2006/relationships/notesSlide" Target="/ppt/notesSlides/notesSlide17.xml" Id="Ra32468a376cb4e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7ac2bd25a4321" /><Relationship Type="http://schemas.openxmlformats.org/officeDocument/2006/relationships/notesSlide" Target="/ppt/notesSlides/notesSlide18.xml" Id="Rfbc117a51cd343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f672fc7d243ac" /><Relationship Type="http://schemas.openxmlformats.org/officeDocument/2006/relationships/notesSlide" Target="/ppt/notesSlides/notesSlide19.xml" Id="R8c8099dc241346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83dcc32cd481c" /><Relationship Type="http://schemas.openxmlformats.org/officeDocument/2006/relationships/notesSlide" Target="/ppt/notesSlides/notesSlide20.xml" Id="R35f30a1eb039407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233c9d1014a0f" /><Relationship Type="http://schemas.openxmlformats.org/officeDocument/2006/relationships/notesSlide" Target="/ppt/notesSlides/notesSlide21.xml" Id="R3b6cb6d50d84422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d05f6fb764648" /><Relationship Type="http://schemas.openxmlformats.org/officeDocument/2006/relationships/notesSlide" Target="/ppt/notesSlides/notesSlide22.xml" Id="Rf7eabebfbc4547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7442c1fce4c66" /><Relationship Type="http://schemas.openxmlformats.org/officeDocument/2006/relationships/notesSlide" Target="/ppt/notesSlides/notesSlide23.xml" Id="R186629965e934f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f952915194c8b" /><Relationship Type="http://schemas.openxmlformats.org/officeDocument/2006/relationships/notesSlide" Target="/ppt/notesSlides/notesSlide24.xml" Id="R2700cc6b80a840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16b42ae1441ba" /><Relationship Type="http://schemas.openxmlformats.org/officeDocument/2006/relationships/image" Target="/ppt/media/image.png" Id="R5562e46713db4655" /><Relationship Type="http://schemas.openxmlformats.org/officeDocument/2006/relationships/notesSlide" Target="/ppt/notesSlides/notesSlide25.xml" Id="R22f9782c90ce4b1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a9294cd514602" /><Relationship Type="http://schemas.openxmlformats.org/officeDocument/2006/relationships/notesSlide" Target="/ppt/notesSlides/notesSlide26.xml" Id="R85b940a4d25948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7E002-05B6-429C-AD18-E30B200629C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99272-CF75-4197-8042-7D73903ECD1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FDEFD-0083-4365-B180-0654BE2A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D6AAC-E405-4D83-9A2F-97E29C6D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基金申报与Grant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5946B-D4BA-4305-A561-17F14426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5E9E-FBF4-4560-A577-3C07ADD4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申请书需要把值得研究的问题、可信的方案和申请人的工作积累连起来。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BEE21-F0ED-4443-A9B7-DFA703CF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为什么值得研究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6CB53-42B6-48D7-BBFC-9E35F2C9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准备怎样研究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32D49-3FF3-437D-85DE-4147464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凭什么能完成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8C6FA-3593-4BF7-86B0-558D4F00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已有证据和仍未知的问题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F7988-03E8-456D-9FAF-152591FD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可检验的方案与预期认识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EE939-8FDB-42C2-B9F1-F06D372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真实前期工作和实施条件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181C1-7923-49FB-9FF0-EB8B19C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本节贯穿示例：分步提示与大学生独立解题。后半节查看实际本地文件流程。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B63D3-A437-4FAB-8063-17B1E75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研究设计、文件生成与正式申报，分别核对依据和状态。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CE095-63C8-42B1-B9C3-BFBE89FE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2026原始课件；国自然2026申请书改版说明；课程教学模拟，未实施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8937E-BD3C-4FA6-81EB-DA20B4B7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9106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98134-E8C3-4DBB-A96B-833BC46DF1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81500" y="4976813"/>
            <a:ext cx="19050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6F26-DABE-4D9D-8DA8-88078B3402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500" y="4976813"/>
            <a:ext cx="1905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46EA0-00C1-4E87-9C35-0584ADD59E7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548063"/>
            <a:ext cx="19050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3A350-B91B-4830-B9E9-2822FC7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839F3-D13E-4F76-9FDC-B584D7D6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不同资助项目的要求来源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0F191-98C3-418C-B4FE-E1B63DE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36825-4A16-4BF6-A032-139DEDE9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同一个研究设想，必须按所申报项目的当期指南重新检查。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ABE20-F79B-42D2-B923-1E2EE39B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619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拟开展的研究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69F22-DB39-4825-B5AE-30E2148F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国家自然科学基金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72628-D094-492D-93EE-D036FACA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核对项目类型、研究属性与当年申请要求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9BD28-C0B3-4D88-9B2B-B0A3894D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省部级及地方项目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62936-279A-4493-B0B8-74A23BCF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回到对应部门当期指南，逐条核对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BE64B-7FF0-48C6-A6B7-2CE1BC39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校内与其他资助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4FF36-73FA-4963-B81F-F2A1FB86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以发布方文件和正式模板为准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AFF06-0DF1-4743-A8C3-4A62311D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研究主题相似，不能据此沿用另一项目的资格、预算或期限。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B0B9D-5468-469A-8B2E-790D467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F9A00-ED9A-4432-AB18-22B6FFDD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3732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416D7-7115-4B0D-820B-55A08E9BEE1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14625" y="54578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51B05-A8B9-4E23-832D-28F22218D9C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14625" y="40481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8C32D-A1C0-40B8-89DC-E8FD6B09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4BEA2-D16E-42EF-9167-5D48944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2026年国自然正文结构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9FCCC-3484-4037-9FB3-1D93B30F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C370F-5931-4DDA-9503-2295697B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面上项目与青年科学基金项目（C类）的正文调整为三个部分。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10234-E502-4711-96BC-BC6C4FB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9D761-30BB-43C5-9E9B-A48E50A5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为什么开展这项研究？研究价值是什么？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B5874-6835-44B8-AEA7-D80DE422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A0587-8F3A-488A-90CB-74C33185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按研究逻辑安排工作，说明怎样回答问题。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F30FA-BF3A-4082-BC87-7D45909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3A4C6-E227-4F34-B8E3-FC7DC7B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055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展示前期积累及其与本项目的关系。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54361-38AF-4B0B-8B87-2A02AB9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正文原则上不超过30页，适用于面上项目与青年科学基金项目（C类）。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768CE-D366-40C9-A590-38F491D2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正式填写须从科学基金网络信息系统下载当年最新版。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61064-C4DC-494F-B771-6AC1D3DE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886DE-147D-42AC-8648-ECB0FABF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4567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98CD9-D3DA-4B1B-A326-28192019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D0DB5-1AB1-4A8F-9AD4-58E07F80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国自然申请中的AI使用要求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66D36-AEB0-4E31-BF77-1E1AC575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D4410-DAB5-479E-9C27-A512DF17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AI参与资料整理时，申请人仍须核实信息、声明使用情况并按规定标识。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8BB59-7851-4ECE-8FAA-5D6E20B1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资料与引用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4D911-8EB0-40B0-A170-4ED25BE9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AI辅助跟踪动态、整理文献时，申请人逐项核实信息与文献真实性、准确性。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EA398-35D2-43A6-82AC-2A4D1789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2C730-65A4-4B26-A0AA-21B18A23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027E6-C233-40A4-9DB8-0BDC1754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全面如实声明AI使用情况，并按规定对相关内容作出标识。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29503-A3CF-4532-A8CD-1C990B84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99D39-AD7B-419D-8819-13199973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申请书正文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DE0E5-209B-486E-98D2-52D328F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不得使用生成式AI直接生成的申请书，也不得使用未经核实的生成内容。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C2C57-4B67-4ABB-BC29-7D678206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E934F-ECE2-43C8-9DB3-1CDC37F8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本节AI协助编写的研究设计和Word仅作教学演示，不作国自然申请书使用。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2FE39-A3F2-4B27-A986-2DA98DE2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EE155-D6F4-4155-8CD8-1A5570EA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5557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17701-BE54-41BA-9C45-6C662BC4F12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C283B-67FE-42A4-8E5D-F744D7BA18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B2F4D-97D1-46D4-9A6E-AE2D48C33F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D126F-68F1-4AA1-84BA-6F0332B8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DA9C0-3596-49AB-9A5B-6071B03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指南要求与申请书位置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307AE-EF03-4A5E-B87F-A3C7FBEF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9182F-5714-49A5-A290-49AF2965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每条要求都要对应材料、正文位置和仍需补齐的事项。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229E9-1F90-40A1-AF2C-B4EFB69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官方原文与条款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6310A-DD8F-4351-9A9D-F2A74C84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CC89A-E971-4770-8AEC-B1FB4EA0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对应材料和位置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492AE-D375-45E0-8CF0-97C05E8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列明缺口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F673A-BCFA-4582-A29E-78A1833C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保存文件日期和来源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9AA96-60D5-4112-9DC9-341E4393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区别正文结构、资格与附件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A0F30-D367-4C2D-90BC-620CCED8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哪些事实由谁提供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18188-C670-4BE7-872B-87951A14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未取得或未核实的事项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70106-95E8-4706-BA96-897A89D2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示例：最新版模板 → 从系统下载 → 保留原件 → 核对章节和最终排版。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C6DF0-C591-47B4-B6E6-EF9FCC2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本节另有自编guide.json，只控制课堂文件演示，不能替代官方指南。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2AD1F-4DAE-4E04-B65D-46AAB89C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公开要求的提取记录，与本地模拟指南分别保存。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07EEB-9414-49BF-B6F7-7902A6B6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8192C-11C9-42D2-9231-9DD60D1D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5999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0541C-EE5D-4B84-ABB3-6347FC2C944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4953000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7C78C-D53F-493C-BD96-4E254E4DE97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62500" y="4953000"/>
            <a:ext cx="200025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D55CA-B9FD-474E-8E58-9AB7AB11263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48063"/>
            <a:ext cx="200025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046FD-3A5D-4C61-99F3-C6794FCD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4F039-0ABE-40FB-8217-E736719C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申报前的材料盘点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F90C3-804F-4341-8415-D87C304C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55F83-788D-480E-9BCA-D5930EF9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已有文献、研究者工作和拟开展的研究，需要分别登记。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D27E0-8D25-4570-BBD9-B35045A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材料登记与用途核对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79F04-E584-40EA-98C8-D374A0F1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公开文献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4D1C9-196F-47FA-A2AF-95E1648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支持研究现状与方法选择，注明阅读范围。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84E42-B096-4634-BB1E-0DB34FB6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申请人已有工作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08620-0829-431E-A449-DAA814D1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核对论文贡献、数据记录与相关工作积累。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92CCA-D966-4F49-BD15-9162F0D6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960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8511C-E34E-49E0-9675-CBD9ECAC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写明研究设想、待办条件和未验证关系。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95790-F128-428B-81B6-3DF3338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缺少材料时，保留问题及其影响，不用通用措辞补成团队成果。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B0B31-A515-4850-81B3-78F469A0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CF90F-E1F1-4294-B1E3-45EFE3AF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78864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62773-C404-4DB1-BE18-7379024056B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9DD41-284B-4185-80B0-8AEDDD16EB6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52425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F62B7-1092-4D8D-9B12-476B38C9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AF480-0888-4FDB-ADC8-3F249F3A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贯穿示例与待回答的问题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BA072-6393-47B1-ACDE-C56727AE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7382D-B37E-49F5-ABC3-0F4EAD8D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分步提示是否影响大学生离开AI后的独立解题表现？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88DB1-BA57-4671-9771-91DB2CE3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同一门大学入门统计课程，同一模型、题目与练习时间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88F0F-D521-4A84-9F35-8099F3E5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常规问答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允许直接获得解答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073CD-1651-4987-82C3-EAD5541B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先展示思路，再给下一步线索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498A3-00CF-428D-BA39-1CB8B44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主要观察：无AI新题测验的独立作答表现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C5C71-2FE1-4718-8F17-F3D5017E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课程自编研究设想，尚未实施，也未证明适合某个基金类别。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1FCFF-88F4-427E-9011-1E76B723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0E250-248D-47F2-A108-4BE27902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2377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F08FA-C3D3-48C8-BFA5-DD0FFE47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D5B30-89DA-434E-81A1-4FDC123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立项依据中的文献与本例问题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8626E-058F-4AB6-9FBE-1FD2E1A4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67D4B-7AA7-44DB-9A0A-FA3B3DA0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已有研究的对象、干预和测量，可以帮助限定本例准备追问的内容。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29E03-4D9F-4A4B-841C-9F1191F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公开研究：高中数学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EDC9A-0622-4643-A150-E365FA82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Bastani等（PNAS，2025）比较不同AI辅导条件，并另设无辅助测验。研究设计把工具使用阶段与独立作答阶段分别观察。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F5887-D00A-43D6-9935-AFDA9E3A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本例拟追问：大学统计课程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B4695-7EC1-48DE-8A60-31A11942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在相同模型和任务下，先写思路再获得分步提示，是否改变独立解题表现？需继续检索同类研究，判断具体差异。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3EBAA-A9CB-426B-A513-9944D98D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74B60-1512-462F-8299-5705B6B6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高中研究的设计启发可以借鉴；大学场景中的效果与创新性仍需证据。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9CA8B-26A0-41C6-80F7-CCB8FF6F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真实文献提供背景。本例的大学情境和提示比较仍是待验证设想。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E9C77-9320-4E40-89E4-5A4C2CCD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来源：Bastani等2025研究设计；本例另拟；课程教学模拟，未实施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E6028-6F5F-43DC-8374-C48D987D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6210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1B875-B9F2-4287-A959-486F481645D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76500" y="54578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3DAB6-23A8-4E35-ABC7-DFD9139EDDA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76500" y="39528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D0596-BE3E-481B-9D02-41787FD8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30809-63F8-4034-9DC4-D05A6261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科学问题、目标与研究内容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1CE43-BA29-44D9-898C-A002BAFF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B81E7-1B04-4514-91D9-8F553B3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问题说明未知关系，目标说明准备弄清什么，研究内容安排取得证据的工作。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5DB3E-3D28-4C0F-80A0-29018A7F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5EC80-66AA-4710-B0A1-49660FA6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8B581-E073-48C1-BBB2-DB227C7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3594C-C2AA-407D-8BB6-CB2721F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提示方式与离开AI后的独立解题，有怎样的关系？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3E460-ED0B-43CD-BE1F-E9B1F797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比较两种条件下的独立测验表现，检查作答过程。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4340F-679D-44E9-BB3C-B078094F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484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预试题目和评分，实施比较，记录过程，联合解释。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FAF97-595E-446A-9CB7-89BCC82D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概念用于组织思路，正文按研究自身逻辑展开。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22BB0-0F46-4BFF-ADD5-15EDD16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来源：国自然2026申请书改版说明；课程教学模拟，未实施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6A9E0-A64F-4287-89AF-114854FD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5045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CFB37-FFBB-4721-A78B-83AB3AD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BE38F-F8F7-4481-A69F-037A2EEF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研究内容与可检验结果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AB674-F86A-4D99-82F6-D33EC19A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5CA48-A73B-4FF7-ADFD-56639129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每项研究内容需要说明观察什么、怎样判断，以及得不到预期结果时仍能回答什么。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36D9D-5346-4B03-BB9B-1D609112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题目与评分预试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F5468-19FC-49CC-BAEC-EB32A1B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检查题目难度与评分规则，形成可复查的材料和修订记录。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7BB21-0582-448E-8833-BE63A0AE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F2CD8-1A7A-434A-AA61-1FE78F9D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辅导条件比较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4BE42-F890-4EEB-9583-6C4A7CE1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统一测量，记录两组过程及无AI新题成绩，报告差异与不确定性。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71A24-B13A-4321-BF8A-0AF529C5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C9E33-8A55-4333-BFDF-FB743C6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过程与结果解释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5B874-1C78-4F0D-8960-F36B94BA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比较尝试、求助和修正记录。未出现预期差异时，也如实分析设计与适用范围。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6DBBF-F24A-4478-8365-02AF813A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8F809-FF92-4B17-BB3A-372DD35D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研究计划中的产物是预期安排，不能写成已经取得的结果。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4FAF2-21D8-45F7-A27C-A5AA4CA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E9305-88EF-4224-BC30-B374F5E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06288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82A66-C95D-450B-805E-A9D01FF1181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2395D-7A96-4D5D-80B0-4B9C55A10E0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8DA4B-FB75-4977-9792-B07FE32D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467E8-0974-4F76-9BB7-9E058283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研究假说与其他可能解释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C9AD7-F927-4534-BEE9-484F33BE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D43B5-380B-42F0-8FF3-5C0666F2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提示方式、独立尝试与后续测验之间的关系，需要通过设计和数据检验。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17AEE-E400-42E1-9DED-D449979B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8CC2A-30EC-49A8-8E2D-F73B8C9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独立尝试与修正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B8A25-49F9-4B90-8626-7B2D69B7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4A794-88AD-4A82-9F9B-21963634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记录实际提供的提示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8BB8F-5A96-4693-9165-99BE3D65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保留步骤和修改过程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8F3D5-0DE8-493D-83C4-9BC7E690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采用统一测验与评分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3FB59-A7DB-43A3-B7F4-88B702BE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其他可能解释：既有水平、学习投入、题目难度、教师实施及组间交流。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B918A-377E-4D81-81AD-F02B1187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虚线为待检验关系；既有水平和实施差异等因素需另行考虑。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2C5F5-E5AE-4282-AC3E-9B021C0D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0C042-B4CC-45A5-B94E-6CB8E4F0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7923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9E58B-6EF4-4070-8017-FB5FC8EF77D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5000625"/>
            <a:ext cx="1333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734E1-FDC8-4422-8801-C11FF1AA9A9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67125"/>
            <a:ext cx="1333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B2498-0EC8-411D-9334-9256AE9FD44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76750" y="4929188"/>
            <a:ext cx="171450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7CD12-4203-4472-9353-B548E96C8C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476750" y="3667125"/>
            <a:ext cx="1714500" cy="1262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FB002-1405-40C4-A5F2-3C6DB99E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D30D9-FA66-4518-BCBB-7B8C2278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比较设计与测量安排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2FA1F-8443-4D8C-AD12-E2FA7680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E56AA-C4F2-4C30-A7C3-E62AC5C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两种条件尽量只改变辅导方式，并用统一的无AI新题测验比较。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6EF5A-8911-4312-9C2C-F24CC91D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核对准入与分配方案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B43D2-AC89-4661-A361-C1241D4B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常规问答条件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4554F-723B-48DA-A4B6-B773D4C4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5C102-FF3B-4AD8-9DC5-BAA678A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76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统一无AI新题测验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724E8-7D9F-4CFA-A396-F7C2F38C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保留实际求助与作答记录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2B738-884A-486C-ABCC-29C5EF2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评分规则与分析方案预先确定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F44AC-66DE-408B-80B4-D776FBD4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研究设计教学示意。样本量、分配方式、伦理与授权仍待核定。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003BF-186F-4A7A-A3BB-6F135048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C0418-04E4-433F-8C53-5D1C4903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50684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E0C2A-35B3-4CE9-8FD0-353DEEEEE79A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4762500" y="7000875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48FBE-1326-47ED-B263-A9B14A7E366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811125" y="4048125"/>
            <a:ext cx="0" cy="2524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22B52-DF74-40A7-BBF4-F17E530652FE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2571750" y="4048125"/>
            <a:ext cx="3429000" cy="1500188"/>
          </a:xfrm>
          <a:prstGeom xmlns:a="http://schemas.openxmlformats.org/drawingml/2006/main" prst="bentConnector4">
            <a:avLst>
              <a:gd name="adj1" fmla="val 6667"/>
              <a:gd name="adj2" fmla="val 84762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5DB5B-9C1B-45C5-B318-935203A0324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810500" y="404812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A20EF-D19C-469F-8833-EB4A45ABE2A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6433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37ED6-B409-407C-9A69-3D521A66F78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81500" y="364331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F09DB-D046-4585-A0D8-B9276DA1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A4C7F-C81A-4234-BFC7-A8C16224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技术路线中的步骤与判断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A56E8-13E3-485D-9FA3-E13B2653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E8728-6307-4B58-A33B-59A362D8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预试核对通过后再进入正式实施，未达到标准时回到材料修订。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60FF4-9261-4C71-B2A4-39D9EC40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题目与评分预试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4B406-C9A7-4856-BAF6-2B840B4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达到预定标准？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13DBF-CB2A-4EE6-8AD0-0DAAE1FA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核对准入及分配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B15D8-23CC-4CB8-83B7-5BCC8C92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修订后重新预试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21C36-37FE-4AC6-89EB-63D51FD6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实施辅导与测量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197A7-3373-4E3C-A69C-77A77AA4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解释差异并归档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CCF42-D958-4062-A544-C760C2EA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达到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29ADA-C676-48CA-9FA1-88959AB2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未达到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C7527-5CF9-4F07-865E-5AA4BBDD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381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预先明确具体标准；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当前未判断通过。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60408-4466-42BB-AC87-0A1D9AA5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路线描述拟开展的研究，没有实验执行结果。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B0EAC-8C0B-4178-8B62-CC3BB3A6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9750B-510D-465B-9D54-1BAC536E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591834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187F6-7F43-4196-BCDC-AB59190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8090A-B065-432F-8E43-C766EDE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创新点的比较依据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FD45E-9234-42B4-97F7-0D9E836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A9718-3FE2-4E25-A352-47AD1029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创新论证需要明确：与哪些已有工作比较，增加了哪项可检验认识。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FB49E-EAE7-4A7F-B0CC-46973728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已有工作覆盖什么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3473D-1B24-4604-8345-687B5973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不同AI辅导设计、练习阶段与无辅助测验，已有公开研究涉及。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8CD48-0B04-44F9-9247-5C4DC860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43BE6-53D8-4EAA-8C80-57AF5A98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本例准备比较什么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F9C9-8C7D-4511-BE2C-B9D7C555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大学统计课程中的具体提示方式，以及过程记录与独立表现的对应。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66842-7881-425E-9BCA-C6F11080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111C3-47A1-4D7C-A72D-5905BD98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创新论证仍需什么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C1095-C5C5-4B2B-8A3E-6CDCE580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检索相关大学研究，说明具体未解问题及其价值，再判断是否形成新认识。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D2EC1-8FEB-4B3F-8145-18D2A697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9FAAF-20F6-46A9-A098-81FBF7F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当前只给出创新论证的比较方式，创新性仍待文献与专家核对。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4BAAC-5DEF-44DD-9240-53FA9CC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2026原始课件；Bastani等2025研究设计；本例另拟；课程教学模拟，未实施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AEE4A-EFA4-486A-BF7C-CD694F79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813804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169D2-B6CD-4F4D-829B-F82911CB858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1229D-CCC3-4961-AAE5-2AB0A42615F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EC6A6-F6AD-4D41-8D07-99BA6A2D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907C9-CE43-4D0A-8630-90DB0107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研究基础与实施条件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548EA-E101-44CA-B4EF-18B9912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BF7BD-0785-4191-85EB-A5BECDE0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申请人的已有工作，需要与本项目的关键任务逐项对应。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181D8-8C7D-4F39-8509-155F7A17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80FFB-DEDA-4E3D-B4F6-20C87D3C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已有工作与贡献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45D13-EA71-4209-9D86-8072E4C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条件证明与缺口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7D0A8-1BB3-4511-BEBC-89DD8519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例如题目设计、实施和分析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5BF84-D968-40A3-B5BE-192B28F3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提供相关论文、数据、工具及本人贡献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FC367-3F1A-45E1-9F83-0F6C74E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核对准入、设备、合作和时间安排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9C01D-BD20-434C-BACA-C46872CC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本例实际状态：没有申请人前期成果、课程准入证明或合作承诺。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EBC8F-8FEB-4CBE-9C96-EBC91872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公开文献支持研究背景，申请人研究基础仍需真实材料。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9314C-36F1-4683-84FC-1BD8456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本例未提供申请人真实研究基础，不能据此判断具备申报条件。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2CDC2-FAC3-413A-8A56-8F250D2A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9767E-0446-41AE-9366-34F85436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52815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4738F-25D1-4133-8E0E-39422D88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86110-B20D-4384-A875-0E5FA9AC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风险与替代方案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D8333-6CA7-4BC9-BEAE-411E37F7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DB872-94D3-4BC6-93B0-8079D65C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替代路径应说明触发条件、调整动作，以及调整后还能支持什么结论。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4F7C-C78B-4B42-B526-BE931C27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提示规则不稳定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86263-1ACE-4429-82EF-0C176234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触发：预试未达到预定要求。动作：修订提示和材料，再做预试核对。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B7332-E305-46F4-9A79-D5DEE37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80048-9607-40DA-A1CA-8947872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退出或记录缺失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4DF38-4D31-4C38-B7AC-8C3609E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记录发生原因，按预先方案处理，报告缺失及其对解释的影响。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BCCC3-D2C2-4E99-A2CC-C2CADB1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1D969-4297-4B35-AA50-8D135A7C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无法按计划分组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53FF3-DDBD-47EA-9FBE-1CCB6972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先评估调整目标与设计的可行性。改为观察性研究时，重新限定因果解释。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CF51C-65F1-4595-B518-EDF1DAD8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126DD-DC9B-4C0E-9ADF-E5B24E90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备用方案改变设计时，结论的适用范围也随之调整。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17703-DBC5-4FBE-8FA9-D09F6591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50CD5-8EFC-477C-AE69-A3F6BCA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817443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C77D0-9EC8-4692-9556-166430B95F6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31AB9-582D-40F9-AF1F-E3C3DDFE399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37C52-4825-4338-86A9-758AF487E0A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6B362-F341-4408-8293-CFCB43F5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C3B24-2194-427D-9B3D-C8B67E0A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研究进度与任务依赖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6073F-20FB-4D90-8F23-CCFB001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E3B1F-216B-4E33-B4AA-8481BD9A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时间安排要给材料核对、预试、实施和解释留出实际位置。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AF696-AA8B-4153-93A6-494E323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1—3月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2D271-DB8C-480C-B0E1-28F33056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4—5月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015E9-2AEB-4250-A04C-485A8B47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6—9月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96675-F99D-4CC3-938A-B2BE5718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10—12月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AD861-3454-4549-96FE-A092F6BA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文献、材料、伦理与授权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C6A1C-8D25-468A-A108-814F08B9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题目、评分与规则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D4BB8-786C-4F8F-B81A-5AEF355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实际辅导与独立测验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4294F-D9AB-4078-A339-D5BD9942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报告差异、限制与版本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B05AB-5DC7-4932-B5E8-FE3ED5E2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材料与准入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02897-BDD0-4B2E-B0B8-AAC7BF3D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预试与修订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21FF6-EE33-4336-9E38-137CF213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实施与测量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62921-6BD9-4C1C-BE8F-D5DAADAA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分析与归档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B1A5-717B-49AF-ABC7-AD79C814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进度依赖前置条件。伦理或预试未通过时，后续实施顺延并记录原因。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58906-13F3-4CAF-BFDA-51C9B072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12个月仅用于课程示例，不是2026国自然项目期限。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92334-9C6D-4DE9-8F47-40BAF54F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1773F-9D24-4848-86C4-9C2FF41A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412399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092ED-A910-4698-94B0-C0360A65C69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D229E-FA27-4A52-A9D0-11FDB2B6AE4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BCCD8-717B-471C-8870-FD528D16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F7B0D-D600-49AE-A9BB-2C231C5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研究任务与经费依据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E3FDE-7458-41EA-A8D1-79B18CAA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F09B1-6046-4437-A7FC-E4908631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先识别研究需要的资源，再按对应类别和单位要求说明成本。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4A755-2255-408F-82BF-3F442EAB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D4CAE-B27B-498F-87F0-961C1D3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DAC2C-84AC-4F5C-ADC6-7CFCEF36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费用依据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8B844-4929-4A58-BE25-F34FDB3E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需要哪些人员、材料与计算条件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743C7-486A-46FC-B911-BDACB5FB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按实施次数、工作量与使用时长估算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1B1E0-F766-4E7C-9E38-FF40EA7C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核对报价、费用归属和当期规定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7665B-1C1F-4151-8714-025430C4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2026国自然案例：青年A、B、C类等实行包干制，申请时无需编制预算；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其余项目按规定实行预算制，结合实际研究需要编报。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1905C-B6E2-440A-B503-3E6A0A06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预算方式按所申报类别核对，不把示例测算当作官方额度。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2DB48-BA99-4FC7-80A0-CB89AC9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7A3E9-AA1C-4103-B168-062FBFCE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071778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5C846-6A2A-4297-BD2A-21A6AC86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6A116-9863-4266-8144-F98AB6FF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摘要与正文的相互对应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7F7E9-B45D-436D-BC81-ADF38A3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08074-F719-442E-B372-64978F61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摘要集中说明具体问题、主要做法和准备获得的认识，信息与正文一致。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C9248-0D2C-4AE0-A2F5-308704EF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完整段落示例：问题、做法与准备回答的内容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CDCD3-ABED-491C-9B5E-5452DCDB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拟比较大学入门统计课程中两种AI辅导方式与独立解题表现的关系。在模型、题目和练习时间一致的条件下，设置常规问答与分步提示条件，记录学习者的尝试、求助与修正过程，并使用无AI新题测验评价独立作答。结合过程记录与测验结果，判断两种条件的差异及其适用范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4989A-A79F-4BA1-9409-4A74DE2F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“拟比较”“设置”“评价”描述研究安排；这里没有承诺提升幅度或写入前期成果。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4CFA8-FD2F-4B5A-B92B-64FA42B1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课程自编摘要示例，不是可直接提交的基金申请摘要。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CDBB9-67EB-4701-BB5C-72F8A082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FA3D0-634E-4EB6-8328-758ACBD7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623384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00A67-1EC8-4858-B24C-D6EFF704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AFD22-6B4F-4144-BAD0-4AF4E4B6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申报材料中的Humanizer修订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1E799-A707-44E6-86E5-65CB98F9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8CA99-2D86-4564-8BF9-D6B24EE2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空泛的研究意义可以改成具体问题、比较方式和可回答的范围。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2E68D-4E5A-47FD-A7C6-C3A2F23B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DAF6F-55DD-4C6A-9C6B-0FED13B8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本项目将构建国际领先的智能教学体系，全面揭示学习规律，大幅提升人才培养质量。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8F244-C0DA-4E2F-A839-85EC9AFC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E4EB8-2945-4B51-844E-6D8183E2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修订：具体到比较对象与测量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18155-04CD-469A-849C-88F80529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本例拟比较常规问答与分步提示两种辅导方式，用无AI新题测验观察独立解题表现，并分析作答过程与结果的对应。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280FB-264B-4D99-B850-44F0F802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两段均为教学模拟；修订不增加任何前期成果或效果数字。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3E3EC-4F6F-4CCF-940A-4704B934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933DD-ADAF-453E-8679-CFDF332A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855225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22834-26C0-4711-AF4B-1A5F0EE082E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729BF-171D-4454-9477-73FCE644FA8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161F2-AFB9-4D64-A545-9CFE78B5785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F1B07-F99B-4A6D-8566-A6079B39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C1C54-0D8E-4ABF-ABD4-A09444F8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Grant Agent的工作流与Harness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78752-21B6-4CB6-8137-34BAB71A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17D23-308E-48AF-9BFC-B000FB21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Harness记录材料版本、步骤状态和文件对应，使过程可以回查。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1F851-CA40-46AA-8B1F-3803D005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88B86-2340-4C07-BBCF-68E29AD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068A4-7934-4C27-AAD5-41CF78F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内容与路线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B2FD7-E151-4524-8F6B-55774BDE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核对与Word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26BDA-86F7-4C8B-BE37-C19EF449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保留原件，提取具体要求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2D217-AFD5-417B-BEE0-1E2E0A22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登记事实、来源与缺口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82984-F787-421E-85D3-9995553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按研究逻辑组织段落和步骤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1A755-A9DB-4E01-9FEB-EE569926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逐项检查并保留版本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88D21-89DB-4751-A6BB-0657B7AD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AD4DF-17A2-4C66-803C-98C014A6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Harness：保存输入版本、步骤状态、来源定位与失败原因的运行规则。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5F41F-CDE0-408B-B762-C0D41E71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框架图说明整体工作。本次本地执行范围在后页单独列出。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D78D5-2AAF-415D-AAB7-F9A1804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D70AA-E7FB-4137-8B0E-81BA4175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67427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A32AC-AB7C-4ACA-A406-C4B1170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FEF83-68EC-41B5-BD91-4FC665A3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要求、章节与产物的实际映射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AF02D-66E4-409D-B155-4E18CB8D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D2ACE-9457-4511-84BA-1B3A2A1D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教学指南中的每条要求，都能在映射文件中找到目标、产物和检查方式。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9E8C4-2551-4410-8045-9C2B497B8BE5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095750"/>
                <a:gridCol w="638175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模拟要求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对应研究目标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实际产物与检查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 问题与假说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明确待检验关系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问题说明与过程记录；检查变量对应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 比较与测量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形成测量方案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分组、测验与分析安排；保留待核定事项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 来源与缺口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保留事实状态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来源账本与Word；检查定位和问题清单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E25D5-527D-4BFF-8943-097BA2C3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TEACH-SECTION10-01为课程模拟指南；映射检查不等于科学评审。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D50E6-248B-4CDF-A441-8FBAFA2D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C7E3B-A3A6-442B-9666-C63493D0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78611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89B87-A2F8-454A-ABEE-9102F6FFF0E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71E56-E41C-419B-B3F4-782248B1C35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2E799-DAE4-4325-8672-7BE8D8789DF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7F331-6DD8-4A9F-BFDF-E846334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ABC65-6ACB-45C5-B8BB-D1C47AF8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本地执行记录与文件输出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57033-4061-424C-8FBD-7B901CC2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84A1A-1552-41D4-B4A0-C9860F78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本次实际读取JSON和Word模板，完成结构核对、填充并写出草稿。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AB59C-FCB1-43B6-B044-5B33D4B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27027-56F2-458B-8BC3-1DD371E4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结构核对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3E309-232A-4D6F-8A97-6154541D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A2526-CF47-439C-B210-A582BC8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草稿写出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640F6-8D74-44E2-A08C-9F817247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guide.json / grant.json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2DF9D-E51E-42E8-A9A9-9448DA8F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检查章节、来源标识与映射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AD407-5116-45EA-AE3E-82562EB4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使用输入中的现成段落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D4081-3C39-4905-BF24-315783BA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grant-draft.docx及记录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698C6-CC5C-4487-8358-999E6DFF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实际状态：草稿已写出，仍待研究者核对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0941F-2901-414F-B49A-BD9822C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外部模型调用：无。科学有效性核验：未执行。输入、模板、指南与Word均可核对文件版本。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8853E-AB5A-4E3D-958F-1CE6DA25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真实本地运行，无外部模型调用；输入段落已由课程编写。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2725D-6322-400A-8280-1B58EDB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8AC80-677F-4DB4-A3C7-D0D94C5C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382962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EB43B-0E6D-4B72-8C6B-7DDAE901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4A691-92E3-4D53-A039-CD1DFB6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异常材料的实际拦截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BBC61-D084-4A70-9DFC-8777CE50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FB6EE-343A-4013-AFDB-EFB1FF7F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指南章节不一致、未知来源、模板缺章和未经签核的最终导出，均有真实失败记录。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DD7A4-E336-4E3A-BEF1-F8C284FA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指南与章节不一致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8F601-09BD-41E9-B87B-BA107A3D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检出章节名与指南不一致，停止写出Word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DF951-EE89-4A6E-8D44-93937413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D77D6-E7C4-4D11-B4D7-8EEC6A92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引用未登记来源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A93FA-E5F9-4FF7-804E-8C6CE03B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来源标识未登记，停止写出Word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E36BF-D35E-4CDC-83D2-4657BFC0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69587-3650-4D01-AD69-09B06074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模板缺少必需章节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C0C47-E41B-4FBB-B0F3-200206AB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未找到研究内容的填充位置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1A63C-9695-4017-B279-E353AC10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010B3-9D2A-4D83-A6F1-BA7E30AC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未经签核请求最终导出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986EE-785C-4D35-9127-627F78BB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最终导出被拒绝，未生成正式稿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44258-14EF-4D51-91D5-9841EBB3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15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EF480-C97C-4B3C-B091-E13EC927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4项异常已实际触发拦截；覆盖范围以具体检查规则为限。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3DA54-2BCE-43BC-9E65-1637E2A0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DEDB8-7920-45DC-B24D-12DD2176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028280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FB477-2F3C-42EE-9D4E-8EFB70B7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628D3-8BBC-4512-B792-9F273FB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生成后的Word及其使用范围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2B504-9B22-4B4F-868F-5B81512D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1AA9D-7D11-46F2-ACFA-486BBB9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Word保留研究设计、来源和未决问题，可编辑，也能逐页检查。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4D4FC-3997-4EF7-B7CC-E09B0CBEE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2e46713db4655"/>
          <a:stretch xmlns:a="http://schemas.openxmlformats.org/drawingml/2006/main"/>
        </p:blipFill>
        <p:spPr>
          <a:xfrm xmlns:a="http://schemas.openxmlformats.org/drawingml/2006/main">
            <a:off x="929770" y="3000375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0E3F8-83BB-459E-BCD7-30A8FCCF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实际Word第一页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A3682-6CFA-4AA5-9857-93CAF3CE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可编辑正文与独立记录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E686F-E7C7-49C9-A839-81B169CB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正文：立项依据、研究内容、研究基础。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来源账本：登记资料身份和章节引用。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问题清单：保留基础、创新性、设计条件及使用范围的缺口。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A111D-D68A-4228-9E2C-C1204BC1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模板为课程自编，非官方申请书模板。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A65BE-DF4D-4A2B-9E1C-54A68970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页面预览来自本地DOCX实际渲染；完整Word与来源账本随包保留。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C5B68-6401-482D-8B39-BAC84FB8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C06F2-02C6-4AE6-BC41-17D6908A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947357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0B61D-ABD2-4576-BC0B-ABD7D6A9C39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14337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2691F-C059-465F-A8B4-A1B1E130802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14337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B4D8E-6048-4BA0-9C1E-C747318A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E14B6-6973-44FA-B305-CD0AD413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提交前的完整性与研究者判断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A51C8-56D9-4B83-8981-4A558AB6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D086-BA2E-4A11-A9C9-58053F4F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正式申报要核对当年要求、真实研究材料和最终排版，再由申请人与单位履行职责。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DF6EB-8334-414F-8777-A91A662E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当年官方要求与模板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252CB-F1EB-4C05-8666-82F49496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真实材料与研究者论证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3FAB8-7C34-4A17-87A0-887FE278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核对事实、引用、贡献、伦理与使用声明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DA7A5-DAFB-4A91-8F6E-D7B3B7B2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申请人与单位按职责核对最终版本，按正式系统流程提交。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4FB62-75EF-498B-8152-59EAA8CA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下一节：专利挖掘与技术交底。本节产物仍为教学材料。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4C7A2-1108-4FAF-B50C-D509FFE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AFAEA-DA98-40D8-B9EB-D649ED89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78344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2026-10-18T05:10:28.9350000Z</dcterms:created>
  <dcterms:modified xsi:type="dcterms:W3CDTF">2026-10-18T05:10:28.9350000Z</dcterms:modified>
</coreProperties>
</file>