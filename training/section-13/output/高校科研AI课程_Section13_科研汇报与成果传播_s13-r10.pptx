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da8fe084914ebe" /><Relationship Type="http://schemas.openxmlformats.org/officeDocument/2006/relationships/extended-properties" Target="/docProps/app.xml" Id="R632f216a2bf34475" /><Relationship Type="http://schemas.openxmlformats.org/officeDocument/2006/relationships/officeDocument" Target="/ppt/presentation.xml" Id="R22e7b47db5f644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8dbb035bc64b60"/>
  </p:sldMasterIdLst>
  <p:notesMasterIdLst>
    <p:notesMasterId xmlns:r="http://schemas.openxmlformats.org/officeDocument/2006/relationships" r:id="R4aba3aebbb9d4d6a"/>
  </p:notesMasterIdLst>
  <p:sldIdLst>
    <p:sldId xmlns:r="http://schemas.openxmlformats.org/officeDocument/2006/relationships" id="256" r:id="R7a36772a5b464083"/>
    <p:sldId xmlns:r="http://schemas.openxmlformats.org/officeDocument/2006/relationships" id="257" r:id="Ra29ff4f9a66f4c5b"/>
    <p:sldId xmlns:r="http://schemas.openxmlformats.org/officeDocument/2006/relationships" id="258" r:id="R7e888bb10a584804"/>
    <p:sldId xmlns:r="http://schemas.openxmlformats.org/officeDocument/2006/relationships" id="259" r:id="R5897717f27284e02"/>
    <p:sldId xmlns:r="http://schemas.openxmlformats.org/officeDocument/2006/relationships" id="260" r:id="R7d70a4f7f7ec481a"/>
    <p:sldId xmlns:r="http://schemas.openxmlformats.org/officeDocument/2006/relationships" id="261" r:id="Rb79a9bd7cae246c1"/>
    <p:sldId xmlns:r="http://schemas.openxmlformats.org/officeDocument/2006/relationships" id="262" r:id="Re2e658db79004e6d"/>
    <p:sldId xmlns:r="http://schemas.openxmlformats.org/officeDocument/2006/relationships" id="263" r:id="R03941e6deab14178"/>
    <p:sldId xmlns:r="http://schemas.openxmlformats.org/officeDocument/2006/relationships" id="264" r:id="Rc5336c9814814935"/>
    <p:sldId xmlns:r="http://schemas.openxmlformats.org/officeDocument/2006/relationships" id="265" r:id="R8ea5f6d0a40849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ac677b1b34c30" /><Relationship Type="http://schemas.openxmlformats.org/officeDocument/2006/relationships/slideMaster" Target="/ppt/slideMasters/slideMaster1.xml" Id="R438dbb035bc64b60" /><Relationship Type="http://schemas.openxmlformats.org/officeDocument/2006/relationships/notesMaster" Target="/ppt/notesMasters/notesMaster1.xml" Id="R4aba3aebbb9d4d6a" /><Relationship Type="http://schemas.openxmlformats.org/officeDocument/2006/relationships/presProps" Target="/ppt/presProps.xml" Id="R810b1084e06f4791" /><Relationship Type="http://schemas.openxmlformats.org/officeDocument/2006/relationships/tableStyles" Target="/ppt/tableStyles.xml" Id="R5b01d64a947f4ca7" /><Relationship Type="http://schemas.openxmlformats.org/officeDocument/2006/relationships/slide" Target="/ppt/slides/slide1.xml" Id="R7a36772a5b464083" /><Relationship Type="http://schemas.openxmlformats.org/officeDocument/2006/relationships/slide" Target="/ppt/slides/slide2.xml" Id="Ra29ff4f9a66f4c5b" /><Relationship Type="http://schemas.openxmlformats.org/officeDocument/2006/relationships/slide" Target="/ppt/slides/slide3.xml" Id="R7e888bb10a584804" /><Relationship Type="http://schemas.openxmlformats.org/officeDocument/2006/relationships/slide" Target="/ppt/slides/slide4.xml" Id="R5897717f27284e02" /><Relationship Type="http://schemas.openxmlformats.org/officeDocument/2006/relationships/slide" Target="/ppt/slides/slide5.xml" Id="R7d70a4f7f7ec481a" /><Relationship Type="http://schemas.openxmlformats.org/officeDocument/2006/relationships/slide" Target="/ppt/slides/slide6.xml" Id="Rb79a9bd7cae246c1" /><Relationship Type="http://schemas.openxmlformats.org/officeDocument/2006/relationships/slide" Target="/ppt/slides/slide7.xml" Id="Re2e658db79004e6d" /><Relationship Type="http://schemas.openxmlformats.org/officeDocument/2006/relationships/slide" Target="/ppt/slides/slide8.xml" Id="R03941e6deab14178" /><Relationship Type="http://schemas.openxmlformats.org/officeDocument/2006/relationships/slide" Target="/ppt/slides/slide9.xml" Id="Rc5336c9814814935" /><Relationship Type="http://schemas.openxmlformats.org/officeDocument/2006/relationships/slide" Target="/ppt/slides/slide10.xml" Id="R8ea5f6d0a408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c4a8ac8f18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90666ca934314" /><Relationship Type="http://schemas.openxmlformats.org/officeDocument/2006/relationships/notesMaster" Target="/ppt/notesMasters/notesMaster1.xml" Id="R58959e6e515449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f062676ac4fb0" /><Relationship Type="http://schemas.openxmlformats.org/officeDocument/2006/relationships/notesMaster" Target="/ppt/notesMasters/notesMaster1.xml" Id="R5617a7b3d48441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b070988db64950" /><Relationship Type="http://schemas.openxmlformats.org/officeDocument/2006/relationships/notesMaster" Target="/ppt/notesMasters/notesMaster1.xml" Id="R9c4a955fc94241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d0e26a6a04e2c" /><Relationship Type="http://schemas.openxmlformats.org/officeDocument/2006/relationships/notesMaster" Target="/ppt/notesMasters/notesMaster1.xml" Id="R79ca7976f6a743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61617033d54979" /><Relationship Type="http://schemas.openxmlformats.org/officeDocument/2006/relationships/notesMaster" Target="/ppt/notesMasters/notesMaster1.xml" Id="R2abeae05be344c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a26101776e42ff" /><Relationship Type="http://schemas.openxmlformats.org/officeDocument/2006/relationships/notesMaster" Target="/ppt/notesMasters/notesMaster1.xml" Id="R14b68b5df1ec47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ce45352a69453f" /><Relationship Type="http://schemas.openxmlformats.org/officeDocument/2006/relationships/notesMaster" Target="/ppt/notesMasters/notesMaster1.xml" Id="Rdfe0cdb4f2d94e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1598845345493a" /><Relationship Type="http://schemas.openxmlformats.org/officeDocument/2006/relationships/notesMaster" Target="/ppt/notesMasters/notesMaster1.xml" Id="Rd665f35f95ca49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29805ecf3f4d9d" /><Relationship Type="http://schemas.openxmlformats.org/officeDocument/2006/relationships/notesMaster" Target="/ppt/notesMasters/notesMaster1.xml" Id="R5f821a20676b4c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af7e8ed9214ba7" /><Relationship Type="http://schemas.openxmlformats.org/officeDocument/2006/relationships/notesMaster" Target="/ppt/notesMasters/notesMaster1.xml" Id="Rcf4357456b6347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行想理解证据和方法，评审人员需要核对工作及缺口，普通读者需要知道比较了什么以及能说明什么。这些是本课程的表达组织建议，不是对所有读者的固定分类。贯穿案例来自公开数据二次计算，无新论文、现场采集或获批项目主张。AI可以协助调整语言与图示，作者仍需核对事实和发布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UF2025第3页的报告组织，而非逐页照读论文。问题是公开数据中Adelie所选记录的雌雄鳍长怎样分布；方法是限定物种、保留性别和鳍长字段完整记录后作描述统计；结果是分布与均值；解释须保留数据归属、个体重复和采样依赖的缺口。背景内容以听众理解这个问题为准，详细清洗和统计可留备份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课件第23页用左右分支、条件和连接图解释尘埃粒径演化的示意过程。本课程只分析可见的讲图方式：条件放在分支上，颜色及连接帮助追踪过程，底部保留作者与年份。没有复核其2019和2024论文的全部模型或物理结论，不将图作为本课程科研结果。第20页的冲浪拼合宣传图不作为科学证据采用，第31页的过密反例也不搬入我们的统计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本节重新计算的分组频数。横轴为鳍长区间，纵轴为记录数，组别各73条，分箱宽5毫米，左闭右开，最后一箱右端包含。均值差4.6164毫米显示4.62；雌雄分布有重叠，均值差不表示每只雄性都更长。n是保留记录数，未确认独立个体数。没有误差线或显著性标记，因为本页只作描述，不把未确认的独立性藏在推断符号中。 讲图时先读190至195毫米这一档：雌性21条，雄性24条，左闭右开。均值差4.62毫米约0.46厘米；这不是每个个体之间的差值。完整讲图稿及3条预设问答见figure-narration.json和图表讲述稿.md，未作计时彩排。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段落分别面向同行、项目评审和普通读者。同行版保留筛选与方法，评审版强调已完成的材料和缺口，普通读者版把4.62毫米解释为不到半厘米，并说明没有测量游泳快慢。三个版本均写146条、雌雄各73条、4.62毫米和公开数据来源。没有把描述差异改成因果，也没有把二次计算写成亲自采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反例中的显著突破和性别决定鳍长机制均没有证据。修订把评价删掉，将因果改回描述统计，补回公开来源、146条记录、雌雄各73条、雄减雌4.62毫米和未说明因果机制。表达修订时锁定这些内容，再读句子是否顺畅。脚本只核对固定数字字段，不把数字匹配说成语义审查或检测无AI痕迹的保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Horst、Hill与Gorman，palmerpenguins公开数据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data、License、References；原CSV与来源哈希在communication-packet/input，结果为本节重新计算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CID是持续的人标识，DOI标识具体成果，不能混用。ORCID的成果可通过连接或导入已有系统关联，仍要核对作者、版本、缺失字段和可见性。单位或个人主页可把研究方向、本人贡献、成果稳定链接和联系方式组织在一起，这是课程建议。ResearchGate用于展示研究、贡献与交流，需核对作者匹配，不能因条目自动出现就认领他人成果。平台资料完整不证明研究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for Researchers</a:t>
            </a:r>
          </a:p>
          <a:p xmlns:a="http://schemas.openxmlformats.org/drawingml/2006/main">
            <a:r>
              <a:t>https://info.orcid.org/researchers/</a:t>
            </a:r>
          </a:p>
          <a:p xmlns:a="http://schemas.openxmlformats.org/drawingml/2006/main">
            <a:r>
              <a:t>定位：What is ORCID、Why get an ORCID、Optimize your ORCID；持续身份标识、成果关联和可见性，未操作真实账号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ORCID Help，Add works using an identifier</a:t>
            </a:r>
          </a:p>
          <a:p xmlns:a="http://schemas.openxmlformats.org/drawingml/2006/main">
            <a:r>
              <a:t>https://support.orcid.org/hc/en-us/articles/360022298153-Add-works-using-an-identifier</a:t>
            </a:r>
          </a:p>
          <a:p xmlns:a="http://schemas.openxmlformats.org/drawingml/2006/main">
            <a:r>
              <a:t>定位：Introduction与步骤4、5：优先通过导入或连接已有系统添加成果，核对字段与可见性；不是自动确认归属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DOI Foundation，What is a DOI?</a:t>
            </a:r>
          </a:p>
          <a:p xmlns:a="http://schemas.openxmlformats.org/drawingml/2006/main">
            <a:r>
              <a:t>https://www.doi.org/the-identifier/what-is-a-doi/</a:t>
            </a:r>
          </a:p>
          <a:p xmlns:a="http://schemas.openxmlformats.org/drawingml/2006/main">
            <a:r>
              <a:t>定位：What is a DOI与persistent identifiers：标识对象并提供可解析的持续引用；本节没有注册或赋予任何新DOI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的预印本、接受稿和出版版本可分享范围可能不同，应查许可及出版社规则。ResearchGate官方说明上传者须确认分享权利，作者身份本身不等于任何版本都可上传。专利及未公开成果另核对单位安排和可披露范围，课件不作个案法律判断。介绍文字保留成果稳定链接、版本及来源；若只可公开元数据，可提供允许的摘要和链接。不得把AI生成图当作观测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Help，Copyright and ResearchGate</a:t>
            </a:r>
          </a:p>
          <a:p xmlns:a="http://schemas.openxmlformats.org/drawingml/2006/main">
            <a:r>
              <a:t>https://help.researchgate.net/copyright/copyright-and-researchgate</a:t>
            </a:r>
          </a:p>
          <a:p xmlns:a="http://schemas.openxmlformats.org/drawingml/2006/main">
            <a:r>
              <a:t>定位：开头版权责任与General principles：预印本、接受稿、出版版本的分享规则可能不同，需核对许可和出版社规则；未对具体论文作法律结论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ResearchGate Help，What is my Profile 与 How to add research</a:t>
            </a:r>
          </a:p>
          <a:p xmlns:a="http://schemas.openxmlformats.org/drawingml/2006/main">
            <a:r>
              <a:t>https://help.researchgate.net/profile/what-is-my-profile</a:t>
            </a:r>
          </a:p>
          <a:p xmlns:a="http://schemas.openxmlformats.org/drawingml/2006/main">
            <a:r>
              <a:t>定位：个人资料用于呈现研究及贡献；成果条目另见https://help.researchgate.net/research-and-publications/how-to-add-research；未登录、认领成果或上传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本次实际生成的Word第一页，经LibreOffice渲染，不是Agent执行截图或平台界面。源文本brief.json可编辑，原CSV和来源记录随包；facts.json保存实算分布和均值，expression-check只检查锁定数字字段。Word及Markdown保留教学属性和限制。发布、研究者确认、平台账号操作均未进行。 Word第三页为分布图讲述示例，具体区间频数和单位换算由本地程序核对。不是演讲效果实测或真实读者反馈。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本节实际复算和文件整理记录</a:t>
            </a:r>
          </a:p>
          <a:p xmlns:a="http://schemas.openxmlformats.org/drawingml/2006/main">
            <a:r>
              <a:t>local:training/section-13/execution-evidence.json</a:t>
            </a:r>
          </a:p>
          <a:p xmlns:a="http://schemas.openxmlformats.org/drawingml/2006/main">
            <a:r>
              <a:t>定位：make_packet.py、facts.json、expression-check.json及Word；无外部模型调用，无平台账号操作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本节自编科研汇报与传播教学表达</a:t>
            </a:r>
          </a:p>
          <a:p xmlns:a="http://schemas.openxmlformats.org/drawingml/2006/main">
            <a:r>
              <a:t>local:training/section-13/communication-packet/input/brief.json</a:t>
            </a:r>
          </a:p>
          <a:p xmlns:a="http://schemas.openxmlformats.org/drawingml/2006/main">
            <a:r>
              <a:t>定位：三个读者版本、错误表述与修订、事实限定；不代表原作者对外表达或正式项目报告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以同一企鹅公开数据二次分析编排四个相对时点，三个月节奏是课程示例，不是机构规定或已完成活动。四份完整Markdown草稿及CSV/JSON安排在outreach-packet。第1周解释146条记录中雌雄各73、均值差4.62毫米；第1月末说明344至152至146筛选与代码版本；第2月末用预设问答说明未测游泳速度、分布重叠和外推限制；第3月末检查链接、哈希和复算一致性，若需修改则保留旧版和原因。问答由课程设置，不能说成收到的读者反馈。没有平台发布、日历提醒、访问或采纳数据。原第10页的现场问答和反馈区分保留在R3、R4草稿：回答回到已测内容，传播统计、具体问题及后续使用分别留真实证据。正式传播需作者确认素材、署名、版本和公开权限；不为更新频率新增未经证实的发现。下一节转入本地与云端Agent的实际运行范围。 首季度结束后，依据实际问题、资料和可用精力编排下一季度；没有资料变化时也可以暂停更新，不设自动发布循环。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Desika Narayanan，Giving Scientific Presentations，SURF/UF REUs 2025，University of Florida</a:t>
            </a:r>
          </a:p>
          <a:p xmlns:a="http://schemas.openxmlformats.org/drawingml/2006/main">
            <a:r>
              <a:t>https://www.eng.ufl.edu/surf/wp-content/uploads/sites/243/2025/07/Narayanan_Scientific_PresentationsCopressed.pdf</a:t>
            </a:r>
          </a:p>
          <a:p xmlns:a="http://schemas.openxmlformats.org/drawingml/2006/main">
            <a:r>
              <a:t>定位：已逐页查看PDF第3、14、20、23、27、29、31页；采用问题与证据组织、术语解释、图示与可读性。第23页原图仅供讲图示范，非本课程研究结果；未采用第20页拼合宣传图或第31页反例中的统计值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UKRI Guidance on engaging the public with your research</a:t>
            </a:r>
          </a:p>
          <a:p xmlns:a="http://schemas.openxmlformats.org/drawingml/2006/main">
            <a:r>
              <a:t>https://www.ukri.org/manage-your-award/good-research-resource-hub/guidance-on-engaging-the-public-with-your-research/</a:t>
            </a:r>
          </a:p>
          <a:p xmlns:a="http://schemas.openxmlformats.org/drawingml/2006/main">
            <a:r>
              <a:t>定位：2026-10-19读Identify your target group、Listen to the public、Measure success；具体月度安排由课程编写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本节三个月传播安排与四份教学草稿</a:t>
            </a:r>
          </a:p>
          <a:p xmlns:a="http://schemas.openxmlformats.org/drawingml/2006/main">
            <a:r>
              <a:t>local:training/section-13/outreach-packet/plan.json</a:t>
            </a:r>
          </a:p>
          <a:p xmlns:a="http://schemas.openxmlformats.org/drawingml/2006/main">
            <a:r>
              <a:t>定位：四份Markdown、材料状态、CSV与核对；没有实际平台发布、用户反馈或传播指标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2d2acf70743e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6520d630f447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113bdb26145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3aa7b35784f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ca65af38b43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ecc95062745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AB0295-88A0-4D1A-A6E6-E7B03F196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52A5CF-45F3-407F-8A63-550A4FBBFA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8FAA2B-D247-4F6C-B385-1468D6D670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BB0590-7FAB-40F9-9998-54330BBA10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20260D2-94A0-4FD4-9AE5-D68C4D4EC5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0D35F-D461-4AE8-BEED-22ADF03D9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88DA23-515A-456C-B221-7293EA8912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84C733-6B75-439F-AED4-4C9FE6B871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6263CC-3242-48F4-8C7D-5F88A714EB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BE6367-2EAF-4C70-9FEE-13737B3D7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bb8a8a4d548f7" /><Relationship Type="http://schemas.openxmlformats.org/officeDocument/2006/relationships/slideLayout" Target="/ppt/slideLayouts/slideLayout1.xml" Id="R4c360a2e82b44cf3" /><Relationship Type="http://schemas.openxmlformats.org/officeDocument/2006/relationships/slideLayout" Target="/ppt/slideLayouts/slideLayout2.xml" Id="Rd2849d68174147b4" /><Relationship Type="http://schemas.openxmlformats.org/officeDocument/2006/relationships/slideLayout" Target="/ppt/slideLayouts/slideLayout3.xml" Id="Rad73fac8281b42ea" /><Relationship Type="http://schemas.openxmlformats.org/officeDocument/2006/relationships/slideLayout" Target="/ppt/slideLayouts/slideLayout4.xml" Id="Ree96509f68874f51" /><Relationship Type="http://schemas.openxmlformats.org/officeDocument/2006/relationships/slideLayout" Target="/ppt/slideLayouts/slideLayout5.xml" Id="R3637c057c0a64dd5" /><Relationship Type="http://schemas.openxmlformats.org/officeDocument/2006/relationships/slideLayout" Target="/ppt/slideLayouts/slideLayout6.xml" Id="Ra64f06746b1844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60a2e82b44cf3"/>
    <p:sldLayoutId xmlns:r="http://schemas.openxmlformats.org/officeDocument/2006/relationships" id="2147483650" r:id="Rd2849d68174147b4"/>
    <p:sldLayoutId xmlns:r="http://schemas.openxmlformats.org/officeDocument/2006/relationships" id="2147483651" r:id="Rad73fac8281b42ea"/>
    <p:sldLayoutId xmlns:r="http://schemas.openxmlformats.org/officeDocument/2006/relationships" id="2147483652" r:id="Ree96509f68874f51"/>
    <p:sldLayoutId xmlns:r="http://schemas.openxmlformats.org/officeDocument/2006/relationships" id="2147483653" r:id="R3637c057c0a64dd5"/>
    <p:sldLayoutId xmlns:r="http://schemas.openxmlformats.org/officeDocument/2006/relationships" id="2147483654" r:id="Ra64f06746b1844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944ce373054731" /><Relationship Type="http://schemas.openxmlformats.org/officeDocument/2006/relationships/notesSlide" Target="/ppt/notesSlides/notesSlide1.xml" Id="R83c757105ee5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3820653474c80" /><Relationship Type="http://schemas.openxmlformats.org/officeDocument/2006/relationships/notesSlide" Target="/ppt/notesSlides/notesSlide2.xml" Id="R3045f295e916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8a1f48a874d1a" /><Relationship Type="http://schemas.openxmlformats.org/officeDocument/2006/relationships/image" Target="/ppt/media/image.png" Id="R24c2085a8da74b9f" /><Relationship Type="http://schemas.openxmlformats.org/officeDocument/2006/relationships/notesSlide" Target="/ppt/notesSlides/notesSlide3.xml" Id="R8c977311d360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a568acc89b49f0" /><Relationship Type="http://schemas.openxmlformats.org/officeDocument/2006/relationships/chart" Target="/ppt/slides/charts/chart1.xml" Id="R87916a75089c4234" /><Relationship Type="http://schemas.openxmlformats.org/officeDocument/2006/relationships/notesSlide" Target="/ppt/notesSlides/notesSlide4.xml" Id="Ra042434ea10f40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d9c3dfa3e34e9e" /><Relationship Type="http://schemas.openxmlformats.org/officeDocument/2006/relationships/notesSlide" Target="/ppt/notesSlides/notesSlide5.xml" Id="R5be6271bf02445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b5b268b424099" /><Relationship Type="http://schemas.openxmlformats.org/officeDocument/2006/relationships/notesSlide" Target="/ppt/notesSlides/notesSlide6.xml" Id="Rf980d4b1da2f43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29bd55c2b40c6" /><Relationship Type="http://schemas.openxmlformats.org/officeDocument/2006/relationships/notesSlide" Target="/ppt/notesSlides/notesSlide7.xml" Id="Re96bc73d36ed4c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f13087d8145e8" /><Relationship Type="http://schemas.openxmlformats.org/officeDocument/2006/relationships/notesSlide" Target="/ppt/notesSlides/notesSlide8.xml" Id="Rdcdc70885e89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7c68e2234455e" /><Relationship Type="http://schemas.openxmlformats.org/officeDocument/2006/relationships/image" Target="/ppt/media/image2.png" Id="Re6dbd3b1e8cf4430" /><Relationship Type="http://schemas.openxmlformats.org/officeDocument/2006/relationships/notesSlide" Target="/ppt/notesSlides/notesSlide9.xml" Id="Rdcdbd51f2fa747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756861ce14c28" /><Relationship Type="http://schemas.openxmlformats.org/officeDocument/2006/relationships/notesSlide" Target="/ppt/notesSlides/notesSlide10.xml" Id="Rfd41d5c434e04f8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>
                <a:latin typeface="Microsoft YaHei"/>
                <a:ea typeface="Microsoft YaHei"/>
                <a:cs typeface="Microsoft YaHei"/>
              </a:rPr>
              <a:t>所选Adelie记录的鳍长分布（mm）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雌性 n=73</c:v>
          </c:tx>
          <c:spPr>
            <a:solidFill xmlns:a="http://schemas.openxmlformats.org/drawingml/2006/main">
              <a:srgbClr val="245B77"/>
            </a:solidFill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雄性 n=73</c:v>
          </c:tx>
          <c:spPr>
            <a:solidFill xmlns:a="http://schemas.openxmlformats.org/drawingml/2006/main">
              <a:srgbClr val="2C6D68"/>
            </a:solidFill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965C1-6257-4471-A2B0-50B9785F5B3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10250" y="5000625"/>
            <a:ext cx="2095500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A3D2-55D0-4D8E-A1EA-A8B7F6A507A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10250" y="5000625"/>
            <a:ext cx="2095500" cy="71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2E5A0-CCEA-4E13-B04A-6D15FF78A85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810250" y="3548063"/>
            <a:ext cx="2095500" cy="1452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C3573-97F3-4D4F-831F-DDE034B1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50D30-A2F5-4992-AAC3-A00D24E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科研汇报与成果传播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674503-B962-4718-8D7B-57A5FF8E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A9DEA-2783-4581-ADC6-799CC304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同一项研究面对不同读者，需要调整背景和讲解顺序，同时保持事实与限定一致。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93682-FA9F-42F7-92FB-B5DC5FCC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504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同一组已核对的研究事实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E537D-E248-42E1-A4C4-C340A6D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同行汇报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1170C-36E8-452F-A8BE-A339869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43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数据、方法与解释范围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C61D8-4B0A-4D39-8597-0D1F1D0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项目评审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B012-1A06-43FC-877B-5F37FE6D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667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完成情况、证据与缺口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BC68C-88B6-4963-9A25-AD021DF6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912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普通读者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9591A-F063-4A7B-A882-6545BD35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191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比较了什么，能说明什么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69C77-59E4-4535-B4D0-3732ACBC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贯穿案例为公开企鹅数据的二次计算，三个版本均为自编教学表达。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DF663-CC27-4389-80F6-A0FCA0C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来源：佛罗里达大学2025原始课件；AI编写教学示例，未发布；palmerpenguins公开数据，课程二次计算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4C005-AA9B-49B5-8955-51BA8A76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06995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D1CA8C-5729-432B-BF51-F962A4035FD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E473A-0023-464A-864D-4A3C4A12F76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C34DE-280C-425D-848C-2BBEC21854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395A66-D8EF-440A-90DB-55F73532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5195E-15BB-49DF-BFF9-28D8909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科研报告中的问题与证据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4FF47-8B97-4191-AC33-E419499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F75B6-27EB-4A03-A322-92B95DA9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从明确问题进入数据和方法，再解释主要结果、适用范围与仍待回答的问题。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5E56-9031-45C8-AA1D-95F51A7C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A7A98-D7FF-4665-9A52-C1C80821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7D01EA-8208-431B-AD4B-686A4EEE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读出结果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B5C24-8ADD-42CF-B992-FC5BAF56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限定解释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2CCCD-F283-4EC1-8C08-1C92181F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Adelie雌雄鳍长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平均和分布有何不同？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966C39-4B17-42BA-B9D8-222C47B8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公开344条记录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筛得146条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雌雄各73条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3FE75-D400-41F7-AB9F-15A7D23A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雄减雌4.62毫米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190至195毫米档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雌21条，雄24条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B13AF-DA48-48CB-BCCD-A352A58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仅作描述统计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采样依赖尚待核对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未作因果识别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78CD73-0EC1-48B1-A2A4-EC9E600C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背景服务于听懂问题；细节、完整统计和补充图留在可查阅的材料中。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002B5C-26FE-4E1C-B682-9AB0C81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本例只比较所选记录的分组差异，尚未核对采样依赖，不作因果解释。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689866-296A-4EA1-BAC4-7235400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来源：佛罗里达大学2025原始课件；palmerpenguins公开数据，课程二次计算；AI编写教学示例，未发布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2498A-AF4D-4D55-B4DA-60F2532A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3133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62278-E84C-4880-A152-3A8E47AB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DE252-5861-405E-A239-8B19C4B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科学图中的条件、过程与来源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B52F1F-8749-433B-B5F4-DDB4DA8D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420DB-FDD2-4B83-9FAE-C6054107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图中的分支和连接应帮助读者理解过程，关键条件与图源需要随图保留。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B6D74-AD38-4A0A-B20D-27645324AC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2085a8da74b9f"/>
          <a:stretch xmlns:a="http://schemas.openxmlformats.org/drawingml/2006/main"/>
        </p:blipFill>
        <p:spPr>
          <a:xfrm xmlns:a="http://schemas.openxmlformats.org/drawingml/2006/main">
            <a:off x="983742" y="3048000"/>
            <a:ext cx="812901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CA18-7321-42F9-B87C-3DF59DFA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6DDFF-37EE-4A7F-8319-54C6745B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分支写明条件，说明何时适用。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060B6-5FD6-4A9E-886B-973B317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720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C267D-43B8-4492-9C98-EDBC1E82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43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连接与颜色帮助读者追踪变化。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799F0-A1D4-4AA5-8487-88849D1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0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E8566-B612-40B0-AD0C-EAB4DDD6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722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作者和年份随图保留，便于回查。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7960E-5408-4CFC-8D92-B75018AB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左图为UF2025课件第23页原图，用于讲图示范，不是本课程的观测或模拟结果。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EAEBB3-5213-4B5C-B605-AFACDAB8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013AB-C899-4374-8AC3-16F5923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97224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427EA-C617-4584-99B8-1BE2FB83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0E18B-8D3B-44A4-B7B9-E3064040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结果图怎样支持现场解释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9B580-63B8-499B-A36D-6BDDE29F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30D7F-8602-4630-8E2D-0E202F2E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比较均值时同时展示分布，让听众看到组内变化与两组重叠。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E7F22C-4DD3-4584-A17A-61F538894ACB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525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916a75089c423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E6296-0C84-4309-A0D6-354503A4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190875"/>
            <a:ext cx="352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怎样解释这张图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2CF3-DB17-4E16-A835-EE6AAA1D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95750"/>
            <a:ext cx="352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横轴：每档5毫米。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纵轴：记录数。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190至195毫米这一档：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雌性21条，雄性24条。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均值差4.62毫米，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分布仍有重叠。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DF880-3B63-4248-9F30-693C6DB5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分箱宽5 mm，两组各73条记录；图由公开CSV实算，无游泳性能或因果结论。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7662D-E274-4230-A4BF-1B95A8EC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来源：palmerpenguins公开数据，课程二次计算；实际本地复算与文件记录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3D2AB-B91E-4C93-8915-9D114132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75277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C87C4-D8E9-467F-8C60-809BE090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2688C-3797-4C4C-91F1-B0222059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同一结果的三种读者版本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24A3B-5662-4782-8048-A38F48F4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91928-2B2F-4CC4-AAA1-7D743249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改变的是解释重点，分析对象、数字、单位和证据范围应保持一致。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D4223-ADE1-4E93-8687-22096A331BFF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1083469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同一事实的不同表达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同行汇报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对palmerpenguins公开数据的146条Adelie记录作描述统计，雌雄各73条。雄性平均鳍长比雌性高4.62 mm。筛选条件、分组结果和程序随材料保存，个体重复与采样依赖尚待核对。该差值描述所选记录，不作因果解释。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项目评审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已完成公开数据筛选和均值复算，保留146条Adelie记录，雌雄各73条，雄性平均鳍长比雌性高4.62 mm。原始CSV、来源记录、程序和结果可逐项核对。个体标识与抽样依据仍需补查，当前未确认总体外推范围。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83469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普通读者</a:t>
                      </a:r>
                    </a:p>
                  </a:txBody>
                  <a:tcPr marL="142875" marR="142875" marT="95250" marB="66675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本次比较使用公开资料中的146条Adelie企鹅记录，雌雄各73条。雄性的鳍状翼平均比雌性长4.62 mm，也就是不到半厘米。平均有差别，不表示每只雄性都比雌性长；这次比较也没有测量游泳快慢。数据由原研究项目采集，本课程只作二次计算。</a:t>
                      </a:r>
                    </a:p>
                  </a:txBody>
                  <a:tcPr marL="142875" marR="142875" marT="95250" marB="66675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1A16C-D07B-43F2-8C28-2994D7F9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完整段落随Word与Markdown保存，均为教学稿，未代表原作者或项目负责人对外发布。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C7A4B-62EE-4E6F-BE7B-3B6D95E9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20049-9BE8-409F-AC07-01759301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8858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A0401-0E41-4645-9C03-89E5CD46DA1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95688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44F42-B6F4-4475-BD6A-19F4382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77CB-4206-4A26-8379-A46E2E66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Humanizer修订中的事实核对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8346C-F5B7-4AA5-A71D-5B1CE13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2892C-0FC6-4014-95E3-68BE0520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删去空泛评价后，句子还需要准确说明对象、实际发现及其解释范围。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5375-6107-46B3-B228-D7A30B2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待改表达（教学反例）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78B0-0F6D-4C08-95DF-FBE14271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581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根据实际复算修订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CC06-750D-45AD-85E7-5DA481F0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5810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本研究取得显著突破，揭示了性别决定鳍长的内在机制。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CE011-5A7C-464A-BF2F-BA147B7A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在公开数据的所选146条Adelie记录中，雌雄各73条，雄性平均鳍长比雌性高4.62 mm。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该差值描述所选记录，未说明因果机制。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0CC9E-994E-4567-BC9B-77709245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删去无依据的评价，补回数据来源、样本数、单位、比较方向与限定。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C7C26-C814-4ED1-8FFD-0CC1A1E7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左侧为自编错误表达，右侧据实际复算修订；自然表达不能补出缺失的研究证据。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60C92-777F-4B7A-9641-C0A03AE7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来源：AI编写教学示例，未发布；palmerpenguins公开数据，课程二次计算；实际本地复算与文件记录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7A9BB-B182-47C9-B33D-D6E2A655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33354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F035E-EA6E-4B5D-B96A-0863396B738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001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6CC8-E660-478F-8C4E-E9CFDE7A83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238500" y="419100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34F1-E914-49EB-916A-2549B2F084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715000" y="3738563"/>
            <a:ext cx="3810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F3AB6-13F8-46AF-801F-861ECC9B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633DE-A384-47D9-BC8D-9380542E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研究者身份与成果入口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089ED-D890-4A1E-9031-0A73EFC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C0F8C-E86D-420E-A480-8092BF80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ORCID用于持续标识研究者，成果条目和个人主页则帮助读者找到具体工作。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A9362-EB54-4EF7-970A-561E6CD2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ORCID：持续的研究者标识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E7902-9C45-47DA-B156-CAE7C822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86125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DOI或稳定链接：具体成果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FC27A-2560-47AD-B2DB-DFE4490A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单位或个人主页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A8F2F-B2E7-4970-8B2A-96F315F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91250"/>
            <a:ext cx="495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ResearchGate研究条目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B881F-911F-44C8-8B17-87F8398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核对本人贡献与作者关联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193A-5687-4A39-94C2-66CB31EF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研究方向、贡献与联系方式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链接到可公开的具体成果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5D071-5FFE-40D9-B03A-2BFD4E91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19137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核对条目归属、分享版本</a:t>
            </a:r>
          </a:p>
          <a:p xmlns:a="http://schemas.openxmlformats.org/drawingml/2006/main">
            <a:pPr>
              <a:def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和内容可见范围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A8B46-9AB3-4220-9C81-227FAABD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关系图用于说明用途，不是实际账号界面；本轮未登录、认领成果或修改平台资料。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4B79E5-0842-4CE3-AE46-AAF184BE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来源：ORCID官方研究者说明；ORCID官方成果关联说明；ResearchGate官方帮助；DOI基金会官方说明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02B416-B7F3-4425-AEF8-1FB912C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68342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6A8BC-10C3-452C-B45E-4270186F67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7458F-1A7C-4FAF-81BA-E86AFC75F6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AE6ED-471A-4F31-8559-2CFF83D0071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1116FF-586E-475F-8226-07230F64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4FA70-29FA-4291-9134-E55BBD4C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公开版本与传播渠道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88337-9F6C-49AA-BF74-2F1E8FB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3EBCB-552D-42B0-ACEC-11316372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先核对可以公开的内容和版本，再让介绍文字指向论文、数据或报告的稳定入口。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36B9D-F5E6-4E9E-9791-8247A10A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公开内容与版本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E0F2-96AA-447C-B145-84AE45B8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成果的稳定入口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A0079-A923-4534-918C-8CC16E42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面向读者的介绍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E46F4-2F14-42DA-B0A9-BE5D463E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反馈与更正记录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8083-9A23-4C26-BC2E-C212D0A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核对署名、许可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及未公开信息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D9C79-CD6D-41DE-BCD9-6ACF7D0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论文、数据或报告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链接到对应版本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7A150-6256-429D-90C0-98C0499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按读者补充背景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同时保留来源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D28E2-6235-4A44-A328-B35DAE8C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保存具体问题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与实际更正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1F249-81D4-4B67-84F7-65522471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预印本、接受稿与出版版本的分享规则可能不同，上传前核对许可。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A35A5-568F-4406-B10E-7BB33E9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论文、专利、报告、学术PPT与科普稿分别核对公开权限，本节未执行任何对外发布。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1136B-F0FC-49F6-BFBE-EF43774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来源：ResearchGate官方版权说明；ResearchGate官方帮助；AI编写教学示例，未发布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AFFFA-7286-4CDA-8A0B-73A7A7B0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28001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39C01-2379-4B58-BE55-A043BABEC01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10750" y="5381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92BF1-4014-428D-886C-3D3165181C5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810750" y="39528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E3C4D-9FF2-4060-B260-A4595A67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A5473-D652-4A61-BC73-2BE8536C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可编辑表达示例与核对记录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EA624-E454-456F-B7DC-361D87A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D367-A6DE-4C63-BD75-FA3F2CC5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三个读者版本、表达修订与分布图讲稿已写入Word，数字定位和实际复算结果一起保存。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B8321-4345-4F4C-98FA-F36D93E897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bd3b1e8cf4430"/>
          <a:stretch xmlns:a="http://schemas.openxmlformats.org/drawingml/2006/main"/>
        </p:blipFill>
        <p:spPr>
          <a:xfrm xmlns:a="http://schemas.openxmlformats.org/drawingml/2006/main">
            <a:off x="1164648" y="295275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4D22C-F057-4C22-BCE8-48292157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本次实际Word第1页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57C1C-F657-4BA6-8756-0F70643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908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公开CSV与原始来源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72AFA-B32F-48EB-8756-0C23CF20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实际复算与锁定字段核对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523BA-576C-4222-8C51-525898EA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48375"/>
            <a:ext cx="7048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三个读者版本、修订与讲图稿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94311-6AB6-439E-B410-EC56F07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7191375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Word与Markdown可编辑，事实、来源和文件版本随包保留。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489A6-753A-478E-A0FD-5AC06AF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本地脚本完成复算、字段匹配与现成文字整理，没有调用外部模型或自动发布。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FF044A-85B1-40C3-831E-7421007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来源：实际本地复算与文件记录；AI编写教学示例，未发布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96003-2B5E-45F1-85FB-72BDA503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70045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01E28-C009-4695-B590-EB67882F559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2B860-D986-4F50-88E1-18C6FB8CE59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A48EB-9D38-4729-8A01-EB2324B13DE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8100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69DD1B-E13A-4EFE-848A-AAC982AA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  科研汇报与成果传播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E0859-B9CC-4FCB-99DB-F507C0AE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围绕公开材料的三个月传播安排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5F4CC-91FA-4360-BB8B-0D56726B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DC0D-649C-4255-9AB7-ABAE073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每次增加一项读者需要的信息，同时保留来源、版本和解释范围。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7F0E-7B51-4635-A24E-5DB5483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5980-E9D9-491A-9B2C-DC6FCBBF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第1月末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方法说明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29D23-5CBD-4296-B103-4CAB2F9E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第2月末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限制答疑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AE0E4-C51D-4A2D-AE5E-6D996B8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38137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第3月末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复核更新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8F97E-7D91-4E93-8DC1-FDCD418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解释4.62毫米差异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附公开数据与教学标识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7736-2B61-42DB-953A-4700D72C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344 / 152 / 146条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记录筛选与排除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代码、单位与版本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748B-2835-478D-B622-6A411DAC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说明未测游泳性能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区分预设与实际问题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5F191-1DCB-45E1-8022-F91E97FD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762500"/>
            <a:ext cx="285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复核链接与复算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保留旧版及原因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再排下一季度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8B34B-6CE7-4DB4-AF11-AE9E549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每次介绍对应可追查的材料，新增发现需要新的研究依据。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44B61-4745-47A1-9DC1-B82EA0E7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3425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反馈分别留证：访问统计、具体问题、后续使用。没有测量时写“未测量”。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548E4-560A-445C-A7EB-11FF710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教学安排，四份草稿尚未发布；没有访问、引用或采纳实测数据。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98BEB-B35D-4AE5-BAC1-40804866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来源：佛罗里达大学2025原始课件；UKRI，读者、倾听与评价指导；自编三个月教学安排，未发布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3712CA-8392-4E7A-8FCB-E8046CE6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6875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2026-10-19T16:35:11.5810000Z</dcterms:created>
  <dcterms:modified xsi:type="dcterms:W3CDTF">2026-10-19T16:35:11.5810000Z</dcterms:modified>
</coreProperties>
</file>