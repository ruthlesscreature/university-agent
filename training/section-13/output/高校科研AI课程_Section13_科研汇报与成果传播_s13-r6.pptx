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3849dac43f4795" /><Relationship Type="http://schemas.openxmlformats.org/officeDocument/2006/relationships/extended-properties" Target="/docProps/app.xml" Id="Rafaacb2c99c44538" /><Relationship Type="http://schemas.openxmlformats.org/officeDocument/2006/relationships/officeDocument" Target="/ppt/presentation.xml" Id="R8023344b728847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1aebfd57c6473f"/>
  </p:sldMasterIdLst>
  <p:notesMasterIdLst>
    <p:notesMasterId xmlns:r="http://schemas.openxmlformats.org/officeDocument/2006/relationships" r:id="R3af5e52844ba4feb"/>
  </p:notesMasterIdLst>
  <p:sldIdLst>
    <p:sldId xmlns:r="http://schemas.openxmlformats.org/officeDocument/2006/relationships" id="256" r:id="R67fc5e1fe16746ab"/>
    <p:sldId xmlns:r="http://schemas.openxmlformats.org/officeDocument/2006/relationships" id="257" r:id="R1de0bd1dd9894d91"/>
    <p:sldId xmlns:r="http://schemas.openxmlformats.org/officeDocument/2006/relationships" id="258" r:id="R4ef4c1ed5c784e6e"/>
    <p:sldId xmlns:r="http://schemas.openxmlformats.org/officeDocument/2006/relationships" id="259" r:id="Rc00c60a94ef64901"/>
    <p:sldId xmlns:r="http://schemas.openxmlformats.org/officeDocument/2006/relationships" id="260" r:id="Rfdb88e8ed0364bf8"/>
    <p:sldId xmlns:r="http://schemas.openxmlformats.org/officeDocument/2006/relationships" id="261" r:id="Rc62cbc8ab5d042a5"/>
    <p:sldId xmlns:r="http://schemas.openxmlformats.org/officeDocument/2006/relationships" id="262" r:id="R9923c1a9ee50433b"/>
    <p:sldId xmlns:r="http://schemas.openxmlformats.org/officeDocument/2006/relationships" id="263" r:id="R592dc5166137487e"/>
    <p:sldId xmlns:r="http://schemas.openxmlformats.org/officeDocument/2006/relationships" id="264" r:id="Rfd179069dab54e3b"/>
    <p:sldId xmlns:r="http://schemas.openxmlformats.org/officeDocument/2006/relationships" id="265" r:id="R4b9595903e9246f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fa815eddf44562" /><Relationship Type="http://schemas.openxmlformats.org/officeDocument/2006/relationships/slideMaster" Target="/ppt/slideMasters/slideMaster1.xml" Id="R941aebfd57c6473f" /><Relationship Type="http://schemas.openxmlformats.org/officeDocument/2006/relationships/notesMaster" Target="/ppt/notesMasters/notesMaster1.xml" Id="R3af5e52844ba4feb" /><Relationship Type="http://schemas.openxmlformats.org/officeDocument/2006/relationships/presProps" Target="/ppt/presProps.xml" Id="Rd5da1c8a78de4228" /><Relationship Type="http://schemas.openxmlformats.org/officeDocument/2006/relationships/tableStyles" Target="/ppt/tableStyles.xml" Id="R03b0774a1c1a42ee" /><Relationship Type="http://schemas.openxmlformats.org/officeDocument/2006/relationships/slide" Target="/ppt/slides/slide1.xml" Id="R67fc5e1fe16746ab" /><Relationship Type="http://schemas.openxmlformats.org/officeDocument/2006/relationships/slide" Target="/ppt/slides/slide2.xml" Id="R1de0bd1dd9894d91" /><Relationship Type="http://schemas.openxmlformats.org/officeDocument/2006/relationships/slide" Target="/ppt/slides/slide3.xml" Id="R4ef4c1ed5c784e6e" /><Relationship Type="http://schemas.openxmlformats.org/officeDocument/2006/relationships/slide" Target="/ppt/slides/slide4.xml" Id="Rc00c60a94ef64901" /><Relationship Type="http://schemas.openxmlformats.org/officeDocument/2006/relationships/slide" Target="/ppt/slides/slide5.xml" Id="Rfdb88e8ed0364bf8" /><Relationship Type="http://schemas.openxmlformats.org/officeDocument/2006/relationships/slide" Target="/ppt/slides/slide6.xml" Id="Rc62cbc8ab5d042a5" /><Relationship Type="http://schemas.openxmlformats.org/officeDocument/2006/relationships/slide" Target="/ppt/slides/slide7.xml" Id="R9923c1a9ee50433b" /><Relationship Type="http://schemas.openxmlformats.org/officeDocument/2006/relationships/slide" Target="/ppt/slides/slide8.xml" Id="R592dc5166137487e" /><Relationship Type="http://schemas.openxmlformats.org/officeDocument/2006/relationships/slide" Target="/ppt/slides/slide9.xml" Id="Rfd179069dab54e3b" /><Relationship Type="http://schemas.openxmlformats.org/officeDocument/2006/relationships/slide" Target="/ppt/slides/slide10.xml" Id="R4b9595903e9246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dcade2720940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b8cb531f014037" /><Relationship Type="http://schemas.openxmlformats.org/officeDocument/2006/relationships/notesMaster" Target="/ppt/notesMasters/notesMaster1.xml" Id="R882e27c42b3747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63ba95b20e4f85" /><Relationship Type="http://schemas.openxmlformats.org/officeDocument/2006/relationships/notesMaster" Target="/ppt/notesMasters/notesMaster1.xml" Id="Rc87518b24d9143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1b3f0a9b694cb3" /><Relationship Type="http://schemas.openxmlformats.org/officeDocument/2006/relationships/notesMaster" Target="/ppt/notesMasters/notesMaster1.xml" Id="Rcdc1d1b50e2f43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71d03df4bc4fb2" /><Relationship Type="http://schemas.openxmlformats.org/officeDocument/2006/relationships/notesMaster" Target="/ppt/notesMasters/notesMaster1.xml" Id="R0a3a401e206d4d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bdff0598a54c89" /><Relationship Type="http://schemas.openxmlformats.org/officeDocument/2006/relationships/notesMaster" Target="/ppt/notesMasters/notesMaster1.xml" Id="R74eda5264d3c4d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ab2f9311604593" /><Relationship Type="http://schemas.openxmlformats.org/officeDocument/2006/relationships/notesMaster" Target="/ppt/notesMasters/notesMaster1.xml" Id="Rf16e78ff817646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f70bd09d1e4928" /><Relationship Type="http://schemas.openxmlformats.org/officeDocument/2006/relationships/notesMaster" Target="/ppt/notesMasters/notesMaster1.xml" Id="Rd6ccb6bbf2d94a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262785ec7c4ab5" /><Relationship Type="http://schemas.openxmlformats.org/officeDocument/2006/relationships/notesMaster" Target="/ppt/notesMasters/notesMaster1.xml" Id="R0d4657a5acac4d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c6db94de344501" /><Relationship Type="http://schemas.openxmlformats.org/officeDocument/2006/relationships/notesMaster" Target="/ppt/notesMasters/notesMaster1.xml" Id="Rb785140dfc4a4c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1d7c03213a469e" /><Relationship Type="http://schemas.openxmlformats.org/officeDocument/2006/relationships/notesMaster" Target="/ppt/notesMasters/notesMaster1.xml" Id="R17d911d57d2342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行想理解证据和方法，评审人员需要核对工作及缺口，普通读者需要知道比较了什么以及能说明什么。这些是本课程的表达组织建议，不是对所有读者的固定分类。贯穿案例来自公开数据二次计算，无新论文、现场采集或获批项目主张。AI可以协助调整语言与图示，作者仍需核对事实和发布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UF2025第3页的报告组织，而非逐页照读论文。问题是公开数据中Adelie所选记录的雌雄鳍长怎样分布；方法是限定物种、保留性别和鳍长字段完整记录后作描述统计；结果是分布与均值；解释须保留数据归属、个体重复和采样依赖的缺口。背景内容以听众理解这个问题为准，详细清洗和统计可留备份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课件第23页用左右分支、条件和连接图解释尘埃粒径演化的示意过程。本课程只分析可见的讲图方式：条件放在分支上，颜色及连接帮助追踪过程，底部保留作者与年份。没有复核其2019和2024论文的全部模型或物理结论，不将图作为本课程科研结果。第20页的冲浪拼合宣传图不作为科学证据采用，第31页的过密反例也不搬入我们的统计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本节重新计算的分组频数。横轴为鳍长区间，纵轴为记录数，组别各73条，分箱宽5毫米，左闭右开，最后一箱右端包含。均值差4.6164毫米显示4.62；雌雄分布有重叠，均值差不表示每只雄性都更长。n是保留记录数，未确认独立个体数。没有误差线或显著性标记，因为本页只作描述，不把未确认的独立性藏在推断符号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段落分别面向同行、项目评审和普通读者。同行版保留筛选与方法，评审版强调已完成的材料和缺口，普通读者版把4.62毫米解释为不到半厘米，并说明没有测量游泳快慢。三个版本均写146条、雌雄各73条、4.62毫米和公开数据来源。没有把描述差异改成因果，也没有把二次计算写成亲自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反例中的显著突破和性别决定鳍长机制均没有证据。修订把评价删掉，将因果改回描述统计，补回公开来源、146条记录、雌雄各73条、雄减雌4.62毫米和未说明因果机制。表达修订时锁定这些内容，再读句子是否顺畅。脚本只核对固定数字字段，不把数字匹配说成语义审查或检测无AI痕迹的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CID是持续的人标识，DOI标识具体成果，不能混用。ORCID的成果可通过连接或导入已有系统关联，仍要核对作者、版本、缺失字段和可见性。单位或个人主页可把研究方向、本人贡献、成果稳定链接和联系方式组织在一起，这是课程建议。ResearchGate用于展示研究、贡献与交流，需核对作者匹配，不能因条目自动出现就认领他人成果。平台资料完整不证明研究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ORCID for Researchers</a:t>
            </a:r>
          </a:p>
          <a:p xmlns:a="http://schemas.openxmlformats.org/drawingml/2006/main">
            <a:r>
              <a:t>https://info.orcid.org/researchers/</a:t>
            </a:r>
          </a:p>
          <a:p xmlns:a="http://schemas.openxmlformats.org/drawingml/2006/main">
            <a:r>
              <a:t>定位：What is ORCID、Why get an ORCID、Optimize your ORCID；持续身份标识、成果关联和可见性，未操作真实账号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ORCID Help，Add works using an identifier</a:t>
            </a:r>
          </a:p>
          <a:p xmlns:a="http://schemas.openxmlformats.org/drawingml/2006/main">
            <a:r>
              <a:t>https://support.orcid.org/hc/en-us/articles/360022298153-Add-works-using-an-identifier</a:t>
            </a:r>
          </a:p>
          <a:p xmlns:a="http://schemas.openxmlformats.org/drawingml/2006/main">
            <a:r>
              <a:t>定位：Introduction与步骤4、5：优先通过导入或连接已有系统添加成果，核对字段与可见性；不是自动确认归属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ResearchGate Help，What is my Profile 与 How to add research</a:t>
            </a:r>
          </a:p>
          <a:p xmlns:a="http://schemas.openxmlformats.org/drawingml/2006/main">
            <a:r>
              <a:t>https://help.researchgate.net/profile/what-is-my-profile</a:t>
            </a:r>
          </a:p>
          <a:p xmlns:a="http://schemas.openxmlformats.org/drawingml/2006/main">
            <a:r>
              <a:t>定位：个人资料用于呈现研究及贡献；成果条目另见https://help.researchgate.net/research-and-publications/how-to-add-research；未登录、认领成果或上传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DOI Foundation，What is a DOI?</a:t>
            </a:r>
          </a:p>
          <a:p xmlns:a="http://schemas.openxmlformats.org/drawingml/2006/main">
            <a:r>
              <a:t>https://www.doi.org/the-identifier/what-is-a-doi/</a:t>
            </a:r>
          </a:p>
          <a:p xmlns:a="http://schemas.openxmlformats.org/drawingml/2006/main">
            <a:r>
              <a:t>定位：What is a DOI与persistent identifiers：标识对象并提供可解析的持续引用；本节没有注册或赋予任何新DOI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的预印本、接受稿和出版版本可分享范围可能不同，应查许可及出版社规则。ResearchGate官方说明上传者须确认分享权利，作者身份本身不等于任何版本都可上传。专利及未公开成果另核对单位安排和可披露范围，课件不作个案法律判断。介绍文字保留成果稳定链接、版本及来源；若只可公开元数据，可提供允许的摘要和链接。不得把AI生成图当作观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ResearchGate Help，Copyright and ResearchGate</a:t>
            </a:r>
          </a:p>
          <a:p xmlns:a="http://schemas.openxmlformats.org/drawingml/2006/main">
            <a:r>
              <a:t>https://help.researchgate.net/copyright/copyright-and-researchgate</a:t>
            </a:r>
          </a:p>
          <a:p xmlns:a="http://schemas.openxmlformats.org/drawingml/2006/main">
            <a:r>
              <a:t>定位：开头版权责任与General principles：预印本、接受稿、出版版本的分享规则可能不同，需核对许可和出版社规则；未对具体论文作法律结论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ResearchGate Help，What is my Profile 与 How to add research</a:t>
            </a:r>
          </a:p>
          <a:p xmlns:a="http://schemas.openxmlformats.org/drawingml/2006/main">
            <a:r>
              <a:t>https://help.researchgate.net/profile/what-is-my-profile</a:t>
            </a:r>
          </a:p>
          <a:p xmlns:a="http://schemas.openxmlformats.org/drawingml/2006/main">
            <a:r>
              <a:t>定位：个人资料用于呈现研究及贡献；成果条目另见https://help.researchgate.net/research-and-publications/how-to-add-research；未登录、认领成果或上传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本次实际生成的Word第一页，经LibreOffice渲染，不是Agent执行截图或平台界面。源文本brief.json可编辑，原CSV和来源记录随包；facts.json保存实算分布和均值，expression-check只检查锁定数字字段。Word及Markdown保留教学属性和限制。发布、研究者确认、平台账号操作均未进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UF课件第27页提到给问答留时间，本节将问答用于检查表达是否越界。问均值差能说明什么，答描述所选记录；问游泳是否更快，答本次没有测量游泳性能。传播后可分别记录访问、具体问题、复核及后续使用，实际引用或应用需保存可追溯依据。这是课程建议，不用平台浏览量或自编指标冒充学术影响，也不保证传播带来引用。下一节展示本地和云端Agent的真实运行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543483f2141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d3c770821b48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cbafb9c7548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1754e345764c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9ed226f12845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42ad92af1d46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AA8A9A-6DB1-4FEA-B15E-0CA4F51010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F59735-A2E9-4E43-BE3C-7845C6FC0D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F32CA92-9C9B-4ED0-B040-ABFD98EF5E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B0E555-9B08-4218-A061-B246558968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62BF42-4A9D-4735-8DB1-4E840F5D9E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BE6BA2-EC20-416E-A59C-0696CBA66B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271E77-B7C4-4FA3-AEA0-A29477BBDF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E241E77-F88C-4B70-BE52-945EDBA0FA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E74021-AB5E-45D2-9659-043BD919FC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07B09F-BA8F-4DE2-8D10-E7581700B5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bae262477b4031" /><Relationship Type="http://schemas.openxmlformats.org/officeDocument/2006/relationships/slideLayout" Target="/ppt/slideLayouts/slideLayout1.xml" Id="Rbb963650e7484e1d" /><Relationship Type="http://schemas.openxmlformats.org/officeDocument/2006/relationships/slideLayout" Target="/ppt/slideLayouts/slideLayout2.xml" Id="Rcb8f436a81914768" /><Relationship Type="http://schemas.openxmlformats.org/officeDocument/2006/relationships/slideLayout" Target="/ppt/slideLayouts/slideLayout3.xml" Id="Re4a42621d2b445cb" /><Relationship Type="http://schemas.openxmlformats.org/officeDocument/2006/relationships/slideLayout" Target="/ppt/slideLayouts/slideLayout4.xml" Id="R2a4ca497f567456b" /><Relationship Type="http://schemas.openxmlformats.org/officeDocument/2006/relationships/slideLayout" Target="/ppt/slideLayouts/slideLayout5.xml" Id="Rc904877dd83a42fb" /><Relationship Type="http://schemas.openxmlformats.org/officeDocument/2006/relationships/slideLayout" Target="/ppt/slideLayouts/slideLayout6.xml" Id="Rffd78fb63fc74d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963650e7484e1d"/>
    <p:sldLayoutId xmlns:r="http://schemas.openxmlformats.org/officeDocument/2006/relationships" id="2147483650" r:id="Rcb8f436a81914768"/>
    <p:sldLayoutId xmlns:r="http://schemas.openxmlformats.org/officeDocument/2006/relationships" id="2147483651" r:id="Re4a42621d2b445cb"/>
    <p:sldLayoutId xmlns:r="http://schemas.openxmlformats.org/officeDocument/2006/relationships" id="2147483652" r:id="R2a4ca497f567456b"/>
    <p:sldLayoutId xmlns:r="http://schemas.openxmlformats.org/officeDocument/2006/relationships" id="2147483653" r:id="Rc904877dd83a42fb"/>
    <p:sldLayoutId xmlns:r="http://schemas.openxmlformats.org/officeDocument/2006/relationships" id="2147483654" r:id="Rffd78fb63fc74d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a91763a2994f3e" /><Relationship Type="http://schemas.openxmlformats.org/officeDocument/2006/relationships/notesSlide" Target="/ppt/notesSlides/notesSlide1.xml" Id="Re703df0b09524a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091f42cd694c7a" /><Relationship Type="http://schemas.openxmlformats.org/officeDocument/2006/relationships/notesSlide" Target="/ppt/notesSlides/notesSlide2.xml" Id="Rcd1973fb269d46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ed2a59086d493a" /><Relationship Type="http://schemas.openxmlformats.org/officeDocument/2006/relationships/image" Target="/ppt/media/image.png" Id="R4828d80b49444032" /><Relationship Type="http://schemas.openxmlformats.org/officeDocument/2006/relationships/notesSlide" Target="/ppt/notesSlides/notesSlide3.xml" Id="Rcc2f8fd059f24c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15d5ba82bb4e85" /><Relationship Type="http://schemas.openxmlformats.org/officeDocument/2006/relationships/chart" Target="/ppt/slides/charts/chart1.xml" Id="R64448a768d844be8" /><Relationship Type="http://schemas.openxmlformats.org/officeDocument/2006/relationships/notesSlide" Target="/ppt/notesSlides/notesSlide4.xml" Id="R34161ed50eb140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cea777a7664ee3" /><Relationship Type="http://schemas.openxmlformats.org/officeDocument/2006/relationships/notesSlide" Target="/ppt/notesSlides/notesSlide5.xml" Id="R00028d93173b43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f58b3f2a634ba3" /><Relationship Type="http://schemas.openxmlformats.org/officeDocument/2006/relationships/notesSlide" Target="/ppt/notesSlides/notesSlide6.xml" Id="R0af748fed0f549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a8af1da6ca4deb" /><Relationship Type="http://schemas.openxmlformats.org/officeDocument/2006/relationships/notesSlide" Target="/ppt/notesSlides/notesSlide7.xml" Id="Rf6a8dbe5ad7346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fc26e4cc9f4476" /><Relationship Type="http://schemas.openxmlformats.org/officeDocument/2006/relationships/notesSlide" Target="/ppt/notesSlides/notesSlide8.xml" Id="R92b8a844ab0c4f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bf8076578e443c" /><Relationship Type="http://schemas.openxmlformats.org/officeDocument/2006/relationships/image" Target="/ppt/media/image2.png" Id="R551c0697e634492f" /><Relationship Type="http://schemas.openxmlformats.org/officeDocument/2006/relationships/notesSlide" Target="/ppt/notesSlides/notesSlide9.xml" Id="R6bcc9afe02a341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048fc7ca50487d" /><Relationship Type="http://schemas.openxmlformats.org/officeDocument/2006/relationships/notesSlide" Target="/ppt/notesSlides/notesSlide10.xml" Id="R41f05741411449c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latin typeface="Microsoft YaHei"/>
                <a:ea typeface="Microsoft YaHei"/>
                <a:cs typeface="Microsoft YaHei"/>
              </a:rPr>
              <a:t>所选Adelie记录的鳍长分布（mm）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雌性 n=73</c:v>
          </c:tx>
          <c:spPr>
            <a:solidFill xmlns:a="http://schemas.openxmlformats.org/drawingml/2006/main">
              <a:srgbClr val="245B77"/>
            </a:solidFill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雄性 n=73</c:v>
          </c:tx>
          <c:spPr>
            <a:solidFill xmlns:a="http://schemas.openxmlformats.org/drawingml/2006/main">
              <a:srgbClr val="2C6D68"/>
            </a:solidFill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1FEBB-4CA9-4B14-96CB-054DE211044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10250" y="5000625"/>
            <a:ext cx="2095500" cy="1595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82004-0DAC-47AF-AA0D-ABE2890F90E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10250" y="5000625"/>
            <a:ext cx="209550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DCC3A-BA05-49C9-942E-223CAC30E45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810250" y="3548063"/>
            <a:ext cx="2095500" cy="1452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95847-6C29-416E-86C0-070742D9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C618F-7E3C-4154-BC4E-C9E512E3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科研汇报与成果传播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16576-D48D-419B-A314-1370740F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9FB2A-E66F-408C-ABD2-E4473699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同一项研究面对不同读者，需要调整背景和讲解顺序，同时保持事实与限定一致。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83560-BB0A-4C7D-BAD1-A3EDE810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504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同一组已核对的研究事实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9C704-D450-49C1-8E95-F213B059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同行汇报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4B0BE-1911-4BE8-8B75-AAB69BAB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143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数据、方法与解释范围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58DCE-75A4-46AF-94B1-BA82951E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7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项目评审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B8A56-73FE-4572-B397-AD02C428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667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完成情况、证据与缺口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2B82A-42BA-417F-8F94-03E683F3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91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普通读者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3216B-6E0C-4474-A287-0D173899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91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比较了什么，能说明什么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3B7C5-A5C5-44D1-898E-EB1F5A2E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贯穿案例为公开企鹅数据的二次计算，三个版本均为自编教学表达。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B57514-4B61-455A-9D21-3A043D3A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来源：佛罗里达大学2025原始课件；AI编写教学示例，未发布；palmerpenguins公开数据，课程二次计算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08FF5-7F00-48B5-829E-940FC180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59210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22EFE-57D4-422A-98ED-1AA801E9588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3F55D-E978-4FAD-834F-FFAF802F808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1BA22-1E06-4FD4-8043-70F4237BEBD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921D4-C8CC-4EBD-8895-88F880B6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791D9-B54B-42D7-A1C5-F7143BE5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科研报告中的问题与证据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EFAE5-674D-4B15-92BD-92A9AA36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15DB8-F8F4-42CC-A0BB-F7B5D046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从明确问题进入数据和方法，再解释主要结果、适用范围与仍待回答的问题。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99A17-E9E7-4F54-BEFD-5BB40B92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77C68-A465-4C9E-B5D7-8BE4629C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数据与方法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F5480-1034-481B-808E-DDC1EA15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4B346-1080-45DA-BC01-3D096BCF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解释范围与后续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82C6F-9592-4669-9082-523CB7AE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所选记录的雌雄鳍长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怎样分布？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81D63-65A1-4188-BA69-B8156581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公开CSV、物种筛选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与描述统计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883D2-2975-4926-B008-F8306982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分布、分组均值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及比较方向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F0EA7-0F97-4E5B-8748-B637A8B7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尚缺个体与抽样资料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不作因果解释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5A43A-4563-4B85-8E05-953152E5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背景服务于听懂问题；细节、完整统计和补充图留在可查阅的材料中。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C77B1-FD58-47A8-B62C-D7C2428F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本例只比较所选记录的分组差异，尚未核对采样依赖，不作因果解释。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E92F44-8672-4CE6-84B9-52EF9390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来源：佛罗里达大学2025原始课件；palmerpenguins公开数据，课程二次计算；AI编写教学示例，未发布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5C2B0F-0E1F-4F83-80D4-2B6C320B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1598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D9F33-4F81-48A1-B44B-14C60EEF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C3BBA-598F-4475-B217-079EC8AE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科学图中的条件、过程与来源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03CFE-1EF4-4982-A6BA-47E2BA5D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E0B93-8952-4C02-A94C-F98F315E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图中的分支和连接应帮助读者理解过程，关键条件与图源需要随图保留。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9257D-3CDC-4C44-8103-6BDB9CF124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8d80b49444032"/>
          <a:stretch xmlns:a="http://schemas.openxmlformats.org/drawingml/2006/main"/>
        </p:blipFill>
        <p:spPr>
          <a:xfrm xmlns:a="http://schemas.openxmlformats.org/drawingml/2006/main">
            <a:off x="983742" y="3048000"/>
            <a:ext cx="8129016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2A6A2-0019-4A85-98FE-1463EF2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9E47A-AED1-49DC-B0EC-9D95A2E1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147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分支写明条件，说明何时适用。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018FF-DABF-4166-BE77-33B68DAA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720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DA686-A8A9-4BA6-8582-92C74B53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连接与颜色帮助读者追踪变化。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1D5D5-EC70-43B5-B35B-168C2A1F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0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865E7-9426-47B6-AEB2-FE0329BE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722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作者和年份随图保留，便于回查。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A1FC9-3DB6-459E-9355-66F0102A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左图为UF2025课件第23页原图，用于讲图示范，不是本课程的观测或模拟结果。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DCF12-A3F2-4577-B5B7-B092F554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25E2F-5DEC-4D74-B72D-DE6CDABC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709435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7BF43-E12D-45CA-A6FC-B3A14FF2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34F51-C319-4529-8FD6-5784EF99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结果图怎样支持现场解释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9F8D9-C5CA-42DA-8B42-E2C41228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9C7FD-8F44-496B-9424-38C0F039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比较均值时同时展示分布，让听众看到组内变化与两组重叠。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D9EF082-71E2-4804-A852-95771A1EA588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525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448a768d844be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A42C4-6DD9-4AC1-9494-CC86F71C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90875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怎样解释这张图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28241-6C17-4E77-8CA2-EB13A8A1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95750"/>
            <a:ext cx="3524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纵轴：记录数。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均值差为4.62 mm，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两组分布有重叠。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均值有差别，不表示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每只雄性都更长。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3A7E3-2717-4DA0-A215-159361DA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分箱宽5 mm，两组各73条记录；图由公开CSV实算，无游泳性能或因果结论。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B257F-26AB-4119-B695-8A6C3880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33682-BB7B-463F-AE20-5DC557D6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805520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1F6E8-6B10-44E7-BF1D-96836265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AAE8C-261D-4C71-A207-1BEFCB5C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同一结果的三种读者版本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C85A5-E817-4D5C-996F-35E5F817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46817-2265-471F-8A7D-AE3487E1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改变的是解释重点，分析对象、数字、单位和证据范围应保持一致。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02763-5398-4CA3-A0B0-184A427EC1A9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1430000"/>
              </a:tblGrid>
              <a:tr h="1083469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读者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同一事实的不同表达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同行汇报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对palmerpenguins公开数据的146条Adelie记录作描述统计，雌雄各73条。雄性平均鳍长比雌性高4.62 mm。筛选条件、分组结果和程序随材料保存，个体重复与采样依赖尚待核对。该差值描述所选记录，不作因果解释。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项目评审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已完成公开数据筛选和均值复算，保留146条Adelie记录，雌雄各73条，雄性平均鳍长比雌性高4.62 mm。原始CSV、来源记录、程序和结果可逐项核对。个体标识与抽样依据仍需补查，当前未确认总体外推范围。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普通读者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本次比较使用公开资料中的146条Adelie企鹅记录，雌雄各73条。雄性的鳍状翼平均比雌性长4.62 mm，也就是不到半厘米。平均有差别，不表示每只雄性都比雌性长；这次比较也没有测量游泳快慢。数据由原研究项目采集，本课程只作二次计算。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F07FC-7C6A-4B60-8E6D-C3592067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完整段落随Word与Markdown保存，均为教学稿，未代表原作者或项目负责人对外发布。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F54C2-0356-4D2B-9619-1EDD3FB7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来源：AI编写教学示例，未发布；palmerpenguins公开数据，课程二次计算；实际本地复算与文件记录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323B6-4C51-4B9C-AD95-1FAFE6CC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05678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1D427-6A79-4D8E-B1C2-791D98228CE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572250" y="3595688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433A4-E245-4A13-94E4-5008F531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D513E-697C-4233-A187-A9815C99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Humanizer修订中的事实核对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C5F38-9C4F-49D5-BCC3-6AAC84AF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2D511-A044-4484-864E-8DB40209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删去空泛评价后，句子还需要准确说明对象、实际发现及其解释范围。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F43C0-0D75-41AF-932A-3EF2821B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581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待改表达（教学反例）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634DA-8CB9-4E50-8F14-83CE3FE2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581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根据实际复算修订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7771D-6B52-41F5-8DEF-C3317A14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5810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本研究取得显著突破，揭示了性别决定鳍长的内在机制。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CF4C6-AA17-4189-A855-AD1BDB52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29125"/>
            <a:ext cx="5810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在公开数据的所选146条Adelie记录中，雌雄各73条，雄性平均鳍长比雌性高4.62 mm。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该差值描述所选记录，未说明因果机制。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4289B-12F2-4E31-867E-1052645D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删去无依据的评价，补回数据来源、样本数、单位、比较方向与限定。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EA4D5-790D-4C32-9B6A-192B3111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左侧为自编错误表达，右侧据实际复算修订；自然表达不能补出缺失的研究证据。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3EB83-E9EF-4745-856C-06E6912C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来源：AI编写教学示例，未发布；palmerpenguins公开数据，课程二次计算；实际本地复算与文件记录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46FBA-3902-4331-99C7-C5302192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65805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66F79-23B8-4294-BC60-3B9FE7B09D9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001500" y="4191000"/>
            <a:ext cx="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2C510-821A-4FF9-8B47-444649E51763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238500" y="4191000"/>
            <a:ext cx="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CCA83-051E-4027-8546-FA3FEA092DE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15000" y="3738563"/>
            <a:ext cx="381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26198-20D1-4E62-B4E3-F525913F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89E74-8837-4702-80DF-C0A6F01E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研究者身份与成果入口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7DE24-D2A7-4A2D-81AD-0165CDD4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2B5D8-BC7C-48E0-8406-839FE36F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ORCID用于持续标识研究者，成果条目和个人主页则帮助读者找到具体工作。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612CB-F85F-4D3E-86FA-D298366C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ORCID：持续的研究者标识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7B07D-AC1C-4DA4-AD2D-49C7174E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86125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DOI或稳定链接：具体成果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F78C2-AEE3-43C9-B3EA-BFE67917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单位或个人主页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54332-B020-4992-820E-4653EAFF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91250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ResearchGate研究条目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D7A4D-03E9-4182-8697-6368B53E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核对本人贡献与作者关联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9DAE0-D8F8-444A-BBD3-FF3B53A4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研究方向、贡献与联系方式</a:t>
            </a:r>
          </a:p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链接到可公开的具体成果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0BA92-BE89-483D-940D-95CCD58F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1913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核对条目归属、分享版本</a:t>
            </a:r>
          </a:p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和内容可见范围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E16AA6-EB71-498E-AD0C-81F0E156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关系图用于说明用途，不是实际账号界面；本轮未登录、认领成果或修改平台资料。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DD5B9-9B21-47F6-97E2-B503C792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来源：ORCID官方研究者说明；ORCID官方成果关联说明；ResearchGate官方帮助；DOI基金会官方说明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DABF9-A323-44D4-92DE-C56D56A4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63395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311C9-3890-4FDD-AD9B-40C77B63CB2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17E43-2D8C-4039-ABE6-2F800945F7F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DF06C-6290-4E83-806C-5BE9B5468D6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A5A429-1819-45B9-9290-54F20E0A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4B861-1B2F-4CFD-84B5-509D1506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公开版本与传播渠道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7F655-C376-4207-BB64-B45B91A1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605A4-9115-4829-B936-62DFEF8A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先核对可以公开的内容和版本，再让介绍文字指向论文、数据或报告的稳定入口。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BB52E-915D-435B-B3A0-98F70459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公开内容与版本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E89C3-ABAF-4A39-BDCF-B7E842CC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成果的稳定入口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2B8BE-060F-4D7F-9E81-989C6DC0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面向读者的介绍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9FD2F-2B9F-429C-B5E1-1E616D43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反馈与更正记录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3E4FD-866E-4A02-9AA6-6959AC41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核对署名、许可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及未公开信息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36C37-23C9-4A64-B046-F509DE05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论文、数据或报告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链接到对应版本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E091E-A108-4CE0-AE25-9A8CD7C2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按读者补充背景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同时保留来源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FDBDB-6CC0-43FE-9EBF-6F14AA48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保存具体问题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与实际更正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B0DEE0-C7F2-455B-B7B3-3262B378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预印本、接受稿与出版版本的分享规则可能不同，上传前核对许可。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CF1F1-0251-4C86-9073-AAB069A6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论文、专利、报告、学术PPT与科普稿分别核对公开权限，本节未执行任何对外发布。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84FE7-E713-4A2C-9FCD-32E8A45F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来源：ResearchGate官方版权说明；ResearchGate官方帮助；AI编写教学示例，未发布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EF40D4-2027-441A-8FE1-DB205D27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603000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46447-1CD2-47D3-AA4C-4A63F27FDDF7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810750" y="5381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F9454-FDEE-4146-9A83-8AC1B78C5C55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810750" y="39528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EC786-3C00-4DE3-B68E-41CEB011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CAED1-9230-4A12-A370-098FC9A7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可编辑表达示例与核对记录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1CBE5-D75A-4F67-8BE9-46AF2587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4A2BD-FF7C-41C0-BA17-28F639CD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三个读者版本与修订示例已经写入Word，并与实际复算结果一起保存。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0B141-5CD7-471C-B784-DAB43AD70F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c0697e634492f"/>
          <a:stretch xmlns:a="http://schemas.openxmlformats.org/drawingml/2006/main"/>
        </p:blipFill>
        <p:spPr>
          <a:xfrm xmlns:a="http://schemas.openxmlformats.org/drawingml/2006/main">
            <a:off x="1164648" y="2952750"/>
            <a:ext cx="3385705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0042F-0153-41B4-A797-9B4E1DC4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本次实际Word第1页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A9BF3-5817-460C-9C9D-522C3169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公开CSV与原始来源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3D1CE-31AA-4DF5-BC1C-6729B4A4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实际复算与锁定字段核对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2D3C1-D2FE-43B1-8F13-B53CC1A8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483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三个读者版本及表达修订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E65BA-6016-479A-8318-66A193F5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191375"/>
            <a:ext cx="819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Word与Markdown可编辑，事实、来源和文件版本随包保留。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E9DE3-1522-4AED-8FA7-3CEB8D38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本地脚本完成复算、字段匹配与现成文字整理，没有调用外部模型或自动发布。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CF64A-5221-4642-BAC2-10599694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来源：实际本地复算与文件记录；AI编写教学示例，未发布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1EC81-EE41-4CA8-B483-2136E3E5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149709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04397-74D1-43E7-A82B-B231BC9B4E84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2144375" y="6191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0A3AF-479C-43EF-986F-CFD47A2952A5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144375" y="48577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62866-F639-4E2B-8E3D-B810F759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3FF8F-9654-4A41-903C-72F752DD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汇报问答与传播反馈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22C6F-9972-43D7-8A48-E806165D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B9FF7-C63B-4F42-8D87-24C690D4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回答问题时回到已测量的内容，传播反馈也应注明它实际反映了什么。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F23A2-491C-4568-B660-9D9553DF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现场问题回到实际测量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7E473-11B1-4C7E-AC8B-0AF809FF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7620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“均值差能说明什么？”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说明所选记录的平均差别。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“能说明雄性游得更快吗？”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本次没有测量游泳性能。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9F380-3974-4C24-8748-E0E8AE83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4325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传播反馈分开记录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379BD-CD4B-456A-9911-498D3237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43375"/>
            <a:ext cx="4667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访问与下载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0F3BA-4AA3-4EBE-875F-FF7AFAEA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76875"/>
            <a:ext cx="4667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具体提问与复核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3D149-BB03-44B4-A869-B6129FDB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810375"/>
            <a:ext cx="4667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可追溯的后续使用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B4C6B-A531-45B4-8AF7-C9DCE486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没有本案例的浏览、引用或采纳数据；访问数量本身不能证明科学质量或实际影响。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8ADBF-8121-4845-BA8F-57BFFD41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来源：佛罗里达大学2025原始课件；AI编写教学示例，未发布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D846B-5C95-4ADA-8D65-918688B7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50190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2026-10-18T14:04:35.8330000Z</dcterms:created>
  <dcterms:modified xsi:type="dcterms:W3CDTF">2026-10-18T14:04:35.8330000Z</dcterms:modified>
</coreProperties>
</file>