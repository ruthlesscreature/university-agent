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9cefb431b34ca4" /><Relationship Type="http://schemas.openxmlformats.org/officeDocument/2006/relationships/extended-properties" Target="/docProps/app.xml" Id="Re271ad03f23c4316" /><Relationship Type="http://schemas.openxmlformats.org/officeDocument/2006/relationships/officeDocument" Target="/ppt/presentation.xml" Id="R4a18dac5bb0541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837940c83b459a"/>
  </p:sldMasterIdLst>
  <p:notesMasterIdLst>
    <p:notesMasterId xmlns:r="http://schemas.openxmlformats.org/officeDocument/2006/relationships" r:id="R40681757a6cf47ad"/>
  </p:notesMasterIdLst>
  <p:sldIdLst>
    <p:sldId xmlns:r="http://schemas.openxmlformats.org/officeDocument/2006/relationships" id="256" r:id="R7791c7f8d09b4eb2"/>
    <p:sldId xmlns:r="http://schemas.openxmlformats.org/officeDocument/2006/relationships" id="257" r:id="Rf63d6bb94dc54621"/>
    <p:sldId xmlns:r="http://schemas.openxmlformats.org/officeDocument/2006/relationships" id="258" r:id="R2871616a28504ecb"/>
    <p:sldId xmlns:r="http://schemas.openxmlformats.org/officeDocument/2006/relationships" id="259" r:id="R451274b94388428f"/>
    <p:sldId xmlns:r="http://schemas.openxmlformats.org/officeDocument/2006/relationships" id="260" r:id="Rb2089b8618ab473e"/>
    <p:sldId xmlns:r="http://schemas.openxmlformats.org/officeDocument/2006/relationships" id="261" r:id="R6c812cdc454e40bc"/>
    <p:sldId xmlns:r="http://schemas.openxmlformats.org/officeDocument/2006/relationships" id="262" r:id="R3f88cc70446f4db0"/>
    <p:sldId xmlns:r="http://schemas.openxmlformats.org/officeDocument/2006/relationships" id="263" r:id="R459398c10b6c4985"/>
    <p:sldId xmlns:r="http://schemas.openxmlformats.org/officeDocument/2006/relationships" id="264" r:id="R831e5fa7b274494a"/>
    <p:sldId xmlns:r="http://schemas.openxmlformats.org/officeDocument/2006/relationships" id="265" r:id="Raa1a8cb2ad624d6a"/>
    <p:sldId xmlns:r="http://schemas.openxmlformats.org/officeDocument/2006/relationships" id="266" r:id="Ra25447fffb2e47a2"/>
    <p:sldId xmlns:r="http://schemas.openxmlformats.org/officeDocument/2006/relationships" id="267" r:id="Ra3eb9a3646c444a3"/>
    <p:sldId xmlns:r="http://schemas.openxmlformats.org/officeDocument/2006/relationships" id="268" r:id="Rf96ad99c8ab148ec"/>
    <p:sldId xmlns:r="http://schemas.openxmlformats.org/officeDocument/2006/relationships" id="269" r:id="R697e9e327470483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419641e67f4b46" /><Relationship Type="http://schemas.openxmlformats.org/officeDocument/2006/relationships/slideMaster" Target="/ppt/slideMasters/slideMaster1.xml" Id="R82837940c83b459a" /><Relationship Type="http://schemas.openxmlformats.org/officeDocument/2006/relationships/notesMaster" Target="/ppt/notesMasters/notesMaster1.xml" Id="R40681757a6cf47ad" /><Relationship Type="http://schemas.openxmlformats.org/officeDocument/2006/relationships/presProps" Target="/ppt/presProps.xml" Id="Rf63b9fe0560a421f" /><Relationship Type="http://schemas.openxmlformats.org/officeDocument/2006/relationships/tableStyles" Target="/ppt/tableStyles.xml" Id="R01ee3b261391485c" /><Relationship Type="http://schemas.openxmlformats.org/officeDocument/2006/relationships/slide" Target="/ppt/slides/slide1.xml" Id="R7791c7f8d09b4eb2" /><Relationship Type="http://schemas.openxmlformats.org/officeDocument/2006/relationships/slide" Target="/ppt/slides/slide2.xml" Id="Rf63d6bb94dc54621" /><Relationship Type="http://schemas.openxmlformats.org/officeDocument/2006/relationships/slide" Target="/ppt/slides/slide3.xml" Id="R2871616a28504ecb" /><Relationship Type="http://schemas.openxmlformats.org/officeDocument/2006/relationships/slide" Target="/ppt/slides/slide4.xml" Id="R451274b94388428f" /><Relationship Type="http://schemas.openxmlformats.org/officeDocument/2006/relationships/slide" Target="/ppt/slides/slide5.xml" Id="Rb2089b8618ab473e" /><Relationship Type="http://schemas.openxmlformats.org/officeDocument/2006/relationships/slide" Target="/ppt/slides/slide6.xml" Id="R6c812cdc454e40bc" /><Relationship Type="http://schemas.openxmlformats.org/officeDocument/2006/relationships/slide" Target="/ppt/slides/slide7.xml" Id="R3f88cc70446f4db0" /><Relationship Type="http://schemas.openxmlformats.org/officeDocument/2006/relationships/slide" Target="/ppt/slides/slide8.xml" Id="R459398c10b6c4985" /><Relationship Type="http://schemas.openxmlformats.org/officeDocument/2006/relationships/slide" Target="/ppt/slides/slide9.xml" Id="R831e5fa7b274494a" /><Relationship Type="http://schemas.openxmlformats.org/officeDocument/2006/relationships/slide" Target="/ppt/slides/slide10.xml" Id="Raa1a8cb2ad624d6a" /><Relationship Type="http://schemas.openxmlformats.org/officeDocument/2006/relationships/slide" Target="/ppt/slides/slide11.xml" Id="Ra25447fffb2e47a2" /><Relationship Type="http://schemas.openxmlformats.org/officeDocument/2006/relationships/slide" Target="/ppt/slides/slide12.xml" Id="Ra3eb9a3646c444a3" /><Relationship Type="http://schemas.openxmlformats.org/officeDocument/2006/relationships/slide" Target="/ppt/slides/slide13.xml" Id="Rf96ad99c8ab148ec" /><Relationship Type="http://schemas.openxmlformats.org/officeDocument/2006/relationships/slide" Target="/ppt/slides/slide14.xml" Id="R697e9e32747048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51022dcf34f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d9d9f48a634252" /><Relationship Type="http://schemas.openxmlformats.org/officeDocument/2006/relationships/notesMaster" Target="/ppt/notesMasters/notesMaster1.xml" Id="Re61a1613f90b4c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32e4d6b9be4b3e" /><Relationship Type="http://schemas.openxmlformats.org/officeDocument/2006/relationships/notesMaster" Target="/ppt/notesMasters/notesMaster1.xml" Id="R1e02e6a97a9f43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0eebaecf334b93" /><Relationship Type="http://schemas.openxmlformats.org/officeDocument/2006/relationships/notesMaster" Target="/ppt/notesMasters/notesMaster1.xml" Id="Rdd30311774af46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0e860a255f4b87" /><Relationship Type="http://schemas.openxmlformats.org/officeDocument/2006/relationships/notesMaster" Target="/ppt/notesMasters/notesMaster1.xml" Id="R6abc96c733ce4c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6e1bacff3944d3" /><Relationship Type="http://schemas.openxmlformats.org/officeDocument/2006/relationships/notesMaster" Target="/ppt/notesMasters/notesMaster1.xml" Id="R9852c57fe2184f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2294296cc64764" /><Relationship Type="http://schemas.openxmlformats.org/officeDocument/2006/relationships/notesMaster" Target="/ppt/notesMasters/notesMaster1.xml" Id="R977aaee4cc2141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70d6224acb4265" /><Relationship Type="http://schemas.openxmlformats.org/officeDocument/2006/relationships/notesMaster" Target="/ppt/notesMasters/notesMaster1.xml" Id="Rbf84f94da69640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1ae4405ae14ee1" /><Relationship Type="http://schemas.openxmlformats.org/officeDocument/2006/relationships/notesMaster" Target="/ppt/notesMasters/notesMaster1.xml" Id="R459ba6d15b0e4d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4e78ea8bf245eb" /><Relationship Type="http://schemas.openxmlformats.org/officeDocument/2006/relationships/notesMaster" Target="/ppt/notesMasters/notesMaster1.xml" Id="R57eee936103c46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a34f85db464451" /><Relationship Type="http://schemas.openxmlformats.org/officeDocument/2006/relationships/notesMaster" Target="/ppt/notesMasters/notesMaster1.xml" Id="Re400c881a2944a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bc2ad7b64344ee" /><Relationship Type="http://schemas.openxmlformats.org/officeDocument/2006/relationships/notesMaster" Target="/ppt/notesMasters/notesMaster1.xml" Id="R601ef70e86af4d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69308fecfd461f" /><Relationship Type="http://schemas.openxmlformats.org/officeDocument/2006/relationships/notesMaster" Target="/ppt/notesMasters/notesMaster1.xml" Id="R2dfdc3e1b7a94f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c648d27a7f4d7f" /><Relationship Type="http://schemas.openxmlformats.org/officeDocument/2006/relationships/notesMaster" Target="/ppt/notesMasters/notesMaster1.xml" Id="Re57792a6d5aa48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cb8cf48eb6400a" /><Relationship Type="http://schemas.openxmlformats.org/officeDocument/2006/relationships/notesMaster" Target="/ppt/notesMasters/notesMaster1.xml" Id="R16b34635c3d849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本节任务：教师面对一个感兴趣的方向，如何形成可研究的问题。AI辅助学习是贯穿的讲解案例，材料包括一篇公开真实研究及课程编写的拟议研究。两者必须分开。方向可以容纳多个项目，一项研究需要有限的对象、测量和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沿扫描应保存检索日期、关键词、纳入与排除规则。预印本用于及时发现线索，发表状态单独记录。论文数量的增加可能来自数据库覆盖、词汇变化或研究产量，不能直接解释为科学价值增加。比较时统一时间窗和文献类型；对专利与产品还需另走对应核验。本节不编造热度曲线，也不把搜索结果排序视作创新性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研究在土耳其一所高中开展，按班级随机分配三组：无生成式AI资源、GPT Base、GPT Tutor。这里重绘的是摘要报告的练习成绩相对提升48%和127%，相对对照组，非正确率或百分点，未画置信区间。原文Table 1报告练习效应0.137、0.361，对照均值0.284；原文百分比经过四舍五入。撤去资源后的测验中Base成绩相对对照组降低17%；Tutor与对照组差异未达到统计显著，不能说两组完全相同。这说明选题必须明确“学习”如何测量。本页为对原文的数值摘要，未转载其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拟议问题，不是对已发表研究的复述。可写为：在某本科课程中，与提供完整解答相比，只提供逐步提示是否改善一周后无AI条件下解决新题的表现？“一周后”是课程设定，必须依课程目标、资源和研究设计论证，不是来自前页论文的结论。问题先收窄，后续再讨论随机分配、样本依据及测试题的可比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描述问题关心发生了什么及其分布；预测问题关心能否预报尚未观察的结果；因果问题关心改变一个条件会带来什么差异。预测准确不自动等于找到原因。质性研究可以探索经验、意义与过程，不能硬塞进量化因果模式。本页示例是教学模拟，不代表真实教师调查或已训练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基础能力可能同时影响AI使用和成绩，学习投入也可能影响两者。只比较自愿使用与不使用的学生，可能混入这些差异。即使统计控制若干变量，也不能保证所有混杂因素都已处理。是否适合随机分配、自然实验或质性解释，需要结合问题和伦理安排。图中的AI使用到成绩为待估计关系，不能凭箭头宣布因果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篇论文不足以证明领域空白。先找最接近的原始研究，记录其对象、干预、测量时点和限制，再查同义术语、引用链和近期预印本。更换国家、学校或模型名称本身未必构成贡献，要说明这种变化为什么可能改变机制或结论。没有检索到与证明不存在是不同证据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说是教学模拟。若提示组表现更好且估计精度足够，可在设计和样本范围内支持预期；若表现更差，需要考虑与预期相反的解释；区间很宽时可能只能判为证据不足。事后更换主要指标以追求显著性会改变问题。预设主要结果、时间点和分析规则有助于保持问题稳定，详细统计留给Section 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需要比较对象；可行性不能只看能否写出文本，还需确认数据授权、人员、设备和专业能力。影响力可以是解决具体测量误差或解释矛盾，并不要求每项研究都声称重大突破。竞争热度反映工作密集程度与时间压力，既可能有共享基础，也可能重复拥挤。依据不足应记录待核查，不能让模型打分掩盖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争扫描不等于简单数论文。不同数据库、检索式和文献类型会改变数量。应保存搜索记录；如果利用AI归类，要回看代表性论文，检查归类错误。引用量还受发表时间和学科差异影响。新近预印本可能尚未充分评审，但会改变题目的重复风险。无需编造实时排行榜来显示所谓前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只有匿名问卷，缺少成绩、使用记录或可解释的时间顺序，就不宜直接声称能够估计AI对学习的因果效应。可以先研究使用场景和感受，也可以寻找经批准的其他数据。研究对象、干预及数据条件改变后，要重新核对问题。样本量、预算和时程应依据设计计算，本页不编造通用样本门槛或伦理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展示研究者如何记录判断。三项问题不能仅按听起来宏大与否排序。描述性研究也可能很有用；干预问题只有获得所需条件后才能启动；长期影响研究可能重要，但当前资源不足时可分阶段推进。新增信息要对照最接近文献核验，表中的描述为教学设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可要求：只依据给定材料提出候选问题，区分原文事实、推断和待核查项；对每题说明对象、比较、结果与资源缺口，并找最接近研究。模型提出的引文必须回原文验证。资料不足时允许保留缺项。topic-evaluation技能定义了问题确认、四维评价、假说与反例搜索，技能文件存在不等于整个检索流程已经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展示完整选题说明，不要求学员课堂提交。拟议问题是：在某本科课程中，逐步提示相较完整解答是否改变一周后无AI新题表现？真实证据来自Bastani等高中研究；高校对象与延后测量是待论证设定。下一节将系统检索最接近研究，决定候选问题是否已经得到回答，以及当前问题需要怎样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d664ccd1345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da931a379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030189c084c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0bb55c0264d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e51874ad94c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41814d9e245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5BFB8D-8B14-4799-82BA-11A619EC6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2694E5-756D-4065-BB8C-9E7A71905E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79056D-258A-4429-906D-0B4AE19A8E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6289EA-01A4-40FD-A05B-0594EB2A2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6E6537-A142-42A5-874B-FABDCFD85F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8C39BB-4C7B-4F23-AB21-02518262B2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F8C1A2-177D-4153-B384-458CF854D3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8439A4-CB97-40B4-A94F-D291C136E1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070C65-0FE6-48A4-B29A-387CCBA20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11FD2-8214-487F-8691-3590208F15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b5ed6d0128456d" /><Relationship Type="http://schemas.openxmlformats.org/officeDocument/2006/relationships/slideLayout" Target="/ppt/slideLayouts/slideLayout1.xml" Id="R338426d888324205" /><Relationship Type="http://schemas.openxmlformats.org/officeDocument/2006/relationships/slideLayout" Target="/ppt/slideLayouts/slideLayout2.xml" Id="R089eee96cb304b08" /><Relationship Type="http://schemas.openxmlformats.org/officeDocument/2006/relationships/slideLayout" Target="/ppt/slideLayouts/slideLayout3.xml" Id="R7a5926b889f64ef1" /><Relationship Type="http://schemas.openxmlformats.org/officeDocument/2006/relationships/slideLayout" Target="/ppt/slideLayouts/slideLayout4.xml" Id="Rdcef13eebc354750" /><Relationship Type="http://schemas.openxmlformats.org/officeDocument/2006/relationships/slideLayout" Target="/ppt/slideLayouts/slideLayout5.xml" Id="Re3555292f87342b5" /><Relationship Type="http://schemas.openxmlformats.org/officeDocument/2006/relationships/slideLayout" Target="/ppt/slideLayouts/slideLayout6.xml" Id="Rb8dfa6fe0c2c4e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8426d888324205"/>
    <p:sldLayoutId xmlns:r="http://schemas.openxmlformats.org/officeDocument/2006/relationships" id="2147483650" r:id="R089eee96cb304b08"/>
    <p:sldLayoutId xmlns:r="http://schemas.openxmlformats.org/officeDocument/2006/relationships" id="2147483651" r:id="R7a5926b889f64ef1"/>
    <p:sldLayoutId xmlns:r="http://schemas.openxmlformats.org/officeDocument/2006/relationships" id="2147483652" r:id="Rdcef13eebc354750"/>
    <p:sldLayoutId xmlns:r="http://schemas.openxmlformats.org/officeDocument/2006/relationships" id="2147483653" r:id="Re3555292f87342b5"/>
    <p:sldLayoutId xmlns:r="http://schemas.openxmlformats.org/officeDocument/2006/relationships" id="2147483654" r:id="Rb8dfa6fe0c2c4e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bb7895c0647b3" /><Relationship Type="http://schemas.openxmlformats.org/officeDocument/2006/relationships/notesSlide" Target="/ppt/notesSlides/notesSlide1.xml" Id="R3cb15fde615c4c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fc3a7d3474148" /><Relationship Type="http://schemas.openxmlformats.org/officeDocument/2006/relationships/notesSlide" Target="/ppt/notesSlides/notesSlide2.xml" Id="Ra1fcf0d2c20d45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b7485be314bbd" /><Relationship Type="http://schemas.openxmlformats.org/officeDocument/2006/relationships/chart" Target="/ppt/slides/charts/chart1.xml" Id="Rb02c3293c2e9494c" /><Relationship Type="http://schemas.openxmlformats.org/officeDocument/2006/relationships/notesSlide" Target="/ppt/notesSlides/notesSlide3.xml" Id="Rbb9fdbaf8fd54d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aa98fa8d0d4535" /><Relationship Type="http://schemas.openxmlformats.org/officeDocument/2006/relationships/notesSlide" Target="/ppt/notesSlides/notesSlide4.xml" Id="Rea81927c34cb45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7ab440d074086" /><Relationship Type="http://schemas.openxmlformats.org/officeDocument/2006/relationships/notesSlide" Target="/ppt/notesSlides/notesSlide5.xml" Id="R79acda1a5f8440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91e5ea9b84552" /><Relationship Type="http://schemas.openxmlformats.org/officeDocument/2006/relationships/notesSlide" Target="/ppt/notesSlides/notesSlide6.xml" Id="Rc02c03d7dfd542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ba25e9c504e69" /><Relationship Type="http://schemas.openxmlformats.org/officeDocument/2006/relationships/notesSlide" Target="/ppt/notesSlides/notesSlide7.xml" Id="Rbe7794402e8745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ee92c4fc7545a3" /><Relationship Type="http://schemas.openxmlformats.org/officeDocument/2006/relationships/notesSlide" Target="/ppt/notesSlides/notesSlide8.xml" Id="R6e4f3af79d6241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61cbbc10b41ba" /><Relationship Type="http://schemas.openxmlformats.org/officeDocument/2006/relationships/notesSlide" Target="/ppt/notesSlides/notesSlide9.xml" Id="R0859a240459748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59b152bda4e60" /><Relationship Type="http://schemas.openxmlformats.org/officeDocument/2006/relationships/notesSlide" Target="/ppt/notesSlides/notesSlide10.xml" Id="R3e2647d28f1d4b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091e8b2fb440ec" /><Relationship Type="http://schemas.openxmlformats.org/officeDocument/2006/relationships/notesSlide" Target="/ppt/notesSlides/notesSlide11.xml" Id="R31c0db25b23946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dc7e567ac4ef7" /><Relationship Type="http://schemas.openxmlformats.org/officeDocument/2006/relationships/notesSlide" Target="/ppt/notesSlides/notesSlide12.xml" Id="Ra450c289c87b4b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40470acdc417c" /><Relationship Type="http://schemas.openxmlformats.org/officeDocument/2006/relationships/notesSlide" Target="/ppt/notesSlides/notesSlide13.xml" Id="Rf3c66d0df2c643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e84154c684335" /><Relationship Type="http://schemas.openxmlformats.org/officeDocument/2006/relationships/notesSlide" Target="/ppt/notesSlides/notesSlide14.xml" Id="Rb4b8c1528224442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有AI帮助时，练习成绩相对对照组的提升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 Base</c:v>
                </c:pt>
                <c:pt idx="1">
                  <c:v>GPT Tutor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0.48</c:v>
                </c:pt>
                <c:pt idx="1">
                  <c:v>1.27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92AED-4F04-4B90-A31C-25ACDA2E6AC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C179C-3593-495A-AFE5-5315525373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1E648-DF96-425E-B6FA-64848612924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99948-A33C-41D9-974C-DE015CB7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8807D-C436-4A6D-B1BC-E9004B98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选题与研究问题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6178A-CB55-4319-AB07-99F44F7C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1701C-9194-4B7E-B5AC-56803D67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以“AI辅助学习”为例：明确要解释的现象，再判断现有证据和资源能否回答。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C3297-DEC0-46F1-97D1-B3F231CC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AF43F-BD3B-4A8F-BA71-BE49A4B1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81EBF-952C-41B0-A51B-C64BCB9D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证据与方法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5002A-54D4-4533-AF79-53196E93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91847-82F2-46CA-9707-C508411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AI与教育：范围仍很宽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085EE-F338-4D82-87C0-5C6AF20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谁、何种帮助、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何时测量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2DA84-2BE0-46A4-9434-3334F02A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需要哪些数据与比较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1FE18-03BB-4EDF-B3B1-5DB832C6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保留、收窄或暂缓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C57D7-6942-494F-89C8-552D20AE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47DD0-ACF6-4691-BA4C-58643C7E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例：同样讨论AI学习，可以分别研究使用现状、预测风险或帮助方式的效果。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E27A2-4935-4700-87ED-9C29255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本节讲选题判断；具体检索和实验安排分别在Section 5、6展开。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87BB9-6B80-4AAA-9DA2-8777225E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DBD7B-2DF2-4308-8DCA-D4A690E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4306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20E0A-A6F2-42A6-B6C9-748CFCD2A21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8046B-997C-42D7-9BAC-12C21F04664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6F252-C5F0-46A8-914B-7F218F16525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97F44-8B47-4E2A-ACF0-3B5240FD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33834-2160-4455-8E07-109AB419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前沿扫描的证据层次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C04B3-8D55-4DAE-9EDB-E4A7958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C320C-BF03-4744-B872-89452356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新闻和热词提供线索；研究判断需要回到原始论文、数据说明和不同条件下的结果。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FBB66-BCD1-4A8F-BE24-B72C00B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会议、综述与报告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9C452-2130-4B4C-8933-9A250D10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原始论文与附录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01E28-F4FF-48F7-A939-D52346D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条件与结果对照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B4FBF-768A-4892-B53A-06B2D356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候选研究问题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CBA7E-943F-47B0-8FF3-773B824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记录日期、范围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与检索式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39CAB-7FB2-408A-A992-D147B4F8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查对象、设计、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指标和限制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2B8B8-4692-4250-8244-924B914F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区分重复结果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与相互矛盾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75D3B-3351-4A7F-8B67-BD66F51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写清还不知道什么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6E067-4C1B-406C-9D3D-7414FB19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EE231-CA43-4D2D-AE2E-4A568F18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保留检索记录，才能区分公开证据、模型建议和仍待核查的判断。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1018A-6514-41B1-B34A-D7FE6A55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检索范围与时间窗决定扫描结果的含义；热点仍需核对具体研究问题。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5ED15-12CE-4BE1-A339-DEC66D75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946A5-B41E-4E1F-93CD-BCA47EF8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4394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879A4-F8B1-457A-962C-EAA73DF1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C8678-3916-48F8-BAA3-4765AD13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真实研究：完成题目与掌握知识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26D25-4CF0-4C19-A64E-CBF6451B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5B44D-A440-4BEB-98FD-7CB5D48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一项土耳其高中数学研究分别测量有AI帮助时的练习成绩，以及撤去帮助后的独立测验。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FDD0391-C2E4-41B9-A9DE-CCDFE8E90719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2c3293c2e9494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7D613-CA0A-4915-8317-920C75CF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练习阶段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EDBC8-C7CB-46BF-B7D4-42278DFE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Base：常规AI答疑。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Tutor：含教师预设提示。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均相对无AI对照组比较，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127%为相对增幅。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90C19-C03C-441C-A53A-16D962B2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76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撤去资源后的测验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598D3-FE72-4834-ABCF-5EBA3C2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00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Base组相对对照低17%。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Tutor组与对照差异未显著。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36D25-5203-4875-835A-ED2CDD55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选题启发：明确“学会”指什么、在何时测量。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1F835-D261-4745-9D5B-A65FAE99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研究范围：特定高中、GPT-4工具和数学教学情境；不能直接外推到中国高校。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C4FA4-527C-44E9-8626-D25F2FD8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2C389-4FFA-4091-AD08-1C4E234B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5394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E4D45-7523-4295-9869-851CDDDCBFFB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857875" y="60007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59170-46FE-4DBF-810E-E40F7DD0131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905375" y="49339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F303C-6338-47B9-87EA-22001CE9A60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671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07BB5-67D1-43B4-BE6F-9FDFF3A9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0F060-A4F1-43CE-8B60-70D22317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研究问题的收窄过程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72C5C-57EC-4184-8CEE-7E713A8B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442FD-6E9F-4D44-BDF1-47ECB0EF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“AI能否提升学习”需要进一步指定人群、帮助方式、比较条件和测量时点。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B68AE-7735-4F9B-B5F1-A2A8A7BD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AI能否提升学习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4634B-9AE4-4103-86A7-EA5116B1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方向太宽，无法选数据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B4918-163F-4D9C-8BB8-EE6B27F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本科生使用AI提示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44326-B1B7-4862-A67A-42C210C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243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限定对象与干预方式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D6E91-CB4D-4F5F-8929-15E08F4E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768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与完整解答相比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36496-599F-4942-AE44-571E383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911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明确在比较什么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7640B-8581-45AF-95E8-0284FBF1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3436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撤去工具后的新题表现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B626A-E2BA-4A55-8BC3-BF6D6108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规定可测量的结果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98109-9E2F-4908-877D-8A72A60A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教学模拟：本科课程、提示方式与延后测验均为拟议设定。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66A76-1C32-434B-9822-D2C70B45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F601C-FDA5-41E7-B762-4E35AA93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032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1472D-458A-4001-A802-E8397C57793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67750" y="6477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362EE-C870-4F95-B3F6-A01A3A10DD5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67750" y="50006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1FA1B-603F-4C6E-9DD5-AA8664DEDE5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67750" y="3524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8E3B8-66C1-4D04-83A0-74526E19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782E1-98C6-4EA2-9184-408DEBC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描述、预测与因果问题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2370A-E6C6-48BE-A88F-ABF61F1E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37DA6-86DF-41CB-844B-282E221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同一主题可以提出不同问题。需要的证据随问题改变。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A9177-BEFA-461A-8D75-4181A089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3878A-5D95-4B05-A0D9-7B517346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教师在何种任务中使用AI？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9CE30-FB4B-483C-BE17-650DEE67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使用记录／调查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F3609-E62D-475F-9B5A-11761002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290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说明分布与情境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A000D-3668-4C1D-8F7B-2E8A0E71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5906B-147C-41CF-81AC-EDCD741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哪些学生更可能过度依赖？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A0321-DA3D-4C7E-9225-B7B11A09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19625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前期特征／留出数据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A329B-30EC-4E43-8243-7E1216B5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05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检验对新样本的预测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AF8FD-16FD-44DC-8946-0B0A35EC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BC6D7-2E5E-496A-A7E5-A3DCEC87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9600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提示方式是否改变学习？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78139-6E3A-469C-9881-40B04879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有依据的对照设计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3ADBB-06E3-40CF-8469-8600167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818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估计干预带来的差异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623DE-F0BD-4676-A8FF-86149FD1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另有机制、解释性和质性问题；此处三类用于说明常见的证据差别。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CEEEB-32E8-4DA5-B50F-25130779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DF7FD-1854-4048-B7B6-1319E79E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7730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53918-48BC-4E44-A5EF-0B018AF2CC2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9334500" y="6143625"/>
            <a:ext cx="2286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D2A7F-9B11-4D5A-AEEB-788F4066364D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3619500" y="6143625"/>
            <a:ext cx="1905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B9851-EBE8-47FA-9DCD-BBFB2BB10F7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5738813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8809D-41CE-42EA-AA63-3E0EEED026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334500" y="3548063"/>
            <a:ext cx="2286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6B203-84CB-4802-A7D2-8C3895318F50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619500" y="3548063"/>
            <a:ext cx="1905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2C6E1-CE9F-4A28-A7AE-C38CD263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747B3-4514-4BA6-8BC4-5BB80E3F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使用AI与成绩的关系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A183C-0D37-4D67-B05C-B6F93F5D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CB069-A0E8-453D-82DB-A787F329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“使用更多的学生成绩更高”可能有多种解释，需要检查原有基础和学习投入。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57B15-3FC9-4D22-9823-5F4378FC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原有基础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2BCE2-036F-4DCC-8F9E-EC58FD6E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5C312-6D36-4ED1-8CC1-5AAADE07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后续成绩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B0379-AB74-428C-BD7A-7D795AC7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62750"/>
            <a:ext cx="3810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93A45-ECBA-4508-8E55-A280355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待估计的影响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29659-614D-46E2-AC16-3CE56163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可能同时影响使用和成绩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46A53-59EC-4DC5-98DB-CC0EF6BF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教学示意：箭头标出可能影响，实际关系需要研究设计与数据检验。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8A422-F455-46E8-BC85-F2FA370C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62B37-5E1A-4AAD-BE8C-1415120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42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B2E61-08EE-4673-BDCB-FBA75889275D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10500" y="67246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D212F-3448-4638-961C-695F233BE04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10500" y="56483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37AF2-8ACA-4C7F-A001-CB6D8B13993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10500" y="4572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3DC34-293F-405B-ADF4-6C8D404DE75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4956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143BB-35A1-4F25-AA28-06630AD0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3564B-8C68-4B8C-88E3-5703BB6C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研究空白的核对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825AE-5C5E-4116-A2D2-1119D82A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9F793-FFE6-4F8D-9571-67215B9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“没有搜到”需要追查检索范围。可以研究的空白还要说明已有结果在哪个条件下不足。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01013-773A-4630-866B-3C2154D6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B8CFA-6CC2-4DBF-96E0-B53300C1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特定高中数学情境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32E21-E7F2-4000-AE75-07B26EE7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能说明什么／不能说明什么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559D5-9D12-43B9-BD95-B3672594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26EF9-F45C-4EE4-814D-148AA3E9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某本科课程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487A8-D714-42F1-95C6-7ED59B39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对象变化是否有理论理由？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177B3-90D7-427C-8CA2-FF556B4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90A7B-6D72-4C29-B7A3-14DCE3D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延后、无AI、新题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5B08A-4DCB-440C-A653-CFC1F8E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7685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与即时成绩的区别是什么？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7C652-F65E-4824-83FA-D843863B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484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6FCC3-E33B-4C06-A9CD-5E86858D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值得核查的候选问题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1A5AA-AE06-4C0C-9535-ADB4FD15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531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尚不能宣称首次或无人研究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3F914-B162-4886-B363-413EDD5D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课程模拟对照，非系统综述；尚未完成高校场景的完整检索。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3FB06-314A-4BDA-87DB-545D6754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E0AA2-00F1-42F0-BC78-D173887A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639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DD3B1-A89B-48A3-8507-8E743237C38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414AC-EB86-413A-B9AB-44BF6CF2A8B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2EC43-CEAD-4E70-88C1-8681682978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23169-2E7C-4651-A5DE-85F7552A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74E27-8EA5-49F2-B729-406A211D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假说与可能推翻它的结果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E534A-4DAB-4464-9F35-9075F01B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22E68-23FE-4399-A648-7FB0C34C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假说需要同时写出预期方向、测量办法和对不支持结果的处理。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5D660-117E-421E-BE71-427D4DEA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假说：提示改善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56CB7-C592-421E-853C-BE2AA7FC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E05CF-2F4F-4C69-B552-EF8B4E76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差异与不确定性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34E3E-3DFB-48D0-B38E-F8E4C08E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支持、不支持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或证据不足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668AF-A64E-45C8-8268-1D68746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说明比较条件与适用对象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6239A-C80B-4E62-891C-91B2F2BF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题目质量与评分一致性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3C59E-4AD7-4C32-A459-3FD7A5FA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报告估计值及区间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B23F0-9F0A-499C-863F-6F644029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区分反向结果与信息不够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F60B9-9155-4E78-8402-7A64FC97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D0979-9BFE-4E7F-A338-6A4FCC2D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主要结果、测量时点和判断规则需要事先说明，结果出来后再按证据解释。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91F71-217C-4813-928A-86076D49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未显著不等于两种方式等效；等效性需要另行设定界值和分析。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50690-67BE-4BE4-B447-728484D7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7CE09-58E8-426F-9D9C-C052411D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9535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D4C76-9068-4680-A0C5-704D5AD2E92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95750" y="5238750"/>
            <a:ext cx="2381250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340DE-F448-445B-9652-3D9310D8B41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95750" y="5238750"/>
            <a:ext cx="23812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7C6CE-55B9-47B8-8D6C-855DE3B050F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095750" y="4600575"/>
            <a:ext cx="238125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F7732-2CD2-425A-A96E-00C9E19E91D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495675"/>
            <a:ext cx="2381250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3E7F2-680C-496B-B27A-BAFB412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5FBC5-235E-4070-B9B9-6A0E21FB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选题的四个判断维度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77FEA-4CD6-4D31-9275-D64082FF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38906-F40F-4176-B46A-F2DEE20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每个判断都应附依据和缺口。四项可以并列比较，不必合成一个看似精确的总分。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AA8DC-0504-4DFC-B97C-F0CFF971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93EC-7B37-412E-BE68-A14658AB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F593A-1167-4774-96C9-7395241A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146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相对最接近研究增加什么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BF746-446D-41D2-B1CF-004DD619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290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最接近论文与差异说明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5EC72-E446-4C84-A03B-24C9E704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EE3B0-4F48-43B4-A34F-FDDA3227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95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现有条件能否提供关键证据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4B78E-5404-4E10-BCC5-3800480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授权、样本、设备与时间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83722-BC9B-4C80-8A17-C0D4EB6D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影响力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2BA1D-895C-4F6F-91DD-6C5A0C0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244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答案会改变什么认识或决定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2EBFD-C9FB-476F-986D-9EABE65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88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受影响者与具体决策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B89BE-0AD6-4C31-A8BC-0C473FD7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57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竞争热度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9B529-C7A8-4B2A-AF20-B09A7100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293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谁在研究，进展到了哪里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ADE3A-2369-4800-82A0-614997F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437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近期研究、预印本与更新日期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EAC86-7C4B-4CE2-94F6-3732F4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每项判断都记录依据、缺口和更新日期，便于随新证据修订。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560D2-D916-416A-80E1-9B2CEA36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A48AB-DF06-427B-9FAB-3319D723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51089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9C8C9-6B1C-426D-9A21-8B57C2BD963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5526E-A986-4953-8CB8-AD1BBABAA63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84DF7-C4BA-4F98-BF39-A79221F460C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C72A3-990E-4B64-B8DC-E2468B2E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544A7-E56F-474C-9A8A-D4297567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竞争热度与创新判断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118C-8765-480C-A44D-9461757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2FAB2-FD67-42FC-8A0E-DEAB499C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论文多寡、关键词排名和引用量只回答部分问题，仍需读最接近的研究。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1E482-A45F-4FEA-A4DB-F56AB5BE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限定时间窗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与文献类型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22BA3-C45C-4197-86E1-523877A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按问题和方法归类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97050-9AD1-4B1D-8E05-0EA72D8A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核对最接近的工作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4322F-FD77-4A2C-8293-4755A6B2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更新题目与边界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3C4A0-5A21-4FCB-ACCE-9A0C5761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固定数据库与检索日期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6A443-D559-4E7F-A27C-1C01C8E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去重并记录发表状态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7ED50-5E07-4413-9856-7D9A587D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查结果、限制、代码与数据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53459-E912-4667-973B-3010B71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说明新增证据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及重复风险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D7E99-21B5-4197-A651-E16E2548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487DF-5EC3-4D4B-BBFB-32456410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题目变化要写出理由：发现相近工作、获得新数据，或原条件已经不成立。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E1258-D4FD-44B4-9D63-5DAC24D4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比较需区分已发表论文、预印本和未验证主张，并记录更新日期。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781B1-ED6E-4879-94B5-D5C1A60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3092B-CCB1-465C-9093-6BE2DCF0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8608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3392F-F85F-4576-AE88-75C7DA0E083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477500" y="6215063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2357D-9F33-4D55-8841-25A194E366B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477500" y="3548063"/>
            <a:ext cx="76200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FB886-4A1E-4546-99C0-2CDD481236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4762500"/>
            <a:ext cx="1714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00A89-DEF5-4F67-A150-E5721B15C54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05500" y="3548063"/>
            <a:ext cx="1714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0D41D-412A-4876-9D2E-2E3901B0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BB123-174A-484C-B2BE-7C8A988A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资源缺口会改变研究问题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40ABB-6487-4887-94E8-1CB5E40D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EA60D-0040-4F57-BC4D-ABB6F00F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关键数据或条件拿不到时，应收窄问题、换证据路径，或暂缓研究。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F16A-02E8-4E04-A9E5-A1CB9A73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能获得关键数据与必要授权？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7B237-8FA8-418F-8818-9A54EA28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能够取得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20EED-8690-4A19-9EAC-1DEFBE94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08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先做可行性核查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8C611-EBF0-4A9C-AFE4-B1124503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74E8F-B74F-4878-A79B-58CBE678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改题或暂缓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B2C0B-420C-489E-B156-3CFD41D8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例：有问卷但缺少成绩和使用记录时，能回答的问题会改变。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9FE67-BAEB-41C6-AE3E-9C4FEA88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课程模拟：公开数据不自动包含所需变量；公开可访问也不等于可任意使用。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5B9AF-5E09-46A4-8AC8-99967563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E13F1-0332-455C-A9CC-E59BDC0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70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475DD-A44F-4912-98FC-193F9CA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4E9CC-8F3B-4D9F-B2D3-FFCAAE45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候选问题的比较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75BC3-0B71-4504-9C91-17266F6F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A9AE6-000D-49C5-969D-AB5EE4E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下面比较研究问题及其关键条件，所有项目均为拟议情境。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AC999-4C4D-4165-A9FA-1204DF4E8E4D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048000"/>
                <a:gridCol w="4191000"/>
                <a:gridCol w="3143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候选问题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新增信息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关键条件／风险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AI使用场景分布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了解任务与用途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抽样范围、记录质量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可先核查调查可行性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提示方式与延后表现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比较不同帮助方式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分配安排、测验、授权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优先核查关键条件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全校AI使用的长期影响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范围更广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长期追踪与数据关联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暂缓，收窄对象和时点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D0CFE-58BB-4740-A57F-E4E83105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教学模拟：处理意见基于设定条件；新增信息仍需文献核查。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D54C8-4B3C-4577-95FA-EFF4A583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21E6E-F557-4355-A31E-43F40241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7998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F731D-D20B-4542-9F51-72D969C210F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DEF18-8CFC-49C8-9C69-C9E6DF043DD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4FB8B-233F-429E-9CF3-3E1D831A81A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3F88D-65B4-47D8-92D2-984F8C40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843C6-DDA1-4ACD-A845-406A6200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AI参与选题的工作流程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B75E6-2EB6-40D5-AF36-750CB895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E612C-DDF1-4B2E-8DEA-1A214586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AI可以整理候选方向和比较材料；研究者需要核对原文、识别遗漏，并决定取舍。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770AC-822C-4709-8D0F-8D9A3302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E6743-6E3D-4920-9D10-5C6F406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候选题与证据表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83586-E288-450F-94E3-9ABE75E2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原文核查与反例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FCB50-A414-4F1E-A933-59D6CD7C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修订问题与边界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33DE5-DA6B-430E-AB61-9B9515B7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给出限制、来源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ED586-E412-4ECD-8230-07F8563E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逐条链接到实际材料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EBEB1-5BEF-4B14-987C-AB35B533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检查相近工作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与不支持证据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0AFE0-2DFC-42CC-942D-CC28F9DC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记录保留理由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B76E6-F173-462C-AD58-05696EDA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8BB04-71C5-42C2-AE04-2E00E3E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研究者复核：来源是否存在？是否遗漏相反结果？当前条件能否取得关键证据？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93858-ED57-4828-9BAB-4C413262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流程示意：候选题、证据表和未决事项都需留存来源与修改记录。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A68DD-47C1-4CC6-B88B-8EFE4B0D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064A6-DA27-4DAC-890A-A2D53EF0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32467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B4990-CAAA-4F62-A446-A79B7A2165B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762250" y="6029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2C086-ABEE-4569-8DCA-105C2911CB8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62250" y="49434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69D8B-C748-43CF-8CD3-BFAC46AF847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62250" y="38576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D27EC-63BB-4B9B-A483-295014E3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A839-87D0-49EC-912F-87107FF3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一份选题说明的完整结构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A37A5-D8D1-4866-944A-B81EABF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B1B2B-74C5-4A4B-A852-7DB08E63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把问题、已有依据和仍缺的条件写在同一份说明中，才能进入后续文献与设计工作。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AA00A-C211-4B46-B3F8-C04EE01B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F5EF3-99A2-42EA-9997-2C61CA86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本科课程中两种帮助方式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对延后无AI新题表现的影响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69F3A-92B1-48D7-B673-06A0651F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现有真实依据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233F8-5BA9-4B13-A913-0030BF7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高中数学研究显示：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练习表现与独立测验需分开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DE1C8-2A57-43D8-92E4-64512A61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新增证据的理由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4DCD8-E019-46D2-8D2E-74B0AC2A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核查对象与测量差异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是否对应明确的理论问题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7A2E1-5D72-4BBB-BE29-AD0AF3F5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启动前仍需核查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8EF32-6CC3-4C1D-8389-79AF0E02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817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最接近研究、数据授权、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分配办法、测验和样本依据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29887-6A9A-405F-B56A-26A5EA75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公开论文提供出发点；本科课程方案为教学模拟，尚无实施与结果。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06082-A825-450B-90EC-26A9AC6F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BD731-E79D-4D78-845A-C20E26D5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3212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2026-10-17T14:49:49.9500000Z</dcterms:created>
  <dcterms:modified xsi:type="dcterms:W3CDTF">2026-10-17T14:49:49.9500000Z</dcterms:modified>
</coreProperties>
</file>