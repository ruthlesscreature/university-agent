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c156faba8e4d68" /><Relationship Type="http://schemas.openxmlformats.org/officeDocument/2006/relationships/extended-properties" Target="/docProps/app.xml" Id="R97ff426e2dc145ec" /><Relationship Type="http://schemas.openxmlformats.org/officeDocument/2006/relationships/officeDocument" Target="/ppt/presentation.xml" Id="Re46e64dd5d234c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78593a66834490"/>
  </p:sldMasterIdLst>
  <p:notesMasterIdLst>
    <p:notesMasterId xmlns:r="http://schemas.openxmlformats.org/officeDocument/2006/relationships" r:id="Rb96b07e64d9246eb"/>
  </p:notesMasterIdLst>
  <p:sldIdLst>
    <p:sldId xmlns:r="http://schemas.openxmlformats.org/officeDocument/2006/relationships" id="256" r:id="R0be1c7942cbd4560"/>
    <p:sldId xmlns:r="http://schemas.openxmlformats.org/officeDocument/2006/relationships" id="257" r:id="R758d87a99fdb42ab"/>
    <p:sldId xmlns:r="http://schemas.openxmlformats.org/officeDocument/2006/relationships" id="258" r:id="R522d98b34a04493e"/>
    <p:sldId xmlns:r="http://schemas.openxmlformats.org/officeDocument/2006/relationships" id="259" r:id="Rf0089e3cc9284ec3"/>
    <p:sldId xmlns:r="http://schemas.openxmlformats.org/officeDocument/2006/relationships" id="260" r:id="Rc23f573993e04479"/>
    <p:sldId xmlns:r="http://schemas.openxmlformats.org/officeDocument/2006/relationships" id="261" r:id="R33df9d052e0b407c"/>
    <p:sldId xmlns:r="http://schemas.openxmlformats.org/officeDocument/2006/relationships" id="262" r:id="R155c18c15b53459b"/>
    <p:sldId xmlns:r="http://schemas.openxmlformats.org/officeDocument/2006/relationships" id="263" r:id="Rba7eabfcc9384677"/>
    <p:sldId xmlns:r="http://schemas.openxmlformats.org/officeDocument/2006/relationships" id="264" r:id="R8755ebd874c14977"/>
    <p:sldId xmlns:r="http://schemas.openxmlformats.org/officeDocument/2006/relationships" id="265" r:id="R1c8f0fd7aa6f42eb"/>
    <p:sldId xmlns:r="http://schemas.openxmlformats.org/officeDocument/2006/relationships" id="266" r:id="R72db35d4e5ba4f37"/>
    <p:sldId xmlns:r="http://schemas.openxmlformats.org/officeDocument/2006/relationships" id="267" r:id="Re18899959e364a28"/>
    <p:sldId xmlns:r="http://schemas.openxmlformats.org/officeDocument/2006/relationships" id="268" r:id="Rbc2049cb95784f1f"/>
    <p:sldId xmlns:r="http://schemas.openxmlformats.org/officeDocument/2006/relationships" id="269" r:id="R510f8d0395fd4ed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4f8eb2d217471c" /><Relationship Type="http://schemas.openxmlformats.org/officeDocument/2006/relationships/slideMaster" Target="/ppt/slideMasters/slideMaster1.xml" Id="R4c78593a66834490" /><Relationship Type="http://schemas.openxmlformats.org/officeDocument/2006/relationships/notesMaster" Target="/ppt/notesMasters/notesMaster1.xml" Id="Rb96b07e64d9246eb" /><Relationship Type="http://schemas.openxmlformats.org/officeDocument/2006/relationships/presProps" Target="/ppt/presProps.xml" Id="Refbdbf55792e4e6e" /><Relationship Type="http://schemas.openxmlformats.org/officeDocument/2006/relationships/tableStyles" Target="/ppt/tableStyles.xml" Id="Rc9e97fc55d254e65" /><Relationship Type="http://schemas.openxmlformats.org/officeDocument/2006/relationships/slide" Target="/ppt/slides/slide1.xml" Id="R0be1c7942cbd4560" /><Relationship Type="http://schemas.openxmlformats.org/officeDocument/2006/relationships/slide" Target="/ppt/slides/slide2.xml" Id="R758d87a99fdb42ab" /><Relationship Type="http://schemas.openxmlformats.org/officeDocument/2006/relationships/slide" Target="/ppt/slides/slide3.xml" Id="R522d98b34a04493e" /><Relationship Type="http://schemas.openxmlformats.org/officeDocument/2006/relationships/slide" Target="/ppt/slides/slide4.xml" Id="Rf0089e3cc9284ec3" /><Relationship Type="http://schemas.openxmlformats.org/officeDocument/2006/relationships/slide" Target="/ppt/slides/slide5.xml" Id="Rc23f573993e04479" /><Relationship Type="http://schemas.openxmlformats.org/officeDocument/2006/relationships/slide" Target="/ppt/slides/slide6.xml" Id="R33df9d052e0b407c" /><Relationship Type="http://schemas.openxmlformats.org/officeDocument/2006/relationships/slide" Target="/ppt/slides/slide7.xml" Id="R155c18c15b53459b" /><Relationship Type="http://schemas.openxmlformats.org/officeDocument/2006/relationships/slide" Target="/ppt/slides/slide8.xml" Id="Rba7eabfcc9384677" /><Relationship Type="http://schemas.openxmlformats.org/officeDocument/2006/relationships/slide" Target="/ppt/slides/slide9.xml" Id="R8755ebd874c14977" /><Relationship Type="http://schemas.openxmlformats.org/officeDocument/2006/relationships/slide" Target="/ppt/slides/slide10.xml" Id="R1c8f0fd7aa6f42eb" /><Relationship Type="http://schemas.openxmlformats.org/officeDocument/2006/relationships/slide" Target="/ppt/slides/slide11.xml" Id="R72db35d4e5ba4f37" /><Relationship Type="http://schemas.openxmlformats.org/officeDocument/2006/relationships/slide" Target="/ppt/slides/slide12.xml" Id="Re18899959e364a28" /><Relationship Type="http://schemas.openxmlformats.org/officeDocument/2006/relationships/slide" Target="/ppt/slides/slide13.xml" Id="Rbc2049cb95784f1f" /><Relationship Type="http://schemas.openxmlformats.org/officeDocument/2006/relationships/slide" Target="/ppt/slides/slide14.xml" Id="R510f8d0395fd4e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c58c4aed2c4e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766a53173646ee" /><Relationship Type="http://schemas.openxmlformats.org/officeDocument/2006/relationships/notesMaster" Target="/ppt/notesMasters/notesMaster1.xml" Id="R801913a7d69e4a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f88c0417c64b88" /><Relationship Type="http://schemas.openxmlformats.org/officeDocument/2006/relationships/notesMaster" Target="/ppt/notesMasters/notesMaster1.xml" Id="Rf4b483a6f3bc4c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324806185b4aff" /><Relationship Type="http://schemas.openxmlformats.org/officeDocument/2006/relationships/notesMaster" Target="/ppt/notesMasters/notesMaster1.xml" Id="R50646fc5695f4b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fdc3e15d544ee1" /><Relationship Type="http://schemas.openxmlformats.org/officeDocument/2006/relationships/notesMaster" Target="/ppt/notesMasters/notesMaster1.xml" Id="Rb6952ff2fa7946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900e01a1ca467a" /><Relationship Type="http://schemas.openxmlformats.org/officeDocument/2006/relationships/notesMaster" Target="/ppt/notesMasters/notesMaster1.xml" Id="Rc1ebd565109a4e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ecc9103f554bba" /><Relationship Type="http://schemas.openxmlformats.org/officeDocument/2006/relationships/notesMaster" Target="/ppt/notesMasters/notesMaster1.xml" Id="R7b5c6a8312314b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8a720c215548f3" /><Relationship Type="http://schemas.openxmlformats.org/officeDocument/2006/relationships/notesMaster" Target="/ppt/notesMasters/notesMaster1.xml" Id="R2e870824d93f41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10afa13d654619" /><Relationship Type="http://schemas.openxmlformats.org/officeDocument/2006/relationships/notesMaster" Target="/ppt/notesMasters/notesMaster1.xml" Id="R909369f469a044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e86f8c1d8d438c" /><Relationship Type="http://schemas.openxmlformats.org/officeDocument/2006/relationships/notesMaster" Target="/ppt/notesMasters/notesMaster1.xml" Id="R0c28dba7177145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5d3337b29542ff" /><Relationship Type="http://schemas.openxmlformats.org/officeDocument/2006/relationships/notesMaster" Target="/ppt/notesMasters/notesMaster1.xml" Id="R94a4dae5eb364c7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944f4fcf204b34" /><Relationship Type="http://schemas.openxmlformats.org/officeDocument/2006/relationships/notesMaster" Target="/ppt/notesMasters/notesMaster1.xml" Id="R35a23e84d1374e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ab307ab5cf471c" /><Relationship Type="http://schemas.openxmlformats.org/officeDocument/2006/relationships/notesMaster" Target="/ppt/notesMasters/notesMaster1.xml" Id="Rfb098c979214463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9b1b577718f4ac1" /><Relationship Type="http://schemas.openxmlformats.org/officeDocument/2006/relationships/notesMaster" Target="/ppt/notesMasters/notesMaster1.xml" Id="R490d29519ffa471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1cc386f9c07450c" /><Relationship Type="http://schemas.openxmlformats.org/officeDocument/2006/relationships/notesMaster" Target="/ppt/notesMasters/notesMaster1.xml" Id="R5d5446fefc9543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说明本节任务：教师面对一个感兴趣的方向，如何形成可研究的问题。AI辅助学习是贯穿的讲解案例，材料包括一篇公开真实研究及课程编写的拟议研究。两者必须分开。方向可以容纳多个项目，一项研究需要有限的对象、测量和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Stefan Nagy. Research 101: Ideas. University of Utah, 2026-01-07</a:t>
            </a:r>
          </a:p>
          <a:p xmlns:a="http://schemas.openxmlformats.org/drawingml/2006/main">
            <a:r>
              <a:t>https://www-old.cs.utah.edu/~snagy/courses/cs5493/slides/Week1b_ResearchIdeas.pdf</a:t>
            </a:r>
          </a:p>
          <a:p xmlns:a="http://schemas.openxmlformats.org/drawingml/2006/main">
            <a:r>
              <a:t>定位：PDF第35、41、52页，另读第37、47、53页文字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用真实Google Scholar页面演示如何从一个问题开始检索。本轮在内置浏览器打开检索式“generative AI”“tutoring”，年份限定2024—2025，实际保存列表前10条、截图和页面记录。默认按相关性排序，不能把第一条称为全领域最高引用论文。截图局部放大保留检索式、年份和前两条结果及引用量，完整原图随包保留，未修改数字。引用量读取日期为2026年10月19日，不把页面约数当全库数据，也未批量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材料类型。首条204次引用，回到arXiv题录与摘要，作者将其标为报告；摘要介绍应用和挑战，不能当成学生效果实验。第2条65次引用，回原始期刊题录与摘要可见它是系统综述。第4条31次引用，回GPTutor原文可见它研究使用记录与参与度，不能直接写为独立作答能力因果提高。样本从880份回复到741名符合条件者，再到727名最终分析者，若写结果必须用对应分母；更正补作者贡献声明。原文回查范围逐项登记，并未完整读完前10篇，其他7条仍是未核验候选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后检查版本。Calo与MacLellan的arXiv正文明确关联会议DOI，属于本课实际核到的同一工作版本关系。两个GPTutor题名只因系统同名不能自动合并，会议与期刊研究是否重复仍待核。归并依据与未决事项保存在版本去重判断.csv。接着与第10页的公开技术方案、方法图和学习测验材料比较，区分系统怎样做、参与度如何、撤去AI后能否独立作答，不能把不同结果拼成同一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用户已同意以可访问的学术入口替代Web of Science。本页不冒用WoS高被引标签，不把Google Scholar引用量当规范化质量分数，也不由10条结果预测未来热点。这里只证明一次真实检索、文件保存与有限原文核对，没有独立模型全库检索管线、系统综述或新实验。中文解释由AI编写，尚待教师审定。Utah2026第41页按已有工作分类再识别问题的讲授次序继续作为参考，本轮重新查看该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Stefan Nagy. Research 101: Ideas. University of Utah, 2026-01-07</a:t>
            </a:r>
          </a:p>
          <a:p xmlns:a="http://schemas.openxmlformats.org/drawingml/2006/main">
            <a:r>
              <a:t>https://www-old.cs.utah.edu/~snagy/courses/cs5493/slides/Week1b_ResearchIdeas.pdf</a:t>
            </a:r>
          </a:p>
          <a:p xmlns:a="http://schemas.openxmlformats.org/drawingml/2006/main">
            <a:r>
              <a:t>定位：PDF第35、41、52页，另读第37、47、53页文字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 Scholar Search Help</a:t>
            </a:r>
          </a:p>
          <a:p xmlns:a="http://schemas.openxmlformats.org/drawingml/2006/main">
            <a:r>
              <a:t>https://scholar.google.com/intl/en/scholar/help.html</a:t>
            </a:r>
          </a:p>
          <a:p xmlns:a="http://schemas.openxmlformats.org/drawingml/2006/main">
            <a:r>
              <a:t>定位：2026-10-19；Finding recent papers、Locating full text、Citation Export、Content Coverage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 Scholar真实浏览器检索与前10条记录</a:t>
            </a:r>
          </a:p>
          <a:p xmlns:a="http://schemas.openxmlformats.org/drawingml/2006/main">
            <a:r>
              <a:t>https://scholar.google.com/scholar?q=%22generative+AI%22+%22tutoring%22&amp;as_ylo=2024&amp;as_yhi=2025</a:t>
            </a:r>
          </a:p>
          <a:p xmlns:a="http://schemas.openxmlformats.org/drawingml/2006/main">
            <a:r>
              <a:t>定位：trend-packet/google-scholar-actual.png、google-scholar-actual-state.txt、google-scholar-records.json；只取结果前10条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Promoting student engagement with GPTutor: An intelligent tutoring system powered by generative AI</a:t>
            </a:r>
          </a:p>
          <a:p xmlns:a="http://schemas.openxmlformats.org/drawingml/2006/main">
            <a:r>
              <a:t>https://link.springer.com/article/10.1186/s41239-025-00571-9</a:t>
            </a:r>
          </a:p>
          <a:p xmlns:a="http://schemas.openxmlformats.org/drawingml/2006/main">
            <a:r>
              <a:t>定位：Abstract、Sampling procedures、Limitations；更正DOI10.1186/s41239-026-00581-1，补作者贡献声明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研究在土耳其一所高中开展，按班级随机分配三组：无生成式AI资源、GPT Base、GPT Tutor。这里重绘的是摘要报告的练习成绩相对提升48%和127%，相对对照组，非正确率或百分点，未画置信区间。原文Table 1报告练习效应0.137、0.361，对照均值0.284；原文百分比经过四舍五入。撤去资源后的测验中Base成绩相对对照组降低17%；Tutor与对照组差异未达到统计显著，不能说两组完全相同。这说明选题必须明确“学习”如何测量。本页为对原文的数值摘要，未转载其图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PNAS,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定位：摘要、Experimental Design、Table 1；48%与127%为原文四舍五入的练习成绩相对提升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拟议问题，不是对已发表研究的复述。可写为：在某本科课程中，与提供完整解答相比，只提供逐步提示是否改善一周后无AI条件下解决新题的表现？“一周后”是课程设定，必须依课程目标、资源和研究设计论证，不是来自前页论文的结论。问题先收窄，后续再讨论随机分配、样本依据及测试题的可比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Sebastian Tello-Trillo. Choosing and Crafting a Research Question. NBER workshop, 2026，作者公布的逐页文字版</a:t>
            </a:r>
          </a:p>
          <a:p xmlns:a="http://schemas.openxmlformats.org/drawingml/2006/main">
            <a:r>
              <a:t>https://sebastiantellotrillo.com/resources/choosing-and-crafting-a-research-question-markdown-version</a:t>
            </a:r>
          </a:p>
          <a:p xmlns:a="http://schemas.openxmlformats.org/drawingml/2006/main">
            <a:r>
              <a:t>定位：Slide 21、23、26；仅借鉴收窄问题和评价路径，不复制原文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描述问题关心发生了什么及其分布；预测问题关心能否预报尚未观察的结果；因果问题关心改变一个条件会带来什么差异。预测准确不自动等于找到原因。质性研究可以探索经验、意义与过程，不能硬塞进量化因果模式。本页示例是教学模拟，不代表真实教师调查或已训练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Sebastian Tello-Trillo. Choosing and Crafting a Research Question. NBER workshop, 2026，作者公布的逐页文字版</a:t>
            </a:r>
          </a:p>
          <a:p xmlns:a="http://schemas.openxmlformats.org/drawingml/2006/main">
            <a:r>
              <a:t>https://sebastiantellotrillo.com/resources/choosing-and-crafting-a-research-question-markdown-version</a:t>
            </a:r>
          </a:p>
          <a:p xmlns:a="http://schemas.openxmlformats.org/drawingml/2006/main">
            <a:r>
              <a:t>定位：Slide 21、23、26；仅借鉴收窄问题和评价路径，不复制原文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基础能力可能同时影响AI使用和成绩，学习投入也可能影响两者。只比较自愿使用与不使用的学生，可能混入这些差异。即使统计控制若干变量，也不能保证所有混杂因素都已处理。是否适合随机分配、自然实验或质性解释，需要结合问题和伦理安排。图中的AI使用到成绩为待估计关系，不能凭箭头宣布因果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篇论文不足以证明领域空白。先找最接近的原始研究，记录其对象、干预、测量时点和限制，再查同义术语、引用链和近期预印本。更换国家、学校或模型名称本身未必构成贡献，要说明这种变化为什么可能改变机制或结论。没有检索到与证明不存在是不同证据强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PNAS,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定位：摘要、Experimental Design、Table 1；48%与127%为原文四舍五入的练习成绩相对提升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假说是教学模拟。若提示组表现更好且估计精度足够，可在设计和样本范围内支持预期；若表现更差，需要考虑与预期相反的解释；区间很宽时可能只能判为证据不足。事后更换主要指标以追求显著性会改变问题。预设主要结果、时间点和分析规则有助于保持问题稳定，详细统计留给Section 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新性需要比较对象；可行性不能只看能否写出文本，还需确认数据授权、人员、设备和专业能力。影响力可以是解决具体测量误差或解释矛盾，并不要求每项研究都声称重大突破。竞争热度反映工作密集程度与时间压力，既可能有共享基础，也可能重复拥挤。依据不足应记录待核查，不能让模型打分掩盖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Stefan Nagy. Research 101: Ideas. University of Utah, 2026-01-07</a:t>
            </a:r>
          </a:p>
          <a:p xmlns:a="http://schemas.openxmlformats.org/drawingml/2006/main">
            <a:r>
              <a:t>https://www-old.cs.utah.edu/~snagy/courses/cs5493/slides/Week1b_ResearchIdeas.pdf</a:t>
            </a:r>
          </a:p>
          <a:p xmlns:a="http://schemas.openxmlformats.org/drawingml/2006/main">
            <a:r>
              <a:t>定位：PDF第35、41、52页，另读第37、47、53页文字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左侧真实方法图。Calo与MacLellan的Figure1把教师提出要求、系统生成界面初稿和教师继续修改分别标为A、B、C。中文解释只帮助读图，不将作者界面冒充本项目操作。其小规模比较涉及设计效率，不能转述为学生成绩提高。所读是arXiv版本，正文有会议关联，版本关系在上一页已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专利申请的说明书提供互动辅导、内容生成与评价的技术思路，可帮助列出需要比较的系统特征；它不提供本课程所需的学习效果验证，也不能凭公开文献号判断当前权利有效。PNAS研究则区分有AI的练习和撤去AI后的测验，帮助决定结果应该在什么条件下测量。公开实验来自土耳其高中数学，不直接回答高校教学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由这组三类材料可以提出一个教学拟议问题：在高校课程中，分步提示相对直接给答案，能否改善撤去AI后的独立作答？这不是已经确认的研究空白；仍需系统检索相近工作、比较提示条件、核对样本与评价方法，并经研究者决定。此处不存在真实新实验、创新性签核或模型生成研究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同时读取官方PMC搜索索引呈现的更正正文（直连页面遇到校验），2025年8月20日公布的更正涉及作者单位，单独登记为版本维护信息，不能当新增一项学习效果研究。定量趋势还需固定数据库、检索式、文献类型和时间字段，保存全量导出后按研究和专利族去重，处理公开滞后；本例未执行全库统计，不画增长曲线。Utah2026第41页按既有工作分类再识别待回答问题的讲授顺序用于本页，原领域表格和结论未照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Stefan Nagy. Research 101: Ideas. University of Utah, 2026-01-07</a:t>
            </a:r>
          </a:p>
          <a:p xmlns:a="http://schemas.openxmlformats.org/drawingml/2006/main">
            <a:r>
              <a:t>https://www-old.cs.utah.edu/~snagy/courses/cs5493/slides/Week1b_ResearchIdeas.pdf</a:t>
            </a:r>
          </a:p>
          <a:p xmlns:a="http://schemas.openxmlformats.org/drawingml/2006/main">
            <a:r>
              <a:t>定位：PDF第35、41、52页，另读第37、47、53页文字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Towards Educator-Driven Tutor Authoring: Generative AI Approaches for Creating Intelligent Tutor Interfaces</a:t>
            </a:r>
          </a:p>
          <a:p xmlns:a="http://schemas.openxmlformats.org/drawingml/2006/main">
            <a:r>
              <a:t>https://arxiv.org/html/2405.14713v1</a:t>
            </a:r>
          </a:p>
          <a:p xmlns:a="http://schemas.openxmlformats.org/drawingml/2006/main">
            <a:r>
              <a:t>定位：arXiv摘要页Submission history；全文第2、3节与Figure1；CC BY4.0，图按比例缩放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 and apparatus for automated content database creation and real-time, adaptive tutoring and grading</a:t>
            </a:r>
          </a:p>
          <a:p xmlns:a="http://schemas.openxmlformats.org/drawingml/2006/main">
            <a:r>
              <a:t>https://patents.google.com/patent/US20240274025A1/en</a:t>
            </a:r>
          </a:p>
          <a:p xmlns:a="http://schemas.openxmlformats.org/drawingml/2006/main">
            <a:r>
              <a:t>定位：原始PDF首页(43)、(22)、(60)、摘要；网页说明书互动辅导段与Claims1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PNAS,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定位：摘要、Experimental Design、Table 1；48%与127%为原文四舍五入的练习成绩相对提升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例如只有匿名问卷，缺少成绩、使用记录或可解释的时间顺序，就不宜直接声称能够估计AI对学习的因果效应。可以先研究使用场景和感受，也可以寻找经批准的其他数据。研究对象、干预及数据条件改变后，要重新核对问题。样本量、预算和时程应依据设计计算，本页不编造通用样本门槛或伦理批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表展示研究者如何记录判断。三项问题不能仅按听起来宏大与否排序。描述性研究也可能很有用；干预问题只有获得所需条件后才能启动；长期影响研究可能重要，但当前资源不足时可分阶段推进。新增信息要对照最接近文献核验，表中的描述为教学设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务可要求：只依据给定材料提出候选问题，区分原文事实、推断和待核查项；对每题说明对象、比较、结果与资源缺口，并找最接近研究。模型提出的引文必须回原文验证。资料不足时允许保留缺项。topic-evaluation技能定义了问题确认、四维评价、假说与反例搜索，技能文件存在不等于整个检索流程已经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展示完整选题说明，不要求学员课堂提交。拟议问题是：在某本科课程中，逐步提示相较完整解答是否改变一周后无AI新题表现？真实证据来自Bastani等高中研究；高校对象与延后测量是待论证设定。下一节将系统检索最接近研究，决定候选问题是否已经得到回答，以及当前问题需要怎样修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PNAS,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定位：摘要、Experimental Design、Table 1；48%与127%为原文四舍五入的练习成绩相对提升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6abdc1cbfb43b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87977a1dee48f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249acc027c493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ccc2cfe1bf46d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2b30130f1c42d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8b2b4f5c5b45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B3C860-951E-453F-8AB8-66663F5936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10C0F78-6467-4BA4-905A-CD8A06A9D38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AFDA680-FB22-4D4C-96D3-10B7DACC5C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F4829D-31D9-468C-AF5D-6979A0E311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8CD0EF0-19E1-430E-8D30-3025F6A24D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004A1FA-3877-4EA4-87E5-55C065494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9E7C92-4BB6-45D2-9EE3-7490D15A4E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588798D-C5C9-45A0-B748-24A4897031C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8C26C3-2F38-4BC9-8640-B23E01D4D0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CFC004-4E0C-4E81-AB03-F52CD8D04D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25e02db980411d" /><Relationship Type="http://schemas.openxmlformats.org/officeDocument/2006/relationships/slideLayout" Target="/ppt/slideLayouts/slideLayout1.xml" Id="Rd7ef268886e041b1" /><Relationship Type="http://schemas.openxmlformats.org/officeDocument/2006/relationships/slideLayout" Target="/ppt/slideLayouts/slideLayout2.xml" Id="Rf81f9165822d41c0" /><Relationship Type="http://schemas.openxmlformats.org/officeDocument/2006/relationships/slideLayout" Target="/ppt/slideLayouts/slideLayout3.xml" Id="Raa9d3d19d7314171" /><Relationship Type="http://schemas.openxmlformats.org/officeDocument/2006/relationships/slideLayout" Target="/ppt/slideLayouts/slideLayout4.xml" Id="R2492d58e84564b03" /><Relationship Type="http://schemas.openxmlformats.org/officeDocument/2006/relationships/slideLayout" Target="/ppt/slideLayouts/slideLayout5.xml" Id="Re9419bfb95bd4565" /><Relationship Type="http://schemas.openxmlformats.org/officeDocument/2006/relationships/slideLayout" Target="/ppt/slideLayouts/slideLayout6.xml" Id="Rcd6858d237c949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ef268886e041b1"/>
    <p:sldLayoutId xmlns:r="http://schemas.openxmlformats.org/officeDocument/2006/relationships" id="2147483650" r:id="Rf81f9165822d41c0"/>
    <p:sldLayoutId xmlns:r="http://schemas.openxmlformats.org/officeDocument/2006/relationships" id="2147483651" r:id="Raa9d3d19d7314171"/>
    <p:sldLayoutId xmlns:r="http://schemas.openxmlformats.org/officeDocument/2006/relationships" id="2147483652" r:id="R2492d58e84564b03"/>
    <p:sldLayoutId xmlns:r="http://schemas.openxmlformats.org/officeDocument/2006/relationships" id="2147483653" r:id="Re9419bfb95bd4565"/>
    <p:sldLayoutId xmlns:r="http://schemas.openxmlformats.org/officeDocument/2006/relationships" id="2147483654" r:id="Rcd6858d237c949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52392a748e4300" /><Relationship Type="http://schemas.openxmlformats.org/officeDocument/2006/relationships/notesSlide" Target="/ppt/notesSlides/notesSlide1.xml" Id="Rb1ebb8e764114b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7687d7c1664329" /><Relationship Type="http://schemas.openxmlformats.org/officeDocument/2006/relationships/image" Target="/ppt/media/image.jpeg" Id="R22248a25b7fd4261" /><Relationship Type="http://schemas.openxmlformats.org/officeDocument/2006/relationships/notesSlide" Target="/ppt/notesSlides/notesSlide2.xml" Id="R6541b4a9376044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05594d8c9149af" /><Relationship Type="http://schemas.openxmlformats.org/officeDocument/2006/relationships/chart" Target="/ppt/slides/charts/chart1.xml" Id="R278404b0b8b845fa" /><Relationship Type="http://schemas.openxmlformats.org/officeDocument/2006/relationships/notesSlide" Target="/ppt/notesSlides/notesSlide3.xml" Id="R93e3c83be53e4f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5ec3b09a4149ca" /><Relationship Type="http://schemas.openxmlformats.org/officeDocument/2006/relationships/notesSlide" Target="/ppt/notesSlides/notesSlide4.xml" Id="Rd8f25137eee84f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4dfc49ec5f44f9" /><Relationship Type="http://schemas.openxmlformats.org/officeDocument/2006/relationships/notesSlide" Target="/ppt/notesSlides/notesSlide5.xml" Id="Rd6ef78d4bce545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8869bcb81240e7" /><Relationship Type="http://schemas.openxmlformats.org/officeDocument/2006/relationships/notesSlide" Target="/ppt/notesSlides/notesSlide6.xml" Id="R72b2482b9d904c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8de9897da3424c" /><Relationship Type="http://schemas.openxmlformats.org/officeDocument/2006/relationships/notesSlide" Target="/ppt/notesSlides/notesSlide7.xml" Id="R996e0754ad7441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d297ef40a74b05" /><Relationship Type="http://schemas.openxmlformats.org/officeDocument/2006/relationships/notesSlide" Target="/ppt/notesSlides/notesSlide8.xml" Id="R36b0c9e1ab304c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0544cbf71040f3" /><Relationship Type="http://schemas.openxmlformats.org/officeDocument/2006/relationships/notesSlide" Target="/ppt/notesSlides/notesSlide9.xml" Id="R32aec3fd70b94c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0ae468c8f64303" /><Relationship Type="http://schemas.openxmlformats.org/officeDocument/2006/relationships/image" Target="/ppt/media/image.png" Id="Rf7b872a0d1624b87" /><Relationship Type="http://schemas.openxmlformats.org/officeDocument/2006/relationships/notesSlide" Target="/ppt/notesSlides/notesSlide10.xml" Id="Rb8554809ea0e4f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4352d5519c431b" /><Relationship Type="http://schemas.openxmlformats.org/officeDocument/2006/relationships/notesSlide" Target="/ppt/notesSlides/notesSlide11.xml" Id="R6c383cecb96847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c6872db2434663" /><Relationship Type="http://schemas.openxmlformats.org/officeDocument/2006/relationships/notesSlide" Target="/ppt/notesSlides/notesSlide12.xml" Id="R4843a9c1a86e49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bffebaf26f447d" /><Relationship Type="http://schemas.openxmlformats.org/officeDocument/2006/relationships/notesSlide" Target="/ppt/notesSlides/notesSlide13.xml" Id="Rfb5539c0777b453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37a84f732f420a" /><Relationship Type="http://schemas.openxmlformats.org/officeDocument/2006/relationships/notesSlide" Target="/ppt/notesSlides/notesSlide14.xml" Id="Rc1a58e3821aa474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有AI帮助时，练习成绩相对对照组的提升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45B7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C6D6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GPT Base</c:v>
                </c:pt>
                <c:pt idx="1">
                  <c:v>GPT Tutor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0.48</c:v>
                </c:pt>
                <c:pt idx="1">
                  <c:v>1.27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A665E-315A-4EFB-AE6C-03043DC7F2B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A399D-115E-4E45-8834-CC7EFE98F72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AEED39-3025-48D8-960C-5C7195CB807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6C01AD-6699-4AD6-A99E-BF9000F1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E6D4F-2554-49D6-A581-841D9B2F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选题与研究问题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E41C0-A8A4-4B5A-833F-C83991F9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5DFB8-DCAC-429C-B1E4-05F73F3B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以“AI辅助学习”为例：明确要解释的现象，再判断现有证据和资源能否回答。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DF8F8-F468-4B66-8E0C-E2602C29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C06EA-4B18-463C-BA39-30730E3C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4F713-3C17-4973-AF74-76EF3972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证据与方法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EF13E-5746-4E38-83F0-36856FCD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选题判断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A58C1-53F5-4422-AB8B-93B06BEB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AI与教育：范围仍很宽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B39FD-190A-402E-A974-8679CBF9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谁、何种帮助、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何时测量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630B28-ECF2-4DD3-B331-312CD42E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需要哪些数据与比较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6408BA-8688-4089-9447-59DDE8DD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保留、收窄或暂缓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E315A9-F487-431D-8141-B8EEECF0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05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2817DF-5D1B-4BB7-822B-7CB1BE3F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例：同样讨论AI学习，可以分别研究使用现状、预测风险或帮助方式的效果。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979F1B-6EB9-43C2-B05E-655F108C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本节讲选题判断；具体检索和实验安排分别在Section 5、6展开。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18F80-B570-49F2-A427-386FA466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来源：Utah CS5493/6493，2026，pp.35、41、52；课程教学模拟／方法说明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D88D4C-C778-4E61-97EB-DC8CE7B3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426523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E25E29-7E03-4AA9-9E6B-6E303D2BA23F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0239375" y="551497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DC8DA-B9C1-4267-8D46-CF2344048C4B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239375" y="407670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0E100E-32ED-488C-87CE-44AEA086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353A8-B3A5-41EF-9363-BCDDDF71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Google Scholar怎样找出值得读的论文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C6B92-7FBC-453B-9511-B5D43C64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72B29-2F54-40AB-BA42-42D3E1B6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真实检索：“generative AI” “tutoring”；限定2024—2025年，先看前10条结果。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7D5EA-F754-4CDC-A320-06DE812474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248a25b7fd4261"/>
          <a:srcRect xmlns:a="http://schemas.openxmlformats.org/drawingml/2006/main" l="0" t="0" r="0" b="49000"/>
          <a:stretch xmlns:a="http://schemas.openxmlformats.org/drawingml/2006/main"/>
        </p:blipFill>
        <p:spPr>
          <a:xfrm xmlns:a="http://schemas.openxmlformats.org/drawingml/2006/main">
            <a:off x="762000" y="3057525"/>
            <a:ext cx="7620000" cy="45624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9CFB8-8B1C-46A8-9308-9B7012B6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575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看材料类型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64E47-019E-455F-83FF-41DE1A3D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295650"/>
            <a:ext cx="266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首条报告被引204次；</a:t>
            </a:r>
          </a:p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用引用量寻找线索。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33BAE-B74F-48FE-9E72-3724416C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95825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回到原文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3CFE1-1260-49C2-A8AE-EB80E6B7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733925"/>
            <a:ext cx="266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GPTutor研究参与度，</a:t>
            </a:r>
          </a:p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独立作答需另看测验。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1CF3D-66FB-4EEF-83D0-5CE07FD6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1341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记日期与版本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588CA3-8798-4B64-B286-1AB415D3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172200"/>
            <a:ext cx="266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前10条保存为CSV；</a:t>
            </a:r>
          </a:p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版本关系逐项核对。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22EAEC-6AB5-41B2-9E65-741A3C83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引用量为2026-10-19页面快照；前10条不是全库，也不等于Web of Science高被引名单。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EC0713-5786-4A41-B954-BAFBAA53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来源：Utah CS5493/6493，2026，pp.35、41、52；Google Scholar官方检索帮助；Google Scholar实际页面，2026-10-19；Bai等，GPTutor原文与更正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F16639-04C4-41EA-AC3A-1D445755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438560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82245-74BE-4ADA-A07E-12C27FDD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2F23E-7221-4A06-9F71-3E9AB473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真实研究：完成题目与掌握知识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71526-8CA7-44D4-AF08-BBB119F6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DD0B1-AFB3-4758-9FCF-C09256E1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一项土耳其高中数学研究分别测量有AI帮助时的练习成绩，以及撤去帮助后的独立测验。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63DDE0C-C542-4B39-B584-56AA9841532F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7810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8404b0b8b845f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1A270-B98C-4D4D-8A6A-EE5BA105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908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练习阶段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28F31-018E-4429-B78E-48EA030A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0"/>
            <a:ext cx="4953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Base：常规AI答疑。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Tutor：含教师预设提示。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均相对无AI对照组比较，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127%为相对增幅。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FCE2DB-2740-480F-BD22-35CCDE55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768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撤去资源后的测验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4D6AF-39B6-42E8-92BC-E70DAC4A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007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Base组相对对照低17%。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Tutor组与对照差异未显著。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11443C-CF88-43D1-BD10-D5AD63B9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0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选题启发：明确“学会”指什么、在何时测量。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EAF33-EA7D-4100-8331-4A935C02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研究范围：特定高中、GPT-4工具和数学教学情境；不能直接外推到中国高校。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99F9C-745C-4D6F-87B3-018D1C37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2025，摘要、Table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07DD1E-1E7B-47A6-B35E-2BCC0B9F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701696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FBAD7-126B-42C3-8178-B80086FA19D6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5857875" y="6000750"/>
            <a:ext cx="95250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0C236-E814-4508-B5FB-3FBB03E01468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4905375" y="4933950"/>
            <a:ext cx="95250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AA76A4-0F96-42E5-A483-BA2FBC18FADD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952875" y="3867150"/>
            <a:ext cx="95250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FD2A30-3902-4934-93D6-FD03FF55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5C80C-F9B0-4C9A-B391-D666BD55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研究问题的收窄过程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5B7AC-AF08-4A7C-87AF-9CAF7184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4CDC9-1A3B-4587-9B68-D1C16365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“AI能否提升学习”需要进一步指定人群、帮助方式、比较条件和测量时点。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09858-DF01-4D88-BD04-54E66B1A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638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AI能否提升学习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D497D5-3EC5-4898-B4D3-60D65A9B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57550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方向太宽，无法选数据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D529D-B730-45B1-8E18-0A7F070A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10050"/>
            <a:ext cx="638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本科生使用AI提示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57471-B482-4462-B92C-D1FD835F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24350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限定对象与干预方式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83B9E-8F3B-4298-8933-6387D5E4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76850"/>
            <a:ext cx="638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与完整解答相比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8BCC6-6505-40F1-8480-6B755267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91150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明确在比较什么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CF618-A286-4618-8568-5BC5771F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343650"/>
            <a:ext cx="638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撤去工具后的新题表现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18719D-3E74-49E4-8C77-675D353B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规定可测量的结果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316B30-3AA3-464D-92B2-735F22FA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教学模拟：本科课程、提示方式与延后测验均为拟议设定。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D18852-5A1A-4761-B5AC-9899E6ED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来源：Tello-Trillo，2026，作者课件文字版；课程教学模拟／方法说明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EE2074-8F65-46FC-8AE7-2BE0CED3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024759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705E57-B3C4-4DF9-A87B-C98E95A24756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667750" y="647700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EF11F-11D6-4E06-A8BC-8AEBA54ACA1B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667750" y="500062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8576C9-895C-4358-B683-1EEFF86FBA2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667750" y="35242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F2CBBD-3F15-47A3-AAA0-3DCACD29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DA64B-EB2E-40B4-9AA8-4B378062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描述、预测与因果问题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1FB2D-C0A5-4B05-9956-0B17A9F6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0A437-1505-4D6A-B088-B53E8B68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同一主题可以提出不同问题。需要的证据随问题改变。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9EA166-AB79-4ADF-B46A-46E27EC3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描述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036F1-6104-4D95-A850-286CFBD7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43250"/>
            <a:ext cx="600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教师在何种任务中使用AI？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9AFD3-C490-4556-A93C-0BDA360D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43250"/>
            <a:ext cx="438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使用记录／调查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C46787-4293-4875-A3AD-EBD041B3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2907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说明分布与情境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5E56B5-6507-4E4A-88B9-48B5B117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B80955-CF47-46D1-BD89-C24A0BB7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19625"/>
            <a:ext cx="600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哪些学生更可能过度依赖？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E4045C-9B07-4368-AE73-F0B5136E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19625"/>
            <a:ext cx="438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前期特征／留出数据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B935ED-6D3A-44F0-8761-FE780845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5054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检验对新样本的预测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927440-9CAD-4223-AD64-F460EA03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因果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EE002-7B33-4DE0-8816-9892A6E1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096000"/>
            <a:ext cx="600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提示方式是否改变学习？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5CA89-8029-426C-A5D2-5D1C0BC4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096000"/>
            <a:ext cx="438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有依据的对照设计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9DB220-84DD-40A3-B9AA-F21DFBC7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98182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估计干预带来的差异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15590E-0B33-4644-8C45-37F499DF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另有机制、解释性和质性问题；此处三类用于说明常见的证据差别。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B64231-F034-451F-8BBF-FAD39053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来源：Tello-Trillo，2026，作者课件文字版；课程教学模拟／方法说明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7B924B-F4F6-47A9-8871-E2D68CF7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29711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4CE97-C8BE-4A55-BFF2-63C956FFBB02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9334500" y="6143625"/>
            <a:ext cx="2286000" cy="976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08CCDB-6A84-4987-B283-3B35A9500BDE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3619500" y="6143625"/>
            <a:ext cx="1905000" cy="976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83DDC-0002-4A81-AFC0-82D0CB3B38E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524500" y="5738813"/>
            <a:ext cx="419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61A159-30F7-42A0-A38E-AEF1C43C2E9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334500" y="3548063"/>
            <a:ext cx="2286000" cy="1785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D3972-6FB8-4AD2-A68C-B050DEA24278}"/>
              </a:ext>
            </a:extLst>
          </p:cNvPr>
          <p:cNvCxnSpPr>
            <a:stCxn xmlns:a="http://schemas.openxmlformats.org/drawingml/2006/main" id="5" idx="1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3619500" y="3548063"/>
            <a:ext cx="1905000" cy="1785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070C6F-2C4C-4E6C-99F5-EF445416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5EB7C-AED2-4754-86B5-F1F6A01B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使用AI与成绩的关系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4EE90-2939-49CE-A23F-C70EBD9E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C4DAD-DC3D-4D2B-BC77-7C755318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“使用更多的学生成绩更高”可能有多种解释，需要检查原有基础和学习投入。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B573F-DB4F-4B8D-A97B-5FC8290E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4325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原有基础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FA376-8235-4BFA-AF90-DEB7F886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AI使用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B36A1-33D2-4AD2-8449-8540D08B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3400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后续成绩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5BA00-844B-435A-AA6B-3A75FE2E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762750"/>
            <a:ext cx="3810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学习投入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6D15EB-1C34-4324-9416-8534E457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053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待估计的影响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6EB498-DA5B-4984-801D-5A224D0F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可能同时影响使用和成绩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5B998B-61F3-40A1-BA95-78020D3C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教学示意：箭头标出可能影响，实际关系需要研究设计与数据检验。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FA06CC-813F-402A-96D0-AF3A5F2A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来源：课程教学模拟／方法说明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1FA0C2-8481-4A67-93F1-95C6E938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215334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8D845B-70B8-4AF6-B964-3C99F3E43806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810500" y="67246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D7BC30-0B8F-477F-B8A6-EE54B2EEF86C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810500" y="56483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D777E-BEF0-40F2-AEFD-6A5FF48447DB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810500" y="457200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D53E5-A907-4BFC-8010-77593CA6272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810500" y="349567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835AFF-1D18-4BC1-9E71-1FC957C7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87619-06BA-41C0-B20B-BD030E01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研究空白的核对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09D96-D4BA-43E8-B93A-CB0DB5B4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EA529-D1B6-48FD-8467-0EB88095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“没有搜到”需要追查检索范围。可以研究的空白还要说明已有结果在哪个条件下不足。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4B97B-F71F-48B7-8C6F-901CA78A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已有证据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2B669-92DF-44A2-B010-10983928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24200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特定高中数学情境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C9C84-39CC-4613-BB95-824B0EA7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24200"/>
            <a:ext cx="485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能说明什么／不能说明什么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A00826-4B4A-4EBE-9CEF-C5EE8DBF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拟议对象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19590-BFD9-4D23-A858-6BC6A7E0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00525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某本科课程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419304-DBFE-42C9-B86C-14A1403C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00525"/>
            <a:ext cx="485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对象变化是否有理论理由？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CD37FB-0B16-47D0-9804-39D7135A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拟议测量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04BF4-A7A8-45E4-BBFD-578440FF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76850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延后、无AI、新题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57376F-2E7F-437B-AC30-4CDDF70F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76850"/>
            <a:ext cx="485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与即时成绩的区别是什么？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F45461-2687-41CB-BD2F-68B82086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484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当前判断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BD4C99-B3C7-4350-AF48-D4009066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53175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值得核查的候选问题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34E368-911E-4813-A335-5730DD02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53175"/>
            <a:ext cx="485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尚不能宣称首次或无人研究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0A20D5-4907-4F55-9D0D-73592C15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课程模拟对照，非系统综述；尚未完成高校场景的完整检索。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AE3F68-0DA2-47E4-8016-09B2C5C2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2025，摘要、Table 1；课程教学模拟／方法说明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4406B4-172B-4FE0-8130-D93B17B8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549380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7C6AC-2BE7-4FF2-9236-98BC18C854A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617B63-E1B1-4230-B013-5C8FEF08352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91D9C-4CA0-4561-A12F-F46E164E636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119DD2-4690-457A-B1F6-7BEB9FD2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6B6638-C666-4DE4-BF67-D86E00D0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假说与可能推翻它的结果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F2EE1-5922-4278-8F89-5E2192B9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30862-ADB3-41AA-A652-DBA857B0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假说需要同时写出预期方向、测量办法和对不支持结果的处理。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303E3-9DFB-421C-B873-6F9E60DC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假说：提示改善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延后表现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9D266-0340-4CDF-8505-1DF7B227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无AI新题测验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BEEEA-4550-4805-963E-C36F4E6D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差异与不确定性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6F09F-5BAF-4A0F-A3FA-FC2BFE09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支持、不支持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或证据不足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B2705-12E7-4269-BC13-8DB6923E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说明比较条件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和适用人群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77363E-5693-471A-85D4-C5202B6A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题目质量与评分一致性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9E7D6-74B5-4B1F-ABB9-B99A9A73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报告估计值及区间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06C1FB-A172-4C27-9345-69CCD3D1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区分反向结果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与证据不足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1238DE-0799-492C-B080-7C1A8042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05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1F8A3F-9AF3-4432-97C3-4D98B978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主要结果、测量时点和判断规则需要事先说明，结果出来后再按证据解释。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7BB4DE-86C1-4B05-93A2-A2A71A2F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未显著不等于两种方式等效；等效性需要另行设定界值和分析。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39C79C-A294-4ADF-97AD-F24ACF1D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来源：课程教学模拟／方法说明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C34BB3-2825-4A5B-944F-26A4E68E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549482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F0030B-9FD0-42EA-B93B-383C14A4E3E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095750" y="5238750"/>
            <a:ext cx="2381250" cy="1571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774BA0-BBCF-4CDB-8646-EF05DF98438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095750" y="5238750"/>
            <a:ext cx="2381250" cy="466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67B5F-E29C-4211-8B7A-C97788AF041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4095750" y="4600575"/>
            <a:ext cx="2381250" cy="638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44472-CBA6-4302-ACFA-AB6BD4A73B9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95750" y="3495675"/>
            <a:ext cx="2381250" cy="17430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FF32EF-DBCF-45CA-91F2-7FF5C287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87586-7521-495E-B786-5E29E60A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选题的四个判断维度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092A0-899A-4F22-8C9A-0530B857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3FA6A-8749-405D-8DE9-ECA8F445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每个判断都应附依据和缺口。四项可以并列比较，不必合成一个看似精确的总分。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38EF2-8890-4635-9D59-BEC63A9E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候选研究问题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421C5-4456-4314-B1D1-D55A4813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创新性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2E47C-7A4B-4695-B4EC-BF9F7AD4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14675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相对最接近研究增加什么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62D03-B19A-4603-85B7-554473A8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29025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最接近论文与差异说明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1EFBB-D5C9-41FE-9A02-D6818268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481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可行性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57149-934A-43B0-BE38-C5147D27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19575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现有条件能否提供关键证据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E5A04B-BE5B-4A9F-9954-8964881A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33925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授权、样本、设备与时间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FFBE15-2BF2-4E73-BD91-4DCAFEE9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530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影响力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C363A7-44AB-493C-B0CE-D5723A34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324475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答案会改变什么认识或决定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AD088A-D1DC-42D2-8FBB-8E20C5C5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838825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受影响者与具体决策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7408B0-7460-406B-AB2B-DC53A370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579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竞争热度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77FC8A-7FC3-4416-993A-4D92E7AF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29375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谁在研究，进展到了哪里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CEB91A-8CB9-49EC-BC1D-D28618DC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943725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近期研究、预印本与更新日期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385D2B-CDF5-4CE0-8C5F-7BD080F4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每项判断都记录依据、缺口和更新日期，便于随新证据修订。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48FD02-5B67-40B1-AE13-1D5BB228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来源：Utah CS5493/6493，2026，pp.35、41、52；课程教学模拟／方法说明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DC0BC8-926C-4B40-A9B0-CCC5355E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156391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D52B4D-2FF5-4CE6-A7DF-09AA7C59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A5C2A-EAFA-41E7-884D-22A70B7B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三份材料怎样帮助收窄研究问题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2676A-BEFD-4030-A0B9-EDDF2456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E3D74-60C4-4FD8-AAB2-A763BE74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界面能生成、方案已公开、学生学会了，分别需要不同证据。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3B570-86A6-40F1-BFB6-50E11FED65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872a0d1624b87"/>
          <a:stretch xmlns:a="http://schemas.openxmlformats.org/drawingml/2006/main"/>
        </p:blipFill>
        <p:spPr>
          <a:xfrm xmlns:a="http://schemas.openxmlformats.org/drawingml/2006/main">
            <a:off x="762000" y="3230235"/>
            <a:ext cx="6858000" cy="271210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2A72C-A6F7-436A-996B-E45D964C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81725"/>
            <a:ext cx="685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原文Figure1：A提出要求，B生成初稿，C继续修改。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C68FB-2407-4005-99D1-3FAA834B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71825"/>
            <a:ext cx="609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预印本：怎样制作辅导界面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8948BB-32A6-4753-AF03-BF110C17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0"/>
            <a:ext cx="609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有方法和初步效率比较；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不直接证明学生学得更好。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18FCD-4C91-4BBD-9280-11A22E68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62450"/>
            <a:ext cx="609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专利：怎样生成内容和反馈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89506-1F1F-4651-863D-21D20CDD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0125"/>
            <a:ext cx="609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有技术披露；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不等于授权或效果验证。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EEB69-EE4B-4567-91B3-BF48652D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553075"/>
            <a:ext cx="609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期刊：撤去AI后能否独立作答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FDEFEE-54C4-4517-B2F0-541646E6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000750"/>
            <a:ext cx="609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有学习结果比较；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不能直接外推到高校课程。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7F55D7-DFB1-467E-94D6-7E0DB349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627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17F2F-921E-470D-8325-C9AFFE20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818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拟议问题：高校课程中，分步提示相对直接答案，能否改善撤去AI后的独立作答？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9CA32F-929F-4AE7-871A-D4A5E835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拟议选题由AI编写，尚待研究者审定；未证明首次创新、教学效果或专利自由实施。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F129B4-21EE-4CAF-8149-FA3B8C2A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来源：Utah CS5493/6493，2026，pp.35、41、52；Calo &amp; MacLellan，arXiv2024，Fig.1；US20240274025A1，首页及说明书；Bastani等，PNAS 2025，摘要、Table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F9FEEE-26D4-4AFE-B5A5-7BEF1929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957175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2FF1D-5899-4BD1-8058-587D8BF1050C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477500" y="6215063"/>
            <a:ext cx="76200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B1E928-A7CB-4EBE-A944-55638DED201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0477500" y="3548063"/>
            <a:ext cx="762000" cy="119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AC599-EEAF-4FA7-994F-0554FACE62E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05500" y="4762500"/>
            <a:ext cx="1714500" cy="14525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33D00F-03C0-4B45-BEE2-CD539D6AD7A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905500" y="3548063"/>
            <a:ext cx="1714500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D0B066-3789-4301-9629-8ADA13E8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29245-6624-45C0-A82C-D2110E89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资源缺口会改变研究问题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33856-1C22-4042-9AAA-BF4C294C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C1180-B930-4BE5-ABE9-16B2F11C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关键数据或条件拿不到时，应收窄问题、换证据路径，或暂缓研究。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F1D55-AC5A-48C4-B645-5D896747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5143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能获得关键数据与必要授权？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7AB9E0-7970-4266-9F2B-FBEA6E6A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90875"/>
            <a:ext cx="2857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能够取得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0734B-9953-4CFB-A36B-EACDD7A6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90875"/>
            <a:ext cx="3238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先做可行性核查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4AE5F-52E4-4C6E-827D-E886E6E2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57875"/>
            <a:ext cx="2857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无法取得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E1C4BF-CC20-444B-A3A2-CD92AFF6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715000"/>
            <a:ext cx="3238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改题或暂缓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A5FE5F-752E-4A07-A7AB-805F37EC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例：有问卷但缺少成绩和使用记录时，能回答的问题会改变。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127316-E56E-4F0B-897A-764E54A4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课程模拟：公开数据不自动包含所需变量；公开可访问也不等于可任意使用。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16B00D-466B-4C01-95EA-E015ECFC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来源：课程教学模拟／方法说明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CBB25-F29B-4544-BED9-63A11850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526634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77B95-C7C5-4499-9EAE-CE3C4AEC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C3EDA-68FE-43A4-B5C9-B502BB91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候选问题的比较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5A72F-DBA2-4769-8612-5343E66A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5720F-6208-44D3-B5A5-30AB2E98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下面比较研究问题及其关键条件，所有项目均为拟议情境。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76B27-7C13-4B49-978B-C187090E843D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3048000"/>
                <a:gridCol w="4191000"/>
                <a:gridCol w="31432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候选问题</a:t>
                      </a:r>
                    </a:p>
                  </a:txBody>
                  <a:tcPr marL="142875" marR="142875" marT="17145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新增信息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关键条件／风险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当前处理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AI使用场景分布</a:t>
                      </a:r>
                    </a:p>
                  </a:txBody>
                  <a:tcPr marL="142875" marR="142875" marT="17145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了解任务与用途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抽样范围、记录质量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可先核查调查可行性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提示方式与延后表现</a:t>
                      </a:r>
                    </a:p>
                  </a:txBody>
                  <a:tcPr marL="142875" marR="142875" marT="17145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比较不同帮助方式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分配安排、测验、授权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优先核查关键条件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全校AI使用的长期影响</a:t>
                      </a:r>
                    </a:p>
                  </a:txBody>
                  <a:tcPr marL="142875" marR="142875" marT="17145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范围更广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长期追踪与数据关联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暂缓，收窄对象和时点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8D6CE-91E7-4CB3-BBE9-31A9C93D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教学模拟：处理意见基于设定条件；新增信息仍需文献核查。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8A929-8EA6-49D6-8CB8-0B79CA72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来源：课程教学模拟／方法说明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C704A-B022-4B9F-8198-EDDA7437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266993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A9BAB-7629-48E0-8CD8-5E6C4B3AC66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F90FE-6EBF-4DE8-90DB-C3C26FB6A13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362BF-2581-4062-AFB9-818817EE2AE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0993A4-5F62-4ABA-9B83-3E046AC6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7312F-946D-4241-B6DE-E33EE010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AI参与选题的工作流程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F8560-11AD-41E0-8B32-084BFDCE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B1708-7E88-4B0C-9AB9-79BCBF86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AI可以整理候选方向和比较材料；研究者需要核对原文、识别遗漏，并决定取舍。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7A13D-FD17-4C01-AF3F-492B7B3A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范围与已有材料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06DC7-9693-4C66-9AC8-54C0D415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候选题与证据表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64C2C-DF4D-4746-A9FC-B272BFE3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原文核查与反例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B05E1-726F-43CB-A469-202EF47C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修订问题与边界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A75F08-C597-44CF-A714-BBD20524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给出限制、来源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和时间窗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F5825F-B705-47FB-BB37-C6DAF62E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逐条链接到实际材料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02DB76-FDE7-42B8-968F-24B4ACD1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检查相近工作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与不支持证据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B8900-6A3F-42A3-931C-A5B8A87D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记录保留理由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和未决事项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6293A4-8DA5-4386-BC40-8CD2B820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05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F89A17-7CC2-4936-96ED-B22B5D27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研究者复核：来源是否存在？是否遗漏相反结果？当前条件能否取得关键证据？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D76EBD-846C-43A2-A011-0A445646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流程示意：候选题、证据表和未决事项都需留存来源与修改记录。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E4020B-156B-4455-BFCE-01DAEC0B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来源：课程教学模拟／方法说明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BBC7A-94C1-43C6-9F0F-A2F77299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779297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B6C6B-68D7-479D-8A91-FB33F0ED42E0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2762250" y="6029325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D7451-1C28-490C-B83E-0F04B01E33E1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762250" y="4943475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9EE44-CAC9-43FF-9038-17A70D798506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762250" y="3857625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CE47F0-85BB-4C51-86B1-F18B3502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A1ABE-6C4A-440A-9D0F-0ECAB4E0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一份选题说明的完整结构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5DE40-BD81-423C-A0A2-4A2FA1D3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2DA12-88B2-4EC1-AEA1-9B030B6E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把问题、已有依据和仍缺的条件写在同一份说明中，才能进入后续文献与设计工作。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CEA7F-F2E3-4A60-B097-DBF408B1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000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拟议研究问题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96C82D-4CE1-4954-988C-AF8F2985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本科课程中两种帮助方式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对延后无AI新题表现的影响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52B0A-89EF-4C63-BC93-AA9E39A6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000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现有真实依据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C9B88-A8DA-4BD7-AB59-9D68A523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10050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高中数学研究显示：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练习表现与独立测验需分开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802C6-EA2A-4CE9-A661-F0622D72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4000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新增证据的理由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68A0F-BF0F-4C17-AB41-96EE7350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95900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核查对象与测量差异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是否对应明确的理论问题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EBB1E4-3F08-434F-A761-024FB905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4000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启动前仍需核查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0F39D2-A0BD-4236-97D5-5DD0C724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81750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最接近研究、数据授权、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分配办法、测验和样本依据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11B859-DF3E-47BF-9916-9A36A885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公开论文提供出发点；本科课程方案为教学模拟，尚无实施与结果。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370E94-C757-4D3C-9405-D49F89B8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2025，摘要、Table 1；课程教学模拟／方法说明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7945E9-83F2-41E0-B014-A468254D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61359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2026-10-19T10:19:08.8010000Z</dcterms:created>
  <dcterms:modified xsi:type="dcterms:W3CDTF">2026-10-19T10:19:08.8010000Z</dcterms:modified>
</coreProperties>
</file>