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478ea562664a1d" /><Relationship Type="http://schemas.openxmlformats.org/officeDocument/2006/relationships/extended-properties" Target="/docProps/app.xml" Id="Rb450e55137814082" /><Relationship Type="http://schemas.openxmlformats.org/officeDocument/2006/relationships/officeDocument" Target="/ppt/presentation.xml" Id="R255a9437401c40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c8d6f1d86249a5"/>
  </p:sldMasterIdLst>
  <p:notesMasterIdLst>
    <p:notesMasterId xmlns:r="http://schemas.openxmlformats.org/officeDocument/2006/relationships" r:id="R79c890f188b445e2"/>
  </p:notesMasterIdLst>
  <p:sldIdLst>
    <p:sldId xmlns:r="http://schemas.openxmlformats.org/officeDocument/2006/relationships" id="256" r:id="Rb4d3df26275e4d9a"/>
    <p:sldId xmlns:r="http://schemas.openxmlformats.org/officeDocument/2006/relationships" id="257" r:id="Rf93151f022554c60"/>
    <p:sldId xmlns:r="http://schemas.openxmlformats.org/officeDocument/2006/relationships" id="258" r:id="R071d63b9474742cb"/>
    <p:sldId xmlns:r="http://schemas.openxmlformats.org/officeDocument/2006/relationships" id="259" r:id="Rbf9cccf577764e03"/>
    <p:sldId xmlns:r="http://schemas.openxmlformats.org/officeDocument/2006/relationships" id="260" r:id="Rf88c20231fbe4407"/>
    <p:sldId xmlns:r="http://schemas.openxmlformats.org/officeDocument/2006/relationships" id="261" r:id="Rb060764e0cf64ab6"/>
    <p:sldId xmlns:r="http://schemas.openxmlformats.org/officeDocument/2006/relationships" id="262" r:id="R43a1febe425f4a9e"/>
    <p:sldId xmlns:r="http://schemas.openxmlformats.org/officeDocument/2006/relationships" id="263" r:id="R19b6953ac8e4422c"/>
    <p:sldId xmlns:r="http://schemas.openxmlformats.org/officeDocument/2006/relationships" id="264" r:id="R68c028f41933497f"/>
    <p:sldId xmlns:r="http://schemas.openxmlformats.org/officeDocument/2006/relationships" id="265" r:id="Rae514d4f2e4941ef"/>
    <p:sldId xmlns:r="http://schemas.openxmlformats.org/officeDocument/2006/relationships" id="266" r:id="Rfc2a2ca3f6dd410a"/>
    <p:sldId xmlns:r="http://schemas.openxmlformats.org/officeDocument/2006/relationships" id="267" r:id="R3b243e9469f6448b"/>
    <p:sldId xmlns:r="http://schemas.openxmlformats.org/officeDocument/2006/relationships" id="268" r:id="Rf92c6d7a4254482e"/>
    <p:sldId xmlns:r="http://schemas.openxmlformats.org/officeDocument/2006/relationships" id="269" r:id="Rb3097167549f49ab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07a41a80384253" /><Relationship Type="http://schemas.openxmlformats.org/officeDocument/2006/relationships/slideMaster" Target="/ppt/slideMasters/slideMaster1.xml" Id="R3ec8d6f1d86249a5" /><Relationship Type="http://schemas.openxmlformats.org/officeDocument/2006/relationships/notesMaster" Target="/ppt/notesMasters/notesMaster1.xml" Id="R79c890f188b445e2" /><Relationship Type="http://schemas.openxmlformats.org/officeDocument/2006/relationships/presProps" Target="/ppt/presProps.xml" Id="Rd049c0b2587a4454" /><Relationship Type="http://schemas.openxmlformats.org/officeDocument/2006/relationships/tableStyles" Target="/ppt/tableStyles.xml" Id="R26ea74e68bdc4b23" /><Relationship Type="http://schemas.openxmlformats.org/officeDocument/2006/relationships/slide" Target="/ppt/slides/slide1.xml" Id="Rb4d3df26275e4d9a" /><Relationship Type="http://schemas.openxmlformats.org/officeDocument/2006/relationships/slide" Target="/ppt/slides/slide2.xml" Id="Rf93151f022554c60" /><Relationship Type="http://schemas.openxmlformats.org/officeDocument/2006/relationships/slide" Target="/ppt/slides/slide3.xml" Id="R071d63b9474742cb" /><Relationship Type="http://schemas.openxmlformats.org/officeDocument/2006/relationships/slide" Target="/ppt/slides/slide4.xml" Id="Rbf9cccf577764e03" /><Relationship Type="http://schemas.openxmlformats.org/officeDocument/2006/relationships/slide" Target="/ppt/slides/slide5.xml" Id="Rf88c20231fbe4407" /><Relationship Type="http://schemas.openxmlformats.org/officeDocument/2006/relationships/slide" Target="/ppt/slides/slide6.xml" Id="Rb060764e0cf64ab6" /><Relationship Type="http://schemas.openxmlformats.org/officeDocument/2006/relationships/slide" Target="/ppt/slides/slide7.xml" Id="R43a1febe425f4a9e" /><Relationship Type="http://schemas.openxmlformats.org/officeDocument/2006/relationships/slide" Target="/ppt/slides/slide8.xml" Id="R19b6953ac8e4422c" /><Relationship Type="http://schemas.openxmlformats.org/officeDocument/2006/relationships/slide" Target="/ppt/slides/slide9.xml" Id="R68c028f41933497f" /><Relationship Type="http://schemas.openxmlformats.org/officeDocument/2006/relationships/slide" Target="/ppt/slides/slide10.xml" Id="Rae514d4f2e4941ef" /><Relationship Type="http://schemas.openxmlformats.org/officeDocument/2006/relationships/slide" Target="/ppt/slides/slide11.xml" Id="Rfc2a2ca3f6dd410a" /><Relationship Type="http://schemas.openxmlformats.org/officeDocument/2006/relationships/slide" Target="/ppt/slides/slide12.xml" Id="R3b243e9469f6448b" /><Relationship Type="http://schemas.openxmlformats.org/officeDocument/2006/relationships/slide" Target="/ppt/slides/slide13.xml" Id="Rf92c6d7a4254482e" /><Relationship Type="http://schemas.openxmlformats.org/officeDocument/2006/relationships/slide" Target="/ppt/slides/slide14.xml" Id="Rb3097167549f49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0fa344677b4d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aa0b9327434f88" /><Relationship Type="http://schemas.openxmlformats.org/officeDocument/2006/relationships/notesMaster" Target="/ppt/notesMasters/notesMaster1.xml" Id="R1990adc12f3c4e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dfe80bda284e8c" /><Relationship Type="http://schemas.openxmlformats.org/officeDocument/2006/relationships/notesMaster" Target="/ppt/notesMasters/notesMaster1.xml" Id="R7cdb66a2aaca40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a061017b494903" /><Relationship Type="http://schemas.openxmlformats.org/officeDocument/2006/relationships/notesMaster" Target="/ppt/notesMasters/notesMaster1.xml" Id="R099de9d3a76d48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b23090a37340d2" /><Relationship Type="http://schemas.openxmlformats.org/officeDocument/2006/relationships/notesMaster" Target="/ppt/notesMasters/notesMaster1.xml" Id="R6087cbb8665548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119965909a460d" /><Relationship Type="http://schemas.openxmlformats.org/officeDocument/2006/relationships/notesMaster" Target="/ppt/notesMasters/notesMaster1.xml" Id="R9d660198230044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825e42826f4cb5" /><Relationship Type="http://schemas.openxmlformats.org/officeDocument/2006/relationships/notesMaster" Target="/ppt/notesMasters/notesMaster1.xml" Id="Rcb244e28af8749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b2c3bc1d8b498a" /><Relationship Type="http://schemas.openxmlformats.org/officeDocument/2006/relationships/notesMaster" Target="/ppt/notesMasters/notesMaster1.xml" Id="R465677a85d4f48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08fc78a586414e" /><Relationship Type="http://schemas.openxmlformats.org/officeDocument/2006/relationships/notesMaster" Target="/ppt/notesMasters/notesMaster1.xml" Id="R09d99457bb7941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aff79893954aeb" /><Relationship Type="http://schemas.openxmlformats.org/officeDocument/2006/relationships/notesMaster" Target="/ppt/notesMasters/notesMaster1.xml" Id="R1d950f2504f84b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f4be2bda57419d" /><Relationship Type="http://schemas.openxmlformats.org/officeDocument/2006/relationships/notesMaster" Target="/ppt/notesMasters/notesMaster1.xml" Id="R3855ff80c291414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7d9bbcc52d4870" /><Relationship Type="http://schemas.openxmlformats.org/officeDocument/2006/relationships/notesMaster" Target="/ppt/notesMasters/notesMaster1.xml" Id="Rcd656b70fa9448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797ed77ad17481f" /><Relationship Type="http://schemas.openxmlformats.org/officeDocument/2006/relationships/notesMaster" Target="/ppt/notesMasters/notesMaster1.xml" Id="R76a5204ecbc242e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dbc493272a9413c" /><Relationship Type="http://schemas.openxmlformats.org/officeDocument/2006/relationships/notesMaster" Target="/ppt/notesMasters/notesMaster1.xml" Id="R7453bef699a7485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4d738ccc1614949" /><Relationship Type="http://schemas.openxmlformats.org/officeDocument/2006/relationships/notesMaster" Target="/ppt/notesMasters/notesMaster1.xml" Id="Rc15e2cda771740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说明本节任务：教师面对一个感兴趣的方向，如何形成可研究的问题。AI辅助学习是贯穿的讲解案例，材料包括一篇公开真实研究及课程编写的拟议研究。两者必须分开。方向可以容纳多个项目，一项研究需要有限的对象、测量和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Stefan Nagy. Research 101: Ideas. University of Utah, 2026-01-07</a:t>
            </a:r>
          </a:p>
          <a:p xmlns:a="http://schemas.openxmlformats.org/drawingml/2006/main">
            <a:r>
              <a:t>https://www-old.cs.utah.edu/~snagy/courses/cs5493/slides/Week1b_ResearchIdeas.pdf</a:t>
            </a:r>
          </a:p>
          <a:p xmlns:a="http://schemas.openxmlformats.org/drawingml/2006/main">
            <a:r>
              <a:t>定位：PDF第35、41、52页，另读第37、47、53页文字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出具体问题：生成式AI怎样辅助教学？把窗口固定在2024年1月1日至2025年12月31日，登记三条已读材料的公开事件，而非声称搜全领域。预印本v1提交于2024年5月23日，专利申请公开于2024年8月15日，PNAS论文在线发表于2025年6月25日。日期来自原始题录；专利还查看原33页扫描PDF首页，申请日为2024年2月14日，更早临时申请日为2023年2月14日，不能把它们混作公开时间。期刊卷期日为2025年7月1日，本页使用在线日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条记录不必指向同一结果，分别阅读其能支持的内容：辅导界面方法、自适应辅导方案、独立测验结果。arXiv版本的正文列有L@S2024会议与相关DOI，不能把预印本标签解释成这项工作从未发表。期刊论文也可能存在更早工作版本；这里登记的是所读记录，不声称它是研究最早出现的时间。后续扩大检索，应按题名、作者、DOI和版本关系归并同一研究，专利申请与专利族另按关系归并，不能直接把数量加成研究热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可以协助提取日期、归类候选材料，但必须回到原页核对。本轮由Codex获取并读取原材料，没有运行独立Agent的全库趋势检索，不制作模型执行截图。SSRN候选页面403与ACM访问失败已保留在配套说明，未用摘要猜填其出版日期。三份记录在trend-packet中可编辑，本页仅作证据与时间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Stefan Nagy. Research 101: Ideas. University of Utah, 2026-01-07</a:t>
            </a:r>
          </a:p>
          <a:p xmlns:a="http://schemas.openxmlformats.org/drawingml/2006/main">
            <a:r>
              <a:t>https://www-old.cs.utah.edu/~snagy/courses/cs5493/slides/Week1b_ResearchIdeas.pdf</a:t>
            </a:r>
          </a:p>
          <a:p xmlns:a="http://schemas.openxmlformats.org/drawingml/2006/main">
            <a:r>
              <a:t>定位：PDF第35、41、52页，另读第37、47、53页文字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Towards Educator-Driven Tutor Authoring: Generative AI Approaches for Creating Intelligent Tutor Interfaces</a:t>
            </a:r>
          </a:p>
          <a:p xmlns:a="http://schemas.openxmlformats.org/drawingml/2006/main">
            <a:r>
              <a:t>https://arxiv.org/html/2405.14713v1</a:t>
            </a:r>
          </a:p>
          <a:p xmlns:a="http://schemas.openxmlformats.org/drawingml/2006/main">
            <a:r>
              <a:t>定位：arXiv摘要页Submission history；全文第2、3节与Figure1；CC BY4.0，图按比例缩放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 and apparatus for automated content database creation and real-time, adaptive tutoring and grading</a:t>
            </a:r>
          </a:p>
          <a:p xmlns:a="http://schemas.openxmlformats.org/drawingml/2006/main">
            <a:r>
              <a:t>https://patents.google.com/patent/US20240274025A1/en</a:t>
            </a:r>
          </a:p>
          <a:p xmlns:a="http://schemas.openxmlformats.org/drawingml/2006/main">
            <a:r>
              <a:t>定位：原始PDF首页(43)、(22)、(60)、摘要；网页说明书互动辅导段与Claims1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PNAS,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定位：摘要、Experimental Design、Table 1；48%与127%为原文四舍五入的练习成绩相对提升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研究在土耳其一所高中开展，按班级随机分配三组：无生成式AI资源、GPT Base、GPT Tutor。这里重绘的是摘要报告的练习成绩相对提升48%和127%，相对对照组，非正确率或百分点，未画置信区间。原文Table 1报告练习效应0.137、0.361，对照均值0.284；原文百分比经过四舍五入。撤去资源后的测验中Base成绩相对对照组降低17%；Tutor与对照组差异未达到统计显著，不能说两组完全相同。这说明选题必须明确“学习”如何测量。本页为对原文的数值摘要，未转载其图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PNAS,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定位：摘要、Experimental Design、Table 1；48%与127%为原文四舍五入的练习成绩相对提升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拟议问题，不是对已发表研究的复述。可写为：在某本科课程中，与提供完整解答相比，只提供逐步提示是否改善一周后无AI条件下解决新题的表现？“一周后”是课程设定，必须依课程目标、资源和研究设计论证，不是来自前页论文的结论。问题先收窄，后续再讨论随机分配、样本依据及测试题的可比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Sebastian Tello-Trillo. Choosing and Crafting a Research Question. NBER workshop, 2026，作者公布的逐页文字版</a:t>
            </a:r>
          </a:p>
          <a:p xmlns:a="http://schemas.openxmlformats.org/drawingml/2006/main">
            <a:r>
              <a:t>https://sebastiantellotrillo.com/resources/choosing-and-crafting-a-research-question-markdown-version</a:t>
            </a:r>
          </a:p>
          <a:p xmlns:a="http://schemas.openxmlformats.org/drawingml/2006/main">
            <a:r>
              <a:t>定位：Slide 21、23、26；仅借鉴收窄问题和评价路径，不复制原文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描述问题关心发生了什么及其分布；预测问题关心能否预报尚未观察的结果；因果问题关心改变一个条件会带来什么差异。预测准确不自动等于找到原因。质性研究可以探索经验、意义与过程，不能硬塞进量化因果模式。本页示例是教学模拟，不代表真实教师调查或已训练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Sebastian Tello-Trillo. Choosing and Crafting a Research Question. NBER workshop, 2026，作者公布的逐页文字版</a:t>
            </a:r>
          </a:p>
          <a:p xmlns:a="http://schemas.openxmlformats.org/drawingml/2006/main">
            <a:r>
              <a:t>https://sebastiantellotrillo.com/resources/choosing-and-crafting-a-research-question-markdown-version</a:t>
            </a:r>
          </a:p>
          <a:p xmlns:a="http://schemas.openxmlformats.org/drawingml/2006/main">
            <a:r>
              <a:t>定位：Slide 21、23、26；仅借鉴收窄问题和评价路径，不复制原文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基础能力可能同时影响AI使用和成绩，学习投入也可能影响两者。只比较自愿使用与不使用的学生，可能混入这些差异。即使统计控制若干变量，也不能保证所有混杂因素都已处理。是否适合随机分配、自然实验或质性解释，需要结合问题和伦理安排。图中的AI使用到成绩为待估计关系，不能凭箭头宣布因果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篇论文不足以证明领域空白。先找最接近的原始研究，记录其对象、干预、测量时点和限制，再查同义术语、引用链和近期预印本。更换国家、学校或模型名称本身未必构成贡献，要说明这种变化为什么可能改变机制或结论。没有检索到与证明不存在是不同证据强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PNAS,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定位：摘要、Experimental Design、Table 1；48%与127%为原文四舍五入的练习成绩相对提升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假说是教学模拟。若提示组表现更好且估计精度足够，可在设计和样本范围内支持预期；若表现更差，需要考虑与预期相反的解释；区间很宽时可能只能判为证据不足。事后更换主要指标以追求显著性会改变问题。预设主要结果、时间点和分析规则有助于保持问题稳定，详细统计留给Section 7。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新性需要比较对象；可行性不能只看能否写出文本，还需确认数据授权、人员、设备和专业能力。影响力可以是解决具体测量误差或解释矛盾，并不要求每项研究都声称重大突破。竞争热度反映工作密集程度与时间压力，既可能有共享基础，也可能重复拥挤。依据不足应记录待核查，不能让模型打分掩盖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Stefan Nagy. Research 101: Ideas. University of Utah, 2026-01-07</a:t>
            </a:r>
          </a:p>
          <a:p xmlns:a="http://schemas.openxmlformats.org/drawingml/2006/main">
            <a:r>
              <a:t>https://www-old.cs.utah.edu/~snagy/courses/cs5493/slides/Week1b_ResearchIdeas.pdf</a:t>
            </a:r>
          </a:p>
          <a:p xmlns:a="http://schemas.openxmlformats.org/drawingml/2006/main">
            <a:r>
              <a:t>定位：PDF第35、41、52页，另读第37、47、53页文字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左侧真实方法图。Calo与MacLellan的Figure1把教师提出要求、系统生成界面初稿和教师继续修改分别标为A、B、C。中文解释只帮助读图，不将作者界面冒充本项目操作。其小规模比较涉及设计效率，不能转述为学生成绩提高。所读是arXiv版本，正文有会议关联，版本关系在上一页已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专利申请的说明书提供互动辅导、内容生成与评价的技术思路，可帮助列出需要比较的系统特征；它不提供本课程所需的学习效果验证，也不能凭公开文献号判断当前权利有效。PNAS研究则区分有AI的练习和撤去AI后的测验，帮助决定结果应该在什么条件下测量。公开实验来自土耳其高中数学，不直接回答高校教学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由这组三类材料可以提出一个教学拟议问题：在高校课程中，分步提示相对直接给答案，能否改善撤去AI后的独立作答？这不是已经确认的研究空白；仍需系统检索相近工作、比较提示条件、核对样本与评价方法，并经研究者决定。此处不存在真实新实验、创新性签核或模型生成研究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同时读取官方PMC搜索索引呈现的更正正文（直连页面遇到校验），2025年8月20日公布的更正涉及作者单位，单独登记为版本维护信息，不能当新增一项学习效果研究。定量趋势还需固定数据库、检索式、文献类型和时间字段，保存全量导出后按研究和专利族去重，处理公开滞后；本例未执行全库统计，不画增长曲线。Utah2026第41页按既有工作分类再识别待回答问题的讲授顺序用于本页，原领域表格和结论未照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Stefan Nagy. Research 101: Ideas. University of Utah, 2026-01-07</a:t>
            </a:r>
          </a:p>
          <a:p xmlns:a="http://schemas.openxmlformats.org/drawingml/2006/main">
            <a:r>
              <a:t>https://www-old.cs.utah.edu/~snagy/courses/cs5493/slides/Week1b_ResearchIdeas.pdf</a:t>
            </a:r>
          </a:p>
          <a:p xmlns:a="http://schemas.openxmlformats.org/drawingml/2006/main">
            <a:r>
              <a:t>定位：PDF第35、41、52页，另读第37、47、53页文字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Towards Educator-Driven Tutor Authoring: Generative AI Approaches for Creating Intelligent Tutor Interfaces</a:t>
            </a:r>
          </a:p>
          <a:p xmlns:a="http://schemas.openxmlformats.org/drawingml/2006/main">
            <a:r>
              <a:t>https://arxiv.org/html/2405.14713v1</a:t>
            </a:r>
          </a:p>
          <a:p xmlns:a="http://schemas.openxmlformats.org/drawingml/2006/main">
            <a:r>
              <a:t>定位：arXiv摘要页Submission history；全文第2、3节与Figure1；CC BY4.0，图按比例缩放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Method and apparatus for automated content database creation and real-time, adaptive tutoring and grading</a:t>
            </a:r>
          </a:p>
          <a:p xmlns:a="http://schemas.openxmlformats.org/drawingml/2006/main">
            <a:r>
              <a:t>https://patents.google.com/patent/US20240274025A1/en</a:t>
            </a:r>
          </a:p>
          <a:p xmlns:a="http://schemas.openxmlformats.org/drawingml/2006/main">
            <a:r>
              <a:t>定位：原始PDF首页(43)、(22)、(60)、摘要；网页说明书互动辅导段与Claims1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PNAS,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定位：摘要、Experimental Design、Table 1；48%与127%为原文四舍五入的练习成绩相对提升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例如只有匿名问卷，缺少成绩、使用记录或可解释的时间顺序，就不宜直接声称能够估计AI对学习的因果效应。可以先研究使用场景和感受，也可以寻找经批准的其他数据。研究对象、干预及数据条件改变后，要重新核对问题。样本量、预算和时程应依据设计计算，本页不编造通用样本门槛或伦理批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表展示研究者如何记录判断。三项问题不能仅按听起来宏大与否排序。描述性研究也可能很有用；干预问题只有获得所需条件后才能启动；长期影响研究可能重要，但当前资源不足时可分阶段推进。新增信息要对照最接近文献核验，表中的描述为教学设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任务可要求：只依据给定材料提出候选问题，区分原文事实、推断和待核查项；对每题说明对象、比较、结果与资源缺口，并找最接近研究。模型提出的引文必须回原文验证。资料不足时允许保留缺项。topic-evaluation技能定义了问题确认、四维评价、假说与反例搜索，技能文件存在不等于整个检索流程已经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展示完整选题说明，不要求学员课堂提交。拟议问题是：在某本科课程中，逐步提示相较完整解答是否改变一周后无AI新题表现？真实证据来自Bastani等高中研究；高校对象与延后测量是待论证设定。下一节将系统检索最接近研究，决定候选问题是否已经得到回答，以及当前问题需要怎样修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Bastani et al. Generative AI without guardrails can harm learning: Evidence from high school mathematics. PNAS, 2025. DOI:10.1073/pnas.2422633122</a:t>
            </a:r>
          </a:p>
          <a:p xmlns:a="http://schemas.openxmlformats.org/drawingml/2006/main">
            <a:r>
              <a:t>https://pmc.ncbi.nlm.nih.gov/articles/PMC12232635/</a:t>
            </a:r>
          </a:p>
          <a:p xmlns:a="http://schemas.openxmlformats.org/drawingml/2006/main">
            <a:r>
              <a:t>定位：摘要、Experimental Design、Table 1；48%与127%为原文四舍五入的练习成绩相对提升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课程编写：选题判断与教学模拟</a:t>
            </a:r>
          </a:p>
          <a:p xmlns:a="http://schemas.openxmlformats.org/drawingml/2006/main">
            <a:r>
              <a:t>local:教学模拟与选题示例.md</a:t>
            </a:r>
          </a:p>
          <a:p xmlns:a="http://schemas.openxmlformats.org/drawingml/2006/main">
            <a:r>
              <a:t>定位：设定的对象、时间、限制和候选题均非实测资料，不代表已通过伦理或数据授权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94c80808454ae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3f2a47244a439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ffeda8132a448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bcdc92700043d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fdd4d510344fa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d8ad9453374e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AD2A56-40C0-494A-B4A6-33AB015632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131A496-3836-47A5-BDC5-81E4995EC03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85B58C8-3A49-41EB-B282-8CE86C2CB0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38C151-A4E0-4EB4-8973-7ADC7FD0D1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CB5C838-28B1-4D13-A010-95ACCBAEC4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F699FAF-24F7-4182-ADEA-3C81F60F80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FA4660A-DDD6-43A0-B245-0D3613CF0C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1DAE101-6B2C-49CA-A6B5-EF7048870BA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2BCD151-0E2D-4545-A927-F6AD24BC2E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6E16E8-89B1-4E0C-9254-358E185A67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93a43ece584338" /><Relationship Type="http://schemas.openxmlformats.org/officeDocument/2006/relationships/slideLayout" Target="/ppt/slideLayouts/slideLayout1.xml" Id="R050da5baefba4e6b" /><Relationship Type="http://schemas.openxmlformats.org/officeDocument/2006/relationships/slideLayout" Target="/ppt/slideLayouts/slideLayout2.xml" Id="Ref83cb5e81944ec3" /><Relationship Type="http://schemas.openxmlformats.org/officeDocument/2006/relationships/slideLayout" Target="/ppt/slideLayouts/slideLayout3.xml" Id="R1a95f55040134f89" /><Relationship Type="http://schemas.openxmlformats.org/officeDocument/2006/relationships/slideLayout" Target="/ppt/slideLayouts/slideLayout4.xml" Id="R7ec15dbe34c64bc3" /><Relationship Type="http://schemas.openxmlformats.org/officeDocument/2006/relationships/slideLayout" Target="/ppt/slideLayouts/slideLayout5.xml" Id="R7e47fe75849b4155" /><Relationship Type="http://schemas.openxmlformats.org/officeDocument/2006/relationships/slideLayout" Target="/ppt/slideLayouts/slideLayout6.xml" Id="Rf418a120869644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0da5baefba4e6b"/>
    <p:sldLayoutId xmlns:r="http://schemas.openxmlformats.org/officeDocument/2006/relationships" id="2147483650" r:id="Ref83cb5e81944ec3"/>
    <p:sldLayoutId xmlns:r="http://schemas.openxmlformats.org/officeDocument/2006/relationships" id="2147483651" r:id="R1a95f55040134f89"/>
    <p:sldLayoutId xmlns:r="http://schemas.openxmlformats.org/officeDocument/2006/relationships" id="2147483652" r:id="R7ec15dbe34c64bc3"/>
    <p:sldLayoutId xmlns:r="http://schemas.openxmlformats.org/officeDocument/2006/relationships" id="2147483653" r:id="R7e47fe75849b4155"/>
    <p:sldLayoutId xmlns:r="http://schemas.openxmlformats.org/officeDocument/2006/relationships" id="2147483654" r:id="Rf418a120869644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f428183d7f4d4a" /><Relationship Type="http://schemas.openxmlformats.org/officeDocument/2006/relationships/notesSlide" Target="/ppt/notesSlides/notesSlide1.xml" Id="Rbfcd1f8c86c24d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ddc6b7e4194439" /><Relationship Type="http://schemas.openxmlformats.org/officeDocument/2006/relationships/notesSlide" Target="/ppt/notesSlides/notesSlide2.xml" Id="Rc38b242d6e9644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505f5147924c4b" /><Relationship Type="http://schemas.openxmlformats.org/officeDocument/2006/relationships/chart" Target="/ppt/slides/charts/chart1.xml" Id="R34f4ade611cb4b35" /><Relationship Type="http://schemas.openxmlformats.org/officeDocument/2006/relationships/notesSlide" Target="/ppt/notesSlides/notesSlide3.xml" Id="R267238b0789e41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e502375b784808" /><Relationship Type="http://schemas.openxmlformats.org/officeDocument/2006/relationships/notesSlide" Target="/ppt/notesSlides/notesSlide4.xml" Id="R64e6829608bc46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c9601d682e4904" /><Relationship Type="http://schemas.openxmlformats.org/officeDocument/2006/relationships/notesSlide" Target="/ppt/notesSlides/notesSlide5.xml" Id="Rcc1265308a7e4f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71f58ce0d14aad" /><Relationship Type="http://schemas.openxmlformats.org/officeDocument/2006/relationships/notesSlide" Target="/ppt/notesSlides/notesSlide6.xml" Id="Rb2009a972cb343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cb484781324615" /><Relationship Type="http://schemas.openxmlformats.org/officeDocument/2006/relationships/notesSlide" Target="/ppt/notesSlides/notesSlide7.xml" Id="R0b4fdd70cea448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fdec5fa13f4baa" /><Relationship Type="http://schemas.openxmlformats.org/officeDocument/2006/relationships/notesSlide" Target="/ppt/notesSlides/notesSlide8.xml" Id="Re1f129aea9e54b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1883b3c921466f" /><Relationship Type="http://schemas.openxmlformats.org/officeDocument/2006/relationships/notesSlide" Target="/ppt/notesSlides/notesSlide9.xml" Id="Ra1b8e8c34ec548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50b8001fb54e01" /><Relationship Type="http://schemas.openxmlformats.org/officeDocument/2006/relationships/image" Target="/ppt/media/image.png" Id="R13622e3c950e4274" /><Relationship Type="http://schemas.openxmlformats.org/officeDocument/2006/relationships/notesSlide" Target="/ppt/notesSlides/notesSlide10.xml" Id="R5de098d49ed242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aa2b02b5884f64" /><Relationship Type="http://schemas.openxmlformats.org/officeDocument/2006/relationships/notesSlide" Target="/ppt/notesSlides/notesSlide11.xml" Id="Ref23f9984a37408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1e591ea17947bc" /><Relationship Type="http://schemas.openxmlformats.org/officeDocument/2006/relationships/notesSlide" Target="/ppt/notesSlides/notesSlide12.xml" Id="Rf956023da4c7466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199182cca44e96" /><Relationship Type="http://schemas.openxmlformats.org/officeDocument/2006/relationships/notesSlide" Target="/ppt/notesSlides/notesSlide13.xml" Id="R1628fbc65d774c5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c2de6ec2a34137" /><Relationship Type="http://schemas.openxmlformats.org/officeDocument/2006/relationships/notesSlide" Target="/ppt/notesSlides/notesSlide14.xml" Id="R918cc3dfa09d4c7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有AI帮助时，练习成绩相对对照组的提升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45B77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C6D6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GPT Base</c:v>
                </c:pt>
                <c:pt idx="1">
                  <c:v>GPT Tutor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0.48</c:v>
                </c:pt>
                <c:pt idx="1">
                  <c:v>1.27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AB21F2-4EC8-4CDB-9B5D-7DD4413B219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6C5855-6B9E-4EB7-BB82-8D0B9CB6182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F62F4-9069-484F-B4DB-9E1F224069F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F23459-4036-4D1E-A043-8EF0400F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A67BF-8056-4F46-A937-286CF269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选题与研究问题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76A85D-9973-4313-A896-3A376D86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34E81-92FC-49D4-B0E5-2A017875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以“AI辅助学习”为例：明确要解释的现象，再判断现有证据和资源能否回答。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F09220-30EC-4B33-97C8-19CD040A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研究方向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7DFE5-C0BB-4A6C-9561-ECD97B68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72673-9432-4C19-8FA9-4091A4C6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证据与方法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368118-18F0-4D17-92FE-F0527C80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选题判断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71E34A-9BBB-4173-A9F2-E6CCDAE4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AI与教育：范围仍很宽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29458F-408B-4188-AEF6-4B522342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谁、何种帮助、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何时测量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961BE3-34B2-4011-820A-3A815EE2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需要哪些数据与比较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3FFF75-8D87-41B5-8986-09C5646F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保留、收窄或暂缓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0B4EEE-61A2-4F14-A0DA-255C05B5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05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5E55C3-DA62-4C50-948B-9C7A0F3A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例：同样讨论AI学习，可以分别研究使用现状、预测风险或帮助方式的效果。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9BDC49-2D81-4EA2-8414-85264BE0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本节讲选题判断；具体检索和实验安排分别在Section 5、6展开。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FEE400-35B4-4BBA-8387-CDA0E091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来源：Utah CS5493/6493，2026，pp.35、41、52；课程教学模拟／方法说明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C3D9EE-B6C9-4F58-96D9-E9DDDD1D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063664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68628F-ECB8-49FA-B061-50F6493F4CE7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906000" y="6772275"/>
            <a:ext cx="857250" cy="23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74C060-CCEA-4AD7-A33A-DA49229A4361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524250" y="6753225"/>
            <a:ext cx="7620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B84DCD-AA41-4BC0-BFF8-D9A70C4DA527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906000" y="5524500"/>
            <a:ext cx="857250" cy="23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154E95-F795-4FF8-8548-5F3D7D861D48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524250" y="5505450"/>
            <a:ext cx="7620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8B01A5-E100-4055-BDCE-CFFC7FF0A960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906000" y="4276725"/>
            <a:ext cx="857250" cy="23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1156A8-7972-4CDC-9257-3D07B8CE4823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524250" y="4257675"/>
            <a:ext cx="7620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D85E8F-0776-406F-B371-9A6CE1A5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520F2C-D3B5-4BCF-AAF3-866D43FE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论文、预印本、专利放在一起怎么看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622FC-F130-471C-9AB3-672DD52C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82279-3701-4B3E-A98F-8AF829B9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例：生成式AI怎样辅助教学？固定2024—2025年，登记各条材料的公开日期与证据作用。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3A992-33CE-4C9D-A755-FD31891B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材料类型与公开日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DD422-0820-42D1-A4F9-A950D985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86100"/>
            <a:ext cx="552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已读记录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5FDCE3-D140-4D62-A440-578461D9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08610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怎样用于选题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994B45-BDFF-4F2B-93E8-076B58B8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276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预印本版本</a:t>
            </a:r>
          </a:p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2024-05-23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F5B0D-B677-4485-B461-4D1FEDA9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00475"/>
            <a:ext cx="561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辅导界面设计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arXiv:2405.14713v1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AB762E-054C-4748-81E8-F03D69EB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800475"/>
            <a:ext cx="371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看设计方法和初步比较；</a:t>
            </a:r>
          </a:p>
          <a:p xmlns:a="http://schemas.openxmlformats.org/drawingml/2006/main">
            <a: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注意文内的会议版本关联。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9A0ABA-5FB0-4741-8FC9-9FF8D717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40478D-CD4E-4100-AF8A-BE820DBD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276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专利申请公开</a:t>
            </a:r>
          </a:p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2024-08-15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6FFEFE-FD28-437F-93D0-919C3CD1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48250"/>
            <a:ext cx="561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自适应辅导与评价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US20240274025A1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AA2915-ABFA-413F-80E2-F87EE8CB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048250"/>
            <a:ext cx="371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看技术披露与权利要求；</a:t>
            </a:r>
          </a:p>
          <a:p xmlns:a="http://schemas.openxmlformats.org/drawingml/2006/main">
            <a: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申请日为2024-02-14。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4A39D8-3A03-46BE-9F1C-E10DD4B1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B143CD-98E0-4616-A3C8-D415D14A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96025"/>
            <a:ext cx="276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期刊论文</a:t>
            </a:r>
          </a:p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2025-06-25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AED8E6-C0AB-497D-AD07-3EDE69F4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296025"/>
            <a:ext cx="561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数学学习实验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PNAS，Bastani等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2D860B-948D-44FF-B88E-823B12F4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96025"/>
            <a:ext cx="371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看研究设计与独立测验；</a:t>
            </a:r>
          </a:p>
          <a:p xmlns:a="http://schemas.openxmlformats.org/drawingml/2006/main">
            <a:pPr>
              <a:def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保留原始教学情境。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8DC94B-33D6-4EC2-8264-4864D301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三条定向材料不代表全领域数量；预印本与发表版本需去重，专利申请和效果研究分别比较。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7033DF-3F3F-4FDA-A4D5-337517FC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来源：Utah CS5493/6493，2026，pp.35、41、52；Calo &amp; MacLellan，arXiv2024，Fig.1；US20240274025A1，首页及说明书；Bastani等，PNAS 2025，摘要、Table 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718123-3312-4C02-996E-00D3D9BC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938154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BD3B63-839F-42F3-9D92-755F2B3B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EFF12-3F66-448A-B6DF-FE4E7B7C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真实研究：完成题目与掌握知识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17F7E-13FA-4FED-AB89-B0223F1C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66800-E675-4156-9ABD-D4A1DA59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一项土耳其高中数学研究分别测量有AI帮助时的练习成绩，以及撤去帮助后的独立测验。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2B74074-8646-418D-813D-2206D17BE999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7810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4f4ade611cb4b3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5824C-D8F7-4F4C-BBBC-64004692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908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练习阶段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ECB927-244C-42DC-B1B3-53B19579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14750"/>
            <a:ext cx="4953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Base：常规AI答疑。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Tutor：含教师预设提示。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均相对无AI对照组比较，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127%为相对增幅。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B87E6D-57E1-4C25-AD1C-FB4A8C48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768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撤去资源后的测验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397461-7A0C-41DD-BC97-D1DCA91F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007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Base组相对对照低17%。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Tutor组与对照差异未显著。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188358-95FD-4465-9FCE-B29963E1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0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选题启发：明确“学会”指什么、在何时测量。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C94524-6018-4FBE-B230-61DF8432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研究范围：特定高中、GPT-4工具和数学教学情境；不能直接外推到中国高校。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8AF3A7-2121-4B31-B886-5697332F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2025，摘要、Table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B6918F-680A-4181-8E84-BCC9D4C2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797807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05A8D6-311C-4EF8-944E-AD18A10D079E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5857875" y="6000750"/>
            <a:ext cx="95250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6CD84F-4E5B-4AFF-BCCB-01EAAFB6D9BA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4905375" y="4933950"/>
            <a:ext cx="95250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AB626-699F-42E7-BF6A-80393ED56724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952875" y="3867150"/>
            <a:ext cx="95250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3F89A7-529A-480F-B267-85455F06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A6ECD-8204-497C-A2D1-192B9CB0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研究问题的收窄过程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62B0B3-4BE0-4450-A218-4BCA41C5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53372-5CB5-493E-96BF-E5EC9B92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“AI能否提升学习”需要进一步指定人群、帮助方式、比较条件和测量时点。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440FA-4862-44E9-89CE-943BF0FE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638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AI能否提升学习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2F331-CF04-4AA7-8E22-459F0132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57550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方向太宽，无法选数据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0DBB77-C01B-4839-8BC5-AEE24453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10050"/>
            <a:ext cx="638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本科生使用AI提示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796B5E-DDCF-4338-ACF3-D40F3B3C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24350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限定对象与干预方式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F7E291-6910-4AF8-9573-0A32554C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76850"/>
            <a:ext cx="638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与完整解答相比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4353A3-72F8-402D-AD5E-F57437FF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91150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明确在比较什么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69154E-5FE0-4696-8E44-61FC5BEB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343650"/>
            <a:ext cx="638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撤去工具后的新题表现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19D039-023C-4611-81BF-9F60EB5E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57950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规定可测量的结果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F927FC-F559-4296-B709-C3508C7A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教学模拟：本科课程、提示方式与延后测验均为拟议设定。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736D13-C610-4C34-852A-1D7217CE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来源：Tello-Trillo，2026，作者课件文字版；课程教学模拟／方法说明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0E4016-95FF-418F-A928-EAEE6796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056671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D8B508-8F12-4F0C-8DF6-60DB5B399E45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667750" y="647700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6B18D5-B7B4-4889-AF02-1DFC235BE663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667750" y="500062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285BD7-DB1A-40EE-9846-9D0CDC2FA41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667750" y="35242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CF00A7-AD74-4B80-B1E9-8854B8E6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F22D4-E15B-4C0D-9F2B-80C7C3D2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描述、预测与因果问题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093FD-A85D-4D01-9581-64EF56A7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A3643-5D30-4853-B609-B9E722C1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同一主题可以提出不同问题。需要的证据随问题改变。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36A35-0892-435A-A6FF-A6266424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描述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31ABE-520F-4EE2-91BE-04588544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43250"/>
            <a:ext cx="600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教师在何种任务中使用AI？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94EBF7-E5C2-4506-B702-5115F58B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43250"/>
            <a:ext cx="4381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使用记录／调查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7FEED-731D-48BD-B236-9AFF3C94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2907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说明分布与情境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2E8A24-069C-4D6C-A235-36E4A03C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336189-0814-4A49-AA12-7B6CF528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19625"/>
            <a:ext cx="600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哪些学生更可能过度依赖？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2C4C35-F41B-4BCB-9EEB-4980A5D7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19625"/>
            <a:ext cx="4381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前期特征／留出数据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65938C-3115-44B4-89AA-4248FC41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5054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检验对新样本的预测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89BFF3-5C28-4455-80EE-431E3B9E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因果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B167F9-86F3-4BC1-A65E-9FEDA67D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096000"/>
            <a:ext cx="600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提示方式是否改变学习？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A1368B-FDA7-4FA4-A9F3-566BA4AD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096000"/>
            <a:ext cx="4381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有依据的对照设计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000B48-67B3-4768-A22D-4D364E4A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98182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估计干预带来的差异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B0D965-70FD-46BC-B967-565D2E3D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另有机制、解释性和质性问题；此处三类用于说明常见的证据差别。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B5D166-F5BE-4431-BA27-3DA30CDF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来源：Tello-Trillo，2026，作者课件文字版；课程教学模拟／方法说明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A5A66F-D279-43A0-B037-CEE4D73C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901170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C866BD-3E2C-4F0C-A247-228F16389417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9334500" y="6143625"/>
            <a:ext cx="2286000" cy="9763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166F08-79A7-412F-B166-7131F50F8BF3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3619500" y="6143625"/>
            <a:ext cx="1905000" cy="9763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789F96-A6D9-4A5D-9861-8CA617949FB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524500" y="5738813"/>
            <a:ext cx="419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0959FC-E090-4781-8CA1-6C473B02FD1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334500" y="3548063"/>
            <a:ext cx="2286000" cy="17859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EAE709-276C-4385-B8A6-737CBDE38726}"/>
              </a:ext>
            </a:extLst>
          </p:cNvPr>
          <p:cNvCxnSpPr>
            <a:stCxn xmlns:a="http://schemas.openxmlformats.org/drawingml/2006/main" id="5" idx="1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3619500" y="3548063"/>
            <a:ext cx="1905000" cy="17859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C53F98-C2BC-4BE1-9D9B-65468C67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5ACC7-7A6B-4D49-B5B0-D225882E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使用AI与成绩的关系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9121A0-D5A6-4D3B-BF2C-2A454836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F9FF2-3772-4A5C-86BB-34D18934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“使用更多的学生成绩更高”可能有多种解释，需要检查原有基础和学习投入。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F21AC-BDB1-4233-8EA6-AB1A4D02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4325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原有基础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7A8DB-6DAF-4A29-9F59-0A39544A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AI使用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C2C482-5262-4CEF-BC71-3D990DF8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334000"/>
            <a:ext cx="3810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后续成绩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419B9-D586-489F-9D30-3372F110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762750"/>
            <a:ext cx="3810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学习投入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D9FCD8-97EB-4D19-BACE-EB3A53AE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053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待估计的影响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C0851-EFF4-4E52-8450-B4D1E769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9575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可能同时影响使用和成绩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2582DF-5204-4F8C-9810-DFD0F2FD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教学示意：箭头标出可能影响，实际关系需要研究设计与数据检验。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F60FC8-1A3B-4AA9-9707-E3AC9FFC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来源：课程教学模拟／方法说明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ECDBF3-463E-4EFA-88A5-19EA72A7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814578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8C1D3-35B8-49A5-A6EB-48DF0F9512DC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810500" y="67246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D4CA0A-36A0-44EA-A275-8105E72171B0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810500" y="56483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B746EA-8DE4-4064-A8E8-54F9FFE14AEB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810500" y="457200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96026-11F0-4F3C-8961-A8D1083A4BB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810500" y="349567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92C870-5862-4420-88ED-2E0ABEC5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758F5-538E-46FE-85F2-2F22BF01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研究空白的核对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4B70A6-F1E1-4895-840F-3FDEE0D0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CA3C37-C895-4E04-9635-EB86F137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“没有搜到”需要追查检索范围。可以研究的空白还要说明已有结果在哪个条件下不足。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196100-5985-4D2D-822B-9BD5C053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已有证据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0B47D-CC9E-4888-9382-175E3CD6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24200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特定高中数学情境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7FB431-CC6D-4816-95FC-B68141FF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24200"/>
            <a:ext cx="4857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能说明什么／不能说明什么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280E9-BD97-40AF-8713-E749FDCD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拟议对象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5F5741-C776-4C5F-AF18-43D5AAC0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00525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某本科课程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84D2B5-C39F-429F-A923-16180F1C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00525"/>
            <a:ext cx="4857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对象变化是否有理论理由？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346225-E843-4D88-B1ED-4016083C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拟议测量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359795-725D-478A-940B-025317F9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76850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延后、无AI、新题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1CB213-2EA5-45F0-9F6A-737C145B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76850"/>
            <a:ext cx="4857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与即时成绩的区别是什么？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1FE0FD-DCBF-41DD-8E44-16DD4780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48425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当前判断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44442B-B2B1-4FC9-9DA5-F7391183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353175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值得核查的候选问题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14892B-2950-4C5B-B2DE-64B4002D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53175"/>
            <a:ext cx="4857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尚不能宣称首次或无人研究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B8BC21-2715-49CE-811D-9C20DF9F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课程模拟对照，非系统综述；尚未完成高校场景的完整检索。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77BAFD-594D-4027-A95E-409CFF76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2025，摘要、Table 1；课程教学模拟／方法说明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CAC409-7173-4281-B715-1A03CB4E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228188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F8096F-6CF1-40B1-96FD-F9AE5DB909F4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08211D-8A51-430D-BB90-D3449175B21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1773B-254D-433D-9A06-C5FED0180CB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76DAE5-CC9A-446B-AA50-56848A2A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EE96E-F4DB-43EC-BD45-3409DDC2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假说与可能推翻它的结果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5FBD9-61D0-41CD-9503-57AB7319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A6239-3908-4729-A786-CEDF3A91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假说需要同时写出预期方向、测量办法和对不支持结果的处理。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1D9A3-D900-45B4-9B78-A204BA99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假说：提示改善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延后表现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F78084-9B3A-4A25-A41B-A4DFFF52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无AI新题测验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E2263-322C-43D8-A7AA-E317F186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差异与不确定性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0A71C6-593E-421F-860A-A5D08A18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支持、不支持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或证据不足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B34B17-7436-48FD-92D7-66CB9FE5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说明比较条件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和适用人群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A308D5-CE83-4174-ACDD-6BB07145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题目质量与评分一致性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EBEEDD-A4B5-428F-99AA-3B55412D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报告估计值及区间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D9D682-EAF2-4660-AB05-49991BBC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区分反向结果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与证据不足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80B52B-658E-4BD4-BF40-C092F695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05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AB26DE-ACA9-41F5-A81B-DE548938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主要结果、测量时点和判断规则需要事先说明，结果出来后再按证据解释。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C4F947-DBD3-40F9-B74C-ED652632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未显著不等于两种方式等效；等效性需要另行设定界值和分析。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906F2A-305B-41B1-98B3-8FCCEA15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来源：课程教学模拟／方法说明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80EFFC-6565-4602-83B9-ED9F7C9E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790274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756B2A-C2B5-495F-AB59-C23A9260FEB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095750" y="5238750"/>
            <a:ext cx="2381250" cy="1571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C2F817-69CA-4BD3-86B9-7A71A883417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095750" y="5238750"/>
            <a:ext cx="2381250" cy="466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10AD21-5B5E-4613-B84D-169B7FC7922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4095750" y="4600575"/>
            <a:ext cx="2381250" cy="638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59DDFF-7191-45C3-819A-E8944E98011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095750" y="3495675"/>
            <a:ext cx="2381250" cy="17430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75F3F2-92F1-4DD7-B2CD-25CD1162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BA6A0-BFF4-4BA9-B3AC-63BB661F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选题的四个判断维度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08D74-A7E8-4F74-A8A7-F733C1D7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54C1E-4442-4D0A-9414-189AFF69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每个判断都应附依据和缺口。四项可以并列比较，不必合成一个看似精确的总分。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4782E-93FD-40C7-B5CB-A6B871B6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333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候选研究问题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2CA83-92DE-44B5-84A3-7F5D95EE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创新性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14FE8C-070B-48E2-BCF1-970246A2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14675"/>
            <a:ext cx="4667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相对最接近研究增加什么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68BC5B-7326-48C1-824A-784E098E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29025"/>
            <a:ext cx="466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最接近论文与差异说明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90CC5-B13C-4AE0-9A5F-6C42F4FE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4815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可行性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607D67-1A27-4E0C-AE36-1C8A5635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19575"/>
            <a:ext cx="4667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现有条件能否提供关键证据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125905-6A1F-4AA9-802B-E4189593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33925"/>
            <a:ext cx="466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授权、样本、设备与时间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72F64E-A68B-4099-AD34-CFE44612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5305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影响力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F45425-AC44-4114-8BB2-C86C6E55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324475"/>
            <a:ext cx="4667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答案会改变什么认识或决定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3CF7E1-7D6E-41F4-BDB5-94E78DF8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838825"/>
            <a:ext cx="466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受影响者与具体决策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6B2294-B42F-4DFC-A32D-C587A46B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45795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竞争热度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6D903C-1382-4B9A-935F-B3218374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29375"/>
            <a:ext cx="4667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谁在研究，进展到了哪里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709F62-7433-44D2-B95A-A61094D2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943725"/>
            <a:ext cx="4667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近期研究、预印本与更新日期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4C4EF1-EC28-4E12-83A7-3302B3A6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每项判断都记录依据、缺口和更新日期，便于随新证据修订。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2A44CC-CF19-44C9-8A64-EDF2FBAF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来源：Utah CS5493/6493，2026，pp.35、41、52；课程教学模拟／方法说明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C6B159-50FF-42A7-A2F0-99954A38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34651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3C9FCB-56EC-4927-B277-C0EE9C74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545EE-9143-4110-B424-8A604540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三份材料怎样帮助收窄研究问题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4E7EC-E651-4A7F-978A-B0CC07BE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EC3867-8909-4AB4-99B9-E43CD832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界面能生成、方案已公开、学生学会了，分别需要不同证据。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C16BE1-297E-408E-9986-B9E05AAF68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22e3c950e4274"/>
          <a:stretch xmlns:a="http://schemas.openxmlformats.org/drawingml/2006/main"/>
        </p:blipFill>
        <p:spPr>
          <a:xfrm xmlns:a="http://schemas.openxmlformats.org/drawingml/2006/main">
            <a:off x="762000" y="3230235"/>
            <a:ext cx="6858000" cy="271210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23614-F6CC-4519-9A59-A47F12B0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81725"/>
            <a:ext cx="685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原文Figure1：A提出要求，B生成初稿，C继续修改。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019DF6-3755-42EC-8A9B-91759D1F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71825"/>
            <a:ext cx="609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预印本：怎样制作辅导界面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6B1571-3C60-48D6-8D1D-C911BDCC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19500"/>
            <a:ext cx="609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有方法和初步效率比较；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不直接证明学生学得更好。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AE9F75-9B4E-4A95-90B2-ADF8BCEF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62450"/>
            <a:ext cx="609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专利：怎样生成内容和反馈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AD5B42-2F48-4A3D-9E14-9D61E93E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0125"/>
            <a:ext cx="609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有技术披露；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不等于授权或效果验证。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C2D4C8-A3E7-4DE4-9D24-39725A38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553075"/>
            <a:ext cx="609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期刊：撤去AI后能否独立作答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06CEA1-C816-4E4D-8E07-1877A638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000750"/>
            <a:ext cx="609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有学习结果比较；</a:t>
            </a:r>
          </a:p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不能直接外推到高校课程。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A6AACD-BCFC-4028-B360-29590997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627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4A55F-1248-458E-80FF-E612049C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8185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拟议问题：高校课程中，分步提示相对直接答案，能否改善撤去AI后的独立作答？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4B1174-D696-4FF8-9532-34803ACF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拟议选题由AI编写，尚待研究者审定；未证明首次创新、教学效果或专利自由实施。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C2942F-88E2-4E7C-8723-E825E855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来源：Utah CS5493/6493，2026，pp.35、41、52；Calo &amp; MacLellan，arXiv2024，Fig.1；US20240274025A1，首页及说明书；Bastani等，PNAS 2025，摘要、Table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15B1CC-3144-4040-9162-70ADB117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02118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CFA7E9-C493-4AD4-886E-5307C25A1749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477500" y="6215063"/>
            <a:ext cx="76200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6DC3A9-3B14-4744-B48B-919EE249E57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0477500" y="3548063"/>
            <a:ext cx="762000" cy="1190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DA5CD9-6365-4334-B59D-438F0688506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05500" y="4762500"/>
            <a:ext cx="1714500" cy="14525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6F871C-8125-4765-BD9A-F6AF72A5DFC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5905500" y="3548063"/>
            <a:ext cx="1714500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60762D-EC50-459E-91AE-EB092879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BD083-533A-42B2-8A52-E47A4ED1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资源缺口会改变研究问题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81ACE5-86B2-402E-A532-53C242C4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9D8D5-2328-47E1-8EAC-97DE464A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关键数据或条件拿不到时，应收窄问题、换证据路径，或暂缓研究。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B8153A-B6FA-409A-BEE0-3A77B5A6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5143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能获得关键数据与必要授权？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7D732-0951-47A1-898E-501B954A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90875"/>
            <a:ext cx="2857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能够取得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A5678-2577-453E-97A3-470674F5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190875"/>
            <a:ext cx="3238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先做可行性核查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689FE-924B-4101-ABE9-16D24487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857875"/>
            <a:ext cx="2857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无法取得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F39CF1-6B9B-4599-BF62-0F403820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715000"/>
            <a:ext cx="3238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改题或暂缓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4E9A33-70EA-4FA9-9A6B-3BCAB702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例：有问卷但缺少成绩和使用记录时，能回答的问题会改变。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FE4B13-2E8A-479A-8A1A-3B5103B1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课程模拟：公开数据不自动包含所需变量；公开可访问也不等于可任意使用。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67E09A-03C8-46EC-B292-4E838EF2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来源：课程教学模拟／方法说明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680EFD-C112-4680-9503-2525F759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52969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CE7DB0-9474-482B-9619-FF84810B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3E7EA-9884-468D-B9D6-361B0B53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候选问题的比较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65014-F0EE-4C3B-9F04-AE00EB24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FF0E2-EB9E-453C-B116-B5408457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下面比较研究问题及其关键条件，所有项目均为拟议情境。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4E8C3-C2C0-45FF-BD63-26A85195E49F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3048000"/>
                <a:gridCol w="4191000"/>
                <a:gridCol w="3143250"/>
              </a:tblGrid>
              <a:tr h="1047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候选问题</a:t>
                      </a:r>
                    </a:p>
                  </a:txBody>
                  <a:tcPr marL="142875" marR="142875" marT="17145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新增信息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关键条件／风险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当前处理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AI使用场景分布</a:t>
                      </a:r>
                    </a:p>
                  </a:txBody>
                  <a:tcPr marL="142875" marR="142875" marT="17145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了解任务与用途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抽样范围、记录质量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可先核查调查可行性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提示方式与延后表现</a:t>
                      </a:r>
                    </a:p>
                  </a:txBody>
                  <a:tcPr marL="142875" marR="142875" marT="17145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比较不同帮助方式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分配安排、测验、授权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优先核查关键条件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全校AI使用的长期影响</a:t>
                      </a:r>
                    </a:p>
                  </a:txBody>
                  <a:tcPr marL="142875" marR="142875" marT="171450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范围更广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长期追踪与数据关联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暂缓，收窄对象和时点</a:t>
                      </a:r>
                    </a:p>
                  </a:txBody>
                  <a:tcPr marL="142875" marR="142875" marT="171450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308E50-03C8-4020-B486-FF62F953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教学模拟：处理意见基于设定条件；新增信息仍需文献核查。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FC060-5925-4EEA-B383-A55A91E1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来源：课程教学模拟／方法说明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CB6685-850D-4E25-B9C0-AF52D377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962343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8508E0-A417-4E6C-97E3-1DDE8F8EF72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FD0E0-24EC-4779-9883-DF38BA7744B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8B012B-9E3C-4F80-BDD5-0753B65BF64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86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E823DD-8CD3-4ACD-9403-A589621D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78996-926E-47E5-9D54-C8CC58E2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AI参与选题的工作流程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8827C-2216-4289-A200-57985B03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0F571-C1C5-46E4-8EE6-8BE51A26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AI可以整理候选方向和比较材料；研究者需要核对原文、识别遗漏，并决定取舍。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9D369-E5F9-4CDB-AF97-70808116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范围与已有材料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C7F48-08A0-43D1-B872-2305B0F6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候选题与证据表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211B7D-B489-4FE5-9E4E-E73A83C0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原文核查与反例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564B41-4680-4CDC-B4A5-CBC4E367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57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修订问题与边界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81E7EE-AEE1-4370-A382-A523D1B6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给出限制、来源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和时间窗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E588C1-3C14-426E-877E-0DF684E1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逐条链接到实际材料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EBFD29-1CC4-43C1-8FDD-89D6DBB6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检查相近工作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与不支持证据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71FDB7-C19C-453F-AFC9-D869D9BC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记录保留理由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和未决事项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63D05B-F7EF-4938-B1EE-8FFCA036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05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33188D-810F-4301-A165-7A7E7704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研究者复核：来源是否存在？是否遗漏相反结果？当前条件能否取得关键证据？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A96F81-A344-4870-8257-B5FBA0D7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流程示意：候选题、证据表和未决事项都需留存来源与修改记录。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D6538B-2FF4-40E4-9F60-A2E0B386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来源：课程教学模拟／方法说明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262750-EF98-4E89-87BE-3A8FFCF3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145400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EE33DC-F48B-4A52-996A-AA0FAE7A0ACA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2762250" y="6029325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215F20-7478-4D0F-AE80-397B4CB60B12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2762250" y="4943475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B2954-B69F-4750-AF3E-9A39E5B118CF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762250" y="3857625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81056C-EBCB-450D-BB3C-AAE30472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  选题与研究问题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DCC01-F59B-41AE-B2B0-9448F3A4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一份选题说明的完整结构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8900F-3638-4267-97D8-80B8C7B9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F65B0B-8488-4F66-B837-5A7DD643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把问题、已有依据和仍缺的条件写在同一份说明中，才能进入后续文献与设计工作。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5B70B-90D9-418E-B1A9-4E97632E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000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拟议研究问题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5001E7-31A1-41DD-B7D3-5B0DC34F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800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本科课程中两种帮助方式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对延后无AI新题表现的影响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0AEBB-6CDA-4671-B1D2-EF48950D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4000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现有真实依据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C03D7-AD05-48C3-AF95-B8261815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10050"/>
            <a:ext cx="800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高中数学研究显示：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练习表现与独立测验需分开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978001-86FC-4229-824A-5DD0789B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14950"/>
            <a:ext cx="4000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新增证据的理由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07156F-3CB1-40D4-9B8E-7BF18ABD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95900"/>
            <a:ext cx="800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核查对象与测量差异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是否对应明确的理论问题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8AA3D6-7F4C-47EA-AF08-DEE6B9B5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00800"/>
            <a:ext cx="4000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启动前仍需核查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0EE02A-0059-4F9E-AA38-3D9A7D26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81750"/>
            <a:ext cx="800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最接近研究、数据授权、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分配办法、测验和样本依据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1046A5-B222-4C48-836A-0BD5FA55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公开论文提供出发点；本科课程方案为教学模拟，尚无实施与结果。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A8CAA3-9479-4A97-80CF-B6454DEB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来源：Bastani等，PNAS 2025，摘要、Table 1；课程教学模拟／方法说明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86E2F4-45D6-4605-A217-94934708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505265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2026-10-19T08:34:00.9310000Z</dcterms:created>
  <dcterms:modified xsi:type="dcterms:W3CDTF">2026-10-19T08:34:00.9310000Z</dcterms:modified>
</coreProperties>
</file>