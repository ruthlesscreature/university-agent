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5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6.xml" ContentType="application/vnd.openxmlformats-officedocument.drawingml.chart+xml"/>
  <Override PartName="/ppt/slides/charts/chart7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3d2ec422a1407c" /><Relationship Type="http://schemas.openxmlformats.org/officeDocument/2006/relationships/extended-properties" Target="/docProps/app.xml" Id="R96632cae3ee84417" /><Relationship Type="http://schemas.openxmlformats.org/officeDocument/2006/relationships/officeDocument" Target="/ppt/presentation.xml" Id="R72e2735635fa4a6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e2e7fce850450c"/>
  </p:sldMasterIdLst>
  <p:notesMasterIdLst>
    <p:notesMasterId xmlns:r="http://schemas.openxmlformats.org/officeDocument/2006/relationships" r:id="R33f7c5edc6444fc7"/>
  </p:notesMasterIdLst>
  <p:sldIdLst>
    <p:sldId xmlns:r="http://schemas.openxmlformats.org/officeDocument/2006/relationships" id="256" r:id="Rdb30300e82ab46f7"/>
    <p:sldId xmlns:r="http://schemas.openxmlformats.org/officeDocument/2006/relationships" id="257" r:id="R1e00d3809ca64fb7"/>
    <p:sldId xmlns:r="http://schemas.openxmlformats.org/officeDocument/2006/relationships" id="258" r:id="R27079cc4762a42f2"/>
    <p:sldId xmlns:r="http://schemas.openxmlformats.org/officeDocument/2006/relationships" id="259" r:id="Rf27da17921124c69"/>
    <p:sldId xmlns:r="http://schemas.openxmlformats.org/officeDocument/2006/relationships" id="260" r:id="R38aa53f9e2eb4780"/>
    <p:sldId xmlns:r="http://schemas.openxmlformats.org/officeDocument/2006/relationships" id="261" r:id="R72e3372b54514cd0"/>
    <p:sldId xmlns:r="http://schemas.openxmlformats.org/officeDocument/2006/relationships" id="262" r:id="Rb2b8ab6c55b64c7f"/>
    <p:sldId xmlns:r="http://schemas.openxmlformats.org/officeDocument/2006/relationships" id="263" r:id="Rb2c23afad3224d4a"/>
    <p:sldId xmlns:r="http://schemas.openxmlformats.org/officeDocument/2006/relationships" id="264" r:id="R5a9dd62b86a741e9"/>
    <p:sldId xmlns:r="http://schemas.openxmlformats.org/officeDocument/2006/relationships" id="265" r:id="Rea31558b5cc44290"/>
    <p:sldId xmlns:r="http://schemas.openxmlformats.org/officeDocument/2006/relationships" id="266" r:id="R79540b0bf7694d7c"/>
    <p:sldId xmlns:r="http://schemas.openxmlformats.org/officeDocument/2006/relationships" id="267" r:id="R74231aa374f54c4e"/>
    <p:sldId xmlns:r="http://schemas.openxmlformats.org/officeDocument/2006/relationships" id="268" r:id="R0f89444b7d354b6a"/>
    <p:sldId xmlns:r="http://schemas.openxmlformats.org/officeDocument/2006/relationships" id="269" r:id="R4cf6a135410343a7"/>
    <p:sldId xmlns:r="http://schemas.openxmlformats.org/officeDocument/2006/relationships" id="270" r:id="R90ee398220c948d7"/>
    <p:sldId xmlns:r="http://schemas.openxmlformats.org/officeDocument/2006/relationships" id="271" r:id="Rb7be3246727b42a1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c823b70100045b3" /><Relationship Type="http://schemas.openxmlformats.org/officeDocument/2006/relationships/slideMaster" Target="/ppt/slideMasters/slideMaster1.xml" Id="Rc9e2e7fce850450c" /><Relationship Type="http://schemas.openxmlformats.org/officeDocument/2006/relationships/notesMaster" Target="/ppt/notesMasters/notesMaster1.xml" Id="R33f7c5edc6444fc7" /><Relationship Type="http://schemas.openxmlformats.org/officeDocument/2006/relationships/presProps" Target="/ppt/presProps.xml" Id="Raee701baf2f24dee" /><Relationship Type="http://schemas.openxmlformats.org/officeDocument/2006/relationships/tableStyles" Target="/ppt/tableStyles.xml" Id="R98133e331fec4d76" /><Relationship Type="http://schemas.openxmlformats.org/officeDocument/2006/relationships/slide" Target="/ppt/slides/slide1.xml" Id="Rdb30300e82ab46f7" /><Relationship Type="http://schemas.openxmlformats.org/officeDocument/2006/relationships/slide" Target="/ppt/slides/slide2.xml" Id="R1e00d3809ca64fb7" /><Relationship Type="http://schemas.openxmlformats.org/officeDocument/2006/relationships/slide" Target="/ppt/slides/slide3.xml" Id="R27079cc4762a42f2" /><Relationship Type="http://schemas.openxmlformats.org/officeDocument/2006/relationships/slide" Target="/ppt/slides/slide4.xml" Id="Rf27da17921124c69" /><Relationship Type="http://schemas.openxmlformats.org/officeDocument/2006/relationships/slide" Target="/ppt/slides/slide5.xml" Id="R38aa53f9e2eb4780" /><Relationship Type="http://schemas.openxmlformats.org/officeDocument/2006/relationships/slide" Target="/ppt/slides/slide6.xml" Id="R72e3372b54514cd0" /><Relationship Type="http://schemas.openxmlformats.org/officeDocument/2006/relationships/slide" Target="/ppt/slides/slide7.xml" Id="Rb2b8ab6c55b64c7f" /><Relationship Type="http://schemas.openxmlformats.org/officeDocument/2006/relationships/slide" Target="/ppt/slides/slide8.xml" Id="Rb2c23afad3224d4a" /><Relationship Type="http://schemas.openxmlformats.org/officeDocument/2006/relationships/slide" Target="/ppt/slides/slide9.xml" Id="R5a9dd62b86a741e9" /><Relationship Type="http://schemas.openxmlformats.org/officeDocument/2006/relationships/slide" Target="/ppt/slides/slide10.xml" Id="Rea31558b5cc44290" /><Relationship Type="http://schemas.openxmlformats.org/officeDocument/2006/relationships/slide" Target="/ppt/slides/slide11.xml" Id="R79540b0bf7694d7c" /><Relationship Type="http://schemas.openxmlformats.org/officeDocument/2006/relationships/slide" Target="/ppt/slides/slide12.xml" Id="R74231aa374f54c4e" /><Relationship Type="http://schemas.openxmlformats.org/officeDocument/2006/relationships/slide" Target="/ppt/slides/slide13.xml" Id="R0f89444b7d354b6a" /><Relationship Type="http://schemas.openxmlformats.org/officeDocument/2006/relationships/slide" Target="/ppt/slides/slide14.xml" Id="R4cf6a135410343a7" /><Relationship Type="http://schemas.openxmlformats.org/officeDocument/2006/relationships/slide" Target="/ppt/slides/slide15.xml" Id="R90ee398220c948d7" /><Relationship Type="http://schemas.openxmlformats.org/officeDocument/2006/relationships/slide" Target="/ppt/slides/slide16.xml" Id="Rb7be3246727b42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3c3a9f699cd40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fbcc2fd45e54468" /><Relationship Type="http://schemas.openxmlformats.org/officeDocument/2006/relationships/notesMaster" Target="/ppt/notesMasters/notesMaster1.xml" Id="Rf68b6c742d4b44e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8b4a8887dc14404" /><Relationship Type="http://schemas.openxmlformats.org/officeDocument/2006/relationships/notesMaster" Target="/ppt/notesMasters/notesMaster1.xml" Id="R316cf10de4584fb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7ac034ba9574a2c" /><Relationship Type="http://schemas.openxmlformats.org/officeDocument/2006/relationships/notesMaster" Target="/ppt/notesMasters/notesMaster1.xml" Id="R3f1ec697ce914af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4b9bc95f89458e" /><Relationship Type="http://schemas.openxmlformats.org/officeDocument/2006/relationships/notesMaster" Target="/ppt/notesMasters/notesMaster1.xml" Id="Rc8973185211c4a8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8e96182350d4d75" /><Relationship Type="http://schemas.openxmlformats.org/officeDocument/2006/relationships/notesMaster" Target="/ppt/notesMasters/notesMaster1.xml" Id="R4364e2c9668b43e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7b1b03da2a54dd5" /><Relationship Type="http://schemas.openxmlformats.org/officeDocument/2006/relationships/notesMaster" Target="/ppt/notesMasters/notesMaster1.xml" Id="R8e74ee03b06d4ab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8490fc920d74835" /><Relationship Type="http://schemas.openxmlformats.org/officeDocument/2006/relationships/notesMaster" Target="/ppt/notesMasters/notesMaster1.xml" Id="R061a0703911a424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60383eeece5409c" /><Relationship Type="http://schemas.openxmlformats.org/officeDocument/2006/relationships/notesMaster" Target="/ppt/notesMasters/notesMaster1.xml" Id="Rbad24ed6938f423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43a6cfe55f847a8" /><Relationship Type="http://schemas.openxmlformats.org/officeDocument/2006/relationships/notesMaster" Target="/ppt/notesMasters/notesMaster1.xml" Id="R3d23ef1216464c2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f460f3dbbc6407e" /><Relationship Type="http://schemas.openxmlformats.org/officeDocument/2006/relationships/notesMaster" Target="/ppt/notesMasters/notesMaster1.xml" Id="R84b3ba721f29482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d4df5609f034a2e" /><Relationship Type="http://schemas.openxmlformats.org/officeDocument/2006/relationships/notesMaster" Target="/ppt/notesMasters/notesMaster1.xml" Id="R5e2188d39299462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3a24b991e7746ed" /><Relationship Type="http://schemas.openxmlformats.org/officeDocument/2006/relationships/notesMaster" Target="/ppt/notesMasters/notesMaster1.xml" Id="R1dc8fe1fb9424ca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dbd8e4731254245" /><Relationship Type="http://schemas.openxmlformats.org/officeDocument/2006/relationships/notesMaster" Target="/ppt/notesMasters/notesMaster1.xml" Id="Re798b33bfc67481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fb52e0b9c3f495f" /><Relationship Type="http://schemas.openxmlformats.org/officeDocument/2006/relationships/notesMaster" Target="/ppt/notesMasters/notesMaster1.xml" Id="R7fc9d89dcd4544b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0c6c9b9116f4645" /><Relationship Type="http://schemas.openxmlformats.org/officeDocument/2006/relationships/notesMaster" Target="/ppt/notesMasters/notesMaster1.xml" Id="R602d33cb62e6400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ed198860662446c" /><Relationship Type="http://schemas.openxmlformats.org/officeDocument/2006/relationships/notesMaster" Target="/ppt/notesMasters/notesMaster1.xml" Id="R684e9da22e5547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本节区分数据图、技术路线与机制示意。数据图对应数值和比较；路线说明工作如何完成；机制图呈现假说与待验证关系。来源和材料状态分别标识。图的美观不能替代数据或研究设计。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UBC CPSC447 2026课程：Marks &amp; Channels I，2026-01-19修订</a:t>
            </a:r>
          </a:p>
          <a:p xmlns:a="http://schemas.openxmlformats.org/drawingml/2006/main">
            <a:r>
              <a:t>https://www.cs.ubc.ca/~tmm/talks/vad/2601-marks.pdf</a:t>
            </a:r>
          </a:p>
          <a:p xmlns:a="http://schemas.openxmlformats.org/drawingml/2006/main">
            <a:r>
              <a:t>定位：实际渲染查看第4、6、17页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课程自编绘图与研究方案示意</a:t>
            </a:r>
          </a:p>
          <a:p xmlns:a="http://schemas.openxmlformats.org/drawingml/2006/main">
            <a:r>
              <a:t>local:training/section-08/lesson.json</a:t>
            </a:r>
          </a:p>
          <a:p xmlns:a="http://schemas.openxmlformats.org/drawingml/2006/main">
            <a:r>
              <a:t>定位：方案未实施，假说未验证；未伪装为科研实证或Agent截图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以同一企鹅数据为例：雌雄差异需看分布，喙长与鳍长关系看散点，各年均值看年份图。说明研究执行过程则用节点和箭头。图型由问题、数据结构和读者任务共同决定，避免看到数字就默认柱图。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UBC CPSC447 2026课程：Marks &amp; Channels I，2026-01-19修订</a:t>
            </a:r>
          </a:p>
          <a:p xmlns:a="http://schemas.openxmlformats.org/drawingml/2006/main">
            <a:r>
              <a:t>https://www.cs.ubc.ca/~tmm/talks/vad/2601-marks.pdf</a:t>
            </a:r>
          </a:p>
          <a:p xmlns:a="http://schemas.openxmlformats.org/drawingml/2006/main">
            <a:r>
              <a:t>定位：实际渲染查看第4、6、17页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左侧female187.79、male192.41毫米，各73条；右侧使用同一146条Adelie完整记录，按5毫米分箱。均值图没有展示原始分布，不能据此判断每个个体或是否存在双峰。这里不把柱高差当作因果效应。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Gorman，palmerpenguins公开观测数据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data与CC0；源CSV哈希见figure-packet/source.json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UBC CPSC447 2026课程：Marks &amp; Channels I，2026-01-19修订</a:t>
            </a:r>
          </a:p>
          <a:p xmlns:a="http://schemas.openxmlformats.org/drawingml/2006/main">
            <a:r>
              <a:t>https://www.cs.ubc.ca/~tmm/talks/vad/2601-marks.pdf</a:t>
            </a:r>
          </a:p>
          <a:p xmlns:a="http://schemas.openxmlformats.org/drawingml/2006/main">
            <a:r>
              <a:t>定位：实际渲染查看第4、6、17页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图均用187.7945和192.411毫米。左图从0到210，右图180到200。右侧用于解释截断柱长的视觉后果，不作为推荐呈现。数据差仍为4.6164毫米，不能凭截断后的柱长比说雄性是雌性的若干倍。散点或区间图可合理聚焦局部，但要清楚给刻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Gorman，palmerpenguins公开观测数据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data与CC0；源CSV哈希见figure-packet/source.json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UBC 2026课程所列Rules of Thumb (Ch6)</a:t>
            </a:r>
          </a:p>
          <a:p xmlns:a="http://schemas.openxmlformats.org/drawingml/2006/main">
            <a:r>
              <a:t>https://www.cs.ubc.ca/~tmm/talks/vad/VAD-rules.pdf</a:t>
            </a:r>
          </a:p>
          <a:p xmlns:a="http://schemas.openxmlformats.org/drawingml/2006/main">
            <a:r>
              <a:t>定位：第4页共同尺度位置与平面表达，已渲染查看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male组n73，均值187.7945，SD5.5950，行独立假设SE0.65485。第三行用该组10000次有放回重抽样均值的2.5%—97.5%分位点186.52—189.05。前两行是mean±SD、mean±SE，第三行不是±SD。三个范围用同一毫米尺度示意。此计算未核实巢内依赖，不能解释为已确认的总体置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Gorman，palmerpenguins公开观测数据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data与CC0；源CSV哈希见figure-packet/source.json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NIST：Confidence Limits for the Mean</a:t>
            </a:r>
          </a:p>
          <a:p xmlns:a="http://schemas.openxmlformats.org/drawingml/2006/main">
            <a:r>
              <a:t>https://www.itl.nist.gov/div898/handbook/eda/section3/eda352.htm</a:t>
            </a:r>
          </a:p>
          <a:p xmlns:a="http://schemas.openxmlformats.org/drawingml/2006/main">
            <a:r>
              <a:t>定位：标准误和均值区间的解释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显示Adelie雌雄完整记录的喙长与鳍长，各73条，共146点。横轴喙长、纵轴鳍长，均为mm。只显示观测点，不连线、不添加未计算拟合。保留公开数据来源。颜色辅以圆形和方形，减少仅凭颜色辨识的依赖。数据只支持观察关联，没有以性别或喙长的干预建立因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Gorman，palmerpenguins公开观测数据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data与CC0；源CSV哈希见figure-packet/source.json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UBC CPSC447 2026课程：Marks &amp; Channels I，2026-01-19修订</a:t>
            </a:r>
          </a:p>
          <a:p xmlns:a="http://schemas.openxmlformats.org/drawingml/2006/main">
            <a:r>
              <a:t>https://www.cs.ubc.ca/~tmm/talks/vad/2601-marks.pdf</a:t>
            </a:r>
          </a:p>
          <a:p xmlns:a="http://schemas.openxmlformats.org/drawingml/2006/main">
            <a:r>
              <a:t>定位：实际渲染查看第4、6、17页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示例图注依据本节第6页。内容包括物种和年份、完整记录范围、每点含义、形状和颜色、两轴单位、无拟合线及数据来源。若使用误差线还需写明定义。这里按期刊图注原则写一个课程示例，不宣称所有期刊的格式完全相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PLOS One Figures官方要求</a:t>
            </a:r>
          </a:p>
          <a:p xmlns:a="http://schemas.openxmlformats.org/drawingml/2006/main">
            <a:r>
              <a:t>https://journals.plos.org/plosone/s/figures</a:t>
            </a:r>
          </a:p>
          <a:p xmlns:a="http://schemas.openxmlformats.org/drawingml/2006/main">
            <a:r>
              <a:t>定位：2026-10-18核查Captions、Multi-panel Figures、Preparing Figures from Image Files；各刊要求不同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Gorman，palmerpenguins公开观测数据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data与CC0；源CSV哈希见figure-packet/source.json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为雌雄分布，B为年份均值，均来自相同146条Adelie完整记录；雌雄各年n为22、25、26。两个面板共享颜色含义，图例不变。A纵轴为记录数，B为mm，不能将纵轴刻度误认为可共用。B连接年组均值，不表示同一个体成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Gorman，palmerpenguins公开观测数据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data与CC0；源CSV哈希见figure-packet/source.json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PLOS One Figures官方要求</a:t>
            </a:r>
          </a:p>
          <a:p xmlns:a="http://schemas.openxmlformats.org/drawingml/2006/main">
            <a:r>
              <a:t>https://journals.plos.org/plosone/s/figures</a:t>
            </a:r>
          </a:p>
          <a:p xmlns:a="http://schemas.openxmlformats.org/drawingml/2006/main">
            <a:r>
              <a:t>定位：2026-10-18核查Captions、Multi-panel Figures、Preparing Figures from Image Files；各刊要求不同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示意显示三种数据含义，不引入科研观测。分类配色不暗示甲乙丙的高低；顺序色阶用亮度变化表达高低；发散色阶围绕0显示方向。颜色之外保留文字或形状。不能仅因颜色鲜艳就用彩虹色表达连续数值。本页是图例教学示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UBC 2026课程所列Color (Ch10)共享课件</a:t>
            </a:r>
          </a:p>
          <a:p xmlns:a="http://schemas.openxmlformats.org/drawingml/2006/main">
            <a:r>
              <a:t>https://www.cs.ubc.ca/~tmm/talks/vad/VAD-color.pdf</a:t>
            </a:r>
          </a:p>
          <a:p xmlns:a="http://schemas.openxmlformats.org/drawingml/2006/main">
            <a:r>
              <a:t>定位：实际查看第7、21页；共享文件未将全套标为2026新制作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课程自编绘图与研究方案示意</a:t>
            </a:r>
          </a:p>
          <a:p xmlns:a="http://schemas.openxmlformats.org/drawingml/2006/main">
            <a:r>
              <a:t>local:training/section-08/lesson.json</a:t>
            </a:r>
          </a:p>
          <a:p xmlns:a="http://schemas.openxmlformats.org/drawingml/2006/main">
            <a:r>
              <a:t>定位：方案未实施，假说未验证；未伪装为科研实证或Agent截图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示例：仅用所附CSV，限定Adelie且性别、喙长与鳍长完整；横轴喙长mm、纵轴鳍长mm，按性别着色并用不同点形，保留所有观测，不连线、不加拟合；输出代码、图注和数据来源。代码实际运行后核对记录数与轴。此工作流是课堂方法说明，配套脚本实际绘图，并非某个云端Agent截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课程自编绘图与研究方案示意</a:t>
            </a:r>
          </a:p>
          <a:p xmlns:a="http://schemas.openxmlformats.org/drawingml/2006/main">
            <a:r>
              <a:t>local:training/section-08/lesson.json</a:t>
            </a:r>
          </a:p>
          <a:p xmlns:a="http://schemas.openxmlformats.org/drawingml/2006/main">
            <a:r>
              <a:t>定位：方案未实施，假说未验证；未伪装为科研实证或Agent截图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案为教学模拟，与第6节的问题衔接。流程从材料题目和评分规则开始，经预试核查，再分两种提示条件并行实施；分别记录作答过程，最后用统一无AI新题评价独立解题，再按预定方案比较。分配单位、样本量和授权待研究者确认，图不代表试验已经开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UBC 2026课程所列Network Data (Ch9 revised)，2501版本</a:t>
            </a:r>
          </a:p>
          <a:p xmlns:a="http://schemas.openxmlformats.org/drawingml/2006/main">
            <a:r>
              <a:t>https://www.cs.ubc.ca/~tmm/talks/vad/2501-networks.pdf</a:t>
            </a:r>
          </a:p>
          <a:p xmlns:a="http://schemas.openxmlformats.org/drawingml/2006/main">
            <a:r>
              <a:t>定位：第2页节点与连接，已渲染查看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课程自编绘图与研究方案示意</a:t>
            </a:r>
          </a:p>
          <a:p xmlns:a="http://schemas.openxmlformats.org/drawingml/2006/main">
            <a:r>
              <a:t>local:training/section-08/lesson.json</a:t>
            </a:r>
          </a:p>
          <a:p xmlns:a="http://schemas.openxmlformats.org/drawingml/2006/main">
            <a:r>
              <a:t>定位：方案未实施，假说未验证；未伪装为科研实证或Agent截图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用预试题目的评分一致性核对作为示例，但不虚设一个普适阈值。研究者需预先确定一致性标准。达到标准才进入正式阶段，未达到则修订并保留版本，复核后再进入判断。路线图能呈现依赖关系，不等于规定的质量标准已经满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UBC 2026课程所列Network Data (Ch9 revised)，2501版本</a:t>
            </a:r>
          </a:p>
          <a:p xmlns:a="http://schemas.openxmlformats.org/drawingml/2006/main">
            <a:r>
              <a:t>https://www.cs.ubc.ca/~tmm/talks/vad/2501-networks.pdf</a:t>
            </a:r>
          </a:p>
          <a:p xmlns:a="http://schemas.openxmlformats.org/drawingml/2006/main">
            <a:r>
              <a:t>定位：第2页节点与连接，已渲染查看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课程自编绘图与研究方案示意</a:t>
            </a:r>
          </a:p>
          <a:p xmlns:a="http://schemas.openxmlformats.org/drawingml/2006/main">
            <a:r>
              <a:t>local:training/section-08/lesson.json</a:t>
            </a:r>
          </a:p>
          <a:p xmlns:a="http://schemas.openxmlformats.org/drawingml/2006/main">
            <a:r>
              <a:t>定位：方案未实施，假说未验证；未伪装为科研实证或Agent截图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出研究假说后，过程证据和独立测验可并行整理，分别形成编码记录与评分结果，再检查一致与不一致之处。不能把两个分支都画成“AI分析”或默认结果一定支持假说。缺少记录、指标不对应时保留问题，而非强行汇合为积极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UBC 2026课程所列Network Data (Ch9 revised)，2501版本</a:t>
            </a:r>
          </a:p>
          <a:p xmlns:a="http://schemas.openxmlformats.org/drawingml/2006/main">
            <a:r>
              <a:t>https://www.cs.ubc.ca/~tmm/talks/vad/2501-networks.pdf</a:t>
            </a:r>
          </a:p>
          <a:p xmlns:a="http://schemas.openxmlformats.org/drawingml/2006/main">
            <a:r>
              <a:t>定位：第2页节点与连接，已渲染查看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课程自编绘图与研究方案示意</a:t>
            </a:r>
          </a:p>
          <a:p xmlns:a="http://schemas.openxmlformats.org/drawingml/2006/main">
            <a:r>
              <a:t>local:training/section-08/lesson.json</a:t>
            </a:r>
          </a:p>
          <a:p xmlns:a="http://schemas.openxmlformats.org/drawingml/2006/main">
            <a:r>
              <a:t>定位：方案未实施，假说未验证；未伪装为科研实证或Agent截图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本页左侧为课程编写的GPT Image任务示例，右侧为人工核对用的PPT原生关系图；没有把右图当作模型输出。完整提示见prompt-packet。三个节点分别对应提示、作答过程与独立测验，两条虚线只是待验证的解释关系。尚无真实过程数据证明中介或因果关系，既有水平、练习时间、题目难度及实施差异仍需考虑。原稿中的DALL·E名称保留作时效说明：官方API下线记录列出dall-e-2和dall-e-3于2026-05-12移除，不推广成所有第三方入口也同时停止。当前官方图像指南用于GPT Image任务写法；本轮未调用该图像模型。示例供教学构思，投稿另查目标期刊对生成图像的规定。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UBC 2026课程所列Network Data (Ch9 revised)，2501版本</a:t>
            </a:r>
          </a:p>
          <a:p xmlns:a="http://schemas.openxmlformats.org/drawingml/2006/main">
            <a:r>
              <a:t>https://www.cs.ubc.ca/~tmm/talks/vad/2501-networks.pdf</a:t>
            </a:r>
          </a:p>
          <a:p xmlns:a="http://schemas.openxmlformats.org/drawingml/2006/main">
            <a:r>
              <a:t>定位：第2页节点与连接，已渲染查看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Image generation官方指南</a:t>
            </a:r>
          </a:p>
          <a:p xmlns:a="http://schemas.openxmlformats.org/drawingml/2006/main">
            <a:r>
              <a:t>https://developers.openai.com/api/docs/guides/image-generation</a:t>
            </a:r>
          </a:p>
          <a:p xmlns:a="http://schemas.openxmlformats.org/drawingml/2006/main">
            <a:r>
              <a:t>定位：2026-10-19查阅：生成与编辑、文本渲染和结构布局限制；未调用图像模型，不声称请求文字保证准确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Deprecations：DALL·E model snapshots</a:t>
            </a:r>
          </a:p>
          <a:p xmlns:a="http://schemas.openxmlformats.org/drawingml/2006/main">
            <a:r>
              <a:t>https://developers.openai.com/api/docs/deprecations</a:t>
            </a:r>
          </a:p>
          <a:p xmlns:a="http://schemas.openxmlformats.org/drawingml/2006/main">
            <a:r>
              <a:t>定位：2025-11-14条目：dall-e-2与dall-e-3 API于2026-05-12移除；不推断第三方入口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课程自编绘图与研究方案示意</a:t>
            </a:r>
          </a:p>
          <a:p xmlns:a="http://schemas.openxmlformats.org/drawingml/2006/main">
            <a:r>
              <a:t>local:training/section-08/lesson.json</a:t>
            </a:r>
          </a:p>
          <a:p xmlns:a="http://schemas.openxmlformats.org/drawingml/2006/main">
            <a:r>
              <a:t>定位：方案未实施，假说未验证；未伪装为科研实证或Agent截图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节PPT中的图表原生可编辑，配套图保留PDF、PNG和SVG；技术路线附draw.io与SVG/PNG。图表嵌入工作簿是数值快照，不保留源表公式。修订后仍需按数据复算。PNG适合预览，矢量或原生对象适合后续调整，正式投稿须查目标期刊规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PLOS One Figures官方要求</a:t>
            </a:r>
          </a:p>
          <a:p xmlns:a="http://schemas.openxmlformats.org/drawingml/2006/main">
            <a:r>
              <a:t>https://journals.plos.org/plosone/s/figures</a:t>
            </a:r>
          </a:p>
          <a:p xmlns:a="http://schemas.openxmlformats.org/drawingml/2006/main">
            <a:r>
              <a:t>定位：2026-10-18核查Captions、Multi-panel Figures、Preparing Figures from Image Files；各刊要求不同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课程自编绘图与研究方案示意</a:t>
            </a:r>
          </a:p>
          <a:p xmlns:a="http://schemas.openxmlformats.org/drawingml/2006/main">
            <a:r>
              <a:t>local:training/section-08/lesson.json</a:t>
            </a:r>
          </a:p>
          <a:p xmlns:a="http://schemas.openxmlformats.org/drawingml/2006/main">
            <a:r>
              <a:t>定位：方案未实施，假说未验证；未伪装为科研实证或Agent截图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左侧是可复制的Midjourney提示，按官方Prompt Basics使用具体画面描述；--ar 16:9是画面宽高比，不是像素、清晰度或可编辑格式保证。英文意为左到右三个区：分步提示题单、作答修订、新题试卷，相邻区用细虚线，白底蓝绿配色并留出标签空间。中文标签和“教学假说示意，尚未取得机制证据”图注在编辑源中补全后仍需核对。模型可能画错连线、增加对象或拼错字；发现后按完整修改任务调整，不能仅写“高级一点”。配套revision_prompt给出保留对象、改虚线、删虚构成绩和修正文字的明确指令。核对流程为讲授方法，没有执行Midjourney、GPT Image或Nano Banana。图像文件通常不自动提供独立可编辑节点；定稿需保留原始输出、提示版本和PPT/draw.io文字与连接。数据图另用CSV脚本和原生图表复算，不让图像模型生成观测值。下一节将图表组织进论文正文、投稿与返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Midjourney Prompt Basics与Aspect Ratio</a:t>
            </a:r>
          </a:p>
          <a:p xmlns:a="http://schemas.openxmlformats.org/drawingml/2006/main">
            <a:r>
              <a:t>https://docs.midjourney.com/hc/en-us/articles/32023408776205-Prompt-Basics</a:t>
            </a:r>
          </a:p>
          <a:p xmlns:a="http://schemas.openxmlformats.org/drawingml/2006/main">
            <a:r>
              <a:t>定位：2026-10-19查阅短而具体的画面描述；--ar参数另见prompt-packet/参考资料.md；未操作Midjourney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OpenAI Image generation官方指南</a:t>
            </a:r>
          </a:p>
          <a:p xmlns:a="http://schemas.openxmlformats.org/drawingml/2006/main">
            <a:r>
              <a:t>https://developers.openai.com/api/docs/guides/image-generation</a:t>
            </a:r>
          </a:p>
          <a:p xmlns:a="http://schemas.openxmlformats.org/drawingml/2006/main">
            <a:r>
              <a:t>定位：2026-10-19查阅：生成与编辑、文本渲染和结构布局限制；未调用图像模型，不声称请求文字保证准确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课程自编绘图与研究方案示意</a:t>
            </a:r>
          </a:p>
          <a:p xmlns:a="http://schemas.openxmlformats.org/drawingml/2006/main">
            <a:r>
              <a:t>local:training/section-08/lesson.json</a:t>
            </a:r>
          </a:p>
          <a:p xmlns:a="http://schemas.openxmlformats.org/drawingml/2006/main">
            <a:r>
              <a:t>定位：方案未实施，假说未验证；未伪装为科研实证或Agent截图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26a832cde6400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e175a07bd6402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136f3b4811451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3c276d286f402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88560fe0de43b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785e3dda4f433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DA5E6FC-A36B-4267-9676-E6740A3890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472FDA0-EB8F-4B4B-B2C0-2700A0A11B4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EEC56EF-BD88-48FD-821E-3CD1B4E1AE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D3F5D9B-ACAB-4C84-B002-47061AD4F2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0015D73-0F63-43C7-93F7-7EDB207E25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EE742DE-FC9B-4724-8E5D-10A83D82AE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F48C5ED-119E-4042-9915-BC314ECF36B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E0405FF-5F13-4C9C-A059-BC4605BC3C0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1EA8107-A82A-44AD-A93E-05DDB572EF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1AE0E8B-CD94-47C3-884D-59F44E61776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254afe2f5d492a" /><Relationship Type="http://schemas.openxmlformats.org/officeDocument/2006/relationships/slideLayout" Target="/ppt/slideLayouts/slideLayout1.xml" Id="R1bb8adee44a247f4" /><Relationship Type="http://schemas.openxmlformats.org/officeDocument/2006/relationships/slideLayout" Target="/ppt/slideLayouts/slideLayout2.xml" Id="Rbed6cb302c9e4818" /><Relationship Type="http://schemas.openxmlformats.org/officeDocument/2006/relationships/slideLayout" Target="/ppt/slideLayouts/slideLayout3.xml" Id="R4d7c4979db944bb0" /><Relationship Type="http://schemas.openxmlformats.org/officeDocument/2006/relationships/slideLayout" Target="/ppt/slideLayouts/slideLayout4.xml" Id="Rdc3624f628404937" /><Relationship Type="http://schemas.openxmlformats.org/officeDocument/2006/relationships/slideLayout" Target="/ppt/slideLayouts/slideLayout5.xml" Id="Rb125a1bd48d64b78" /><Relationship Type="http://schemas.openxmlformats.org/officeDocument/2006/relationships/slideLayout" Target="/ppt/slideLayouts/slideLayout6.xml" Id="Rafb41d525a31488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b8adee44a247f4"/>
    <p:sldLayoutId xmlns:r="http://schemas.openxmlformats.org/officeDocument/2006/relationships" id="2147483650" r:id="Rbed6cb302c9e4818"/>
    <p:sldLayoutId xmlns:r="http://schemas.openxmlformats.org/officeDocument/2006/relationships" id="2147483651" r:id="R4d7c4979db944bb0"/>
    <p:sldLayoutId xmlns:r="http://schemas.openxmlformats.org/officeDocument/2006/relationships" id="2147483652" r:id="Rdc3624f628404937"/>
    <p:sldLayoutId xmlns:r="http://schemas.openxmlformats.org/officeDocument/2006/relationships" id="2147483653" r:id="Rb125a1bd48d64b78"/>
    <p:sldLayoutId xmlns:r="http://schemas.openxmlformats.org/officeDocument/2006/relationships" id="2147483654" r:id="Rafb41d525a31488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f1f496da814d82" /><Relationship Type="http://schemas.openxmlformats.org/officeDocument/2006/relationships/notesSlide" Target="/ppt/notesSlides/notesSlide1.xml" Id="Ra982bf149bbb4cc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bde00eaea6478e" /><Relationship Type="http://schemas.openxmlformats.org/officeDocument/2006/relationships/notesSlide" Target="/ppt/notesSlides/notesSlide2.xml" Id="Ra8b2c3a2c06d448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5fcb7341d949e3" /><Relationship Type="http://schemas.openxmlformats.org/officeDocument/2006/relationships/chart" Target="/ppt/slides/charts/chart1.xml" Id="R0c6a72464be245ad" /><Relationship Type="http://schemas.openxmlformats.org/officeDocument/2006/relationships/chart" Target="/ppt/slides/charts/chart2.xml" Id="Rc2aff72ebb7a46e8" /><Relationship Type="http://schemas.openxmlformats.org/officeDocument/2006/relationships/notesSlide" Target="/ppt/notesSlides/notesSlide3.xml" Id="Ref7c910db09d4bb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447e4c3a4f494c" /><Relationship Type="http://schemas.openxmlformats.org/officeDocument/2006/relationships/chart" Target="/ppt/slides/charts/chart3.xml" Id="R6d650a6d55534896" /><Relationship Type="http://schemas.openxmlformats.org/officeDocument/2006/relationships/chart" Target="/ppt/slides/charts/chart4.xml" Id="Rc14a6d4e2108459c" /><Relationship Type="http://schemas.openxmlformats.org/officeDocument/2006/relationships/notesSlide" Target="/ppt/notesSlides/notesSlide4.xml" Id="Rc476227d1de5400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11b3c773024899" /><Relationship Type="http://schemas.openxmlformats.org/officeDocument/2006/relationships/notesSlide" Target="/ppt/notesSlides/notesSlide5.xml" Id="Rd235100a78994ca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1a98462ab94ba2" /><Relationship Type="http://schemas.openxmlformats.org/officeDocument/2006/relationships/chart" Target="/ppt/slides/charts/chart5.xml" Id="R1967794119a7463a" /><Relationship Type="http://schemas.openxmlformats.org/officeDocument/2006/relationships/notesSlide" Target="/ppt/notesSlides/notesSlide6.xml" Id="Rd91405ff473b47f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3d6cd3e48a4eba" /><Relationship Type="http://schemas.openxmlformats.org/officeDocument/2006/relationships/notesSlide" Target="/ppt/notesSlides/notesSlide7.xml" Id="R245ff5fe9d534eb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7b559a923f4c71" /><Relationship Type="http://schemas.openxmlformats.org/officeDocument/2006/relationships/chart" Target="/ppt/slides/charts/chart6.xml" Id="R79190f2b669a4ff5" /><Relationship Type="http://schemas.openxmlformats.org/officeDocument/2006/relationships/chart" Target="/ppt/slides/charts/chart7.xml" Id="Re839ed34155a4a50" /><Relationship Type="http://schemas.openxmlformats.org/officeDocument/2006/relationships/notesSlide" Target="/ppt/notesSlides/notesSlide8.xml" Id="Rd60c853c6c884fb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e2783ee37543a4" /><Relationship Type="http://schemas.openxmlformats.org/officeDocument/2006/relationships/notesSlide" Target="/ppt/notesSlides/notesSlide9.xml" Id="R130f6162cf1f4d8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760f2ad7fa4700" /><Relationship Type="http://schemas.openxmlformats.org/officeDocument/2006/relationships/notesSlide" Target="/ppt/notesSlides/notesSlide10.xml" Id="R7e9c8b19de5d40b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37e5fbd9d545d0" /><Relationship Type="http://schemas.openxmlformats.org/officeDocument/2006/relationships/notesSlide" Target="/ppt/notesSlides/notesSlide11.xml" Id="R1677b52e59344ad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d34ffd280b4b23" /><Relationship Type="http://schemas.openxmlformats.org/officeDocument/2006/relationships/notesSlide" Target="/ppt/notesSlides/notesSlide12.xml" Id="R88a75425483547e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78100d9d414bff" /><Relationship Type="http://schemas.openxmlformats.org/officeDocument/2006/relationships/notesSlide" Target="/ppt/notesSlides/notesSlide13.xml" Id="R42e033198e6942f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daa80115544a64" /><Relationship Type="http://schemas.openxmlformats.org/officeDocument/2006/relationships/notesSlide" Target="/ppt/notesSlides/notesSlide14.xml" Id="R8a741030c87c48d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9403895f66481e" /><Relationship Type="http://schemas.openxmlformats.org/officeDocument/2006/relationships/notesSlide" Target="/ppt/notesSlides/notesSlide15.xml" Id="R150e2f16a06f474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df2d7a5d7646a8" /><Relationship Type="http://schemas.openxmlformats.org/officeDocument/2006/relationships/notesSlide" Target="/ppt/notesSlides/notesSlide16.xml" Id="R74704fbebc8f4e63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A  平均鳍长（毫米）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平均鳍长</c:v>
          </c:tx>
          <c:spPr>
            <a:solidFill xmlns:a="http://schemas.openxmlformats.org/drawingml/2006/main">
              <a:srgbClr val="245B77"/>
            </a:solidFill>
            <a:ln xmlns:a="http://schemas.openxmlformats.org/drawingml/2006/main" w="23813">
              <a:solidFill>
                <a:srgbClr val="245B77"/>
              </a:solidFill>
            </a:ln>
          </c:spPr>
          <c:invertIfNegative val="0"/>
          <c:cat>
            <c:strRef>
              <c:f>'Chart Data'!$A$2:$A$3</c:f>
              <c:strCache>
                <c:ptCount val="2"/>
                <c:pt idx="0">
                  <c:v>雌</c:v>
                </c:pt>
                <c:pt idx="1">
                  <c:v>雄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187.794520548</c:v>
                </c:pt>
                <c:pt idx="1">
                  <c:v>192.410958904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210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5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B  5毫米分箱频数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雌</c:v>
          </c:tx>
          <c:spPr>
            <a:solidFill xmlns:a="http://schemas.openxmlformats.org/drawingml/2006/main">
              <a:srgbClr val="245B77"/>
            </a:solidFill>
            <a:ln xmlns:a="http://schemas.openxmlformats.org/drawingml/2006/main" w="23813">
              <a:solidFill>
                <a:srgbClr val="245B77"/>
              </a:solidFill>
            </a:ln>
          </c:spPr>
          <c:invertIfNegative val="0"/>
          <c:cat>
            <c:strRef>
              <c:f>'Chart Data'!$A$2:$A$10</c:f>
              <c:strCache>
                <c:ptCount val="9"/>
                <c:pt idx="0">
                  <c:v>170–175</c:v>
                </c:pt>
                <c:pt idx="1">
                  <c:v>175–180</c:v>
                </c:pt>
                <c:pt idx="2">
                  <c:v>180–185</c:v>
                </c:pt>
                <c:pt idx="3">
                  <c:v>185–190</c:v>
                </c:pt>
                <c:pt idx="4">
                  <c:v>190–195</c:v>
                </c:pt>
                <c:pt idx="5">
                  <c:v>195–200</c:v>
                </c:pt>
                <c:pt idx="6">
                  <c:v>200–205</c:v>
                </c:pt>
                <c:pt idx="7">
                  <c:v>205–210</c:v>
                </c:pt>
                <c:pt idx="8">
                  <c:v>210–215</c:v>
                </c:pt>
              </c:strCache>
            </c:strRef>
          </c:cat>
          <c:val>
            <c:numRef>
              <c:f>'Chart Data'!$B$2:$B$10</c:f>
              <c:numCache>
                <c:formatCode>General</c:formatCode>
                <c:ptCount val="9"/>
                <c:pt idx="0">
                  <c:v>2</c:v>
                </c:pt>
                <c:pt idx="1">
                  <c:v>3</c:v>
                </c:pt>
                <c:pt idx="2">
                  <c:v>11</c:v>
                </c:pt>
                <c:pt idx="3">
                  <c:v>27</c:v>
                </c:pt>
                <c:pt idx="4">
                  <c:v>21</c:v>
                </c:pt>
                <c:pt idx="5">
                  <c:v>8</c:v>
                </c:pt>
                <c:pt idx="6">
                  <c:v>1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1"/>
          <c:order val="1"/>
          <c:tx>
            <c:v>雄</c:v>
          </c:tx>
          <c:spPr>
            <a:solidFill xmlns:a="http://schemas.openxmlformats.org/drawingml/2006/main">
              <a:srgbClr val="2C6D68"/>
            </a:solidFill>
            <a:ln xmlns:a="http://schemas.openxmlformats.org/drawingml/2006/main" w="23813">
              <a:solidFill>
                <a:srgbClr val="2C6D68"/>
              </a:solidFill>
            </a:ln>
          </c:spPr>
          <c:invertIfNegative val="0"/>
          <c:cat>
            <c:strRef>
              <c:f>'Chart Data'!$C$2:$C$10</c:f>
              <c:strCache>
                <c:ptCount val="9"/>
                <c:pt idx="0">
                  <c:v>170–175</c:v>
                </c:pt>
                <c:pt idx="1">
                  <c:v>175–180</c:v>
                </c:pt>
                <c:pt idx="2">
                  <c:v>180–185</c:v>
                </c:pt>
                <c:pt idx="3">
                  <c:v>185–190</c:v>
                </c:pt>
                <c:pt idx="4">
                  <c:v>190–195</c:v>
                </c:pt>
                <c:pt idx="5">
                  <c:v>195–200</c:v>
                </c:pt>
                <c:pt idx="6">
                  <c:v>200–205</c:v>
                </c:pt>
                <c:pt idx="7">
                  <c:v>205–210</c:v>
                </c:pt>
                <c:pt idx="8">
                  <c:v>210–215</c:v>
                </c:pt>
              </c:strCache>
            </c:strRef>
          </c:cat>
          <c:val>
            <c:numRef>
              <c:f>'Chart Data'!$D$2:$D$10</c:f>
              <c:numCache>
                <c:formatCode>General</c:formatCode>
                <c:ptCount val="9"/>
                <c:pt idx="0">
                  <c:v>0</c:v>
                </c:pt>
                <c:pt idx="1">
                  <c:v>1</c:v>
                </c:pt>
                <c:pt idx="2">
                  <c:v>10</c:v>
                </c:pt>
                <c:pt idx="3">
                  <c:v>8</c:v>
                </c:pt>
                <c:pt idx="4">
                  <c:v>24</c:v>
                </c:pt>
                <c:pt idx="5">
                  <c:v>22</c:v>
                </c:pt>
                <c:pt idx="6">
                  <c:v>5</c:v>
                </c:pt>
                <c:pt idx="7">
                  <c:v>2</c:v>
                </c:pt>
                <c:pt idx="8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A  纵轴从0开始（毫米）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平均鳍长</c:v>
          </c:tx>
          <c:spPr>
            <a:solidFill xmlns:a="http://schemas.openxmlformats.org/drawingml/2006/main">
              <a:srgbClr val="245B77"/>
            </a:solidFill>
            <a:ln xmlns:a="http://schemas.openxmlformats.org/drawingml/2006/main" w="23813">
              <a:solidFill>
                <a:srgbClr val="245B77"/>
              </a:solidFill>
            </a:ln>
          </c:spPr>
          <c:invertIfNegative val="0"/>
          <c:cat>
            <c:strRef>
              <c:f>'Chart Data'!$A$2:$A$3</c:f>
              <c:strCache>
                <c:ptCount val="2"/>
                <c:pt idx="0">
                  <c:v>雌</c:v>
                </c:pt>
                <c:pt idx="1">
                  <c:v>雄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187.794520548</c:v>
                </c:pt>
                <c:pt idx="1">
                  <c:v>192.410958904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210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5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B  纵轴从180开始（毫米）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平均鳍长</c:v>
          </c:tx>
          <c:spPr>
            <a:solidFill xmlns:a="http://schemas.openxmlformats.org/drawingml/2006/main">
              <a:srgbClr val="245B77"/>
            </a:solidFill>
            <a:ln xmlns:a="http://schemas.openxmlformats.org/drawingml/2006/main" w="23813">
              <a:solidFill>
                <a:srgbClr val="245B77"/>
              </a:solidFill>
            </a:ln>
          </c:spPr>
          <c:invertIfNegative val="0"/>
          <c:cat>
            <c:strRef>
              <c:f>'Chart Data'!$A$2:$A$3</c:f>
              <c:strCache>
                <c:ptCount val="2"/>
                <c:pt idx="0">
                  <c:v>雌</c:v>
                </c:pt>
                <c:pt idx="1">
                  <c:v>雄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187.794520548</c:v>
                </c:pt>
                <c:pt idx="1">
                  <c:v>192.410958904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200"/>
          <c:min val="18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Adelie喙长与鳍长（每组73条）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marker"/>
        <c:varyColors val="0"/>
        <c:ser>
          <c:idx val="0"/>
          <c:order val="0"/>
          <c:tx>
            <c:v>雌（圆形）</c:v>
          </c:tx>
          <c:spPr>
            <a:solidFill xmlns:a="http://schemas.openxmlformats.org/drawingml/2006/main">
              <a:srgbClr val="245B77"/>
            </a:solidFill>
            <a:ln xmlns:a="http://schemas.openxmlformats.org/drawingml/2006/main" w="0">
              <a:noFill/>
            </a:ln>
          </c:spPr>
          <c:marker>
            <c:symbol val="circle"/>
            <c:size val="6"/>
            <c:spPr>
              <a:solidFill xmlns:a="http://schemas.openxmlformats.org/drawingml/2006/main">
                <a:srgbClr val="245B77"/>
              </a:solidFill>
            </c:spPr>
          </c:marker>
          <c:xVal>
            <c:numRef>
              <c:f>'Chart Data'!$A$2:$A$74</c:f>
              <c:numCache>
                <c:formatCode>General</c:formatCode>
                <c:ptCount val="73"/>
                <c:pt idx="0">
                  <c:v>39.5</c:v>
                </c:pt>
                <c:pt idx="1">
                  <c:v>40.3</c:v>
                </c:pt>
                <c:pt idx="2">
                  <c:v>36.7</c:v>
                </c:pt>
                <c:pt idx="3">
                  <c:v>38.9</c:v>
                </c:pt>
                <c:pt idx="4">
                  <c:v>41.1</c:v>
                </c:pt>
                <c:pt idx="5">
                  <c:v>36.6</c:v>
                </c:pt>
                <c:pt idx="6">
                  <c:v>38.7</c:v>
                </c:pt>
                <c:pt idx="7">
                  <c:v>34.4</c:v>
                </c:pt>
                <c:pt idx="8">
                  <c:v>37.8</c:v>
                </c:pt>
                <c:pt idx="9">
                  <c:v>35.9</c:v>
                </c:pt>
                <c:pt idx="10">
                  <c:v>35.3</c:v>
                </c:pt>
                <c:pt idx="11">
                  <c:v>40.5</c:v>
                </c:pt>
                <c:pt idx="12">
                  <c:v>37.9</c:v>
                </c:pt>
                <c:pt idx="13">
                  <c:v>39.5</c:v>
                </c:pt>
                <c:pt idx="14">
                  <c:v>39.5</c:v>
                </c:pt>
                <c:pt idx="15">
                  <c:v>36.4</c:v>
                </c:pt>
                <c:pt idx="16">
                  <c:v>42.2</c:v>
                </c:pt>
                <c:pt idx="17">
                  <c:v>37.6</c:v>
                </c:pt>
                <c:pt idx="18">
                  <c:v>36.5</c:v>
                </c:pt>
                <c:pt idx="19">
                  <c:v>36</c:v>
                </c:pt>
                <c:pt idx="20">
                  <c:v>37</c:v>
                </c:pt>
                <c:pt idx="21">
                  <c:v>36</c:v>
                </c:pt>
                <c:pt idx="22">
                  <c:v>39.6</c:v>
                </c:pt>
                <c:pt idx="23">
                  <c:v>35</c:v>
                </c:pt>
                <c:pt idx="24">
                  <c:v>34.5</c:v>
                </c:pt>
                <c:pt idx="25">
                  <c:v>39</c:v>
                </c:pt>
                <c:pt idx="26">
                  <c:v>36.5</c:v>
                </c:pt>
                <c:pt idx="27">
                  <c:v>35.7</c:v>
                </c:pt>
                <c:pt idx="28">
                  <c:v>37.6</c:v>
                </c:pt>
                <c:pt idx="29">
                  <c:v>36.4</c:v>
                </c:pt>
                <c:pt idx="30">
                  <c:v>35.5</c:v>
                </c:pt>
                <c:pt idx="31">
                  <c:v>35.9</c:v>
                </c:pt>
                <c:pt idx="32">
                  <c:v>33.5</c:v>
                </c:pt>
                <c:pt idx="33">
                  <c:v>39.6</c:v>
                </c:pt>
                <c:pt idx="34">
                  <c:v>35.5</c:v>
                </c:pt>
                <c:pt idx="35">
                  <c:v>40.9</c:v>
                </c:pt>
                <c:pt idx="36">
                  <c:v>36.2</c:v>
                </c:pt>
                <c:pt idx="37">
                  <c:v>34.6</c:v>
                </c:pt>
                <c:pt idx="38">
                  <c:v>36.7</c:v>
                </c:pt>
                <c:pt idx="39">
                  <c:v>37.3</c:v>
                </c:pt>
                <c:pt idx="40">
                  <c:v>36.9</c:v>
                </c:pt>
                <c:pt idx="41">
                  <c:v>38.9</c:v>
                </c:pt>
                <c:pt idx="42">
                  <c:v>35.7</c:v>
                </c:pt>
                <c:pt idx="43">
                  <c:v>34</c:v>
                </c:pt>
                <c:pt idx="44">
                  <c:v>36.2</c:v>
                </c:pt>
                <c:pt idx="45">
                  <c:v>38.1</c:v>
                </c:pt>
                <c:pt idx="46">
                  <c:v>33.1</c:v>
                </c:pt>
                <c:pt idx="47">
                  <c:v>35</c:v>
                </c:pt>
                <c:pt idx="48">
                  <c:v>37.7</c:v>
                </c:pt>
                <c:pt idx="49">
                  <c:v>37.9</c:v>
                </c:pt>
                <c:pt idx="50">
                  <c:v>38.6</c:v>
                </c:pt>
                <c:pt idx="51">
                  <c:v>38.1</c:v>
                </c:pt>
                <c:pt idx="52">
                  <c:v>38.1</c:v>
                </c:pt>
                <c:pt idx="53">
                  <c:v>39.7</c:v>
                </c:pt>
                <c:pt idx="54">
                  <c:v>39.6</c:v>
                </c:pt>
                <c:pt idx="55">
                  <c:v>38.6</c:v>
                </c:pt>
                <c:pt idx="56">
                  <c:v>35.7</c:v>
                </c:pt>
                <c:pt idx="57">
                  <c:v>36.2</c:v>
                </c:pt>
                <c:pt idx="58">
                  <c:v>40.2</c:v>
                </c:pt>
                <c:pt idx="59">
                  <c:v>35.2</c:v>
                </c:pt>
                <c:pt idx="60">
                  <c:v>38.8</c:v>
                </c:pt>
                <c:pt idx="61">
                  <c:v>39</c:v>
                </c:pt>
                <c:pt idx="62">
                  <c:v>38.5</c:v>
                </c:pt>
                <c:pt idx="63">
                  <c:v>36.8</c:v>
                </c:pt>
                <c:pt idx="64">
                  <c:v>38.1</c:v>
                </c:pt>
                <c:pt idx="65">
                  <c:v>35.6</c:v>
                </c:pt>
                <c:pt idx="66">
                  <c:v>37</c:v>
                </c:pt>
                <c:pt idx="67">
                  <c:v>40.2</c:v>
                </c:pt>
                <c:pt idx="68">
                  <c:v>32.1</c:v>
                </c:pt>
                <c:pt idx="69">
                  <c:v>37.3</c:v>
                </c:pt>
                <c:pt idx="70">
                  <c:v>36.6</c:v>
                </c:pt>
                <c:pt idx="71">
                  <c:v>36</c:v>
                </c:pt>
                <c:pt idx="72">
                  <c:v>36</c:v>
                </c:pt>
              </c:numCache>
            </c:numRef>
          </c:xVal>
          <c:yVal>
            <c:numRef>
              <c:f>'Chart Data'!$B$2:$B$74</c:f>
              <c:numCache>
                <c:formatCode>General</c:formatCode>
                <c:ptCount val="73"/>
                <c:pt idx="0">
                  <c:v>186</c:v>
                </c:pt>
                <c:pt idx="1">
                  <c:v>195</c:v>
                </c:pt>
                <c:pt idx="2">
                  <c:v>193</c:v>
                </c:pt>
                <c:pt idx="3">
                  <c:v>181</c:v>
                </c:pt>
                <c:pt idx="4">
                  <c:v>182</c:v>
                </c:pt>
                <c:pt idx="5">
                  <c:v>185</c:v>
                </c:pt>
                <c:pt idx="6">
                  <c:v>195</c:v>
                </c:pt>
                <c:pt idx="7">
                  <c:v>184</c:v>
                </c:pt>
                <c:pt idx="8">
                  <c:v>174</c:v>
                </c:pt>
                <c:pt idx="9">
                  <c:v>189</c:v>
                </c:pt>
                <c:pt idx="10">
                  <c:v>187</c:v>
                </c:pt>
                <c:pt idx="11">
                  <c:v>187</c:v>
                </c:pt>
                <c:pt idx="12">
                  <c:v>172</c:v>
                </c:pt>
                <c:pt idx="13">
                  <c:v>178</c:v>
                </c:pt>
                <c:pt idx="14">
                  <c:v>188</c:v>
                </c:pt>
                <c:pt idx="15">
                  <c:v>195</c:v>
                </c:pt>
                <c:pt idx="16">
                  <c:v>180</c:v>
                </c:pt>
                <c:pt idx="17">
                  <c:v>181</c:v>
                </c:pt>
                <c:pt idx="18">
                  <c:v>182</c:v>
                </c:pt>
                <c:pt idx="19">
                  <c:v>186</c:v>
                </c:pt>
                <c:pt idx="20">
                  <c:v>185</c:v>
                </c:pt>
                <c:pt idx="21">
                  <c:v>190</c:v>
                </c:pt>
                <c:pt idx="22">
                  <c:v>186</c:v>
                </c:pt>
                <c:pt idx="23">
                  <c:v>190</c:v>
                </c:pt>
                <c:pt idx="24">
                  <c:v>187</c:v>
                </c:pt>
                <c:pt idx="25">
                  <c:v>186</c:v>
                </c:pt>
                <c:pt idx="26">
                  <c:v>181</c:v>
                </c:pt>
                <c:pt idx="27">
                  <c:v>185</c:v>
                </c:pt>
                <c:pt idx="28">
                  <c:v>185</c:v>
                </c:pt>
                <c:pt idx="29">
                  <c:v>184</c:v>
                </c:pt>
                <c:pt idx="30">
                  <c:v>195</c:v>
                </c:pt>
                <c:pt idx="31">
                  <c:v>190</c:v>
                </c:pt>
                <c:pt idx="32">
                  <c:v>190</c:v>
                </c:pt>
                <c:pt idx="33">
                  <c:v>196</c:v>
                </c:pt>
                <c:pt idx="34">
                  <c:v>190</c:v>
                </c:pt>
                <c:pt idx="35">
                  <c:v>191</c:v>
                </c:pt>
                <c:pt idx="36">
                  <c:v>187</c:v>
                </c:pt>
                <c:pt idx="37">
                  <c:v>189</c:v>
                </c:pt>
                <c:pt idx="38">
                  <c:v>187</c:v>
                </c:pt>
                <c:pt idx="39">
                  <c:v>191</c:v>
                </c:pt>
                <c:pt idx="40">
                  <c:v>189</c:v>
                </c:pt>
                <c:pt idx="41">
                  <c:v>190</c:v>
                </c:pt>
                <c:pt idx="42">
                  <c:v>202</c:v>
                </c:pt>
                <c:pt idx="43">
                  <c:v>185</c:v>
                </c:pt>
                <c:pt idx="44">
                  <c:v>187</c:v>
                </c:pt>
                <c:pt idx="45">
                  <c:v>190</c:v>
                </c:pt>
                <c:pt idx="46">
                  <c:v>178</c:v>
                </c:pt>
                <c:pt idx="47">
                  <c:v>192</c:v>
                </c:pt>
                <c:pt idx="48">
                  <c:v>183</c:v>
                </c:pt>
                <c:pt idx="49">
                  <c:v>193</c:v>
                </c:pt>
                <c:pt idx="50">
                  <c:v>199</c:v>
                </c:pt>
                <c:pt idx="51">
                  <c:v>181</c:v>
                </c:pt>
                <c:pt idx="52">
                  <c:v>198</c:v>
                </c:pt>
                <c:pt idx="53">
                  <c:v>193</c:v>
                </c:pt>
                <c:pt idx="54">
                  <c:v>191</c:v>
                </c:pt>
                <c:pt idx="55">
                  <c:v>188</c:v>
                </c:pt>
                <c:pt idx="56">
                  <c:v>189</c:v>
                </c:pt>
                <c:pt idx="57">
                  <c:v>187</c:v>
                </c:pt>
                <c:pt idx="58">
                  <c:v>176</c:v>
                </c:pt>
                <c:pt idx="59">
                  <c:v>186</c:v>
                </c:pt>
                <c:pt idx="60">
                  <c:v>191</c:v>
                </c:pt>
                <c:pt idx="61">
                  <c:v>191</c:v>
                </c:pt>
                <c:pt idx="62">
                  <c:v>190</c:v>
                </c:pt>
                <c:pt idx="63">
                  <c:v>193</c:v>
                </c:pt>
                <c:pt idx="64">
                  <c:v>187</c:v>
                </c:pt>
                <c:pt idx="65">
                  <c:v>191</c:v>
                </c:pt>
                <c:pt idx="66">
                  <c:v>185</c:v>
                </c:pt>
                <c:pt idx="67">
                  <c:v>193</c:v>
                </c:pt>
                <c:pt idx="68">
                  <c:v>188</c:v>
                </c:pt>
                <c:pt idx="69">
                  <c:v>192</c:v>
                </c:pt>
                <c:pt idx="70">
                  <c:v>184</c:v>
                </c:pt>
                <c:pt idx="71">
                  <c:v>195</c:v>
                </c:pt>
                <c:pt idx="72">
                  <c:v>187</c:v>
                </c:pt>
              </c:numCache>
            </c:numRef>
          </c:yVal>
        </c:ser>
        <c:ser>
          <c:idx val="1"/>
          <c:order val="1"/>
          <c:tx>
            <c:v>雄（方形）</c:v>
          </c:tx>
          <c:spPr>
            <a:solidFill xmlns:a="http://schemas.openxmlformats.org/drawingml/2006/main">
              <a:srgbClr val="2C6D68"/>
            </a:solidFill>
            <a:ln xmlns:a="http://schemas.openxmlformats.org/drawingml/2006/main" w="0">
              <a:noFill/>
            </a:ln>
          </c:spPr>
          <c:marker>
            <c:symbol val="square"/>
            <c:size val="6"/>
            <c:spPr>
              <a:solidFill xmlns:a="http://schemas.openxmlformats.org/drawingml/2006/main">
                <a:srgbClr val="2C6D68"/>
              </a:solidFill>
            </c:spPr>
          </c:marker>
          <c:xVal>
            <c:numRef>
              <c:f>'Chart Data'!$C$2:$C$74</c:f>
              <c:numCache>
                <c:formatCode>General</c:formatCode>
                <c:ptCount val="73"/>
                <c:pt idx="0">
                  <c:v>39.1</c:v>
                </c:pt>
                <c:pt idx="1">
                  <c:v>39.3</c:v>
                </c:pt>
                <c:pt idx="2">
                  <c:v>39.2</c:v>
                </c:pt>
                <c:pt idx="3">
                  <c:v>38.6</c:v>
                </c:pt>
                <c:pt idx="4">
                  <c:v>34.6</c:v>
                </c:pt>
                <c:pt idx="5">
                  <c:v>42.5</c:v>
                </c:pt>
                <c:pt idx="6">
                  <c:v>46</c:v>
                </c:pt>
                <c:pt idx="7">
                  <c:v>37.7</c:v>
                </c:pt>
                <c:pt idx="8">
                  <c:v>38.2</c:v>
                </c:pt>
                <c:pt idx="9">
                  <c:v>38.8</c:v>
                </c:pt>
                <c:pt idx="10">
                  <c:v>40.6</c:v>
                </c:pt>
                <c:pt idx="11">
                  <c:v>40.5</c:v>
                </c:pt>
                <c:pt idx="12">
                  <c:v>37.2</c:v>
                </c:pt>
                <c:pt idx="13">
                  <c:v>40.9</c:v>
                </c:pt>
                <c:pt idx="14">
                  <c:v>39.2</c:v>
                </c:pt>
                <c:pt idx="15">
                  <c:v>38.8</c:v>
                </c:pt>
                <c:pt idx="16">
                  <c:v>39.8</c:v>
                </c:pt>
                <c:pt idx="17">
                  <c:v>40.8</c:v>
                </c:pt>
                <c:pt idx="18">
                  <c:v>44.1</c:v>
                </c:pt>
                <c:pt idx="19">
                  <c:v>39.6</c:v>
                </c:pt>
                <c:pt idx="20">
                  <c:v>41.1</c:v>
                </c:pt>
                <c:pt idx="21">
                  <c:v>42.3</c:v>
                </c:pt>
                <c:pt idx="22">
                  <c:v>40.1</c:v>
                </c:pt>
                <c:pt idx="23">
                  <c:v>42</c:v>
                </c:pt>
                <c:pt idx="24">
                  <c:v>41.4</c:v>
                </c:pt>
                <c:pt idx="25">
                  <c:v>40.6</c:v>
                </c:pt>
                <c:pt idx="26">
                  <c:v>37.6</c:v>
                </c:pt>
                <c:pt idx="27">
                  <c:v>41.3</c:v>
                </c:pt>
                <c:pt idx="28">
                  <c:v>41.1</c:v>
                </c:pt>
                <c:pt idx="29">
                  <c:v>41.6</c:v>
                </c:pt>
                <c:pt idx="30">
                  <c:v>41.1</c:v>
                </c:pt>
                <c:pt idx="31">
                  <c:v>41.8</c:v>
                </c:pt>
                <c:pt idx="32">
                  <c:v>39.7</c:v>
                </c:pt>
                <c:pt idx="33">
                  <c:v>45.8</c:v>
                </c:pt>
                <c:pt idx="34">
                  <c:v>42.8</c:v>
                </c:pt>
                <c:pt idx="35">
                  <c:v>37.2</c:v>
                </c:pt>
                <c:pt idx="36">
                  <c:v>42.1</c:v>
                </c:pt>
                <c:pt idx="37">
                  <c:v>42.9</c:v>
                </c:pt>
                <c:pt idx="38">
                  <c:v>35.1</c:v>
                </c:pt>
                <c:pt idx="39">
                  <c:v>41.3</c:v>
                </c:pt>
                <c:pt idx="40">
                  <c:v>36.3</c:v>
                </c:pt>
                <c:pt idx="41">
                  <c:v>38.3</c:v>
                </c:pt>
                <c:pt idx="42">
                  <c:v>41.1</c:v>
                </c:pt>
                <c:pt idx="43">
                  <c:v>39.6</c:v>
                </c:pt>
                <c:pt idx="44">
                  <c:v>40.8</c:v>
                </c:pt>
                <c:pt idx="45">
                  <c:v>40.3</c:v>
                </c:pt>
                <c:pt idx="46">
                  <c:v>43.2</c:v>
                </c:pt>
                <c:pt idx="47">
                  <c:v>41</c:v>
                </c:pt>
                <c:pt idx="48">
                  <c:v>37.8</c:v>
                </c:pt>
                <c:pt idx="49">
                  <c:v>39.7</c:v>
                </c:pt>
                <c:pt idx="50">
                  <c:v>38.2</c:v>
                </c:pt>
                <c:pt idx="51">
                  <c:v>43.2</c:v>
                </c:pt>
                <c:pt idx="52">
                  <c:v>45.6</c:v>
                </c:pt>
                <c:pt idx="53">
                  <c:v>42.2</c:v>
                </c:pt>
                <c:pt idx="54">
                  <c:v>42.7</c:v>
                </c:pt>
                <c:pt idx="55">
                  <c:v>37.3</c:v>
                </c:pt>
                <c:pt idx="56">
                  <c:v>41.1</c:v>
                </c:pt>
                <c:pt idx="57">
                  <c:v>37.7</c:v>
                </c:pt>
                <c:pt idx="58">
                  <c:v>41.4</c:v>
                </c:pt>
                <c:pt idx="59">
                  <c:v>40.6</c:v>
                </c:pt>
                <c:pt idx="60">
                  <c:v>41.5</c:v>
                </c:pt>
                <c:pt idx="61">
                  <c:v>44.1</c:v>
                </c:pt>
                <c:pt idx="62">
                  <c:v>43.1</c:v>
                </c:pt>
                <c:pt idx="63">
                  <c:v>37.5</c:v>
                </c:pt>
                <c:pt idx="64">
                  <c:v>41.1</c:v>
                </c:pt>
                <c:pt idx="65">
                  <c:v>40.2</c:v>
                </c:pt>
                <c:pt idx="66">
                  <c:v>39.7</c:v>
                </c:pt>
                <c:pt idx="67">
                  <c:v>40.6</c:v>
                </c:pt>
                <c:pt idx="68">
                  <c:v>40.7</c:v>
                </c:pt>
                <c:pt idx="69">
                  <c:v>39</c:v>
                </c:pt>
                <c:pt idx="70">
                  <c:v>39.2</c:v>
                </c:pt>
                <c:pt idx="71">
                  <c:v>37.8</c:v>
                </c:pt>
                <c:pt idx="72">
                  <c:v>41.5</c:v>
                </c:pt>
              </c:numCache>
            </c:numRef>
          </c:xVal>
          <c:yVal>
            <c:numRef>
              <c:f>'Chart Data'!$D$2:$D$74</c:f>
              <c:numCache>
                <c:formatCode>General</c:formatCode>
                <c:ptCount val="73"/>
                <c:pt idx="0">
                  <c:v>181</c:v>
                </c:pt>
                <c:pt idx="1">
                  <c:v>190</c:v>
                </c:pt>
                <c:pt idx="2">
                  <c:v>195</c:v>
                </c:pt>
                <c:pt idx="3">
                  <c:v>191</c:v>
                </c:pt>
                <c:pt idx="4">
                  <c:v>198</c:v>
                </c:pt>
                <c:pt idx="5">
                  <c:v>197</c:v>
                </c:pt>
                <c:pt idx="6">
                  <c:v>194</c:v>
                </c:pt>
                <c:pt idx="7">
                  <c:v>180</c:v>
                </c:pt>
                <c:pt idx="8">
                  <c:v>185</c:v>
                </c:pt>
                <c:pt idx="9">
                  <c:v>180</c:v>
                </c:pt>
                <c:pt idx="10">
                  <c:v>183</c:v>
                </c:pt>
                <c:pt idx="11">
                  <c:v>180</c:v>
                </c:pt>
                <c:pt idx="12">
                  <c:v>178</c:v>
                </c:pt>
                <c:pt idx="13">
                  <c:v>184</c:v>
                </c:pt>
                <c:pt idx="14">
                  <c:v>196</c:v>
                </c:pt>
                <c:pt idx="15">
                  <c:v>190</c:v>
                </c:pt>
                <c:pt idx="16">
                  <c:v>184</c:v>
                </c:pt>
                <c:pt idx="17">
                  <c:v>195</c:v>
                </c:pt>
                <c:pt idx="18">
                  <c:v>196</c:v>
                </c:pt>
                <c:pt idx="19">
                  <c:v>190</c:v>
                </c:pt>
                <c:pt idx="20">
                  <c:v>182</c:v>
                </c:pt>
                <c:pt idx="21">
                  <c:v>191</c:v>
                </c:pt>
                <c:pt idx="22">
                  <c:v>188</c:v>
                </c:pt>
                <c:pt idx="23">
                  <c:v>200</c:v>
                </c:pt>
                <c:pt idx="24">
                  <c:v>191</c:v>
                </c:pt>
                <c:pt idx="25">
                  <c:v>193</c:v>
                </c:pt>
                <c:pt idx="26">
                  <c:v>194</c:v>
                </c:pt>
                <c:pt idx="27">
                  <c:v>195</c:v>
                </c:pt>
                <c:pt idx="28">
                  <c:v>192</c:v>
                </c:pt>
                <c:pt idx="29">
                  <c:v>192</c:v>
                </c:pt>
                <c:pt idx="30">
                  <c:v>188</c:v>
                </c:pt>
                <c:pt idx="31">
                  <c:v>198</c:v>
                </c:pt>
                <c:pt idx="32">
                  <c:v>190</c:v>
                </c:pt>
                <c:pt idx="33">
                  <c:v>197</c:v>
                </c:pt>
                <c:pt idx="34">
                  <c:v>195</c:v>
                </c:pt>
                <c:pt idx="35">
                  <c:v>184</c:v>
                </c:pt>
                <c:pt idx="36">
                  <c:v>195</c:v>
                </c:pt>
                <c:pt idx="37">
                  <c:v>196</c:v>
                </c:pt>
                <c:pt idx="38">
                  <c:v>193</c:v>
                </c:pt>
                <c:pt idx="39">
                  <c:v>194</c:v>
                </c:pt>
                <c:pt idx="40">
                  <c:v>190</c:v>
                </c:pt>
                <c:pt idx="41">
                  <c:v>189</c:v>
                </c:pt>
                <c:pt idx="42">
                  <c:v>205</c:v>
                </c:pt>
                <c:pt idx="43">
                  <c:v>186</c:v>
                </c:pt>
                <c:pt idx="44">
                  <c:v>208</c:v>
                </c:pt>
                <c:pt idx="45">
                  <c:v>196</c:v>
                </c:pt>
                <c:pt idx="46">
                  <c:v>192</c:v>
                </c:pt>
                <c:pt idx="47">
                  <c:v>203</c:v>
                </c:pt>
                <c:pt idx="48">
                  <c:v>190</c:v>
                </c:pt>
                <c:pt idx="49">
                  <c:v>184</c:v>
                </c:pt>
                <c:pt idx="50">
                  <c:v>190</c:v>
                </c:pt>
                <c:pt idx="51">
                  <c:v>197</c:v>
                </c:pt>
                <c:pt idx="52">
                  <c:v>191</c:v>
                </c:pt>
                <c:pt idx="53">
                  <c:v>197</c:v>
                </c:pt>
                <c:pt idx="54">
                  <c:v>196</c:v>
                </c:pt>
                <c:pt idx="55">
                  <c:v>199</c:v>
                </c:pt>
                <c:pt idx="56">
                  <c:v>189</c:v>
                </c:pt>
                <c:pt idx="57">
                  <c:v>198</c:v>
                </c:pt>
                <c:pt idx="58">
                  <c:v>202</c:v>
                </c:pt>
                <c:pt idx="59">
                  <c:v>199</c:v>
                </c:pt>
                <c:pt idx="60">
                  <c:v>195</c:v>
                </c:pt>
                <c:pt idx="61">
                  <c:v>210</c:v>
                </c:pt>
                <c:pt idx="62">
                  <c:v>197</c:v>
                </c:pt>
                <c:pt idx="63">
                  <c:v>199</c:v>
                </c:pt>
                <c:pt idx="64">
                  <c:v>190</c:v>
                </c:pt>
                <c:pt idx="65">
                  <c:v>200</c:v>
                </c:pt>
                <c:pt idx="66">
                  <c:v>193</c:v>
                </c:pt>
                <c:pt idx="67">
                  <c:v>187</c:v>
                </c:pt>
                <c:pt idx="68">
                  <c:v>190</c:v>
                </c:pt>
                <c:pt idx="69">
                  <c:v>185</c:v>
                </c:pt>
                <c:pt idx="70">
                  <c:v>190</c:v>
                </c:pt>
                <c:pt idx="71">
                  <c:v>193</c:v>
                </c:pt>
                <c:pt idx="72">
                  <c:v>201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15"/>
          <c:min val="17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majorUnit val="10"/>
      </c:valAx>
      <c:valAx>
        <c:axId val="48650112"/>
        <c:scaling>
          <c:orientation val="minMax"/>
          <c:max val="48"/>
          <c:min val="30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majorUnit val="3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A  鳍长分布（毫米）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雌</c:v>
          </c:tx>
          <c:spPr>
            <a:solidFill xmlns:a="http://schemas.openxmlformats.org/drawingml/2006/main">
              <a:srgbClr val="245B77"/>
            </a:solidFill>
            <a:ln xmlns:a="http://schemas.openxmlformats.org/drawingml/2006/main" w="23813">
              <a:solidFill>
                <a:srgbClr val="245B77"/>
              </a:solidFill>
            </a:ln>
          </c:spPr>
          <c:invertIfNegative val="0"/>
          <c:cat>
            <c:strRef>
              <c:f>'Chart Data'!$A$2:$A$10</c:f>
              <c:strCache>
                <c:ptCount val="9"/>
                <c:pt idx="0">
                  <c:v>170–175</c:v>
                </c:pt>
                <c:pt idx="1">
                  <c:v>175–180</c:v>
                </c:pt>
                <c:pt idx="2">
                  <c:v>180–185</c:v>
                </c:pt>
                <c:pt idx="3">
                  <c:v>185–190</c:v>
                </c:pt>
                <c:pt idx="4">
                  <c:v>190–195</c:v>
                </c:pt>
                <c:pt idx="5">
                  <c:v>195–200</c:v>
                </c:pt>
                <c:pt idx="6">
                  <c:v>200–205</c:v>
                </c:pt>
                <c:pt idx="7">
                  <c:v>205–210</c:v>
                </c:pt>
                <c:pt idx="8">
                  <c:v>210–215</c:v>
                </c:pt>
              </c:strCache>
            </c:strRef>
          </c:cat>
          <c:val>
            <c:numRef>
              <c:f>'Chart Data'!$B$2:$B$10</c:f>
              <c:numCache>
                <c:formatCode>General</c:formatCode>
                <c:ptCount val="9"/>
                <c:pt idx="0">
                  <c:v>2</c:v>
                </c:pt>
                <c:pt idx="1">
                  <c:v>3</c:v>
                </c:pt>
                <c:pt idx="2">
                  <c:v>11</c:v>
                </c:pt>
                <c:pt idx="3">
                  <c:v>27</c:v>
                </c:pt>
                <c:pt idx="4">
                  <c:v>21</c:v>
                </c:pt>
                <c:pt idx="5">
                  <c:v>8</c:v>
                </c:pt>
                <c:pt idx="6">
                  <c:v>1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1"/>
          <c:order val="1"/>
          <c:tx>
            <c:v>雄</c:v>
          </c:tx>
          <c:spPr>
            <a:solidFill xmlns:a="http://schemas.openxmlformats.org/drawingml/2006/main">
              <a:srgbClr val="2C6D68"/>
            </a:solidFill>
            <a:ln xmlns:a="http://schemas.openxmlformats.org/drawingml/2006/main" w="23813">
              <a:solidFill>
                <a:srgbClr val="2C6D68"/>
              </a:solidFill>
            </a:ln>
          </c:spPr>
          <c:invertIfNegative val="0"/>
          <c:cat>
            <c:strRef>
              <c:f>'Chart Data'!$C$2:$C$10</c:f>
              <c:strCache>
                <c:ptCount val="9"/>
                <c:pt idx="0">
                  <c:v>170–175</c:v>
                </c:pt>
                <c:pt idx="1">
                  <c:v>175–180</c:v>
                </c:pt>
                <c:pt idx="2">
                  <c:v>180–185</c:v>
                </c:pt>
                <c:pt idx="3">
                  <c:v>185–190</c:v>
                </c:pt>
                <c:pt idx="4">
                  <c:v>190–195</c:v>
                </c:pt>
                <c:pt idx="5">
                  <c:v>195–200</c:v>
                </c:pt>
                <c:pt idx="6">
                  <c:v>200–205</c:v>
                </c:pt>
                <c:pt idx="7">
                  <c:v>205–210</c:v>
                </c:pt>
                <c:pt idx="8">
                  <c:v>210–215</c:v>
                </c:pt>
              </c:strCache>
            </c:strRef>
          </c:cat>
          <c:val>
            <c:numRef>
              <c:f>'Chart Data'!$D$2:$D$10</c:f>
              <c:numCache>
                <c:formatCode>General</c:formatCode>
                <c:ptCount val="9"/>
                <c:pt idx="0">
                  <c:v>0</c:v>
                </c:pt>
                <c:pt idx="1">
                  <c:v>1</c:v>
                </c:pt>
                <c:pt idx="2">
                  <c:v>10</c:v>
                </c:pt>
                <c:pt idx="3">
                  <c:v>8</c:v>
                </c:pt>
                <c:pt idx="4">
                  <c:v>24</c:v>
                </c:pt>
                <c:pt idx="5">
                  <c:v>22</c:v>
                </c:pt>
                <c:pt idx="6">
                  <c:v>5</c:v>
                </c:pt>
                <c:pt idx="7">
                  <c:v>2</c:v>
                </c:pt>
                <c:pt idx="8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B  各年组均鳍长（毫米）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雌</c:v>
          </c:tx>
          <c:spPr>
            <a:solidFill xmlns:a="http://schemas.openxmlformats.org/drawingml/2006/main">
              <a:srgbClr val="245B77"/>
            </a:solidFill>
            <a:ln xmlns:a="http://schemas.openxmlformats.org/drawingml/2006/main" w="23813">
              <a:solidFill>
                <a:srgbClr val="245B77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245B77"/>
              </a:solidFill>
            </c:spPr>
          </c:marker>
          <c:cat>
            <c:numRef>
              <c:f>'Chart Data'!$A$2:$A$4</c:f>
              <c:numCache>
                <c:formatCode>General</c:formatCode>
                <c:ptCount val="3"/>
                <c:pt idx="0">
                  <c:v>2007</c:v>
                </c:pt>
                <c:pt idx="1">
                  <c:v>2008</c:v>
                </c:pt>
                <c:pt idx="2">
                  <c:v>2009</c:v>
                </c:pt>
              </c:numCache>
            </c:num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185.227272727</c:v>
                </c:pt>
                <c:pt idx="1">
                  <c:v>188.44</c:v>
                </c:pt>
                <c:pt idx="2">
                  <c:v>189.346153846</c:v>
                </c:pt>
              </c:numCache>
            </c:numRef>
          </c:val>
          <c:smooth val="0"/>
        </c:ser>
        <c:ser>
          <c:idx val="1"/>
          <c:order val="1"/>
          <c:tx>
            <c:v>雄</c:v>
          </c:tx>
          <c:spPr>
            <a:solidFill xmlns:a="http://schemas.openxmlformats.org/drawingml/2006/main">
              <a:srgbClr val="2C6D68"/>
            </a:solidFill>
            <a:ln xmlns:a="http://schemas.openxmlformats.org/drawingml/2006/main" w="23813">
              <a:solidFill>
                <a:srgbClr val="2C6D68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2C6D68"/>
              </a:solidFill>
            </c:spPr>
          </c:marker>
          <c:cat>
            <c:numRef>
              <c:f>'Chart Data'!$C$2:$C$4</c:f>
              <c:numCache>
                <c:formatCode>General</c:formatCode>
                <c:ptCount val="3"/>
                <c:pt idx="0">
                  <c:v>2007</c:v>
                </c:pt>
                <c:pt idx="1">
                  <c:v>2008</c:v>
                </c:pt>
                <c:pt idx="2">
                  <c:v>2009</c:v>
                </c:pt>
              </c:numCache>
            </c:num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188.181818182</c:v>
                </c:pt>
                <c:pt idx="1">
                  <c:v>193.64</c:v>
                </c:pt>
                <c:pt idx="2">
                  <c:v>194.807692308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200"/>
          <c:min val="18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84F68F-79E5-4279-96C3-973BD14B554F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286250" y="4929188"/>
            <a:ext cx="2000250" cy="1619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690C1E-568F-4CE2-99B1-564E15E90EF2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286250" y="4929188"/>
            <a:ext cx="2000250" cy="142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7F8685-F451-491F-B0AE-0EFC633FC432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286250" y="3595688"/>
            <a:ext cx="2000250" cy="1333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72DCA1-A4FD-467B-883A-090E23D4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  科研图表与技术路线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3BDEA0-8ACF-484B-B8A9-637D3CF90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科研图表与技术路线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F75F6D-3892-42E0-A1C3-924C43A74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2CF26A-C959-413E-9CDE-A071DB1DA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图需要对应一个读者能回答的问题，并保留作出判断所需的依据。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9DCC20-F522-4CD0-B8D0-857491A3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3524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图要回答什么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2F2CB0-7B8D-415B-BC04-CA71B33EE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90875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数据图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257E00-2EC0-497D-9811-77B8AC45E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343275"/>
            <a:ext cx="352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数值、分布、差异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6740A1-2FBE-4CB1-98B6-990F2F908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67250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技术路线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49ECD5-BEB8-4154-9C53-037D074B6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819650"/>
            <a:ext cx="352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步骤、依赖、判断条件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C133D5-AF60-490C-A6A1-7F57C5C4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143625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机制示意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2F271E-D1F1-4378-93A0-E24742BE9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352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解释假说、待验证关系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5C847F-D1F0-4B63-9645-597403D5C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数据、流程与假说的表达任务不同，来源与证据状态需随图保留。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68D684-3908-42E6-8619-29DBD6FAE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来源：UBC 2026，图形编码，pp.4/6/17；课程自编教学示例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652D3D-BDD6-409C-9344-C7FA41DDB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831766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8D2BDD-C973-4193-98E5-FF6249710C6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286250" y="4929188"/>
            <a:ext cx="2000250" cy="1619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6406BC-EC26-42B7-A41D-83B5C63441B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286250" y="4929188"/>
            <a:ext cx="2000250" cy="142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FF883A-2F05-411E-92EB-EE2F2574B4A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286250" y="3595688"/>
            <a:ext cx="2000250" cy="1333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33C0A8-731B-4C64-A98F-C9A47852B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  科研图表与技术路线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712254-3754-4757-B630-2C8FA53E8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研究问题与图型选择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79ADC8-2D1C-410D-A3AD-209D94C9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331C38-B76B-4114-9C9B-161B457E8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比较分布、观察变量关系、展示时序和说明工作步骤，各有适合的表达方式。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3490BA-BA38-4990-814B-320530C1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3524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读者需要比较什么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BAF211-CAF9-4A86-8B5D-C5FA71B4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90875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分布或变量关系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BF3ACC-6E43-4368-8459-FADA6E40F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343275"/>
            <a:ext cx="352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频数图、散点图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1B0189-2604-4C6F-B454-EC1F7B863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67250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年份或条件变化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80785F-673E-42A2-9E24-6BE94765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819650"/>
            <a:ext cx="352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有明确尺度的趋势图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54DEB6-456C-4D5B-BC81-3BAEB15E6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143625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研究步骤与依赖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EE2A9C-EE32-4E4B-863B-DB1538329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352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节点、连接与分支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9AA15A-172D-43C5-8D6B-16545AA81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选择依据是要比较什么、数据怎样组织，以及读者需要看清的关系。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307014-608C-4A96-A2AF-1EC129CE2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来源：UBC 2026，图形编码，pp.4/6/17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3941D0-3081-4DB4-AA90-A619AF80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247240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ED6684-2860-47FB-835C-A72AD54F5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  科研图表与技术路线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24485A-47D9-433F-808C-E0330092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均值图与分布图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FB2CC9-6D22-401F-8691-7A685B762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A4A175-F2FC-4668-B609-6C1119EE3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相同的两组记录，均值图给出中心位置，分布图补充重叠、跨度和频数。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24A853E0-C51B-49CD-BC9C-0B2C83C55217}"/>
              </a:ext>
            </a:extLst>
          </p:cNvPr>
          <p:cNvGraphicFramePr/>
          <p:nvPr/>
        </p:nvGraphicFramePr>
        <p:xfrm>
          <a:off xmlns:a="http://schemas.openxmlformats.org/drawingml/2006/main" x="762000" y="3238500"/>
          <a:ext xmlns:a="http://schemas.openxmlformats.org/drawingml/2006/main" cx="5715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c6a72464be245ad"/>
          </a:graphicData>
        </a:graphic>
      </p:graphicFrame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4CAF6EA9-512E-46E3-AFE6-B65553A18259}"/>
              </a:ext>
            </a:extLst>
          </p:cNvPr>
          <p:cNvGraphicFramePr/>
          <p:nvPr/>
        </p:nvGraphicFramePr>
        <p:xfrm>
          <a:off xmlns:a="http://schemas.openxmlformats.org/drawingml/2006/main" x="7524750" y="3238500"/>
          <a:ext xmlns:a="http://schemas.openxmlformats.org/drawingml/2006/main" cx="69532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2aff72ebb7a46e8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1BAB48-4479-403A-8377-F3F1CFE65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3900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均值：187.79 / 192.41 mm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7E96ED-6921-4BF9-898D-EB8B53FCC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7239000"/>
            <a:ext cx="695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同一批数据，补充组间重叠与跨度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D39B1E-0192-44A4-A298-583B410BE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公开观测二次分析。两图使用相同146条记录，图型改变不改变数据。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6FA779-0AEE-4E76-AE25-63DB176AC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来源：palmerpenguins公开数据，本课程重绘；UBC 2026，图形编码，pp.4/6/17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BF675A-E423-4F02-91C6-4E565349B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110910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38790C-D6FB-4011-9D05-EE00C6C35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  科研图表与技术路线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FFE1B0-F242-4F56-926F-1E0056412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纵轴范围与柱长比较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E12379-BEBE-44F6-85D1-7D008CFD2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E9D2AD-D00F-4BDB-9E8A-6D379BD1B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同样的均值，柱图从180开始时，两根柱子的高度比会显得更悬殊。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581A9E3E-9A8C-4BAB-B6A0-564494869B48}"/>
              </a:ext>
            </a:extLst>
          </p:cNvPr>
          <p:cNvGraphicFramePr/>
          <p:nvPr/>
        </p:nvGraphicFramePr>
        <p:xfrm>
          <a:off xmlns:a="http://schemas.openxmlformats.org/drawingml/2006/main" x="762000" y="3238500"/>
          <a:ext xmlns:a="http://schemas.openxmlformats.org/drawingml/2006/main" cx="6477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d650a6d55534896"/>
          </a:graphicData>
        </a:graphic>
      </p:graphicFrame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248566A2-4939-4710-8825-8A0F280EFC3E}"/>
              </a:ext>
            </a:extLst>
          </p:cNvPr>
          <p:cNvGraphicFramePr/>
          <p:nvPr/>
        </p:nvGraphicFramePr>
        <p:xfrm>
          <a:off xmlns:a="http://schemas.openxmlformats.org/drawingml/2006/main" x="8001000" y="3238500"/>
          <a:ext xmlns:a="http://schemas.openxmlformats.org/drawingml/2006/main" cx="6477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14a6d4e2108459c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363944-3667-4305-80BD-50F2205B8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86625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右图两根柱子的可见高度比，不能作为原始鳍长的比值。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0E4DFB-6ACA-40B6-8B22-92250D5E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两图数据完全相同，差值仍为4.62毫米。右图用于说明截断纵轴的影响。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3780FC-5DEB-47F1-AC2A-3179F232B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来源：palmerpenguins公开数据，本课程重绘；UBC课程可视化原则，p.4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6FC97-B594-46FF-8D16-E1FA87722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665663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3D6D7B-69DA-4E0B-8D5E-722FB4859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  科研图表与技术路线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F25CE9-CB3F-40FE-B771-AF3C3710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误差线的三种含义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4A6D5C-923C-4BAB-BBE8-7DC057121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10FF86-8B54-42F2-BDDD-22BBFEFD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同一组均值旁的线段，可能表示个体分散、均值标准误或均值区间。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17FD1D-1100-432D-AE04-E4CD3F17E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371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示例：雌性73条，均值187.79 mm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D80423-754A-4BB2-A557-8121ADB4C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712470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180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212CF5-183F-4007-BB08-12BCA7BB9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712470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185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758BC7-604A-42C5-94C2-A4079478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712470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190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6F4A01-4753-418A-B0E6-334298BE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712470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195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FCBAFE-7BC9-41EF-B927-5D24D7A9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712470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200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C5D246-7463-4D0E-992D-D25606284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均值 ± SD：个体分散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992AC6-2232-406B-B453-973CD4A8E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004" y="3810000"/>
            <a:ext cx="4263416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245B7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9E59C4-DD7D-42B0-9CC6-22AA6395C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7562" y="3752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D68"/>
          </a:solidFill>
          <a:ln xmlns:a="http://schemas.openxmlformats.org/drawingml/2006/main" w="9525">
            <a:solidFill>
              <a:srgbClr val="2C6D6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927F53-B34A-44CC-949A-F4252441C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143375"/>
            <a:ext cx="381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182.20—193.39 mm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A0145C-3240-4D3A-9B74-34684F920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均值 ± SE：均值波动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DD6131-0F05-42AF-8898-E5C7FC962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215" y="5000625"/>
            <a:ext cx="498995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245B7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76519C-DB0B-46F4-8B61-F90678C6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7562" y="49434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D68"/>
          </a:solidFill>
          <a:ln xmlns:a="http://schemas.openxmlformats.org/drawingml/2006/main" w="9525">
            <a:solidFill>
              <a:srgbClr val="2C6D6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33109F-3BBA-4E33-A1AE-5A698F8CE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34000"/>
            <a:ext cx="381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187.14—188.45 mm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5C9BE6-8033-406A-BCD9-229965348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0075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均值的重抽样区间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599164-988B-474D-8857-5CFA0D1D4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9329" y="6191250"/>
            <a:ext cx="965548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245B77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045528-694C-4F1D-A2DF-CAFCE2B0F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7562" y="6134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D68"/>
          </a:solidFill>
          <a:ln xmlns:a="http://schemas.openxmlformats.org/drawingml/2006/main" w="9525">
            <a:solidFill>
              <a:srgbClr val="2C6D6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552D71-B440-4102-A610-0B47DFB3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24625"/>
            <a:ext cx="381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186.52—189.05 mm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E91A4D-4C4E-4974-898D-42F6BFE6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各线段定义必须写入图注；区间依赖抽样假设，不能只写“误差线”。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4EBA0D-70B9-43F7-A19F-0F911BFA5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来源：palmerpenguins公开数据，本课程重绘；NIST统计手册 §1.3.5.2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8893B8-AB5D-43A4-9233-772199C0E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564712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E8D61D-A019-4832-ABBA-13DF5BD2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  科研图表与技术路线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E6F6AC-2BC7-439C-A114-F3FCFB5EF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可独立阅读的数据图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7C7153-3DD8-442C-9826-2C773CCDB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C890C8-E52E-42D3-8B08-349ECFAA7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图题、坐标与单位、分组图例、样本范围和来源，共同限定读者能怎样解释图。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3F365D97-DB98-41EC-8FFC-2B4A016FF373}"/>
              </a:ext>
            </a:extLst>
          </p:cNvPr>
          <p:cNvGraphicFramePr/>
          <p:nvPr/>
        </p:nvGraphicFramePr>
        <p:xfrm>
          <a:off xmlns:a="http://schemas.openxmlformats.org/drawingml/2006/main" x="1619250" y="3143250"/>
          <a:ext xmlns:a="http://schemas.openxmlformats.org/drawingml/2006/main" cx="11525250" cy="4048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967794119a7463a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F2AE53-2FAC-4B25-BAA2-A11200DBF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7219950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喙长（mm）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D647C0-4F3B-4879-A274-BF18AC55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鳍长（mm）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395FBD-F4AD-43A5-9B67-C080F88C2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Adelie完整记录146条。每点一条观测；未作因果解释或绘制拟合线。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79AEDE-6724-4B3A-811A-FAB19010C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来源：palmerpenguins公开数据，本课程重绘；UBC 2026，图形编码，pp.4/6/17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CC3203-0303-4104-865D-27AC9518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094768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57D155-EF8A-41F6-8C55-E04ADDF17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  科研图表与技术路线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90255B-4CF3-4EF8-81D7-DBB8CFCE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图注中的对象、符号与方法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0215AB-D6E7-47C9-B4D7-E3550E5C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C4F663-BA9B-45C6-966D-AF8859C09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图注应让读者脱离正文，仍能认出研究对象、样本范围、符号含义和计算方式。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3B72CC-928A-4285-80CB-EC80DB5E5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图1　Adelie企鹅喙长与鳍长的观测关系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6A2BE5-CD8D-4562-ABBA-B7B9C9D1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1371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2007—2009年公开记录中，保留性别、喙长与鳍长均完整的146条Adelie观测，雌雄各73条。每点表示一条观测，蓝色圆点表示雌性，绿色方点表示雄性。两轴单位均为毫米，图中未绘制拟合线。数据来自palmerpenguins公开简化表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336D01-247F-4370-843C-0E7ACDB1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2DA525-9D37-415B-93BE-9C8534687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10375"/>
            <a:ext cx="400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对象与样本范围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0A74F6-6271-4848-A0D2-B795C6F6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810375"/>
            <a:ext cx="400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点、颜色与单位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9044EB-F7F6-463D-B986-2D8728B1E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810375"/>
            <a:ext cx="400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计算方式与来源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F956C4-163A-4A77-BA24-EABBD5AD5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图注示例中的数字、符号及来源均与配套图一致。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A2F803-03F5-431B-B7AE-3912DE1B3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来源：PLOS One，图注与图像要求；palmerpenguins公开数据，本课程重绘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C18C7C-F83C-4860-8679-CB2EAE372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1351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780655-E2AB-4730-8670-BAB0F0891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  科研图表与技术路线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32DDEB-8D68-4183-8DCF-8D0AC32CE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多面板图的阅读顺序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60CDF2-6013-4CDB-A279-1A8606146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B2FBFD-C112-4381-BE7E-1B1A51BC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一张组合图可以用A呈现分布、用B检查年份组成，两个面板分别回答一个问题。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B63DC6C2-FBB7-4A6F-BC61-FCE2ADCBCA6A}"/>
              </a:ext>
            </a:extLst>
          </p:cNvPr>
          <p:cNvGraphicFramePr/>
          <p:nvPr/>
        </p:nvGraphicFramePr>
        <p:xfrm>
          <a:off xmlns:a="http://schemas.openxmlformats.org/drawingml/2006/main" x="762000" y="3238500"/>
          <a:ext xmlns:a="http://schemas.openxmlformats.org/drawingml/2006/main" cx="6477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9190f2b669a4ff5"/>
          </a:graphicData>
        </a:graphic>
      </p:graphicFrame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51054A0E-0EE3-4ECE-B083-BC10C4B0EAD8}"/>
              </a:ext>
            </a:extLst>
          </p:cNvPr>
          <p:cNvGraphicFramePr/>
          <p:nvPr/>
        </p:nvGraphicFramePr>
        <p:xfrm>
          <a:off xmlns:a="http://schemas.openxmlformats.org/drawingml/2006/main" x="8001000" y="3238500"/>
          <a:ext xmlns:a="http://schemas.openxmlformats.org/drawingml/2006/main" cx="6477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839ed34155a4a50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3D2259-EE12-4648-82F3-6D7A876C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3900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纵轴：记录数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51821C-EFAF-4A82-B19A-28160C423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7239000"/>
            <a:ext cx="647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纵轴：毫米；每年每组n为22、25、26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764594-C198-4D0B-8D35-AEC6DCBD4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A：鳍长分布；B：各年组均值。面板单位不同，分组颜色一致。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DF1B06-C445-4C95-8C9C-0398DEB01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来源：palmerpenguins公开数据，本课程重绘；PLOS One，图注与图像要求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1C34D7-494F-449B-B514-A0D14C1DE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305092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549987-6B64-440F-BBDD-28C08EAA4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  科研图表与技术路线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163EC4-6774-410F-BB5C-ED655C3F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颜色的类别与数量含义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F25136-EE8E-4964-92AF-EF4D4D74F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6617CA-0D61-457D-A874-EE7701B2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类别可用不同色相区分，数值高低需要有顺序的色阶，正负差异需要明确中心。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2AACE4-53F0-4858-A337-C296B5DD8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5334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类别：甲、乙、丙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3E14AB-3579-4C63-8281-FE6092C86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86125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B77"/>
          </a:solidFill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E1CCFD-C950-4859-BD7B-961737276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6717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80AFFD-009F-455B-A2D6-D8020B46B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86125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D68"/>
          </a:solidFill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8C6763-E303-49FC-847C-84C74692C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6717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5C23B1-CD50-4172-B483-A1AAAAEF0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3286125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3F3C"/>
          </a:solidFill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285267-F409-4C63-9874-0B1C058F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06717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6D27BA-EACB-41C6-B12F-EC5055041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5334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顺序：低、中、高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C8C4BC-BBE1-48B2-ABB1-6BDACC2D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14875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0"/>
          </a:solidFill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9B584A-AF4D-4537-8CDC-604C7693E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49592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低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DE402A-BD58-468A-B584-C962A8371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714875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CC0"/>
          </a:solidFill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A44270-FA95-4BC4-B0B0-0912AE03C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49592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AB5A7C-F645-4F18-9038-B55740E72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714875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B77"/>
          </a:solidFill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8C6083-5AE5-487B-BA95-A3812D4D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549592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48B775-C78C-4E04-950B-45A75110A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0"/>
            <a:ext cx="5334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方向：负、零、正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E06D19-B7DA-4942-B19A-471A8E6D8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143625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B77"/>
          </a:solidFill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285928-F2F8-45E1-852B-2A3BE286B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92467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−1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11BA73-809C-4EE3-8600-E3180060F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143625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9B424A-1B56-46E5-A955-44F41788A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92467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E70ADA-0B94-4D34-A666-EAB4E0AFC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6143625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3F3C"/>
          </a:solidFill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07B904-01F9-4CDB-B09C-E11CE03C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692467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+1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4ECB83-C2EC-496B-8C20-27A1A5A8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色块与甲乙丙、自设正负数均为教学示意，不是研究结果。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3E6192-98C0-4748-B815-299806C5F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来源：UBC课程颜色课件，pp.7/21；课程自编教学示例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436020-5F6F-4CEF-92B0-F280639B4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209199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3230D9-98C7-4CB5-A004-EDC26C951A93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3338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56E18A-F6F5-4D5A-B2ED-9BC20B819C30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3338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FBAFDE-349A-4869-B05A-AD223188D02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3338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D6453D-D545-47C5-9E89-B74063601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  科研图表与技术路线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15B94C-3916-4286-B8BB-D5F3581D1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AI协助绘图的具体输入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F7F994-5BB1-4799-B048-01C2DBBD8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3CBECF-77DF-4ABF-A6A4-5F7DD0BE4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提供数据、字段含义、问题和限制后，要求AI给出可运行脚本、图和图注。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49D0DA-FF7B-488C-8998-B388F01A7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CSV与字段说明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BEAF5F-F70C-4562-93DA-7973533FE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052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绘图要求与代码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8886D7-C141-46A4-B6B4-0F56A655F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052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实际图与图注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6F603A-F53D-4EAF-9C08-6A95C445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9052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源数据复核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43A99A-65E3-4D6D-984C-3F7E09E63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对象、单位与缺失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EAB3AD-1405-4851-AA2B-A5381A594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2387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图型、尺度和限制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A7D223-819C-4242-8296-64215D94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2387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保留可编辑版本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2601E3-CDF0-482D-9BD8-02BE64F11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2387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点数、数值和标签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FCF17B-DB9B-4A6E-A3B6-8B4733559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627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4B00BC-45FA-4DCA-B02E-4F17E74B1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2470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提示示例：保留全部观测，不连线、不加拟合，输出图注和数据来源。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9CEA9A-9252-4B33-B9A5-8A0D2D86D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本地原生图已生成；AI写出绘图建议与实际运行结果分别核对。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A17B7D-F73E-4C2E-8472-BAF3C57C4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来源：课程自编教学示例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408590-94BD-4FC1-829A-6B74FB3D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561346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66125F-DC4F-4AEB-B968-6DA6EEE6C61E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12858750" y="5715000"/>
            <a:ext cx="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2754DA-5A25-4B93-B92D-1D5DE97C3ADC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9620250" y="5191125"/>
            <a:ext cx="1619250" cy="2143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92F675-5A84-4301-B91E-688E5592B0AA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620250" y="4833938"/>
            <a:ext cx="1619250" cy="3571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0AFB56-3C69-4A86-A50E-2A84EC5F4405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7715250" y="6715125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5FBCFA-7409-4A72-8166-4E38A2B900C5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7715250" y="4143375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D048AB-E9A6-4E39-B252-5724A71D509D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095750" y="5167313"/>
            <a:ext cx="1714500" cy="1143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660B64-97CD-4FDF-918E-27CC59E12250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4095750" y="3738563"/>
            <a:ext cx="1714500" cy="1428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FFB8F6-768D-4380-9D0E-588529468F1E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2428875" y="4048125"/>
            <a:ext cx="0" cy="714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90B11A-E2E1-4C80-9C6A-2BD35A236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  科研图表与技术路线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ACC22E-CA5F-41FD-AFC6-CF0E1C7F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拟议研究的技术路线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987EAF-9324-44F0-89EA-C1C722CF1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025D80-8D56-4F07-A117-05440640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以“分步提示能否改善独立解题”为例，把材料准备、过程记录与结果测量分开安排。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612669-6B8D-4D1A-B9EB-A2647C3B8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3333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题目与评分规则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401753-6C75-48ED-8187-D2FEC74D1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3333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预试与材料核对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D5C509-014C-4468-8D29-0F544AB7B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33750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分步提示条件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EC7D45-B723-42E2-B5A5-D451D334D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905500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完整解答条件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4B6279-88BC-4710-8AD1-ED22B6191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29125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记录作答过程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749F2F-7F84-462F-A34C-DE460EC58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7000875"/>
            <a:ext cx="3810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记录作答过程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5AC7E1-FD9C-43DB-BB6A-DABFB08A8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667250"/>
            <a:ext cx="3238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统一无AI新题测验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B22262-71FB-4A0D-91A1-5B9127105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762750"/>
            <a:ext cx="3238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按预定方案比较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A89659-528A-4557-B6CA-26957053C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81750"/>
            <a:ext cx="4000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材料通过预试核对后，</a:t>
            </a:r>
          </a:p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再按预定分配规则实施。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606841-32EC-4210-8E30-086028FC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教学方案，尚未实施。分配单位、样本依据、授权与评分规则均需另行确认。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5D34C5-DF9C-4101-A543-0FC324EC2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来源：UBC课程节点关系，p.2；课程自编教学示例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95E293-9B67-414C-9BB8-E123029B0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7661162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587802-E409-4383-82E2-4350908EEBF0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001250" y="4857750"/>
            <a:ext cx="1428750" cy="17859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A8BEBF-F96A-4609-A146-453841F2AF1B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10001250" y="3690938"/>
            <a:ext cx="1428750" cy="11668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4E0236-A56A-424D-A0FC-506E789307BC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476750" y="4857750"/>
            <a:ext cx="1714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DFB228-6131-45E0-A69F-9C216CBD3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  科研图表与技术路线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46B287-C89A-42E0-BCCA-BEA6451A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节点、箭头与判断条件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618DA3-045E-419C-955F-46D5E839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605086-D886-4665-83A8-2A26615B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每个节点写清处理或产物，箭头写明传递什么，判断分支给出可检查的条件。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FE57B7-E633-4325-B2FC-98BDA0FF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3714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预试与评分核对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0830FC-529B-4971-B5C2-F3CE551DF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81500"/>
            <a:ext cx="3810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达到预定标准？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40FAED-BA0B-4C07-AB07-C251CDB6A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3238500"/>
            <a:ext cx="3048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进入正式实施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557118-2AC1-4FAF-AB0B-3823FAB6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191250"/>
            <a:ext cx="3048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9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修订后重新核对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559B2F-8BEE-4B5C-BBDA-7F6670704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333750"/>
            <a:ext cx="95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达到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0A0F85-6B3B-4BC0-9AD7-F5E7152AA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381750"/>
            <a:ext cx="114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未达到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106EFE-25EF-4D96-A153-3824D116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24625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标准需在方案中预先写明，</a:t>
            </a:r>
          </a:p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修订保留版本和原因。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2FC73B-224F-449D-82E0-FBDBF9B91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判断标准待方案明确；图示不表示已经通过预试或研究审核。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CAAF72-73BD-49F4-BA84-60BA2A0CE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来源：UBC课程节点关系，p.2；课程自编教学示例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CE0E95-4507-4086-9254-6F6838BCC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974265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C81166-AB94-407B-BEF7-6A97EC63CB73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10001250" y="4905375"/>
            <a:ext cx="1524000" cy="1738313"/>
          </a:xfrm>
          <a:prstGeom xmlns:a="http://schemas.openxmlformats.org/drawingml/2006/main" prst="bentConnector3">
            <a:avLst>
              <a:gd name="adj1" fmla="val 85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4A2C1A-4907-44ED-A849-DDE222D2005B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001250" y="3690938"/>
            <a:ext cx="1524000" cy="1214438"/>
          </a:xfrm>
          <a:prstGeom xmlns:a="http://schemas.openxmlformats.org/drawingml/2006/main" prst="bentConnector3">
            <a:avLst>
              <a:gd name="adj1" fmla="val 85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3CDAF9-2260-4AFB-AF8B-BD0D66FC633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095750" y="4905375"/>
            <a:ext cx="2095500" cy="1738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05B771-157B-49CE-8663-58E375C6A45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095750" y="3690938"/>
            <a:ext cx="2095500" cy="12144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8C19EB-97A7-42A7-B609-3EFB94D32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  科研图表与技术路线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EFC270-EE86-4179-8D87-8D644A96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并行研究任务与汇合依据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48D63C-3057-401F-8FE1-7F5337410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9F1808-96DE-470D-ADEB-D0AB2D721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并行分支要有各自输入和输出，汇合时说明要对照哪些证据。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E741CC-25CF-4562-8151-CFF79E51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3333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研究问题与假说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66172C-4B75-407A-AA6C-423FED279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38500"/>
            <a:ext cx="3810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作答过程记录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028320-EB93-40E7-B2AF-6798158C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191250"/>
            <a:ext cx="3810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统一新题测验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A8CE06-5D63-4BF0-9CF1-6A1D8DA7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4429125"/>
            <a:ext cx="2952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对照证据并解释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66C2BA-4906-4B66-96BE-F612FC1F8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29125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形成可核查的编码记录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B781B1-7E10-43C3-AA35-C1B870FB0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728662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形成可复核的评分结果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6AFEC5-52C4-4085-AA37-7FF78AEC2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教学示意。两条证据路径可能一致，也可能相互矛盾，需如实解释。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49828A-464A-47EC-8E39-3247DDEA7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来源：UBC课程节点关系，p.2；课程自编教学示例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402EA5-A9A3-41D7-B5F7-AA161C48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05827949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88EE63-493F-46C6-A529-E4C01D3AF805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12192000" y="5267325"/>
            <a:ext cx="0" cy="638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prstDash val="dash"/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41D552-5CF7-40BF-9AC1-C1AE54CC46DD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12192000" y="3886200"/>
            <a:ext cx="0" cy="638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prstDash val="dash"/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8A7C2E-2829-45F5-839A-F854DE29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  科研图表与技术路线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61A977-E01E-4F6C-B800-D2A34700F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机制示意的完整任务与假说范围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18FC2D-536E-44AE-BD87-131B2EC88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589BFD-828B-4197-A12A-2F2830D7A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对象、布局和箭头含义写入任务，图中保留“待验证”的状态。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E9BFAC-9FBD-473F-A2AD-170D70A2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33675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关系核对图（可编辑）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2E1062-4CBD-4791-B411-C2929B7B8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GPT Image任务示例（未执行）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DD6E17-67DA-482E-921B-6EE52ACCD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75247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请绘制一张供高校教师讲解的概念示意图，主题是“分步提示可能怎样影响独立解题”。白底，蓝绿配色，三个区域依次表示分步提示、作答中的尝试与修正、无AI的新题测验。区域间只用两条虚线箭头，图例写明“待验证关系”。不要添加成绩、提升百分比、实验照片或文献。图注写“教学假说示意，尚未取得机制证据”。中文标签须清楚可读，保留足够空间供后期编辑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A63766-F878-48A7-AF43-BD3A0D0BC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143250"/>
            <a:ext cx="457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分步提示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051299-1E71-4A9D-8AAD-C53946652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524375"/>
            <a:ext cx="457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尝试与修正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F3C4E5-D977-46D7-8819-6F50B15AE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05500"/>
            <a:ext cx="457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无AI新题测验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A3106F-2FA9-414A-83C6-A72F67FBE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7048500"/>
            <a:ext cx="457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虚线：待验证关系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B246EE-2EE4-4C00-9609-EA53A6D6F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其他解释仍需核对：既有水平、练习时间、题目难度和实施差异。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F28F5B-180D-46C5-8B59-791C5624F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任务示例，未执行。原稿DALL·E 2/3 API已于2026-05-12下线。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866AAA-8F12-48A7-B6C3-375CB49C8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来源：UBC课程节点关系，p.2；OpenAI图像指南，任务与编辑；OpenAI下线记录，2026-05-12；课程自编教学示例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C0ED82-9CE6-4626-835A-1609EA321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84767095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D98E72-0AA3-445B-9FCD-296CEA6FF77C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3381375" y="605790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7C3E28-CEB6-4E53-BB3C-0E63BB4D3715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3381375" y="497205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EFF6C1-0FC5-4A0E-AEAE-178E920BA9FF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3381375" y="388620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E9A559-4FBC-4C39-A731-74504CD85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  科研图表与技术路线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3484CB-3530-4A56-A4A0-F1A0AE7BC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数据图与路线图的编辑源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C00D60-9113-4E3B-87BA-4E6FFC978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B1760D-E06F-4005-B1E9-9BF3BEAAE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保留数据、脚本和原生图表，路线另存节点与连接，后续改稿才能追溯修改。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58A3B3-7AD2-46DB-9DBD-CAFFD542C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523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原始数据与计算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546146-5584-47E2-BD32-8B5D426F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19450"/>
            <a:ext cx="666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CSV、脚本、计算结果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E92A02-D54D-4F07-9E0A-041269671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523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原生图表与图注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7DC329-7229-4A2D-9174-FDB70ED63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05300"/>
            <a:ext cx="666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PPT对象与嵌入工作簿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9370EB-C37A-4CCA-B895-2B087AB82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14950"/>
            <a:ext cx="523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路线节点与连接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0BF2DF-49CF-4BB8-A727-01D3250ED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391150"/>
            <a:ext cx="666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draw.io与route.json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C329CD-845A-4A3A-95F9-B62B45A5D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00800"/>
            <a:ext cx="523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PDF / SVG / PNG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6EED65-7AAB-43E0-95B4-C0A55D7CB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477000"/>
            <a:ext cx="666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预览、排版与矢量导出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263372-5147-4E91-9CF7-F9DAA0C07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配套文件是可编辑教学成果；未声称已经通过特定期刊的投稿验收。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EF877A-73F6-456C-AA42-383ADF0EC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来源：PLOS One，图注与图像要求；课程自编教学示例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D2B966-8AEF-42AB-9EF2-25E9E43E4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08525648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773EED-FBC3-486C-89DE-C0C49139B981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12192000" y="5429250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A86832-DA58-4AAE-9CDD-94476A0394C1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12192000" y="4000500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324DA4-1FAD-4B61-A764-55A0A6613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  科研图表与技术路线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ACEE0C-1EA1-4F11-9220-0BED7C06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Midjourney提示与示意图复核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0FC509-972E-4E96-8E04-BDB6AF56A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CCD700-D4C6-420F-A463-26FD3671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图像工具先接收清楚的画面描述，教师再逐项检查对象、标签和关系。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16EB70-11E7-484B-8B80-A47F0D1BA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790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可复制的画面描述（未执行）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5C9BF0-820A-4BF3-B6F7-E1BA548D6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7905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Flat academic concept illustration, three simple panels left to right: a worksheet with stepped hints, a student's solution revisions, a fresh problem sheet. Thin dashed arrows between adjacent panels, white background, muted blue and green, ample empty space for labels, landscape composition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--ar 16:9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C20B3F-32B1-431C-A4F0-BA0AB9AD0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0"/>
            <a:ext cx="7905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中文含义：分步提示题单、作答修订、新题试卷，依次排列，以虚线连接。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BCEB3E-2FA1-4B4C-82AF-166C1981B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790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--ar 16:9只规定宽高比；中文标签、图注和编辑源另行核对。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A1E94A-5BB3-417E-8837-8DB348DBB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38500"/>
            <a:ext cx="457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检查对象与箭头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421EFC-EDCF-4244-9219-EF58E75D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667250"/>
            <a:ext cx="457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核对文字与符号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D7A677-B426-4B64-B655-875B7DE5F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096000"/>
            <a:ext cx="4572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保留可编辑定稿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99AFCE-5505-4140-B1FD-54116F388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7239000"/>
            <a:ext cx="457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删去虚构成绩，标明假说范围。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B33C20-FFCD-476D-AC0E-16979E97D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Midjourney提示示例，未执行；Nano Banana未接入。右侧为人工复核流程。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803E16-943C-4E1F-A948-BDD986FA5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来源：Midjourney提示与宽高比文档；OpenAI图像指南，任务与编辑；课程自编教学示例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B56EA8-3F2D-45DE-9924-09709C552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8523111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2026-10-19T02:30:14.4080000Z</dcterms:created>
  <dcterms:modified xsi:type="dcterms:W3CDTF">2026-10-19T02:30:14.4080000Z</dcterms:modified>
</coreProperties>
</file>