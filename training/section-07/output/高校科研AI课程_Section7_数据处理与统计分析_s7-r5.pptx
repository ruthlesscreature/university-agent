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slides/charts/chart1.xml" ContentType="application/vnd.openxmlformats-officedocument.drawingml.chart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slides/charts/chart2.xml" ContentType="application/vnd.openxmlformats-officedocument.drawingml.chart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slides/charts/chart3.xml" ContentType="application/vnd.openxmlformats-officedocument.drawingml.chart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slides/charts/chart4.xml" ContentType="application/vnd.openxmlformats-officedocument.drawingml.chart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slides/charts/chart5.xml" ContentType="application/vnd.openxmlformats-officedocument.drawingml.chart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slides/charts/chart6.xml" ContentType="application/vnd.openxmlformats-officedocument.drawingml.chart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61c39a5ddd944e3" /><Relationship Type="http://schemas.openxmlformats.org/officeDocument/2006/relationships/extended-properties" Target="/docProps/app.xml" Id="Rd9ce415d9a4c44f1" /><Relationship Type="http://schemas.openxmlformats.org/officeDocument/2006/relationships/officeDocument" Target="/ppt/presentation.xml" Id="Ra81801fe1c9c4e4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761ef85aed642a6"/>
  </p:sldMasterIdLst>
  <p:notesMasterIdLst>
    <p:notesMasterId xmlns:r="http://schemas.openxmlformats.org/officeDocument/2006/relationships" r:id="R7001cd1a37a94069"/>
  </p:notesMasterIdLst>
  <p:sldIdLst>
    <p:sldId xmlns:r="http://schemas.openxmlformats.org/officeDocument/2006/relationships" id="256" r:id="R4f023c855c55420b"/>
    <p:sldId xmlns:r="http://schemas.openxmlformats.org/officeDocument/2006/relationships" id="257" r:id="R6cc4df938d2b4439"/>
    <p:sldId xmlns:r="http://schemas.openxmlformats.org/officeDocument/2006/relationships" id="258" r:id="Rdca2b92d767a443a"/>
    <p:sldId xmlns:r="http://schemas.openxmlformats.org/officeDocument/2006/relationships" id="259" r:id="R696f140cdf5c40cc"/>
    <p:sldId xmlns:r="http://schemas.openxmlformats.org/officeDocument/2006/relationships" id="260" r:id="R96d753dc06c2493d"/>
    <p:sldId xmlns:r="http://schemas.openxmlformats.org/officeDocument/2006/relationships" id="261" r:id="R5c527d8728bb49fa"/>
    <p:sldId xmlns:r="http://schemas.openxmlformats.org/officeDocument/2006/relationships" id="262" r:id="R4abbe1f78b914d0f"/>
    <p:sldId xmlns:r="http://schemas.openxmlformats.org/officeDocument/2006/relationships" id="263" r:id="Re40d60a62671415d"/>
    <p:sldId xmlns:r="http://schemas.openxmlformats.org/officeDocument/2006/relationships" id="264" r:id="R83f730cbc34345b6"/>
    <p:sldId xmlns:r="http://schemas.openxmlformats.org/officeDocument/2006/relationships" id="265" r:id="R5eda0a7bc14b4421"/>
    <p:sldId xmlns:r="http://schemas.openxmlformats.org/officeDocument/2006/relationships" id="266" r:id="Re720cb4017e64b0a"/>
    <p:sldId xmlns:r="http://schemas.openxmlformats.org/officeDocument/2006/relationships" id="267" r:id="R4b113037721c431b"/>
    <p:sldId xmlns:r="http://schemas.openxmlformats.org/officeDocument/2006/relationships" id="268" r:id="Rbbda55a132f5480e"/>
    <p:sldId xmlns:r="http://schemas.openxmlformats.org/officeDocument/2006/relationships" id="269" r:id="Rf6a95e51316b42e2"/>
    <p:sldId xmlns:r="http://schemas.openxmlformats.org/officeDocument/2006/relationships" id="270" r:id="R5fd5a061516546d7"/>
    <p:sldId xmlns:r="http://schemas.openxmlformats.org/officeDocument/2006/relationships" id="271" r:id="R2093f1926a73498d"/>
    <p:sldId xmlns:r="http://schemas.openxmlformats.org/officeDocument/2006/relationships" id="272" r:id="Rc49684592f274850"/>
    <p:sldId xmlns:r="http://schemas.openxmlformats.org/officeDocument/2006/relationships" id="273" r:id="R6c217819a84a4636"/>
    <p:sldId xmlns:r="http://schemas.openxmlformats.org/officeDocument/2006/relationships" id="274" r:id="R8361414dc6a74411"/>
    <p:sldId xmlns:r="http://schemas.openxmlformats.org/officeDocument/2006/relationships" id="275" r:id="R45369343ef4b4518"/>
    <p:sldId xmlns:r="http://schemas.openxmlformats.org/officeDocument/2006/relationships" id="276" r:id="R05a183d6777b4c49"/>
    <p:sldId xmlns:r="http://schemas.openxmlformats.org/officeDocument/2006/relationships" id="277" r:id="Raa91dcb204b94792"/>
  </p:sldIdLst>
  <p:sldSz cx="15240000" cy="8572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80ee0d8b5b5454d" /><Relationship Type="http://schemas.openxmlformats.org/officeDocument/2006/relationships/slideMaster" Target="/ppt/slideMasters/slideMaster1.xml" Id="Re761ef85aed642a6" /><Relationship Type="http://schemas.openxmlformats.org/officeDocument/2006/relationships/notesMaster" Target="/ppt/notesMasters/notesMaster1.xml" Id="R7001cd1a37a94069" /><Relationship Type="http://schemas.openxmlformats.org/officeDocument/2006/relationships/presProps" Target="/ppt/presProps.xml" Id="R693ff7e89aff4f8e" /><Relationship Type="http://schemas.openxmlformats.org/officeDocument/2006/relationships/tableStyles" Target="/ppt/tableStyles.xml" Id="R409e5cd751d04c88" /><Relationship Type="http://schemas.openxmlformats.org/officeDocument/2006/relationships/slide" Target="/ppt/slides/slide1.xml" Id="R4f023c855c55420b" /><Relationship Type="http://schemas.openxmlformats.org/officeDocument/2006/relationships/slide" Target="/ppt/slides/slide2.xml" Id="R6cc4df938d2b4439" /><Relationship Type="http://schemas.openxmlformats.org/officeDocument/2006/relationships/slide" Target="/ppt/slides/slide3.xml" Id="Rdca2b92d767a443a" /><Relationship Type="http://schemas.openxmlformats.org/officeDocument/2006/relationships/slide" Target="/ppt/slides/slide4.xml" Id="R696f140cdf5c40cc" /><Relationship Type="http://schemas.openxmlformats.org/officeDocument/2006/relationships/slide" Target="/ppt/slides/slide5.xml" Id="R96d753dc06c2493d" /><Relationship Type="http://schemas.openxmlformats.org/officeDocument/2006/relationships/slide" Target="/ppt/slides/slide6.xml" Id="R5c527d8728bb49fa" /><Relationship Type="http://schemas.openxmlformats.org/officeDocument/2006/relationships/slide" Target="/ppt/slides/slide7.xml" Id="R4abbe1f78b914d0f" /><Relationship Type="http://schemas.openxmlformats.org/officeDocument/2006/relationships/slide" Target="/ppt/slides/slide8.xml" Id="Re40d60a62671415d" /><Relationship Type="http://schemas.openxmlformats.org/officeDocument/2006/relationships/slide" Target="/ppt/slides/slide9.xml" Id="R83f730cbc34345b6" /><Relationship Type="http://schemas.openxmlformats.org/officeDocument/2006/relationships/slide" Target="/ppt/slides/slide10.xml" Id="R5eda0a7bc14b4421" /><Relationship Type="http://schemas.openxmlformats.org/officeDocument/2006/relationships/slide" Target="/ppt/slides/slide11.xml" Id="Re720cb4017e64b0a" /><Relationship Type="http://schemas.openxmlformats.org/officeDocument/2006/relationships/slide" Target="/ppt/slides/slide12.xml" Id="R4b113037721c431b" /><Relationship Type="http://schemas.openxmlformats.org/officeDocument/2006/relationships/slide" Target="/ppt/slides/slide13.xml" Id="Rbbda55a132f5480e" /><Relationship Type="http://schemas.openxmlformats.org/officeDocument/2006/relationships/slide" Target="/ppt/slides/slide14.xml" Id="Rf6a95e51316b42e2" /><Relationship Type="http://schemas.openxmlformats.org/officeDocument/2006/relationships/slide" Target="/ppt/slides/slide15.xml" Id="R5fd5a061516546d7" /><Relationship Type="http://schemas.openxmlformats.org/officeDocument/2006/relationships/slide" Target="/ppt/slides/slide16.xml" Id="R2093f1926a73498d" /><Relationship Type="http://schemas.openxmlformats.org/officeDocument/2006/relationships/slide" Target="/ppt/slides/slide17.xml" Id="Rc49684592f274850" /><Relationship Type="http://schemas.openxmlformats.org/officeDocument/2006/relationships/slide" Target="/ppt/slides/slide18.xml" Id="R6c217819a84a4636" /><Relationship Type="http://schemas.openxmlformats.org/officeDocument/2006/relationships/slide" Target="/ppt/slides/slide19.xml" Id="R8361414dc6a74411" /><Relationship Type="http://schemas.openxmlformats.org/officeDocument/2006/relationships/slide" Target="/ppt/slides/slide20.xml" Id="R45369343ef4b4518" /><Relationship Type="http://schemas.openxmlformats.org/officeDocument/2006/relationships/slide" Target="/ppt/slides/slide21.xml" Id="R05a183d6777b4c49" /><Relationship Type="http://schemas.openxmlformats.org/officeDocument/2006/relationships/slide" Target="/ppt/slides/slide22.xml" Id="Raa91dcb204b9479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f4bfaea085046b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Microsoft YaHei"/>
        <a:ea typeface=""/>
        <a:cs typeface=""/>
      </a:majorFont>
      <a:minorFont>
        <a:latin typeface="Microsoft YaHei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05baeec958248b1" /><Relationship Type="http://schemas.openxmlformats.org/officeDocument/2006/relationships/notesMaster" Target="/ppt/notesMasters/notesMaster1.xml" Id="R38378dce9d284d7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dcf0e1558864cdf" /><Relationship Type="http://schemas.openxmlformats.org/officeDocument/2006/relationships/notesMaster" Target="/ppt/notesMasters/notesMaster1.xml" Id="R7930dffab0b4452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809f726f42e497b" /><Relationship Type="http://schemas.openxmlformats.org/officeDocument/2006/relationships/notesMaster" Target="/ppt/notesMasters/notesMaster1.xml" Id="R9182f8c5b55c4ef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b24e80e772e4dd0" /><Relationship Type="http://schemas.openxmlformats.org/officeDocument/2006/relationships/notesMaster" Target="/ppt/notesMasters/notesMaster1.xml" Id="R4fee7e426a954db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4964459850c42db" /><Relationship Type="http://schemas.openxmlformats.org/officeDocument/2006/relationships/notesMaster" Target="/ppt/notesMasters/notesMaster1.xml" Id="Rb9c77863b7ac472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464cfc24c5747bc" /><Relationship Type="http://schemas.openxmlformats.org/officeDocument/2006/relationships/notesMaster" Target="/ppt/notesMasters/notesMaster1.xml" Id="Rd2fa2f9365b749b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435aad93a9c42c8" /><Relationship Type="http://schemas.openxmlformats.org/officeDocument/2006/relationships/notesMaster" Target="/ppt/notesMasters/notesMaster1.xml" Id="R50635eac181f45c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53a99ed8a524ceb" /><Relationship Type="http://schemas.openxmlformats.org/officeDocument/2006/relationships/notesMaster" Target="/ppt/notesMasters/notesMaster1.xml" Id="R0f7c7d29d8d64ec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5fd3a3c13ee4669" /><Relationship Type="http://schemas.openxmlformats.org/officeDocument/2006/relationships/notesMaster" Target="/ppt/notesMasters/notesMaster1.xml" Id="R5d25526c3214449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d0a950c958b4e99" /><Relationship Type="http://schemas.openxmlformats.org/officeDocument/2006/relationships/notesMaster" Target="/ppt/notesMasters/notesMaster1.xml" Id="R07e89bab5b614c04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aab3c5a30fe84866" /><Relationship Type="http://schemas.openxmlformats.org/officeDocument/2006/relationships/notesMaster" Target="/ppt/notesMasters/notesMaster1.xml" Id="Re84c7fa253a04c9e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4895559f9260421b" /><Relationship Type="http://schemas.openxmlformats.org/officeDocument/2006/relationships/notesMaster" Target="/ppt/notesMasters/notesMaster1.xml" Id="Rff0719b634384bcd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3198a33e74b7457c" /><Relationship Type="http://schemas.openxmlformats.org/officeDocument/2006/relationships/notesMaster" Target="/ppt/notesMasters/notesMaster1.xml" Id="Rd7ea6147af4f49c3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21bef6d697d44c4e" /><Relationship Type="http://schemas.openxmlformats.org/officeDocument/2006/relationships/notesMaster" Target="/ppt/notesMasters/notesMaster1.xml" Id="Rf59ba38b00ba4243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7c5b2ec655824f3c" /><Relationship Type="http://schemas.openxmlformats.org/officeDocument/2006/relationships/notesMaster" Target="/ppt/notesMasters/notesMaster1.xml" Id="Re061e60efaa74aeb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cdcf6a0b8ff245a0" /><Relationship Type="http://schemas.openxmlformats.org/officeDocument/2006/relationships/notesMaster" Target="/ppt/notesMasters/notesMaster1.xml" Id="R17301ed983d34337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3b10a858399a4add" /><Relationship Type="http://schemas.openxmlformats.org/officeDocument/2006/relationships/notesMaster" Target="/ppt/notesMasters/notesMaster1.xml" Id="Ref56230cd4344e9c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411c68c4901e4e4d" /><Relationship Type="http://schemas.openxmlformats.org/officeDocument/2006/relationships/notesMaster" Target="/ppt/notesMasters/notesMaster1.xml" Id="R5c6401b6cd2745d4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731dadbc583e491f" /><Relationship Type="http://schemas.openxmlformats.org/officeDocument/2006/relationships/notesMaster" Target="/ppt/notesMasters/notesMaster1.xml" Id="R3f69a3eb11c54cbc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53c17505824f4361" /><Relationship Type="http://schemas.openxmlformats.org/officeDocument/2006/relationships/notesMaster" Target="/ppt/notesMasters/notesMaster1.xml" Id="R9d8c3764924b4d90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0dfd13a588b64208" /><Relationship Type="http://schemas.openxmlformats.org/officeDocument/2006/relationships/notesMaster" Target="/ppt/notesMasters/notesMaster1.xml" Id="R22c148d906d543ae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66d8ddcdcc8a48f4" /><Relationship Type="http://schemas.openxmlformats.org/officeDocument/2006/relationships/notesMaster" Target="/ppt/notesMasters/notesMaster1.xml" Id="Rdb535f6467434e5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从原始文件出发，先明确问题、测量单位和比较范围。AI可以生成清洗与分析代码，讲师要核对过滤条件、分母和输出。后面保留完整CSV、代码与计算结果。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UC Berkeley Stat131a Fall2026 Lecture2: EDA I</a:t>
            </a:r>
          </a:p>
          <a:p xmlns:a="http://schemas.openxmlformats.org/drawingml/2006/main">
            <a:r>
              <a:t>https://docs.google.com/presentation/d/1_i5kgBSmCoYQF2bB1jfGpZkL3pRWku54BDd5xxLqZVE/edit</a:t>
            </a:r>
          </a:p>
          <a:p xmlns:a="http://schemas.openxmlformats.org/drawingml/2006/main">
            <a:r>
              <a:t>定位：PDF第9、20、24页，已渲染查看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由Kristen Gorman和Palmer Station LTER采集，课程使用Horst等整理的8字段简化版。观测对象是企鹅个体，但简化表不能独立核验巢、个体唯一性或重复记录。此处的CSV行号只用于追溯，不能冒充生物学个体ID。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Horst, Hill &amp; Gorman: palmerpenguins，公开简化数据</a:t>
            </a:r>
          </a:p>
          <a:p xmlns:a="http://schemas.openxmlformats.org/drawingml/2006/main">
            <a:r>
              <a:t>https://allisonhorst.github.io/palmerpenguins/</a:t>
            </a:r>
          </a:p>
          <a:p xmlns:a="http://schemas.openxmlformats.org/drawingml/2006/main">
            <a:r>
              <a:t>定位：About the data、License、References；原始CSV与哈希见analysis-packet/source.json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本页取CSV前6数据行，显示行号为文件物理行号，包含表头。第5行的NA表示记录缺失，不能把它转成0毫米。表格只抽取本节需要的几列，其余字段仍保存在完整CSV中。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Horst, Hill &amp; Gorman: palmerpenguins，公开简化数据</a:t>
            </a:r>
          </a:p>
          <a:p xmlns:a="http://schemas.openxmlformats.org/drawingml/2006/main">
            <a:r>
              <a:t>https://allisonhorst.github.io/palmerpenguins/</a:t>
            </a:r>
          </a:p>
          <a:p xmlns:a="http://schemas.openxmlformats.org/drawingml/2006/main">
            <a:r>
              <a:t>定位：About the data、License、References；原始CSV与哈希见analysis-packet/source.json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先定义分析目标，再取列。Adelie通称阿德利企鹅，本节保留源表名称便于对照。性别是分类记录，鳍长是连续测量；年份与岛屿可能影响组成，不能忽略。没有用全部字段缺失来决定本次分析纳入。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Horst, Hill &amp; Gorman: palmerpenguins，公开简化数据</a:t>
            </a:r>
          </a:p>
          <a:p xmlns:a="http://schemas.openxmlformats.org/drawingml/2006/main">
            <a:r>
              <a:t>https://allisonhorst.github.io/palmerpenguins/</a:t>
            </a:r>
          </a:p>
          <a:p xmlns:a="http://schemas.openxmlformats.org/drawingml/2006/main">
            <a:r>
              <a:t>定位：About the data、License、References；原始CSV与哈希见analysis-packet/source.json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缺失按字段统计，同一行可能同时缺多列，因此不能把各字段缺失数相加当作总排除数。图显示完整344行的字段缺失情况。具体比较另按目标列筛选。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Horst, Hill &amp; Gorman: palmerpenguins，公开简化数据</a:t>
            </a:r>
          </a:p>
          <a:p xmlns:a="http://schemas.openxmlformats.org/drawingml/2006/main">
            <a:r>
              <a:t>https://allisonhorst.github.io/palmerpenguins/</a:t>
            </a:r>
          </a:p>
          <a:p xmlns:a="http://schemas.openxmlformats.org/drawingml/2006/main">
            <a:r>
              <a:t>定位：About the data、License、References；原始CSV与哈希见analysis-packet/source.json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从344条筛选Adelie后有152条，按sex与flipper_length_mm完整记录分析，得到female73条、male73条。被排除的CSV物理行号为5、10、11、12、13、49。未进行插补。缺失可能与测量或采样有关，完整记录结果不能证明缺失无偏。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Horst, Hill &amp; Gorman: palmerpenguins，公开简化数据</a:t>
            </a:r>
          </a:p>
          <a:p xmlns:a="http://schemas.openxmlformats.org/drawingml/2006/main">
            <a:r>
              <a:t>https://allisonhorst.github.io/palmerpenguins/</a:t>
            </a:r>
          </a:p>
          <a:p xmlns:a="http://schemas.openxmlformats.org/drawingml/2006/main">
            <a:r>
              <a:t>定位：About the data、License、References；原始CSV与哈希见analysis-packet/source.json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课程脚本对Adelie完整记录做1.5倍IQR范围筛查，只保存标记，不据此删除。筛查阈值是探索规则，不等于错误认定。可查单位转换、录入、仪器和采样背景；不能查明时保留并比较不同分析。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NIST/SEMATECH: Detection of Outliers</a:t>
            </a:r>
          </a:p>
          <a:p xmlns:a="http://schemas.openxmlformats.org/drawingml/2006/main">
            <a:r>
              <a:t>https://www.itl.nist.gov/div898/handbook/eda/section3/eda35h.htm</a:t>
            </a:r>
          </a:p>
          <a:p xmlns:a="http://schemas.openxmlformats.org/drawingml/2006/main">
            <a:r>
              <a:t>定位：Introduction，Labeling/Accomodation/Identification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以5毫米等宽区间汇总Adelie完整记录，区间左闭右开，最后区间按NumPy规则包含右端点。每组73条。两组分布的重叠提醒讲师区分群体均值与个体判别，不给出未经验证的分类准确率。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Horst, Hill &amp; Gorman: palmerpenguins，公开简化数据</a:t>
            </a:r>
          </a:p>
          <a:p xmlns:a="http://schemas.openxmlformats.org/drawingml/2006/main">
            <a:r>
              <a:t>https://allisonhorst.github.io/palmerpenguins/</a:t>
            </a:r>
          </a:p>
          <a:p xmlns:a="http://schemas.openxmlformats.org/drawingml/2006/main">
            <a:r>
              <a:t>定位：About the data、License、References；原始CSV与哈希见analysis-packet/source.json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female组均值187.79mm，样本SD5.60mm。把行视为独立同分布观测时，均值SE=SD/√73=0.65mm。SE公式依赖独立性；巢或年份关联可能使简单SE不适用。不能把SE小理解为每个个体都靠近均值。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NIST/SEMATECH: Confidence Limits for the Mean</a:t>
            </a:r>
          </a:p>
          <a:p xmlns:a="http://schemas.openxmlformats.org/drawingml/2006/main">
            <a:r>
              <a:t>https://www.itl.nist.gov/div898/handbook/eda/section3/eda352.htm</a:t>
            </a:r>
          </a:p>
          <a:p xmlns:a="http://schemas.openxmlformats.org/drawingml/2006/main">
            <a:r>
              <a:t>定位：Purpose与Definition；重复抽样解释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Horst, Hill &amp; Gorman: palmerpenguins，公开简化数据</a:t>
            </a:r>
          </a:p>
          <a:p xmlns:a="http://schemas.openxmlformats.org/drawingml/2006/main">
            <a:r>
              <a:t>https://allisonhorst.github.io/palmerpenguins/</a:t>
            </a:r>
          </a:p>
          <a:p xmlns:a="http://schemas.openxmlformats.org/drawingml/2006/main">
            <a:r>
              <a:t>定位：About the data、License、References；原始CSV与哈希见analysis-packet/source.json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左侧示意不同个体A、B分别进入两组，右侧是同一个体X的前后记录。配对需要可核验的对应关系。企鹅数据的简化表没有前后测ID，不因两组数量相等就配对。示意字母不是实际采样ID。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NIST/SEMATECH: Two-Sample t-Test for Equal Means</a:t>
            </a:r>
          </a:p>
          <a:p xmlns:a="http://schemas.openxmlformats.org/drawingml/2006/main">
            <a:r>
              <a:t>https://www.itl.nist.gov/div898/handbook/eda/section3/eda353.htm</a:t>
            </a:r>
          </a:p>
          <a:p xmlns:a="http://schemas.openxmlformats.org/drawingml/2006/main">
            <a:r>
              <a:t>定位：paired/unpaired与Welch-Satterthwaite说明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课程自编方法说明与教学模拟</a:t>
            </a:r>
          </a:p>
          <a:p xmlns:a="http://schemas.openxmlformats.org/drawingml/2006/main">
            <a:r>
              <a:t>local:training/section-07/lesson.json</a:t>
            </a:r>
          </a:p>
          <a:p xmlns:a="http://schemas.openxmlformats.org/drawingml/2006/main">
            <a:r>
              <a:t>定位：模拟内容不代表科研观测或模型执行截图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连续结果比较均值可考虑独立组Welch或配对差值方法，类别结果可比较比例并检查稀疏计数；多个组、重复测量或聚类需要相应模型。正态性检验的一个P值不能自动决定全部方法。此页只展示选择框架，没有宣称已运行所有方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NIST/SEMATECH: Two-Sample t-Test for Equal Means</a:t>
            </a:r>
          </a:p>
          <a:p xmlns:a="http://schemas.openxmlformats.org/drawingml/2006/main">
            <a:r>
              <a:t>https://www.itl.nist.gov/div898/handbook/eda/section3/eda353.htm</a:t>
            </a:r>
          </a:p>
          <a:p xmlns:a="http://schemas.openxmlformats.org/drawingml/2006/main">
            <a:r>
              <a:t>定位：paired/unpaired与Welch-Satterthwaite说明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课程自编方法说明与教学模拟</a:t>
            </a:r>
          </a:p>
          <a:p xmlns:a="http://schemas.openxmlformats.org/drawingml/2006/main">
            <a:r>
              <a:t>local:training/section-07/lesson.json</a:t>
            </a:r>
          </a:p>
          <a:p xmlns:a="http://schemas.openxmlformats.org/drawingml/2006/main">
            <a:r>
              <a:t>定位：模拟内容不代表科研观测或模型执行截图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雄性192.41、雌性187.79mm；差定义为male减female。对两组分别按行有放回抽样10000次，2.5%与97.5%分位点构成百分位区间。得到约2.68—6.58mm，数值由脚本产生。这是行独立模型下的教学区间，未覆盖选择偏差、缺失机制或巢内相关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Horst, Hill &amp; Gorman: palmerpenguins，公开简化数据</a:t>
            </a:r>
          </a:p>
          <a:p xmlns:a="http://schemas.openxmlformats.org/drawingml/2006/main">
            <a:r>
              <a:t>https://allisonhorst.github.io/palmerpenguins/</a:t>
            </a:r>
          </a:p>
          <a:p xmlns:a="http://schemas.openxmlformats.org/drawingml/2006/main">
            <a:r>
              <a:t>定位：About the data、License、References；原始CSV与哈希见analysis-packet/source.json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UC Berkeley Stat131a Fall2026 Lecture11: Confidence intervals I</a:t>
            </a:r>
          </a:p>
          <a:p xmlns:a="http://schemas.openxmlformats.org/drawingml/2006/main">
            <a:r>
              <a:t>https://docs.google.com/presentation/d/1as5Nr_mx7eZk1Wz4mZJdOcHGjycFxf5FqhZyfXqjLbk/edit</a:t>
            </a:r>
          </a:p>
          <a:p xmlns:a="http://schemas.openxmlformats.org/drawingml/2006/main">
            <a:r>
              <a:t>定位：PDF第4、7、8页，已渲染查看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教学模拟设总体均值100、已知SD10、每次25个独立正态观测；用已知SD的正态区间，不用样本SD替代。运行1000次，显示前10次。某组10次的覆盖比例无需等于95%，1000次也有蒙特卡洛波动。模型参数是自设值，与企鹅数据无关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UC Berkeley Stat131a Fall2026 Lecture11: Confidence intervals I</a:t>
            </a:r>
          </a:p>
          <a:p xmlns:a="http://schemas.openxmlformats.org/drawingml/2006/main">
            <a:r>
              <a:t>https://docs.google.com/presentation/d/1as5Nr_mx7eZk1Wz4mZJdOcHGjycFxf5FqhZyfXqjLbk/edit</a:t>
            </a:r>
          </a:p>
          <a:p xmlns:a="http://schemas.openxmlformats.org/drawingml/2006/main">
            <a:r>
              <a:t>定位：PDF第4、7、8页，已渲染查看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NIST/SEMATECH: Confidence Limits for the Mean</a:t>
            </a:r>
          </a:p>
          <a:p xmlns:a="http://schemas.openxmlformats.org/drawingml/2006/main">
            <a:r>
              <a:t>https://www.itl.nist.gov/div898/handbook/eda/section3/eda352.htm</a:t>
            </a:r>
          </a:p>
          <a:p xmlns:a="http://schemas.openxmlformats.org/drawingml/2006/main">
            <a:r>
              <a:t>定位：Purpose与Definition；重复抽样解释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课程自编方法说明与教学模拟</a:t>
            </a:r>
          </a:p>
          <a:p xmlns:a="http://schemas.openxmlformats.org/drawingml/2006/main">
            <a:r>
              <a:t>local:training/section-07/lesson.json</a:t>
            </a:r>
          </a:p>
          <a:p xmlns:a="http://schemas.openxmlformats.org/drawingml/2006/main">
            <a:r>
              <a:t>定位：模拟内容不代表科研观测或模型执行截图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零假设是每次正面概率0.5且独立。双侧极端事件定义K≥15或K≤5，精确二项分布相加得到0.041389。15次正面是教学设定，没有伪装成实际抛掷记录。P值不等于零假设为真的概率，也不等于结果由偶然造成的概率。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UC Berkeley Stat131a Fall2026 Lecture14: Hypothesis testing I</a:t>
            </a:r>
          </a:p>
          <a:p xmlns:a="http://schemas.openxmlformats.org/drawingml/2006/main">
            <a:r>
              <a:t>https://docs.google.com/presentation/d/1kVlWvs05VWO8afAteE92p85yHMnPlo1WEuktsL6AeHE/edit</a:t>
            </a:r>
          </a:p>
          <a:p xmlns:a="http://schemas.openxmlformats.org/drawingml/2006/main">
            <a:r>
              <a:t>定位：PDF第6、17、29页已渲染查看；第30、34页读取文字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ASA 2016 Statement on Statistical Significance and P-Values</a:t>
            </a:r>
          </a:p>
          <a:p xmlns:a="http://schemas.openxmlformats.org/drawingml/2006/main">
            <a:r>
              <a:t>https://www.amstat.org/asa/files/pdfs/p-valuestatement.pdf</a:t>
            </a:r>
          </a:p>
          <a:p xmlns:a="http://schemas.openxmlformats.org/drawingml/2006/main">
            <a:r>
              <a:t>定位：第2—3页原则；模型条件、效应大小和选择性报告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课程自编方法说明与教学模拟</a:t>
            </a:r>
          </a:p>
          <a:p xmlns:a="http://schemas.openxmlformats.org/drawingml/2006/main">
            <a:r>
              <a:t>local:training/section-07/lesson.json</a:t>
            </a:r>
          </a:p>
          <a:p xmlns:a="http://schemas.openxmlformats.org/drawingml/2006/main">
            <a:r>
              <a:t>定位：模拟内容不代表科研观测或模型执行截图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将估计量、模型条件与外推范围对应。企鹅示例报告毫米差异与条件bootstrap区间，没有计算性别的因果效应。硬币示例只有特定零假设下的尾概率，两者不能混在一段结果里。阈值不代表科学或应用价值的统一标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ASA 2016 Statement on Statistical Significance and P-Values</a:t>
            </a:r>
          </a:p>
          <a:p xmlns:a="http://schemas.openxmlformats.org/drawingml/2006/main">
            <a:r>
              <a:t>https://www.amstat.org/asa/files/pdfs/p-valuestatement.pdf</a:t>
            </a:r>
          </a:p>
          <a:p xmlns:a="http://schemas.openxmlformats.org/drawingml/2006/main">
            <a:r>
              <a:t>定位：第2—3页原则；模型条件、效应大小和选择性报告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UC Berkeley Stat131a Fall2026 Lecture14: Hypothesis testing I</a:t>
            </a:r>
          </a:p>
          <a:p xmlns:a="http://schemas.openxmlformats.org/drawingml/2006/main">
            <a:r>
              <a:t>https://docs.google.com/presentation/d/1kVlWvs05VWO8afAteE92p85yHMnPlo1WEuktsL6AeHE/edit</a:t>
            </a:r>
          </a:p>
          <a:p xmlns:a="http://schemas.openxmlformats.org/drawingml/2006/main">
            <a:r>
              <a:t>定位：PDF第6、17、29页已渲染查看；第30、34页读取文字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保留每组样本数73，组内有放回抽样，因此同一行可在一次抽样内出现多次；每次计算male减female的均值差。10000次不是新增10000批真实动物数据。若存在配对或巢内相关，应按相应单位重抽样；当前简化表不能支持这种核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UC Berkeley Stat131a Fall2026 Lecture11: Confidence intervals I</a:t>
            </a:r>
          </a:p>
          <a:p xmlns:a="http://schemas.openxmlformats.org/drawingml/2006/main">
            <a:r>
              <a:t>https://docs.google.com/presentation/d/1as5Nr_mx7eZk1Wz4mZJdOcHGjycFxf5FqhZyfXqjLbk/edit</a:t>
            </a:r>
          </a:p>
          <a:p xmlns:a="http://schemas.openxmlformats.org/drawingml/2006/main">
            <a:r>
              <a:t>定位：PDF第4、7、8页，已渲染查看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NumPy Generator.choice documentation</a:t>
            </a:r>
          </a:p>
          <a:p xmlns:a="http://schemas.openxmlformats.org/drawingml/2006/main">
            <a:r>
              <a:t>https://numpy.org/doc/stable/reference/random/generated/numpy.random.Generator.choice.html</a:t>
            </a:r>
          </a:p>
          <a:p xmlns:a="http://schemas.openxmlformats.org/drawingml/2006/main">
            <a:r>
              <a:t>定位：replace参数；版本见results.json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重抽样分布用于展示当前样本在指定抽样方案下的不确定性。图为0.5毫米等宽区间频数汇总，完整10000次值保存在CSV。均值差的分布与个体鳍长分布不同，不能相互替代。随机种子20261018。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UC Berkeley Stat131a Fall2026 Lecture11: Confidence intervals I</a:t>
            </a:r>
          </a:p>
          <a:p xmlns:a="http://schemas.openxmlformats.org/drawingml/2006/main">
            <a:r>
              <a:t>https://docs.google.com/presentation/d/1as5Nr_mx7eZk1Wz4mZJdOcHGjycFxf5FqhZyfXqjLbk/edit</a:t>
            </a:r>
          </a:p>
          <a:p xmlns:a="http://schemas.openxmlformats.org/drawingml/2006/main">
            <a:r>
              <a:t>定位：PDF第4、7、8页，已渲染查看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NumPy Generator.choice documentation</a:t>
            </a:r>
          </a:p>
          <a:p xmlns:a="http://schemas.openxmlformats.org/drawingml/2006/main">
            <a:r>
              <a:t>https://numpy.org/doc/stable/reference/random/generated/numpy.random.Generator.choice.html</a:t>
            </a:r>
          </a:p>
          <a:p xmlns:a="http://schemas.openxmlformats.org/drawingml/2006/main">
            <a:r>
              <a:t>定位：replace参数；版本见results.json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Horst, Hill &amp; Gorman: palmerpenguins，公开简化数据</a:t>
            </a:r>
          </a:p>
          <a:p xmlns:a="http://schemas.openxmlformats.org/drawingml/2006/main">
            <a:r>
              <a:t>https://allisonhorst.github.io/palmerpenguins/</a:t>
            </a:r>
          </a:p>
          <a:p xmlns:a="http://schemas.openxmlformats.org/drawingml/2006/main">
            <a:r>
              <a:t>定位：About the data、License、References；原始CSV与哈希见analysis-packet/source.json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所有物种的完整喙长和鳍长记录为342条，图按物种着色。总体Pearson相关约0.656，Adelie内约0.326。数字差异说明总体关系与同物种内关系不同，不能把总体直线当成每个物种的关系；相关不表明改变喙长会造成鳍长变化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Horst, Hill &amp; Gorman: palmerpenguins，公开简化数据</a:t>
            </a:r>
          </a:p>
          <a:p xmlns:a="http://schemas.openxmlformats.org/drawingml/2006/main">
            <a:r>
              <a:t>https://allisonhorst.github.io/palmerpenguins/</a:t>
            </a:r>
          </a:p>
          <a:p xmlns:a="http://schemas.openxmlformats.org/drawingml/2006/main">
            <a:r>
              <a:t>定位：About the data、License、References；原始CSV与哈希见analysis-packet/source.json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按年份与性别分组复算均值。雌雄各年份的n分别22、25、26。折线连接各年组均值，未跟踪同一个体，不能讲成个体随时间的生长曲线。这一分层检查未调整岛屿、巢等因素，也不能消除混杂。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Horst, Hill &amp; Gorman: palmerpenguins，公开简化数据</a:t>
            </a:r>
          </a:p>
          <a:p xmlns:a="http://schemas.openxmlformats.org/drawingml/2006/main">
            <a:r>
              <a:t>https://allisonhorst.github.io/palmerpenguins/</a:t>
            </a:r>
          </a:p>
          <a:p xmlns:a="http://schemas.openxmlformats.org/drawingml/2006/main">
            <a:r>
              <a:t>定位：About the data、License、References；原始CSV与哈希见analysis-packet/source.json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可读结果示例见页面。讲师可按对象、计算、假设逐句解释，不把代码输出整段贴入论文。此处区间是本课程二次计算，不能引用成原论文中的结论。性别及其他变量未随机分配，不声称因果；未完成原始研究设计复核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Horst, Hill &amp; Gorman: palmerpenguins，公开简化数据</a:t>
            </a:r>
          </a:p>
          <a:p xmlns:a="http://schemas.openxmlformats.org/drawingml/2006/main">
            <a:r>
              <a:t>https://allisonhorst.github.io/palmerpenguins/</a:t>
            </a:r>
          </a:p>
          <a:p xmlns:a="http://schemas.openxmlformats.org/drawingml/2006/main">
            <a:r>
              <a:t>定位：About the data、License、References；原始CSV与哈希见analysis-packet/source.json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ASA 2016 Statement on Statistical Significance and P-Values</a:t>
            </a:r>
          </a:p>
          <a:p xmlns:a="http://schemas.openxmlformats.org/drawingml/2006/main">
            <a:r>
              <a:t>https://www.amstat.org/asa/files/pdfs/p-valuestatement.pdf</a:t>
            </a:r>
          </a:p>
          <a:p xmlns:a="http://schemas.openxmlformats.org/drawingml/2006/main">
            <a:r>
              <a:t>定位：第2—3页原则；模型条件、效应大小和选择性报告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例比较公开Adelie记录的雌雄鳍长，只作描述统计。统一条件为species等于Adelie，sex为female或male，鳍长不缺失；0代表雌性，1代表雄性。三份完整源文件位于cross-tool：analysis.py、analysis.R、analysis.sps。Python与R实际执行；R使用本地WebR 0.6.0的R 4.6.0解释器，不是RStudio或桌面R实测。隔离加载器只改Windows文件URL兼容，没有改R.wasm或分析.R源码。SPSS未执行，只交付语法文件。Cursor可作为编辑代码的入口，运行仍依赖相应软件，本轮未在Cursor中操作。讲师不讲逐行语法，重点说明同一数据、同一分母和同一比较方向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UC Berkeley Stat131a Fall2026 Lecture2: EDA I</a:t>
            </a:r>
          </a:p>
          <a:p xmlns:a="http://schemas.openxmlformats.org/drawingml/2006/main">
            <a:r>
              <a:t>https://docs.google.com/presentation/d/1_i5kgBSmCoYQF2bB1jfGpZkL3pRWku54BDd5xxLqZVE/edit</a:t>
            </a:r>
          </a:p>
          <a:p xmlns:a="http://schemas.openxmlformats.org/drawingml/2006/main">
            <a:r>
              <a:t>定位：PDF第9、20、24页，已渲染查看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本轮Python与本地WebR描述统计、纳入行及输出比较</a:t>
            </a:r>
          </a:p>
          <a:p xmlns:a="http://schemas.openxmlformats.org/drawingml/2006/main">
            <a:r>
              <a:t>local:training/section-07/cross-tool/checks.json</a:t>
            </a:r>
          </a:p>
          <a:p xmlns:a="http://schemas.openxmlformats.org/drawingml/2006/main">
            <a:r>
              <a:t>定位：analysis.py、analysis.R、analysis.sps；R真实执行在本地WebR，SPSS未运行；run.json与runtime-provenance分别记录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Cursor官方工具与编辑说明</a:t>
            </a:r>
          </a:p>
          <a:p xmlns:a="http://schemas.openxmlformats.org/drawingml/2006/main">
            <a:r>
              <a:t>https://cursor.com/docs</a:t>
            </a:r>
          </a:p>
          <a:p xmlns:a="http://schemas.openxmlformats.org/drawingml/2006/main">
            <a:r>
              <a:t>定位：概览中的代码编辑与Agent用途；本轮未使用Cursor，不引入模型排名或套餐描述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ython与R对146条纳入记录逐行比较CSV行号、性别编码和鳍长数值，再比较每组n、均值、样本SD和雄减雌均值差，绝对容差1e-9。两组各73条，雌性均值187.7945205479452、SD5.595034763345455；雄性均值192.41095890410958、SD6.599317339354874；差4.616438356164366毫米。样本SD的分母为n-1。页面只列实际执行的Python和R结果，不以空列代替SPSS实测；SPSS代码随包提供，尚无其输出。本页只作描述数值的一致性核对；不能据此证明抽样独立、科学结论或SPSS语法已运行。完整材料仍保留原始CSV、代码、筛选记录、输出、运行信息和未决问题。下一节进入科研图表与技术路线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本轮Python与本地WebR描述统计、纳入行及输出比较</a:t>
            </a:r>
          </a:p>
          <a:p xmlns:a="http://schemas.openxmlformats.org/drawingml/2006/main">
            <a:r>
              <a:t>local:training/section-07/cross-tool/checks.json</a:t>
            </a:r>
          </a:p>
          <a:p xmlns:a="http://schemas.openxmlformats.org/drawingml/2006/main">
            <a:r>
              <a:t>定位：analysis.py、analysis.R、analysis.sps；R真实执行在本地WebR，SPSS未运行；run.json与runtime-provenance分别记录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R官方read.csv与样本sd说明</a:t>
            </a:r>
          </a:p>
          <a:p xmlns:a="http://schemas.openxmlformats.org/drawingml/2006/main">
            <a:r>
              <a:t>https://stat.ethz.ch/R-manual/R-devel/library/stats/html/sd.html</a:t>
            </a:r>
          </a:p>
          <a:p xmlns:a="http://schemas.openxmlformats.org/drawingml/2006/main">
            <a:r>
              <a:t>定位：sd使用n-1分母；read.csv的na.strings与stringsAsFactors参数另见cross-tool/参考资料.md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IBM SPSS Statistics GET DATA / MEANS / AGGREGATE / SAVE TRANSLATE索引</a:t>
            </a:r>
          </a:p>
          <a:p xmlns:a="http://schemas.openxmlformats.org/drawingml/2006/main">
            <a:r>
              <a:t>https://www.ibm.com/docs/en/spss-statistics/31.0.0?topic=reference-means</a:t>
            </a:r>
          </a:p>
          <a:p xmlns:a="http://schemas.openxmlformats.org/drawingml/2006/main">
            <a:r>
              <a:t>定位：官方搜索索引可读取语法；完整页面和31版PDF在本轮访问403。语法文件未通过SPSS执行验证，不作为已运行证据。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d5d72c7db0046f3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b2f36e1c52f40e5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4fafdcb3cb24c8d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8ef1acc45e04a47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aad690e6df14050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a632e9a34c943b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D5357A1-71A4-42CD-BFC6-ED81CECA387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24000" y="3238500"/>
            <a:ext cx="12192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9B8BF25A-0FFE-49F7-B7AA-05815349CC3B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286000" y="4714875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4464270A-62F6-40BF-AA9D-35FA853F542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24000" y="3571875"/>
            <a:ext cx="12192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5734C83-E6A2-4330-B814-2BB39007AF8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3F0F4B11-0195-4F78-A92B-13069F4CCB1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13525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777BD368-38ED-4B7F-B15C-91776E296E9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8357BE78-EB16-4C28-A34B-0273B4C9ECD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2792E1B6-F8A7-4197-84FE-9EA159618A31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096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5561CDC-6484-4AA6-A7CC-CC68E2CDE42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D02FA993-9856-459D-BCBA-16D04AABF63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93f6a093d1a469c" /><Relationship Type="http://schemas.openxmlformats.org/officeDocument/2006/relationships/slideLayout" Target="/ppt/slideLayouts/slideLayout1.xml" Id="R84fe7e0c192d45dc" /><Relationship Type="http://schemas.openxmlformats.org/officeDocument/2006/relationships/slideLayout" Target="/ppt/slideLayouts/slideLayout2.xml" Id="Ra240dcc1d9584107" /><Relationship Type="http://schemas.openxmlformats.org/officeDocument/2006/relationships/slideLayout" Target="/ppt/slideLayouts/slideLayout3.xml" Id="R9fee923aeeb54890" /><Relationship Type="http://schemas.openxmlformats.org/officeDocument/2006/relationships/slideLayout" Target="/ppt/slideLayouts/slideLayout4.xml" Id="R20091aef8ea44ca1" /><Relationship Type="http://schemas.openxmlformats.org/officeDocument/2006/relationships/slideLayout" Target="/ppt/slideLayouts/slideLayout5.xml" Id="R01804d3ccaed4942" /><Relationship Type="http://schemas.openxmlformats.org/officeDocument/2006/relationships/slideLayout" Target="/ppt/slideLayouts/slideLayout6.xml" Id="R2547db7b6a02449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4fe7e0c192d45dc"/>
    <p:sldLayoutId xmlns:r="http://schemas.openxmlformats.org/officeDocument/2006/relationships" id="2147483650" r:id="Ra240dcc1d9584107"/>
    <p:sldLayoutId xmlns:r="http://schemas.openxmlformats.org/officeDocument/2006/relationships" id="2147483651" r:id="R9fee923aeeb54890"/>
    <p:sldLayoutId xmlns:r="http://schemas.openxmlformats.org/officeDocument/2006/relationships" id="2147483652" r:id="R20091aef8ea44ca1"/>
    <p:sldLayoutId xmlns:r="http://schemas.openxmlformats.org/officeDocument/2006/relationships" id="2147483653" r:id="R01804d3ccaed4942"/>
    <p:sldLayoutId xmlns:r="http://schemas.openxmlformats.org/officeDocument/2006/relationships" id="2147483654" r:id="R2547db7b6a02449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Microsoft YaHei"/>
        <a:ea typeface=""/>
        <a:cs typeface=""/>
      </a:majorFont>
      <a:minorFont>
        <a:latin typeface="Microsoft YaHei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bd4b5fc4f1d4704" /><Relationship Type="http://schemas.openxmlformats.org/officeDocument/2006/relationships/notesSlide" Target="/ppt/notesSlides/notesSlide1.xml" Id="Rc58df99cb383488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fba65b86a194c69" /><Relationship Type="http://schemas.openxmlformats.org/officeDocument/2006/relationships/notesSlide" Target="/ppt/notesSlides/notesSlide2.xml" Id="R10abb52a7edb445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f5585c233d244a3" /><Relationship Type="http://schemas.openxmlformats.org/officeDocument/2006/relationships/notesSlide" Target="/ppt/notesSlides/notesSlide3.xml" Id="R9361aaceed884ff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aaf765e4a4f4de0" /><Relationship Type="http://schemas.openxmlformats.org/officeDocument/2006/relationships/notesSlide" Target="/ppt/notesSlides/notesSlide4.xml" Id="R123c6d199245434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c7306ce6ff7401e" /><Relationship Type="http://schemas.openxmlformats.org/officeDocument/2006/relationships/chart" Target="/ppt/slides/charts/chart1.xml" Id="Rebf93c1d9bb54763" /><Relationship Type="http://schemas.openxmlformats.org/officeDocument/2006/relationships/notesSlide" Target="/ppt/notesSlides/notesSlide5.xml" Id="R20085000007b4e6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e6e76491b8b4571" /><Relationship Type="http://schemas.openxmlformats.org/officeDocument/2006/relationships/notesSlide" Target="/ppt/notesSlides/notesSlide6.xml" Id="Rf6b25de03094493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7e2ed7257b64773" /><Relationship Type="http://schemas.openxmlformats.org/officeDocument/2006/relationships/notesSlide" Target="/ppt/notesSlides/notesSlide7.xml" Id="Rd5850508a91f4bb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c4af3b8221e4989" /><Relationship Type="http://schemas.openxmlformats.org/officeDocument/2006/relationships/chart" Target="/ppt/slides/charts/chart2.xml" Id="Rad41667474f04710" /><Relationship Type="http://schemas.openxmlformats.org/officeDocument/2006/relationships/notesSlide" Target="/ppt/notesSlides/notesSlide8.xml" Id="Re50c9d12a54f4df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a6492e07f274966" /><Relationship Type="http://schemas.openxmlformats.org/officeDocument/2006/relationships/notesSlide" Target="/ppt/notesSlides/notesSlide9.xml" Id="R4f728037730d4c0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eab77a8694d4860" /><Relationship Type="http://schemas.openxmlformats.org/officeDocument/2006/relationships/notesSlide" Target="/ppt/notesSlides/notesSlide10.xml" Id="R3a14d05879d74891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fd8cacc35304a31" /><Relationship Type="http://schemas.openxmlformats.org/officeDocument/2006/relationships/notesSlide" Target="/ppt/notesSlides/notesSlide11.xml" Id="R5f5d3c672cf84357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fd981bdd92d471c" /><Relationship Type="http://schemas.openxmlformats.org/officeDocument/2006/relationships/notesSlide" Target="/ppt/notesSlides/notesSlide12.xml" Id="R537f8061e7504146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00b79f354454a19" /><Relationship Type="http://schemas.openxmlformats.org/officeDocument/2006/relationships/notesSlide" Target="/ppt/notesSlides/notesSlide13.xml" Id="Rdded91d088ee4507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896e60c3ae84e5a" /><Relationship Type="http://schemas.openxmlformats.org/officeDocument/2006/relationships/chart" Target="/ppt/slides/charts/chart3.xml" Id="R0c2cf779274d4f95" /><Relationship Type="http://schemas.openxmlformats.org/officeDocument/2006/relationships/notesSlide" Target="/ppt/notesSlides/notesSlide14.xml" Id="Raea812b8ed874fd2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2ef835b4108480b" /><Relationship Type="http://schemas.openxmlformats.org/officeDocument/2006/relationships/notesSlide" Target="/ppt/notesSlides/notesSlide15.xml" Id="Ra657a491895d4d5e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6799dea738543c8" /><Relationship Type="http://schemas.openxmlformats.org/officeDocument/2006/relationships/notesSlide" Target="/ppt/notesSlides/notesSlide16.xml" Id="R12b14996a82a4399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bb61d79d4df41bc" /><Relationship Type="http://schemas.openxmlformats.org/officeDocument/2006/relationships/chart" Target="/ppt/slides/charts/chart4.xml" Id="Ra77c5a8c08d14998" /><Relationship Type="http://schemas.openxmlformats.org/officeDocument/2006/relationships/notesSlide" Target="/ppt/notesSlides/notesSlide17.xml" Id="R563dcf9ffaf14b0a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4a3a9123f734ba7" /><Relationship Type="http://schemas.openxmlformats.org/officeDocument/2006/relationships/chart" Target="/ppt/slides/charts/chart5.xml" Id="R583acc79476e47d0" /><Relationship Type="http://schemas.openxmlformats.org/officeDocument/2006/relationships/notesSlide" Target="/ppt/notesSlides/notesSlide18.xml" Id="R99510f905e2a442e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627878caa854b18" /><Relationship Type="http://schemas.openxmlformats.org/officeDocument/2006/relationships/chart" Target="/ppt/slides/charts/chart6.xml" Id="Rd7df94ba9dff4385" /><Relationship Type="http://schemas.openxmlformats.org/officeDocument/2006/relationships/notesSlide" Target="/ppt/notesSlides/notesSlide19.xml" Id="R9323cd8a4e2a46d9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db811a5f0754041" /><Relationship Type="http://schemas.openxmlformats.org/officeDocument/2006/relationships/notesSlide" Target="/ppt/notesSlides/notesSlide20.xml" Id="R4358a12d77fc4e1a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33fb3535a4e4147" /><Relationship Type="http://schemas.openxmlformats.org/officeDocument/2006/relationships/notesSlide" Target="/ppt/notesSlides/notesSlide21.xml" Id="R0d25e014ff364225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b709bc116b54212" /><Relationship Type="http://schemas.openxmlformats.org/officeDocument/2006/relationships/notesSlide" Target="/ppt/notesSlides/notesSlide22.xml" Id="R7ee15e25b6914db5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_rels/chart3.xml.rels><Relationships xmlns="http://schemas.openxmlformats.org/package/2006/relationships"><Relationship Id="rIdChartSnapshot1" Type="http://schemas.openxmlformats.org/officeDocument/2006/relationships/package" Target="../../embeddings/chart-data-snapshot-003.xlsx"/></Relationships>
</file>

<file path=ppt/slides/charts/_rels/chart4.xml.rels><Relationships xmlns="http://schemas.openxmlformats.org/package/2006/relationships"><Relationship Id="rIdChartSnapshot1" Type="http://schemas.openxmlformats.org/officeDocument/2006/relationships/package" Target="../../embeddings/chart-data-snapshot-004.xlsx"/></Relationships>
</file>

<file path=ppt/slides/charts/_rels/chart5.xml.rels><Relationships xmlns="http://schemas.openxmlformats.org/package/2006/relationships"><Relationship Id="rIdChartSnapshot1" Type="http://schemas.openxmlformats.org/officeDocument/2006/relationships/package" Target="../../embeddings/chart-data-snapshot-005.xlsx"/></Relationships>
</file>

<file path=ppt/slides/charts/_rels/chart6.xml.rels><Relationships xmlns="http://schemas.openxmlformats.org/package/2006/relationships"><Relationship Id="rIdChartSnapshot1" Type="http://schemas.openxmlformats.org/officeDocument/2006/relationships/package" Target="../../embeddings/chart-data-snapshot-006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2025">
                <a:latin typeface="Microsoft YaHei"/>
                <a:ea typeface="Microsoft YaHei"/>
                <a:cs typeface="Microsoft YaHei"/>
              </a:rPr>
              <a:t>344条记录的字段缺失数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2025">
              <a:latin typeface="Microsoft YaHei"/>
              <a:ea typeface="Microsoft YaHei"/>
              <a:cs typeface="Microsoft YaHei"/>
            </a:defRPr>
          </a:pPr>
        </a:p>
      </c:txPr>
    </c:title>
    <c:plotArea>
      <c:barChart>
        <c:barDir val="col"/>
        <c:grouping val="clustered"/>
        <c:varyColors val="0"/>
        <c:ser>
          <c:idx val="0"/>
          <c:order val="0"/>
          <c:tx>
            <c:v>缺失记录数</c:v>
          </c:tx>
          <c:spPr>
            <a:solidFill xmlns:a="http://schemas.openxmlformats.org/drawingml/2006/main">
              <a:srgbClr val="245B77"/>
            </a:solidFill>
            <a:ln xmlns:a="http://schemas.openxmlformats.org/drawingml/2006/main" w="23813">
              <a:solidFill>
                <a:srgbClr val="245B77"/>
              </a:solidFill>
            </a:ln>
          </c:spPr>
          <c:invertIfNegative val="0"/>
          <c:cat>
            <c:strRef>
              <c:f>'Chart Data'!$A$2:$A$6</c:f>
              <c:strCache>
                <c:ptCount val="5"/>
                <c:pt idx="0">
                  <c:v>喙长</c:v>
                </c:pt>
                <c:pt idx="1">
                  <c:v>喙深</c:v>
                </c:pt>
                <c:pt idx="2">
                  <c:v>鳍长</c:v>
                </c:pt>
                <c:pt idx="3">
                  <c:v>体重</c:v>
                </c:pt>
                <c:pt idx="4">
                  <c:v>性别</c:v>
                </c:pt>
              </c:strCache>
            </c:strRef>
          </c:cat>
          <c:val>
            <c:numRef>
              <c:f>'Chart Data'!$B$2:$B$6</c:f>
              <c:numCache>
                <c:formatCode>General</c:formatCode>
                <c:ptCount val="5"/>
                <c:pt idx="0">
                  <c:v>2</c:v>
                </c:pt>
                <c:pt idx="1">
                  <c:v>2</c:v>
                </c:pt>
                <c:pt idx="2">
                  <c:v>2</c:v>
                </c:pt>
                <c:pt idx="3">
                  <c:v>2</c:v>
                </c:pt>
                <c:pt idx="4">
                  <c:v>11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875">
                  <a:latin typeface="Microsoft YaHei"/>
                  <a:ea typeface="Microsoft YaHei"/>
                  <a:cs typeface="Microsoft YaHe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catAx>
      <c:valAx>
        <c:axId val="48672768"/>
        <c:scaling>
          <c:orientation val="minMax"/>
          <c:max val="12"/>
          <c:min val="0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Between val="between"/>
        <c:majorUnit val="2"/>
      </c:valAx>
      <c:spPr>
        <a:solidFill xmlns:a="http://schemas.openxmlformats.org/drawingml/2006/main">
          <a:srgbClr val="FFFFFF"/>
        </a:solidFill>
      </c:spPr>
    </c:plotArea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2025">
                <a:latin typeface="Microsoft YaHei"/>
                <a:ea typeface="Microsoft YaHei"/>
                <a:cs typeface="Microsoft YaHei"/>
              </a:rPr>
              <a:t>Adelie鳍长分箱频数（毫米）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2025">
              <a:latin typeface="Microsoft YaHei"/>
              <a:ea typeface="Microsoft YaHei"/>
              <a:cs typeface="Microsoft YaHei"/>
            </a:defRPr>
          </a:pPr>
        </a:p>
      </c:txPr>
    </c:title>
    <c:plotArea>
      <c:barChart>
        <c:barDir val="col"/>
        <c:grouping val="clustered"/>
        <c:varyColors val="0"/>
        <c:ser>
          <c:idx val="0"/>
          <c:order val="0"/>
          <c:tx>
            <c:v>female（雌）</c:v>
          </c:tx>
          <c:spPr>
            <a:solidFill xmlns:a="http://schemas.openxmlformats.org/drawingml/2006/main">
              <a:srgbClr val="245B77"/>
            </a:solidFill>
            <a:ln xmlns:a="http://schemas.openxmlformats.org/drawingml/2006/main" w="23813">
              <a:solidFill>
                <a:srgbClr val="245B77"/>
              </a:solidFill>
            </a:ln>
          </c:spPr>
          <c:invertIfNegative val="0"/>
          <c:cat>
            <c:strRef>
              <c:f>'Chart Data'!$A$2:$A$10</c:f>
              <c:strCache>
                <c:ptCount val="9"/>
                <c:pt idx="0">
                  <c:v>170–175</c:v>
                </c:pt>
                <c:pt idx="1">
                  <c:v>175–180</c:v>
                </c:pt>
                <c:pt idx="2">
                  <c:v>180–185</c:v>
                </c:pt>
                <c:pt idx="3">
                  <c:v>185–190</c:v>
                </c:pt>
                <c:pt idx="4">
                  <c:v>190–195</c:v>
                </c:pt>
                <c:pt idx="5">
                  <c:v>195–200</c:v>
                </c:pt>
                <c:pt idx="6">
                  <c:v>200–205</c:v>
                </c:pt>
                <c:pt idx="7">
                  <c:v>205–210</c:v>
                </c:pt>
                <c:pt idx="8">
                  <c:v>210–215</c:v>
                </c:pt>
              </c:strCache>
            </c:strRef>
          </c:cat>
          <c:val>
            <c:numRef>
              <c:f>'Chart Data'!$B$2:$B$10</c:f>
              <c:numCache>
                <c:formatCode>General</c:formatCode>
                <c:ptCount val="9"/>
                <c:pt idx="0">
                  <c:v>2</c:v>
                </c:pt>
                <c:pt idx="1">
                  <c:v>3</c:v>
                </c:pt>
                <c:pt idx="2">
                  <c:v>11</c:v>
                </c:pt>
                <c:pt idx="3">
                  <c:v>27</c:v>
                </c:pt>
                <c:pt idx="4">
                  <c:v>21</c:v>
                </c:pt>
                <c:pt idx="5">
                  <c:v>8</c:v>
                </c:pt>
                <c:pt idx="6">
                  <c:v>1</c:v>
                </c:pt>
                <c:pt idx="7">
                  <c:v>0</c:v>
                </c:pt>
                <c:pt idx="8">
                  <c:v>0</c:v>
                </c:pt>
              </c:numCache>
            </c:numRef>
          </c:val>
        </c:ser>
        <c:ser>
          <c:idx val="1"/>
          <c:order val="1"/>
          <c:tx>
            <c:v>male（雄）</c:v>
          </c:tx>
          <c:spPr>
            <a:solidFill xmlns:a="http://schemas.openxmlformats.org/drawingml/2006/main">
              <a:srgbClr val="2C6D68"/>
            </a:solidFill>
            <a:ln xmlns:a="http://schemas.openxmlformats.org/drawingml/2006/main" w="23813">
              <a:solidFill>
                <a:srgbClr val="2C6D68"/>
              </a:solidFill>
            </a:ln>
          </c:spPr>
          <c:invertIfNegative val="0"/>
          <c:cat>
            <c:strRef>
              <c:f>'Chart Data'!$C$2:$C$10</c:f>
              <c:strCache>
                <c:ptCount val="9"/>
                <c:pt idx="0">
                  <c:v>170–175</c:v>
                </c:pt>
                <c:pt idx="1">
                  <c:v>175–180</c:v>
                </c:pt>
                <c:pt idx="2">
                  <c:v>180–185</c:v>
                </c:pt>
                <c:pt idx="3">
                  <c:v>185–190</c:v>
                </c:pt>
                <c:pt idx="4">
                  <c:v>190–195</c:v>
                </c:pt>
                <c:pt idx="5">
                  <c:v>195–200</c:v>
                </c:pt>
                <c:pt idx="6">
                  <c:v>200–205</c:v>
                </c:pt>
                <c:pt idx="7">
                  <c:v>205–210</c:v>
                </c:pt>
                <c:pt idx="8">
                  <c:v>210–215</c:v>
                </c:pt>
              </c:strCache>
            </c:strRef>
          </c:cat>
          <c:val>
            <c:numRef>
              <c:f>'Chart Data'!$D$2:$D$10</c:f>
              <c:numCache>
                <c:formatCode>General</c:formatCode>
                <c:ptCount val="9"/>
                <c:pt idx="0">
                  <c:v>0</c:v>
                </c:pt>
                <c:pt idx="1">
                  <c:v>1</c:v>
                </c:pt>
                <c:pt idx="2">
                  <c:v>10</c:v>
                </c:pt>
                <c:pt idx="3">
                  <c:v>8</c:v>
                </c:pt>
                <c:pt idx="4">
                  <c:v>24</c:v>
                </c:pt>
                <c:pt idx="5">
                  <c:v>22</c:v>
                </c:pt>
                <c:pt idx="6">
                  <c:v>5</c:v>
                </c:pt>
                <c:pt idx="7">
                  <c:v>2</c:v>
                </c:pt>
                <c:pt idx="8">
                  <c:v>1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Microsoft YaHei"/>
                  <a:ea typeface="Microsoft YaHei"/>
                  <a:cs typeface="Microsoft YaHei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3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catAx>
      <c:valAx>
        <c:axId val="48672768"/>
        <c:scaling>
          <c:orientation val="minMax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CAD6DC"/>
              </a:solidFill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650">
              <a:latin typeface="Microsoft YaHei"/>
              <a:ea typeface="Microsoft YaHei"/>
              <a:cs typeface="Microsoft YaHei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charts/chart3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2025">
                <a:latin typeface="Microsoft YaHei"/>
                <a:ea typeface="Microsoft YaHei"/>
                <a:cs typeface="Microsoft YaHei"/>
              </a:rPr>
              <a:t>正面次数K的二项分布（n=20，p=0.5）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2025">
              <a:latin typeface="Microsoft YaHei"/>
              <a:ea typeface="Microsoft YaHei"/>
              <a:cs typeface="Microsoft YaHei"/>
            </a:defRPr>
          </a:pPr>
        </a:p>
      </c:txPr>
    </c:title>
    <c:plotArea>
      <c:barChart>
        <c:barDir val="col"/>
        <c:grouping val="clustered"/>
        <c:varyColors val="0"/>
        <c:ser>
          <c:idx val="0"/>
          <c:order val="0"/>
          <c:tx>
            <c:v>概率</c:v>
          </c:tx>
          <c:spPr>
            <a:solidFill xmlns:a="http://schemas.openxmlformats.org/drawingml/2006/main">
              <a:srgbClr val="245B77"/>
            </a:solidFill>
            <a:ln xmlns:a="http://schemas.openxmlformats.org/drawingml/2006/main" w="23813">
              <a:solidFill>
                <a:srgbClr val="245B77"/>
              </a:solidFill>
            </a:ln>
          </c:spPr>
          <c:invertIfNegative val="0"/>
          <c:cat>
            <c:numRef>
              <c:f>'Chart Data'!$A$2:$A$22</c:f>
              <c:numCache>
                <c:formatCode>General</c:formatCode>
                <c:ptCount val="21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</c:numCache>
            </c:numRef>
          </c:cat>
          <c:val>
            <c:numRef>
              <c:f>'Chart Data'!$B$2:$B$22</c:f>
              <c:numCache>
                <c:formatCode>0.00</c:formatCode>
                <c:ptCount val="21"/>
                <c:pt idx="0">
                  <c:v>9.53674316406E-07</c:v>
                </c:pt>
                <c:pt idx="1">
                  <c:v>1.90734863281E-05</c:v>
                </c:pt>
                <c:pt idx="2">
                  <c:v>0.000181198120117</c:v>
                </c:pt>
                <c:pt idx="3">
                  <c:v>0.0010871887207</c:v>
                </c:pt>
                <c:pt idx="4">
                  <c:v>0.00462055206299</c:v>
                </c:pt>
                <c:pt idx="5">
                  <c:v>0.0147857666016</c:v>
                </c:pt>
                <c:pt idx="6">
                  <c:v>0.0369644165039</c:v>
                </c:pt>
                <c:pt idx="7">
                  <c:v>0.0739288330078</c:v>
                </c:pt>
                <c:pt idx="8">
                  <c:v>0.120134353638</c:v>
                </c:pt>
                <c:pt idx="9">
                  <c:v>0.160179138184</c:v>
                </c:pt>
                <c:pt idx="10">
                  <c:v>0.176197052002</c:v>
                </c:pt>
                <c:pt idx="11">
                  <c:v>0.160179138184</c:v>
                </c:pt>
                <c:pt idx="12">
                  <c:v>0.120134353638</c:v>
                </c:pt>
                <c:pt idx="13">
                  <c:v>0.0739288330078</c:v>
                </c:pt>
                <c:pt idx="14">
                  <c:v>0.0369644165039</c:v>
                </c:pt>
                <c:pt idx="15">
                  <c:v>0.0147857666016</c:v>
                </c:pt>
                <c:pt idx="16">
                  <c:v>0.00462055206299</c:v>
                </c:pt>
                <c:pt idx="17">
                  <c:v>0.0010871887207</c:v>
                </c:pt>
                <c:pt idx="18">
                  <c:v>0.000181198120117</c:v>
                </c:pt>
                <c:pt idx="19">
                  <c:v>1.90734863281E-05</c:v>
                </c:pt>
                <c:pt idx="20">
                  <c:v>9.53674316406E-07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Microsoft YaHei"/>
                  <a:ea typeface="Microsoft YaHei"/>
                  <a:cs typeface="Microsoft YaHei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3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catAx>
      <c:valAx>
        <c:axId val="48672768"/>
        <c:scaling>
          <c:orientation val="minMax"/>
          <c:max val="0.2"/>
          <c:min val="0"/>
        </c:scaling>
        <c:delete val="0"/>
        <c:axPos val="l"/>
        <c:numFmt formatCode="0.0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Between val="between"/>
        <c:majorUnit val="0.05"/>
      </c:valAx>
      <c:spPr>
        <a:solidFill xmlns:a="http://schemas.openxmlformats.org/drawingml/2006/main">
          <a:srgbClr val="FFFFFF"/>
        </a:solidFill>
      </c:spPr>
    </c:plotArea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charts/chart4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2025">
                <a:latin typeface="Microsoft YaHei"/>
                <a:ea typeface="Microsoft YaHei"/>
                <a:cs typeface="Microsoft YaHei"/>
              </a:rPr>
              <a:t>均值差的重抽样分布（毫米）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2025">
              <a:latin typeface="Microsoft YaHei"/>
              <a:ea typeface="Microsoft YaHei"/>
              <a:cs typeface="Microsoft YaHei"/>
            </a:defRPr>
          </a:pPr>
        </a:p>
      </c:txPr>
    </c:title>
    <c:plotArea>
      <c:barChart>
        <c:barDir val="col"/>
        <c:grouping val="clustered"/>
        <c:varyColors val="0"/>
        <c:ser>
          <c:idx val="0"/>
          <c:order val="0"/>
          <c:tx>
            <c:v>重抽样次数</c:v>
          </c:tx>
          <c:spPr>
            <a:solidFill xmlns:a="http://schemas.openxmlformats.org/drawingml/2006/main">
              <a:srgbClr val="245B77"/>
            </a:solidFill>
            <a:ln xmlns:a="http://schemas.openxmlformats.org/drawingml/2006/main" w="23813">
              <a:solidFill>
                <a:srgbClr val="245B77"/>
              </a:solidFill>
            </a:ln>
          </c:spPr>
          <c:invertIfNegative val="0"/>
          <c:cat>
            <c:numRef>
              <c:f>'Chart Data'!$A$2:$A$21</c:f>
              <c:numCache>
                <c:formatCode>General</c:formatCode>
                <c:ptCount val="20"/>
                <c:pt idx="0">
                  <c:v>0.0</c:v>
                </c:pt>
                <c:pt idx="1">
                  <c:v>0.5</c:v>
                </c:pt>
                <c:pt idx="2">
                  <c:v>1.0</c:v>
                </c:pt>
                <c:pt idx="3">
                  <c:v>1.5</c:v>
                </c:pt>
                <c:pt idx="4">
                  <c:v>2.0</c:v>
                </c:pt>
                <c:pt idx="5">
                  <c:v>2.5</c:v>
                </c:pt>
                <c:pt idx="6">
                  <c:v>3.0</c:v>
                </c:pt>
                <c:pt idx="7">
                  <c:v>3.5</c:v>
                </c:pt>
                <c:pt idx="8">
                  <c:v>4.0</c:v>
                </c:pt>
                <c:pt idx="9">
                  <c:v>4.5</c:v>
                </c:pt>
                <c:pt idx="10">
                  <c:v>5.0</c:v>
                </c:pt>
                <c:pt idx="11">
                  <c:v>5.5</c:v>
                </c:pt>
                <c:pt idx="12">
                  <c:v>6.0</c:v>
                </c:pt>
                <c:pt idx="13">
                  <c:v>6.5</c:v>
                </c:pt>
                <c:pt idx="14">
                  <c:v>7.0</c:v>
                </c:pt>
                <c:pt idx="15">
                  <c:v>7.5</c:v>
                </c:pt>
                <c:pt idx="16">
                  <c:v>8.0</c:v>
                </c:pt>
                <c:pt idx="17">
                  <c:v>8.5</c:v>
                </c:pt>
                <c:pt idx="18">
                  <c:v>9.0</c:v>
                </c:pt>
                <c:pt idx="19">
                  <c:v>9.5</c:v>
                </c:pt>
              </c:numCache>
            </c:numRef>
          </c:cat>
          <c:val>
            <c:numRef>
              <c:f>'Chart Data'!$B$2:$B$21</c:f>
              <c:numCache>
                <c:formatCode>General</c:formatCode>
                <c:ptCount val="20"/>
                <c:pt idx="0">
                  <c:v>0</c:v>
                </c:pt>
                <c:pt idx="1">
                  <c:v>1</c:v>
                </c:pt>
                <c:pt idx="2">
                  <c:v>8</c:v>
                </c:pt>
                <c:pt idx="3">
                  <c:v>32</c:v>
                </c:pt>
                <c:pt idx="4">
                  <c:v>121</c:v>
                </c:pt>
                <c:pt idx="5">
                  <c:v>366</c:v>
                </c:pt>
                <c:pt idx="6">
                  <c:v>829</c:v>
                </c:pt>
                <c:pt idx="7">
                  <c:v>1308</c:v>
                </c:pt>
                <c:pt idx="8">
                  <c:v>1849</c:v>
                </c:pt>
                <c:pt idx="9">
                  <c:v>1987</c:v>
                </c:pt>
                <c:pt idx="10">
                  <c:v>1617</c:v>
                </c:pt>
                <c:pt idx="11">
                  <c:v>1037</c:v>
                </c:pt>
                <c:pt idx="12">
                  <c:v>555</c:v>
                </c:pt>
                <c:pt idx="13">
                  <c:v>214</c:v>
                </c:pt>
                <c:pt idx="14">
                  <c:v>57</c:v>
                </c:pt>
                <c:pt idx="15">
                  <c:v>16</c:v>
                </c:pt>
                <c:pt idx="16">
                  <c:v>3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Microsoft YaHei"/>
                  <a:ea typeface="Microsoft YaHei"/>
                  <a:cs typeface="Microsoft YaHei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catAx>
      <c:valAx>
        <c:axId val="48672768"/>
        <c:scaling>
          <c:orientation val="minMax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CAD6DC"/>
              </a:solidFill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</c:spPr>
    </c:plotArea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charts/chart5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2025">
                <a:latin typeface="Microsoft YaHei"/>
                <a:ea typeface="Microsoft YaHei"/>
                <a:cs typeface="Microsoft YaHei"/>
              </a:rPr>
              <a:t>喙长与鳍长：按物种着色（毫米）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2025">
              <a:latin typeface="Microsoft YaHei"/>
              <a:ea typeface="Microsoft YaHei"/>
              <a:cs typeface="Microsoft YaHei"/>
            </a:defRPr>
          </a:pPr>
        </a:p>
      </c:txPr>
    </c:title>
    <c:plotArea>
      <c:scatterChart>
        <c:scatterStyle val="marker"/>
        <c:varyColors val="0"/>
        <c:ser>
          <c:idx val="0"/>
          <c:order val="0"/>
          <c:tx>
            <c:v>Adelie</c:v>
          </c:tx>
          <c:spPr>
            <a:solidFill xmlns:a="http://schemas.openxmlformats.org/drawingml/2006/main">
              <a:srgbClr val="245B77"/>
            </a:solidFill>
            <a:ln xmlns:a="http://schemas.openxmlformats.org/drawingml/2006/main" w="0">
              <a:noFill/>
            </a:ln>
          </c:spPr>
          <c:marker>
            <c:symbol val="circle"/>
            <c:size val="5"/>
            <c:spPr>
              <a:solidFill xmlns:a="http://schemas.openxmlformats.org/drawingml/2006/main">
                <a:srgbClr val="245B77"/>
              </a:solidFill>
            </c:spPr>
          </c:marker>
          <c:xVal>
            <c:numRef>
              <c:f>'Chart Data'!$A$2:$A$152</c:f>
              <c:numCache>
                <c:formatCode>General</c:formatCode>
                <c:ptCount val="151"/>
                <c:pt idx="0">
                  <c:v>39.1</c:v>
                </c:pt>
                <c:pt idx="1">
                  <c:v>39.5</c:v>
                </c:pt>
                <c:pt idx="2">
                  <c:v>40.3</c:v>
                </c:pt>
                <c:pt idx="3">
                  <c:v>36.7</c:v>
                </c:pt>
                <c:pt idx="4">
                  <c:v>39.3</c:v>
                </c:pt>
                <c:pt idx="5">
                  <c:v>38.9</c:v>
                </c:pt>
                <c:pt idx="6">
                  <c:v>39.2</c:v>
                </c:pt>
                <c:pt idx="7">
                  <c:v>34.1</c:v>
                </c:pt>
                <c:pt idx="8">
                  <c:v>42</c:v>
                </c:pt>
                <c:pt idx="9">
                  <c:v>37.8</c:v>
                </c:pt>
                <c:pt idx="10">
                  <c:v>37.8</c:v>
                </c:pt>
                <c:pt idx="11">
                  <c:v>41.1</c:v>
                </c:pt>
                <c:pt idx="12">
                  <c:v>38.6</c:v>
                </c:pt>
                <c:pt idx="13">
                  <c:v>34.6</c:v>
                </c:pt>
                <c:pt idx="14">
                  <c:v>36.6</c:v>
                </c:pt>
                <c:pt idx="15">
                  <c:v>38.7</c:v>
                </c:pt>
                <c:pt idx="16">
                  <c:v>42.5</c:v>
                </c:pt>
                <c:pt idx="17">
                  <c:v>34.4</c:v>
                </c:pt>
                <c:pt idx="18">
                  <c:v>46</c:v>
                </c:pt>
                <c:pt idx="19">
                  <c:v>37.8</c:v>
                </c:pt>
                <c:pt idx="20">
                  <c:v>37.7</c:v>
                </c:pt>
                <c:pt idx="21">
                  <c:v>35.9</c:v>
                </c:pt>
                <c:pt idx="22">
                  <c:v>38.2</c:v>
                </c:pt>
                <c:pt idx="23">
                  <c:v>38.8</c:v>
                </c:pt>
                <c:pt idx="24">
                  <c:v>35.3</c:v>
                </c:pt>
                <c:pt idx="25">
                  <c:v>40.6</c:v>
                </c:pt>
                <c:pt idx="26">
                  <c:v>40.5</c:v>
                </c:pt>
                <c:pt idx="27">
                  <c:v>37.9</c:v>
                </c:pt>
                <c:pt idx="28">
                  <c:v>40.5</c:v>
                </c:pt>
                <c:pt idx="29">
                  <c:v>39.5</c:v>
                </c:pt>
                <c:pt idx="30">
                  <c:v>37.2</c:v>
                </c:pt>
                <c:pt idx="31">
                  <c:v>39.5</c:v>
                </c:pt>
                <c:pt idx="32">
                  <c:v>40.9</c:v>
                </c:pt>
                <c:pt idx="33">
                  <c:v>36.4</c:v>
                </c:pt>
                <c:pt idx="34">
                  <c:v>39.2</c:v>
                </c:pt>
                <c:pt idx="35">
                  <c:v>38.8</c:v>
                </c:pt>
                <c:pt idx="36">
                  <c:v>42.2</c:v>
                </c:pt>
                <c:pt idx="37">
                  <c:v>37.6</c:v>
                </c:pt>
                <c:pt idx="38">
                  <c:v>39.8</c:v>
                </c:pt>
                <c:pt idx="39">
                  <c:v>36.5</c:v>
                </c:pt>
                <c:pt idx="40">
                  <c:v>40.8</c:v>
                </c:pt>
                <c:pt idx="41">
                  <c:v>36</c:v>
                </c:pt>
                <c:pt idx="42">
                  <c:v>44.1</c:v>
                </c:pt>
                <c:pt idx="43">
                  <c:v>37</c:v>
                </c:pt>
                <c:pt idx="44">
                  <c:v>39.6</c:v>
                </c:pt>
                <c:pt idx="45">
                  <c:v>41.1</c:v>
                </c:pt>
                <c:pt idx="46">
                  <c:v>37.5</c:v>
                </c:pt>
                <c:pt idx="47">
                  <c:v>36</c:v>
                </c:pt>
                <c:pt idx="48">
                  <c:v>42.3</c:v>
                </c:pt>
                <c:pt idx="49">
                  <c:v>39.6</c:v>
                </c:pt>
                <c:pt idx="50">
                  <c:v>40.1</c:v>
                </c:pt>
                <c:pt idx="51">
                  <c:v>35</c:v>
                </c:pt>
                <c:pt idx="52">
                  <c:v>42</c:v>
                </c:pt>
                <c:pt idx="53">
                  <c:v>34.5</c:v>
                </c:pt>
                <c:pt idx="54">
                  <c:v>41.4</c:v>
                </c:pt>
                <c:pt idx="55">
                  <c:v>39</c:v>
                </c:pt>
                <c:pt idx="56">
                  <c:v>40.6</c:v>
                </c:pt>
                <c:pt idx="57">
                  <c:v>36.5</c:v>
                </c:pt>
                <c:pt idx="58">
                  <c:v>37.6</c:v>
                </c:pt>
                <c:pt idx="59">
                  <c:v>35.7</c:v>
                </c:pt>
                <c:pt idx="60">
                  <c:v>41.3</c:v>
                </c:pt>
                <c:pt idx="61">
                  <c:v>37.6</c:v>
                </c:pt>
                <c:pt idx="62">
                  <c:v>41.1</c:v>
                </c:pt>
                <c:pt idx="63">
                  <c:v>36.4</c:v>
                </c:pt>
                <c:pt idx="64">
                  <c:v>41.6</c:v>
                </c:pt>
                <c:pt idx="65">
                  <c:v>35.5</c:v>
                </c:pt>
                <c:pt idx="66">
                  <c:v>41.1</c:v>
                </c:pt>
                <c:pt idx="67">
                  <c:v>35.9</c:v>
                </c:pt>
                <c:pt idx="68">
                  <c:v>41.8</c:v>
                </c:pt>
                <c:pt idx="69">
                  <c:v>33.5</c:v>
                </c:pt>
                <c:pt idx="70">
                  <c:v>39.7</c:v>
                </c:pt>
                <c:pt idx="71">
                  <c:v>39.6</c:v>
                </c:pt>
                <c:pt idx="72">
                  <c:v>45.8</c:v>
                </c:pt>
                <c:pt idx="73">
                  <c:v>35.5</c:v>
                </c:pt>
                <c:pt idx="74">
                  <c:v>42.8</c:v>
                </c:pt>
                <c:pt idx="75">
                  <c:v>40.9</c:v>
                </c:pt>
                <c:pt idx="76">
                  <c:v>37.2</c:v>
                </c:pt>
                <c:pt idx="77">
                  <c:v>36.2</c:v>
                </c:pt>
                <c:pt idx="78">
                  <c:v>42.1</c:v>
                </c:pt>
                <c:pt idx="79">
                  <c:v>34.6</c:v>
                </c:pt>
                <c:pt idx="80">
                  <c:v>42.9</c:v>
                </c:pt>
                <c:pt idx="81">
                  <c:v>36.7</c:v>
                </c:pt>
                <c:pt idx="82">
                  <c:v>35.1</c:v>
                </c:pt>
                <c:pt idx="83">
                  <c:v>37.3</c:v>
                </c:pt>
                <c:pt idx="84">
                  <c:v>41.3</c:v>
                </c:pt>
                <c:pt idx="85">
                  <c:v>36.3</c:v>
                </c:pt>
                <c:pt idx="86">
                  <c:v>36.9</c:v>
                </c:pt>
                <c:pt idx="87">
                  <c:v>38.3</c:v>
                </c:pt>
                <c:pt idx="88">
                  <c:v>38.9</c:v>
                </c:pt>
                <c:pt idx="89">
                  <c:v>35.7</c:v>
                </c:pt>
                <c:pt idx="90">
                  <c:v>41.1</c:v>
                </c:pt>
                <c:pt idx="91">
                  <c:v>34</c:v>
                </c:pt>
                <c:pt idx="92">
                  <c:v>39.6</c:v>
                </c:pt>
                <c:pt idx="93">
                  <c:v>36.2</c:v>
                </c:pt>
                <c:pt idx="94">
                  <c:v>40.8</c:v>
                </c:pt>
                <c:pt idx="95">
                  <c:v>38.1</c:v>
                </c:pt>
                <c:pt idx="96">
                  <c:v>40.3</c:v>
                </c:pt>
                <c:pt idx="97">
                  <c:v>33.1</c:v>
                </c:pt>
                <c:pt idx="98">
                  <c:v>43.2</c:v>
                </c:pt>
                <c:pt idx="99">
                  <c:v>35</c:v>
                </c:pt>
                <c:pt idx="100">
                  <c:v>41</c:v>
                </c:pt>
                <c:pt idx="101">
                  <c:v>37.7</c:v>
                </c:pt>
                <c:pt idx="102">
                  <c:v>37.8</c:v>
                </c:pt>
                <c:pt idx="103">
                  <c:v>37.9</c:v>
                </c:pt>
                <c:pt idx="104">
                  <c:v>39.7</c:v>
                </c:pt>
                <c:pt idx="105">
                  <c:v>38.6</c:v>
                </c:pt>
                <c:pt idx="106">
                  <c:v>38.2</c:v>
                </c:pt>
                <c:pt idx="107">
                  <c:v>38.1</c:v>
                </c:pt>
                <c:pt idx="108">
                  <c:v>43.2</c:v>
                </c:pt>
                <c:pt idx="109">
                  <c:v>38.1</c:v>
                </c:pt>
                <c:pt idx="110">
                  <c:v>45.6</c:v>
                </c:pt>
                <c:pt idx="111">
                  <c:v>39.7</c:v>
                </c:pt>
                <c:pt idx="112">
                  <c:v>42.2</c:v>
                </c:pt>
                <c:pt idx="113">
                  <c:v>39.6</c:v>
                </c:pt>
                <c:pt idx="114">
                  <c:v>42.7</c:v>
                </c:pt>
                <c:pt idx="115">
                  <c:v>38.6</c:v>
                </c:pt>
                <c:pt idx="116">
                  <c:v>37.3</c:v>
                </c:pt>
                <c:pt idx="117">
                  <c:v>35.7</c:v>
                </c:pt>
                <c:pt idx="118">
                  <c:v>41.1</c:v>
                </c:pt>
                <c:pt idx="119">
                  <c:v>36.2</c:v>
                </c:pt>
                <c:pt idx="120">
                  <c:v>37.7</c:v>
                </c:pt>
                <c:pt idx="121">
                  <c:v>40.2</c:v>
                </c:pt>
                <c:pt idx="122">
                  <c:v>41.4</c:v>
                </c:pt>
                <c:pt idx="123">
                  <c:v>35.2</c:v>
                </c:pt>
                <c:pt idx="124">
                  <c:v>40.6</c:v>
                </c:pt>
                <c:pt idx="125">
                  <c:v>38.8</c:v>
                </c:pt>
                <c:pt idx="126">
                  <c:v>41.5</c:v>
                </c:pt>
                <c:pt idx="127">
                  <c:v>39</c:v>
                </c:pt>
                <c:pt idx="128">
                  <c:v>44.1</c:v>
                </c:pt>
                <c:pt idx="129">
                  <c:v>38.5</c:v>
                </c:pt>
                <c:pt idx="130">
                  <c:v>43.1</c:v>
                </c:pt>
                <c:pt idx="131">
                  <c:v>36.8</c:v>
                </c:pt>
                <c:pt idx="132">
                  <c:v>37.5</c:v>
                </c:pt>
                <c:pt idx="133">
                  <c:v>38.1</c:v>
                </c:pt>
                <c:pt idx="134">
                  <c:v>41.1</c:v>
                </c:pt>
                <c:pt idx="135">
                  <c:v>35.6</c:v>
                </c:pt>
                <c:pt idx="136">
                  <c:v>40.2</c:v>
                </c:pt>
                <c:pt idx="137">
                  <c:v>37</c:v>
                </c:pt>
                <c:pt idx="138">
                  <c:v>39.7</c:v>
                </c:pt>
                <c:pt idx="139">
                  <c:v>40.2</c:v>
                </c:pt>
                <c:pt idx="140">
                  <c:v>40.6</c:v>
                </c:pt>
                <c:pt idx="141">
                  <c:v>32.1</c:v>
                </c:pt>
                <c:pt idx="142">
                  <c:v>40.7</c:v>
                </c:pt>
                <c:pt idx="143">
                  <c:v>37.3</c:v>
                </c:pt>
                <c:pt idx="144">
                  <c:v>39</c:v>
                </c:pt>
                <c:pt idx="145">
                  <c:v>39.2</c:v>
                </c:pt>
                <c:pt idx="146">
                  <c:v>36.6</c:v>
                </c:pt>
                <c:pt idx="147">
                  <c:v>36</c:v>
                </c:pt>
                <c:pt idx="148">
                  <c:v>37.8</c:v>
                </c:pt>
                <c:pt idx="149">
                  <c:v>36</c:v>
                </c:pt>
                <c:pt idx="150">
                  <c:v>41.5</c:v>
                </c:pt>
              </c:numCache>
            </c:numRef>
          </c:xVal>
          <c:yVal>
            <c:numRef>
              <c:f>'Chart Data'!$B$2:$B$152</c:f>
              <c:numCache>
                <c:formatCode>General</c:formatCode>
                <c:ptCount val="151"/>
                <c:pt idx="0">
                  <c:v>181</c:v>
                </c:pt>
                <c:pt idx="1">
                  <c:v>186</c:v>
                </c:pt>
                <c:pt idx="2">
                  <c:v>195</c:v>
                </c:pt>
                <c:pt idx="3">
                  <c:v>193</c:v>
                </c:pt>
                <c:pt idx="4">
                  <c:v>190</c:v>
                </c:pt>
                <c:pt idx="5">
                  <c:v>181</c:v>
                </c:pt>
                <c:pt idx="6">
                  <c:v>195</c:v>
                </c:pt>
                <c:pt idx="7">
                  <c:v>193</c:v>
                </c:pt>
                <c:pt idx="8">
                  <c:v>190</c:v>
                </c:pt>
                <c:pt idx="9">
                  <c:v>186</c:v>
                </c:pt>
                <c:pt idx="10">
                  <c:v>180</c:v>
                </c:pt>
                <c:pt idx="11">
                  <c:v>182</c:v>
                </c:pt>
                <c:pt idx="12">
                  <c:v>191</c:v>
                </c:pt>
                <c:pt idx="13">
                  <c:v>198</c:v>
                </c:pt>
                <c:pt idx="14">
                  <c:v>185</c:v>
                </c:pt>
                <c:pt idx="15">
                  <c:v>195</c:v>
                </c:pt>
                <c:pt idx="16">
                  <c:v>197</c:v>
                </c:pt>
                <c:pt idx="17">
                  <c:v>184</c:v>
                </c:pt>
                <c:pt idx="18">
                  <c:v>194</c:v>
                </c:pt>
                <c:pt idx="19">
                  <c:v>174</c:v>
                </c:pt>
                <c:pt idx="20">
                  <c:v>180</c:v>
                </c:pt>
                <c:pt idx="21">
                  <c:v>189</c:v>
                </c:pt>
                <c:pt idx="22">
                  <c:v>185</c:v>
                </c:pt>
                <c:pt idx="23">
                  <c:v>180</c:v>
                </c:pt>
                <c:pt idx="24">
                  <c:v>187</c:v>
                </c:pt>
                <c:pt idx="25">
                  <c:v>183</c:v>
                </c:pt>
                <c:pt idx="26">
                  <c:v>187</c:v>
                </c:pt>
                <c:pt idx="27">
                  <c:v>172</c:v>
                </c:pt>
                <c:pt idx="28">
                  <c:v>180</c:v>
                </c:pt>
                <c:pt idx="29">
                  <c:v>178</c:v>
                </c:pt>
                <c:pt idx="30">
                  <c:v>178</c:v>
                </c:pt>
                <c:pt idx="31">
                  <c:v>188</c:v>
                </c:pt>
                <c:pt idx="32">
                  <c:v>184</c:v>
                </c:pt>
                <c:pt idx="33">
                  <c:v>195</c:v>
                </c:pt>
                <c:pt idx="34">
                  <c:v>196</c:v>
                </c:pt>
                <c:pt idx="35">
                  <c:v>190</c:v>
                </c:pt>
                <c:pt idx="36">
                  <c:v>180</c:v>
                </c:pt>
                <c:pt idx="37">
                  <c:v>181</c:v>
                </c:pt>
                <c:pt idx="38">
                  <c:v>184</c:v>
                </c:pt>
                <c:pt idx="39">
                  <c:v>182</c:v>
                </c:pt>
                <c:pt idx="40">
                  <c:v>195</c:v>
                </c:pt>
                <c:pt idx="41">
                  <c:v>186</c:v>
                </c:pt>
                <c:pt idx="42">
                  <c:v>196</c:v>
                </c:pt>
                <c:pt idx="43">
                  <c:v>185</c:v>
                </c:pt>
                <c:pt idx="44">
                  <c:v>190</c:v>
                </c:pt>
                <c:pt idx="45">
                  <c:v>182</c:v>
                </c:pt>
                <c:pt idx="46">
                  <c:v>179</c:v>
                </c:pt>
                <c:pt idx="47">
                  <c:v>190</c:v>
                </c:pt>
                <c:pt idx="48">
                  <c:v>191</c:v>
                </c:pt>
                <c:pt idx="49">
                  <c:v>186</c:v>
                </c:pt>
                <c:pt idx="50">
                  <c:v>188</c:v>
                </c:pt>
                <c:pt idx="51">
                  <c:v>190</c:v>
                </c:pt>
                <c:pt idx="52">
                  <c:v>200</c:v>
                </c:pt>
                <c:pt idx="53">
                  <c:v>187</c:v>
                </c:pt>
                <c:pt idx="54">
                  <c:v>191</c:v>
                </c:pt>
                <c:pt idx="55">
                  <c:v>186</c:v>
                </c:pt>
                <c:pt idx="56">
                  <c:v>193</c:v>
                </c:pt>
                <c:pt idx="57">
                  <c:v>181</c:v>
                </c:pt>
                <c:pt idx="58">
                  <c:v>194</c:v>
                </c:pt>
                <c:pt idx="59">
                  <c:v>185</c:v>
                </c:pt>
                <c:pt idx="60">
                  <c:v>195</c:v>
                </c:pt>
                <c:pt idx="61">
                  <c:v>185</c:v>
                </c:pt>
                <c:pt idx="62">
                  <c:v>192</c:v>
                </c:pt>
                <c:pt idx="63">
                  <c:v>184</c:v>
                </c:pt>
                <c:pt idx="64">
                  <c:v>192</c:v>
                </c:pt>
                <c:pt idx="65">
                  <c:v>195</c:v>
                </c:pt>
                <c:pt idx="66">
                  <c:v>188</c:v>
                </c:pt>
                <c:pt idx="67">
                  <c:v>190</c:v>
                </c:pt>
                <c:pt idx="68">
                  <c:v>198</c:v>
                </c:pt>
                <c:pt idx="69">
                  <c:v>190</c:v>
                </c:pt>
                <c:pt idx="70">
                  <c:v>190</c:v>
                </c:pt>
                <c:pt idx="71">
                  <c:v>196</c:v>
                </c:pt>
                <c:pt idx="72">
                  <c:v>197</c:v>
                </c:pt>
                <c:pt idx="73">
                  <c:v>190</c:v>
                </c:pt>
                <c:pt idx="74">
                  <c:v>195</c:v>
                </c:pt>
                <c:pt idx="75">
                  <c:v>191</c:v>
                </c:pt>
                <c:pt idx="76">
                  <c:v>184</c:v>
                </c:pt>
                <c:pt idx="77">
                  <c:v>187</c:v>
                </c:pt>
                <c:pt idx="78">
                  <c:v>195</c:v>
                </c:pt>
                <c:pt idx="79">
                  <c:v>189</c:v>
                </c:pt>
                <c:pt idx="80">
                  <c:v>196</c:v>
                </c:pt>
                <c:pt idx="81">
                  <c:v>187</c:v>
                </c:pt>
                <c:pt idx="82">
                  <c:v>193</c:v>
                </c:pt>
                <c:pt idx="83">
                  <c:v>191</c:v>
                </c:pt>
                <c:pt idx="84">
                  <c:v>194</c:v>
                </c:pt>
                <c:pt idx="85">
                  <c:v>190</c:v>
                </c:pt>
                <c:pt idx="86">
                  <c:v>189</c:v>
                </c:pt>
                <c:pt idx="87">
                  <c:v>189</c:v>
                </c:pt>
                <c:pt idx="88">
                  <c:v>190</c:v>
                </c:pt>
                <c:pt idx="89">
                  <c:v>202</c:v>
                </c:pt>
                <c:pt idx="90">
                  <c:v>205</c:v>
                </c:pt>
                <c:pt idx="91">
                  <c:v>185</c:v>
                </c:pt>
                <c:pt idx="92">
                  <c:v>186</c:v>
                </c:pt>
                <c:pt idx="93">
                  <c:v>187</c:v>
                </c:pt>
                <c:pt idx="94">
                  <c:v>208</c:v>
                </c:pt>
                <c:pt idx="95">
                  <c:v>190</c:v>
                </c:pt>
                <c:pt idx="96">
                  <c:v>196</c:v>
                </c:pt>
                <c:pt idx="97">
                  <c:v>178</c:v>
                </c:pt>
                <c:pt idx="98">
                  <c:v>192</c:v>
                </c:pt>
                <c:pt idx="99">
                  <c:v>192</c:v>
                </c:pt>
                <c:pt idx="100">
                  <c:v>203</c:v>
                </c:pt>
                <c:pt idx="101">
                  <c:v>183</c:v>
                </c:pt>
                <c:pt idx="102">
                  <c:v>190</c:v>
                </c:pt>
                <c:pt idx="103">
                  <c:v>193</c:v>
                </c:pt>
                <c:pt idx="104">
                  <c:v>184</c:v>
                </c:pt>
                <c:pt idx="105">
                  <c:v>199</c:v>
                </c:pt>
                <c:pt idx="106">
                  <c:v>190</c:v>
                </c:pt>
                <c:pt idx="107">
                  <c:v>181</c:v>
                </c:pt>
                <c:pt idx="108">
                  <c:v>197</c:v>
                </c:pt>
                <c:pt idx="109">
                  <c:v>198</c:v>
                </c:pt>
                <c:pt idx="110">
                  <c:v>191</c:v>
                </c:pt>
                <c:pt idx="111">
                  <c:v>193</c:v>
                </c:pt>
                <c:pt idx="112">
                  <c:v>197</c:v>
                </c:pt>
                <c:pt idx="113">
                  <c:v>191</c:v>
                </c:pt>
                <c:pt idx="114">
                  <c:v>196</c:v>
                </c:pt>
                <c:pt idx="115">
                  <c:v>188</c:v>
                </c:pt>
                <c:pt idx="116">
                  <c:v>199</c:v>
                </c:pt>
                <c:pt idx="117">
                  <c:v>189</c:v>
                </c:pt>
                <c:pt idx="118">
                  <c:v>189</c:v>
                </c:pt>
                <c:pt idx="119">
                  <c:v>187</c:v>
                </c:pt>
                <c:pt idx="120">
                  <c:v>198</c:v>
                </c:pt>
                <c:pt idx="121">
                  <c:v>176</c:v>
                </c:pt>
                <c:pt idx="122">
                  <c:v>202</c:v>
                </c:pt>
                <c:pt idx="123">
                  <c:v>186</c:v>
                </c:pt>
                <c:pt idx="124">
                  <c:v>199</c:v>
                </c:pt>
                <c:pt idx="125">
                  <c:v>191</c:v>
                </c:pt>
                <c:pt idx="126">
                  <c:v>195</c:v>
                </c:pt>
                <c:pt idx="127">
                  <c:v>191</c:v>
                </c:pt>
                <c:pt idx="128">
                  <c:v>210</c:v>
                </c:pt>
                <c:pt idx="129">
                  <c:v>190</c:v>
                </c:pt>
                <c:pt idx="130">
                  <c:v>197</c:v>
                </c:pt>
                <c:pt idx="131">
                  <c:v>193</c:v>
                </c:pt>
                <c:pt idx="132">
                  <c:v>199</c:v>
                </c:pt>
                <c:pt idx="133">
                  <c:v>187</c:v>
                </c:pt>
                <c:pt idx="134">
                  <c:v>190</c:v>
                </c:pt>
                <c:pt idx="135">
                  <c:v>191</c:v>
                </c:pt>
                <c:pt idx="136">
                  <c:v>200</c:v>
                </c:pt>
                <c:pt idx="137">
                  <c:v>185</c:v>
                </c:pt>
                <c:pt idx="138">
                  <c:v>193</c:v>
                </c:pt>
                <c:pt idx="139">
                  <c:v>193</c:v>
                </c:pt>
                <c:pt idx="140">
                  <c:v>187</c:v>
                </c:pt>
                <c:pt idx="141">
                  <c:v>188</c:v>
                </c:pt>
                <c:pt idx="142">
                  <c:v>190</c:v>
                </c:pt>
                <c:pt idx="143">
                  <c:v>192</c:v>
                </c:pt>
                <c:pt idx="144">
                  <c:v>185</c:v>
                </c:pt>
                <c:pt idx="145">
                  <c:v>190</c:v>
                </c:pt>
                <c:pt idx="146">
                  <c:v>184</c:v>
                </c:pt>
                <c:pt idx="147">
                  <c:v>195</c:v>
                </c:pt>
                <c:pt idx="148">
                  <c:v>193</c:v>
                </c:pt>
                <c:pt idx="149">
                  <c:v>187</c:v>
                </c:pt>
                <c:pt idx="150">
                  <c:v>201</c:v>
                </c:pt>
              </c:numCache>
            </c:numRef>
          </c:yVal>
        </c:ser>
        <c:ser>
          <c:idx val="1"/>
          <c:order val="1"/>
          <c:tx>
            <c:v>Chinstrap</c:v>
          </c:tx>
          <c:spPr>
            <a:solidFill xmlns:a="http://schemas.openxmlformats.org/drawingml/2006/main">
              <a:srgbClr val="2C6D68"/>
            </a:solidFill>
            <a:ln xmlns:a="http://schemas.openxmlformats.org/drawingml/2006/main" w="0">
              <a:noFill/>
            </a:ln>
          </c:spPr>
          <c:marker>
            <c:symbol val="circle"/>
            <c:size val="5"/>
            <c:spPr>
              <a:solidFill xmlns:a="http://schemas.openxmlformats.org/drawingml/2006/main">
                <a:srgbClr val="2C6D68"/>
              </a:solidFill>
            </c:spPr>
          </c:marker>
          <c:xVal>
            <c:numRef>
              <c:f>'Chart Data'!$C$2:$C$69</c:f>
              <c:numCache>
                <c:formatCode>General</c:formatCode>
                <c:ptCount val="68"/>
                <c:pt idx="0">
                  <c:v>46.5</c:v>
                </c:pt>
                <c:pt idx="1">
                  <c:v>50</c:v>
                </c:pt>
                <c:pt idx="2">
                  <c:v>51.3</c:v>
                </c:pt>
                <c:pt idx="3">
                  <c:v>45.4</c:v>
                </c:pt>
                <c:pt idx="4">
                  <c:v>52.7</c:v>
                </c:pt>
                <c:pt idx="5">
                  <c:v>45.2</c:v>
                </c:pt>
                <c:pt idx="6">
                  <c:v>46.1</c:v>
                </c:pt>
                <c:pt idx="7">
                  <c:v>51.3</c:v>
                </c:pt>
                <c:pt idx="8">
                  <c:v>46</c:v>
                </c:pt>
                <c:pt idx="9">
                  <c:v>51.3</c:v>
                </c:pt>
                <c:pt idx="10">
                  <c:v>46.6</c:v>
                </c:pt>
                <c:pt idx="11">
                  <c:v>51.7</c:v>
                </c:pt>
                <c:pt idx="12">
                  <c:v>47</c:v>
                </c:pt>
                <c:pt idx="13">
                  <c:v>52</c:v>
                </c:pt>
                <c:pt idx="14">
                  <c:v>45.9</c:v>
                </c:pt>
                <c:pt idx="15">
                  <c:v>50.5</c:v>
                </c:pt>
                <c:pt idx="16">
                  <c:v>50.3</c:v>
                </c:pt>
                <c:pt idx="17">
                  <c:v>58</c:v>
                </c:pt>
                <c:pt idx="18">
                  <c:v>46.4</c:v>
                </c:pt>
                <c:pt idx="19">
                  <c:v>49.2</c:v>
                </c:pt>
                <c:pt idx="20">
                  <c:v>42.4</c:v>
                </c:pt>
                <c:pt idx="21">
                  <c:v>48.5</c:v>
                </c:pt>
                <c:pt idx="22">
                  <c:v>43.2</c:v>
                </c:pt>
                <c:pt idx="23">
                  <c:v>50.6</c:v>
                </c:pt>
                <c:pt idx="24">
                  <c:v>46.7</c:v>
                </c:pt>
                <c:pt idx="25">
                  <c:v>52</c:v>
                </c:pt>
                <c:pt idx="26">
                  <c:v>50.5</c:v>
                </c:pt>
                <c:pt idx="27">
                  <c:v>49.5</c:v>
                </c:pt>
                <c:pt idx="28">
                  <c:v>46.4</c:v>
                </c:pt>
                <c:pt idx="29">
                  <c:v>52.8</c:v>
                </c:pt>
                <c:pt idx="30">
                  <c:v>40.9</c:v>
                </c:pt>
                <c:pt idx="31">
                  <c:v>54.2</c:v>
                </c:pt>
                <c:pt idx="32">
                  <c:v>42.5</c:v>
                </c:pt>
                <c:pt idx="33">
                  <c:v>51</c:v>
                </c:pt>
                <c:pt idx="34">
                  <c:v>49.7</c:v>
                </c:pt>
                <c:pt idx="35">
                  <c:v>47.5</c:v>
                </c:pt>
                <c:pt idx="36">
                  <c:v>47.6</c:v>
                </c:pt>
                <c:pt idx="37">
                  <c:v>52</c:v>
                </c:pt>
                <c:pt idx="38">
                  <c:v>46.9</c:v>
                </c:pt>
                <c:pt idx="39">
                  <c:v>53.5</c:v>
                </c:pt>
                <c:pt idx="40">
                  <c:v>49</c:v>
                </c:pt>
                <c:pt idx="41">
                  <c:v>46.2</c:v>
                </c:pt>
                <c:pt idx="42">
                  <c:v>50.9</c:v>
                </c:pt>
                <c:pt idx="43">
                  <c:v>45.5</c:v>
                </c:pt>
                <c:pt idx="44">
                  <c:v>50.9</c:v>
                </c:pt>
                <c:pt idx="45">
                  <c:v>50.8</c:v>
                </c:pt>
                <c:pt idx="46">
                  <c:v>50.1</c:v>
                </c:pt>
                <c:pt idx="47">
                  <c:v>49</c:v>
                </c:pt>
                <c:pt idx="48">
                  <c:v>51.5</c:v>
                </c:pt>
                <c:pt idx="49">
                  <c:v>49.8</c:v>
                </c:pt>
                <c:pt idx="50">
                  <c:v>48.1</c:v>
                </c:pt>
                <c:pt idx="51">
                  <c:v>51.4</c:v>
                </c:pt>
                <c:pt idx="52">
                  <c:v>45.7</c:v>
                </c:pt>
                <c:pt idx="53">
                  <c:v>50.7</c:v>
                </c:pt>
                <c:pt idx="54">
                  <c:v>42.5</c:v>
                </c:pt>
                <c:pt idx="55">
                  <c:v>52.2</c:v>
                </c:pt>
                <c:pt idx="56">
                  <c:v>45.2</c:v>
                </c:pt>
                <c:pt idx="57">
                  <c:v>49.3</c:v>
                </c:pt>
                <c:pt idx="58">
                  <c:v>50.2</c:v>
                </c:pt>
                <c:pt idx="59">
                  <c:v>45.6</c:v>
                </c:pt>
                <c:pt idx="60">
                  <c:v>51.9</c:v>
                </c:pt>
                <c:pt idx="61">
                  <c:v>46.8</c:v>
                </c:pt>
                <c:pt idx="62">
                  <c:v>45.7</c:v>
                </c:pt>
                <c:pt idx="63">
                  <c:v>55.8</c:v>
                </c:pt>
                <c:pt idx="64">
                  <c:v>43.5</c:v>
                </c:pt>
                <c:pt idx="65">
                  <c:v>49.6</c:v>
                </c:pt>
                <c:pt idx="66">
                  <c:v>50.8</c:v>
                </c:pt>
                <c:pt idx="67">
                  <c:v>50.2</c:v>
                </c:pt>
              </c:numCache>
            </c:numRef>
          </c:xVal>
          <c:yVal>
            <c:numRef>
              <c:f>'Chart Data'!$D$2:$D$69</c:f>
              <c:numCache>
                <c:formatCode>General</c:formatCode>
                <c:ptCount val="68"/>
                <c:pt idx="0">
                  <c:v>192</c:v>
                </c:pt>
                <c:pt idx="1">
                  <c:v>196</c:v>
                </c:pt>
                <c:pt idx="2">
                  <c:v>193</c:v>
                </c:pt>
                <c:pt idx="3">
                  <c:v>188</c:v>
                </c:pt>
                <c:pt idx="4">
                  <c:v>197</c:v>
                </c:pt>
                <c:pt idx="5">
                  <c:v>198</c:v>
                </c:pt>
                <c:pt idx="6">
                  <c:v>178</c:v>
                </c:pt>
                <c:pt idx="7">
                  <c:v>197</c:v>
                </c:pt>
                <c:pt idx="8">
                  <c:v>195</c:v>
                </c:pt>
                <c:pt idx="9">
                  <c:v>198</c:v>
                </c:pt>
                <c:pt idx="10">
                  <c:v>193</c:v>
                </c:pt>
                <c:pt idx="11">
                  <c:v>194</c:v>
                </c:pt>
                <c:pt idx="12">
                  <c:v>185</c:v>
                </c:pt>
                <c:pt idx="13">
                  <c:v>201</c:v>
                </c:pt>
                <c:pt idx="14">
                  <c:v>190</c:v>
                </c:pt>
                <c:pt idx="15">
                  <c:v>201</c:v>
                </c:pt>
                <c:pt idx="16">
                  <c:v>197</c:v>
                </c:pt>
                <c:pt idx="17">
                  <c:v>181</c:v>
                </c:pt>
                <c:pt idx="18">
                  <c:v>190</c:v>
                </c:pt>
                <c:pt idx="19">
                  <c:v>195</c:v>
                </c:pt>
                <c:pt idx="20">
                  <c:v>181</c:v>
                </c:pt>
                <c:pt idx="21">
                  <c:v>191</c:v>
                </c:pt>
                <c:pt idx="22">
                  <c:v>187</c:v>
                </c:pt>
                <c:pt idx="23">
                  <c:v>193</c:v>
                </c:pt>
                <c:pt idx="24">
                  <c:v>195</c:v>
                </c:pt>
                <c:pt idx="25">
                  <c:v>197</c:v>
                </c:pt>
                <c:pt idx="26">
                  <c:v>200</c:v>
                </c:pt>
                <c:pt idx="27">
                  <c:v>200</c:v>
                </c:pt>
                <c:pt idx="28">
                  <c:v>191</c:v>
                </c:pt>
                <c:pt idx="29">
                  <c:v>205</c:v>
                </c:pt>
                <c:pt idx="30">
                  <c:v>187</c:v>
                </c:pt>
                <c:pt idx="31">
                  <c:v>201</c:v>
                </c:pt>
                <c:pt idx="32">
                  <c:v>187</c:v>
                </c:pt>
                <c:pt idx="33">
                  <c:v>203</c:v>
                </c:pt>
                <c:pt idx="34">
                  <c:v>195</c:v>
                </c:pt>
                <c:pt idx="35">
                  <c:v>199</c:v>
                </c:pt>
                <c:pt idx="36">
                  <c:v>195</c:v>
                </c:pt>
                <c:pt idx="37">
                  <c:v>210</c:v>
                </c:pt>
                <c:pt idx="38">
                  <c:v>192</c:v>
                </c:pt>
                <c:pt idx="39">
                  <c:v>205</c:v>
                </c:pt>
                <c:pt idx="40">
                  <c:v>210</c:v>
                </c:pt>
                <c:pt idx="41">
                  <c:v>187</c:v>
                </c:pt>
                <c:pt idx="42">
                  <c:v>196</c:v>
                </c:pt>
                <c:pt idx="43">
                  <c:v>196</c:v>
                </c:pt>
                <c:pt idx="44">
                  <c:v>196</c:v>
                </c:pt>
                <c:pt idx="45">
                  <c:v>201</c:v>
                </c:pt>
                <c:pt idx="46">
                  <c:v>190</c:v>
                </c:pt>
                <c:pt idx="47">
                  <c:v>212</c:v>
                </c:pt>
                <c:pt idx="48">
                  <c:v>187</c:v>
                </c:pt>
                <c:pt idx="49">
                  <c:v>198</c:v>
                </c:pt>
                <c:pt idx="50">
                  <c:v>199</c:v>
                </c:pt>
                <c:pt idx="51">
                  <c:v>201</c:v>
                </c:pt>
                <c:pt idx="52">
                  <c:v>193</c:v>
                </c:pt>
                <c:pt idx="53">
                  <c:v>203</c:v>
                </c:pt>
                <c:pt idx="54">
                  <c:v>187</c:v>
                </c:pt>
                <c:pt idx="55">
                  <c:v>197</c:v>
                </c:pt>
                <c:pt idx="56">
                  <c:v>191</c:v>
                </c:pt>
                <c:pt idx="57">
                  <c:v>203</c:v>
                </c:pt>
                <c:pt idx="58">
                  <c:v>202</c:v>
                </c:pt>
                <c:pt idx="59">
                  <c:v>194</c:v>
                </c:pt>
                <c:pt idx="60">
                  <c:v>206</c:v>
                </c:pt>
                <c:pt idx="61">
                  <c:v>189</c:v>
                </c:pt>
                <c:pt idx="62">
                  <c:v>195</c:v>
                </c:pt>
                <c:pt idx="63">
                  <c:v>207</c:v>
                </c:pt>
                <c:pt idx="64">
                  <c:v>202</c:v>
                </c:pt>
                <c:pt idx="65">
                  <c:v>193</c:v>
                </c:pt>
                <c:pt idx="66">
                  <c:v>210</c:v>
                </c:pt>
                <c:pt idx="67">
                  <c:v>198</c:v>
                </c:pt>
              </c:numCache>
            </c:numRef>
          </c:yVal>
        </c:ser>
        <c:ser>
          <c:idx val="2"/>
          <c:order val="2"/>
          <c:tx>
            <c:v>Gentoo</c:v>
          </c:tx>
          <c:spPr>
            <a:solidFill xmlns:a="http://schemas.openxmlformats.org/drawingml/2006/main">
              <a:srgbClr val="963F3C"/>
            </a:solidFill>
            <a:ln xmlns:a="http://schemas.openxmlformats.org/drawingml/2006/main" w="0">
              <a:noFill/>
            </a:ln>
          </c:spPr>
          <c:marker>
            <c:symbol val="circle"/>
            <c:size val="5"/>
            <c:spPr>
              <a:solidFill xmlns:a="http://schemas.openxmlformats.org/drawingml/2006/main">
                <a:srgbClr val="963F3C"/>
              </a:solidFill>
            </c:spPr>
          </c:marker>
          <c:xVal>
            <c:numRef>
              <c:f>'Chart Data'!$E$2:$E$124</c:f>
              <c:numCache>
                <c:formatCode>General</c:formatCode>
                <c:ptCount val="123"/>
                <c:pt idx="0">
                  <c:v>46.1</c:v>
                </c:pt>
                <c:pt idx="1">
                  <c:v>50</c:v>
                </c:pt>
                <c:pt idx="2">
                  <c:v>48.7</c:v>
                </c:pt>
                <c:pt idx="3">
                  <c:v>50</c:v>
                </c:pt>
                <c:pt idx="4">
                  <c:v>47.6</c:v>
                </c:pt>
                <c:pt idx="5">
                  <c:v>46.5</c:v>
                </c:pt>
                <c:pt idx="6">
                  <c:v>45.4</c:v>
                </c:pt>
                <c:pt idx="7">
                  <c:v>46.7</c:v>
                </c:pt>
                <c:pt idx="8">
                  <c:v>43.3</c:v>
                </c:pt>
                <c:pt idx="9">
                  <c:v>46.8</c:v>
                </c:pt>
                <c:pt idx="10">
                  <c:v>40.9</c:v>
                </c:pt>
                <c:pt idx="11">
                  <c:v>49</c:v>
                </c:pt>
                <c:pt idx="12">
                  <c:v>45.5</c:v>
                </c:pt>
                <c:pt idx="13">
                  <c:v>48.4</c:v>
                </c:pt>
                <c:pt idx="14">
                  <c:v>45.8</c:v>
                </c:pt>
                <c:pt idx="15">
                  <c:v>49.3</c:v>
                </c:pt>
                <c:pt idx="16">
                  <c:v>42</c:v>
                </c:pt>
                <c:pt idx="17">
                  <c:v>49.2</c:v>
                </c:pt>
                <c:pt idx="18">
                  <c:v>46.2</c:v>
                </c:pt>
                <c:pt idx="19">
                  <c:v>48.7</c:v>
                </c:pt>
                <c:pt idx="20">
                  <c:v>50.2</c:v>
                </c:pt>
                <c:pt idx="21">
                  <c:v>45.1</c:v>
                </c:pt>
                <c:pt idx="22">
                  <c:v>46.5</c:v>
                </c:pt>
                <c:pt idx="23">
                  <c:v>46.3</c:v>
                </c:pt>
                <c:pt idx="24">
                  <c:v>42.9</c:v>
                </c:pt>
                <c:pt idx="25">
                  <c:v>46.1</c:v>
                </c:pt>
                <c:pt idx="26">
                  <c:v>44.5</c:v>
                </c:pt>
                <c:pt idx="27">
                  <c:v>47.8</c:v>
                </c:pt>
                <c:pt idx="28">
                  <c:v>48.2</c:v>
                </c:pt>
                <c:pt idx="29">
                  <c:v>50</c:v>
                </c:pt>
                <c:pt idx="30">
                  <c:v>47.3</c:v>
                </c:pt>
                <c:pt idx="31">
                  <c:v>42.8</c:v>
                </c:pt>
                <c:pt idx="32">
                  <c:v>45.1</c:v>
                </c:pt>
                <c:pt idx="33">
                  <c:v>59.6</c:v>
                </c:pt>
                <c:pt idx="34">
                  <c:v>49.1</c:v>
                </c:pt>
                <c:pt idx="35">
                  <c:v>48.4</c:v>
                </c:pt>
                <c:pt idx="36">
                  <c:v>42.6</c:v>
                </c:pt>
                <c:pt idx="37">
                  <c:v>44.4</c:v>
                </c:pt>
                <c:pt idx="38">
                  <c:v>44</c:v>
                </c:pt>
                <c:pt idx="39">
                  <c:v>48.7</c:v>
                </c:pt>
                <c:pt idx="40">
                  <c:v>42.7</c:v>
                </c:pt>
                <c:pt idx="41">
                  <c:v>49.6</c:v>
                </c:pt>
                <c:pt idx="42">
                  <c:v>45.3</c:v>
                </c:pt>
                <c:pt idx="43">
                  <c:v>49.6</c:v>
                </c:pt>
                <c:pt idx="44">
                  <c:v>50.5</c:v>
                </c:pt>
                <c:pt idx="45">
                  <c:v>43.6</c:v>
                </c:pt>
                <c:pt idx="46">
                  <c:v>45.5</c:v>
                </c:pt>
                <c:pt idx="47">
                  <c:v>50.5</c:v>
                </c:pt>
                <c:pt idx="48">
                  <c:v>44.9</c:v>
                </c:pt>
                <c:pt idx="49">
                  <c:v>45.2</c:v>
                </c:pt>
                <c:pt idx="50">
                  <c:v>46.6</c:v>
                </c:pt>
                <c:pt idx="51">
                  <c:v>48.5</c:v>
                </c:pt>
                <c:pt idx="52">
                  <c:v>45.1</c:v>
                </c:pt>
                <c:pt idx="53">
                  <c:v>50.1</c:v>
                </c:pt>
                <c:pt idx="54">
                  <c:v>46.5</c:v>
                </c:pt>
                <c:pt idx="55">
                  <c:v>45</c:v>
                </c:pt>
                <c:pt idx="56">
                  <c:v>43.8</c:v>
                </c:pt>
                <c:pt idx="57">
                  <c:v>45.5</c:v>
                </c:pt>
                <c:pt idx="58">
                  <c:v>43.2</c:v>
                </c:pt>
                <c:pt idx="59">
                  <c:v>50.4</c:v>
                </c:pt>
                <c:pt idx="60">
                  <c:v>45.3</c:v>
                </c:pt>
                <c:pt idx="61">
                  <c:v>46.2</c:v>
                </c:pt>
                <c:pt idx="62">
                  <c:v>45.7</c:v>
                </c:pt>
                <c:pt idx="63">
                  <c:v>54.3</c:v>
                </c:pt>
                <c:pt idx="64">
                  <c:v>45.8</c:v>
                </c:pt>
                <c:pt idx="65">
                  <c:v>49.8</c:v>
                </c:pt>
                <c:pt idx="66">
                  <c:v>46.2</c:v>
                </c:pt>
                <c:pt idx="67">
                  <c:v>49.5</c:v>
                </c:pt>
                <c:pt idx="68">
                  <c:v>43.5</c:v>
                </c:pt>
                <c:pt idx="69">
                  <c:v>50.7</c:v>
                </c:pt>
                <c:pt idx="70">
                  <c:v>47.7</c:v>
                </c:pt>
                <c:pt idx="71">
                  <c:v>46.4</c:v>
                </c:pt>
                <c:pt idx="72">
                  <c:v>48.2</c:v>
                </c:pt>
                <c:pt idx="73">
                  <c:v>46.5</c:v>
                </c:pt>
                <c:pt idx="74">
                  <c:v>46.4</c:v>
                </c:pt>
                <c:pt idx="75">
                  <c:v>48.6</c:v>
                </c:pt>
                <c:pt idx="76">
                  <c:v>47.5</c:v>
                </c:pt>
                <c:pt idx="77">
                  <c:v>51.1</c:v>
                </c:pt>
                <c:pt idx="78">
                  <c:v>45.2</c:v>
                </c:pt>
                <c:pt idx="79">
                  <c:v>45.2</c:v>
                </c:pt>
                <c:pt idx="80">
                  <c:v>49.1</c:v>
                </c:pt>
                <c:pt idx="81">
                  <c:v>52.5</c:v>
                </c:pt>
                <c:pt idx="82">
                  <c:v>47.4</c:v>
                </c:pt>
                <c:pt idx="83">
                  <c:v>50</c:v>
                </c:pt>
                <c:pt idx="84">
                  <c:v>44.9</c:v>
                </c:pt>
                <c:pt idx="85">
                  <c:v>50.8</c:v>
                </c:pt>
                <c:pt idx="86">
                  <c:v>43.4</c:v>
                </c:pt>
                <c:pt idx="87">
                  <c:v>51.3</c:v>
                </c:pt>
                <c:pt idx="88">
                  <c:v>47.5</c:v>
                </c:pt>
                <c:pt idx="89">
                  <c:v>52.1</c:v>
                </c:pt>
                <c:pt idx="90">
                  <c:v>47.5</c:v>
                </c:pt>
                <c:pt idx="91">
                  <c:v>52.2</c:v>
                </c:pt>
                <c:pt idx="92">
                  <c:v>45.5</c:v>
                </c:pt>
                <c:pt idx="93">
                  <c:v>49.5</c:v>
                </c:pt>
                <c:pt idx="94">
                  <c:v>44.5</c:v>
                </c:pt>
                <c:pt idx="95">
                  <c:v>50.8</c:v>
                </c:pt>
                <c:pt idx="96">
                  <c:v>49.4</c:v>
                </c:pt>
                <c:pt idx="97">
                  <c:v>46.9</c:v>
                </c:pt>
                <c:pt idx="98">
                  <c:v>48.4</c:v>
                </c:pt>
                <c:pt idx="99">
                  <c:v>51.1</c:v>
                </c:pt>
                <c:pt idx="100">
                  <c:v>48.5</c:v>
                </c:pt>
                <c:pt idx="101">
                  <c:v>55.9</c:v>
                </c:pt>
                <c:pt idx="102">
                  <c:v>47.2</c:v>
                </c:pt>
                <c:pt idx="103">
                  <c:v>49.1</c:v>
                </c:pt>
                <c:pt idx="104">
                  <c:v>47.3</c:v>
                </c:pt>
                <c:pt idx="105">
                  <c:v>46.8</c:v>
                </c:pt>
                <c:pt idx="106">
                  <c:v>41.7</c:v>
                </c:pt>
                <c:pt idx="107">
                  <c:v>53.4</c:v>
                </c:pt>
                <c:pt idx="108">
                  <c:v>43.3</c:v>
                </c:pt>
                <c:pt idx="109">
                  <c:v>48.1</c:v>
                </c:pt>
                <c:pt idx="110">
                  <c:v>50.5</c:v>
                </c:pt>
                <c:pt idx="111">
                  <c:v>49.8</c:v>
                </c:pt>
                <c:pt idx="112">
                  <c:v>43.5</c:v>
                </c:pt>
                <c:pt idx="113">
                  <c:v>51.5</c:v>
                </c:pt>
                <c:pt idx="114">
                  <c:v>46.2</c:v>
                </c:pt>
                <c:pt idx="115">
                  <c:v>55.1</c:v>
                </c:pt>
                <c:pt idx="116">
                  <c:v>44.5</c:v>
                </c:pt>
                <c:pt idx="117">
                  <c:v>48.8</c:v>
                </c:pt>
                <c:pt idx="118">
                  <c:v>47.2</c:v>
                </c:pt>
                <c:pt idx="119">
                  <c:v>46.8</c:v>
                </c:pt>
                <c:pt idx="120">
                  <c:v>50.4</c:v>
                </c:pt>
                <c:pt idx="121">
                  <c:v>45.2</c:v>
                </c:pt>
                <c:pt idx="122">
                  <c:v>49.9</c:v>
                </c:pt>
              </c:numCache>
            </c:numRef>
          </c:xVal>
          <c:yVal>
            <c:numRef>
              <c:f>'Chart Data'!$F$2:$F$124</c:f>
              <c:numCache>
                <c:formatCode>General</c:formatCode>
                <c:ptCount val="123"/>
                <c:pt idx="0">
                  <c:v>211</c:v>
                </c:pt>
                <c:pt idx="1">
                  <c:v>230</c:v>
                </c:pt>
                <c:pt idx="2">
                  <c:v>210</c:v>
                </c:pt>
                <c:pt idx="3">
                  <c:v>218</c:v>
                </c:pt>
                <c:pt idx="4">
                  <c:v>215</c:v>
                </c:pt>
                <c:pt idx="5">
                  <c:v>210</c:v>
                </c:pt>
                <c:pt idx="6">
                  <c:v>211</c:v>
                </c:pt>
                <c:pt idx="7">
                  <c:v>219</c:v>
                </c:pt>
                <c:pt idx="8">
                  <c:v>209</c:v>
                </c:pt>
                <c:pt idx="9">
                  <c:v>215</c:v>
                </c:pt>
                <c:pt idx="10">
                  <c:v>214</c:v>
                </c:pt>
                <c:pt idx="11">
                  <c:v>216</c:v>
                </c:pt>
                <c:pt idx="12">
                  <c:v>214</c:v>
                </c:pt>
                <c:pt idx="13">
                  <c:v>213</c:v>
                </c:pt>
                <c:pt idx="14">
                  <c:v>210</c:v>
                </c:pt>
                <c:pt idx="15">
                  <c:v>217</c:v>
                </c:pt>
                <c:pt idx="16">
                  <c:v>210</c:v>
                </c:pt>
                <c:pt idx="17">
                  <c:v>221</c:v>
                </c:pt>
                <c:pt idx="18">
                  <c:v>209</c:v>
                </c:pt>
                <c:pt idx="19">
                  <c:v>222</c:v>
                </c:pt>
                <c:pt idx="20">
                  <c:v>218</c:v>
                </c:pt>
                <c:pt idx="21">
                  <c:v>215</c:v>
                </c:pt>
                <c:pt idx="22">
                  <c:v>213</c:v>
                </c:pt>
                <c:pt idx="23">
                  <c:v>215</c:v>
                </c:pt>
                <c:pt idx="24">
                  <c:v>215</c:v>
                </c:pt>
                <c:pt idx="25">
                  <c:v>215</c:v>
                </c:pt>
                <c:pt idx="26">
                  <c:v>216</c:v>
                </c:pt>
                <c:pt idx="27">
                  <c:v>215</c:v>
                </c:pt>
                <c:pt idx="28">
                  <c:v>210</c:v>
                </c:pt>
                <c:pt idx="29">
                  <c:v>220</c:v>
                </c:pt>
                <c:pt idx="30">
                  <c:v>222</c:v>
                </c:pt>
                <c:pt idx="31">
                  <c:v>209</c:v>
                </c:pt>
                <c:pt idx="32">
                  <c:v>207</c:v>
                </c:pt>
                <c:pt idx="33">
                  <c:v>230</c:v>
                </c:pt>
                <c:pt idx="34">
                  <c:v>220</c:v>
                </c:pt>
                <c:pt idx="35">
                  <c:v>220</c:v>
                </c:pt>
                <c:pt idx="36">
                  <c:v>213</c:v>
                </c:pt>
                <c:pt idx="37">
                  <c:v>219</c:v>
                </c:pt>
                <c:pt idx="38">
                  <c:v>208</c:v>
                </c:pt>
                <c:pt idx="39">
                  <c:v>208</c:v>
                </c:pt>
                <c:pt idx="40">
                  <c:v>208</c:v>
                </c:pt>
                <c:pt idx="41">
                  <c:v>225</c:v>
                </c:pt>
                <c:pt idx="42">
                  <c:v>210</c:v>
                </c:pt>
                <c:pt idx="43">
                  <c:v>216</c:v>
                </c:pt>
                <c:pt idx="44">
                  <c:v>222</c:v>
                </c:pt>
                <c:pt idx="45">
                  <c:v>217</c:v>
                </c:pt>
                <c:pt idx="46">
                  <c:v>210</c:v>
                </c:pt>
                <c:pt idx="47">
                  <c:v>225</c:v>
                </c:pt>
                <c:pt idx="48">
                  <c:v>213</c:v>
                </c:pt>
                <c:pt idx="49">
                  <c:v>215</c:v>
                </c:pt>
                <c:pt idx="50">
                  <c:v>210</c:v>
                </c:pt>
                <c:pt idx="51">
                  <c:v>220</c:v>
                </c:pt>
                <c:pt idx="52">
                  <c:v>210</c:v>
                </c:pt>
                <c:pt idx="53">
                  <c:v>225</c:v>
                </c:pt>
                <c:pt idx="54">
                  <c:v>217</c:v>
                </c:pt>
                <c:pt idx="55">
                  <c:v>220</c:v>
                </c:pt>
                <c:pt idx="56">
                  <c:v>208</c:v>
                </c:pt>
                <c:pt idx="57">
                  <c:v>220</c:v>
                </c:pt>
                <c:pt idx="58">
                  <c:v>208</c:v>
                </c:pt>
                <c:pt idx="59">
                  <c:v>224</c:v>
                </c:pt>
                <c:pt idx="60">
                  <c:v>208</c:v>
                </c:pt>
                <c:pt idx="61">
                  <c:v>221</c:v>
                </c:pt>
                <c:pt idx="62">
                  <c:v>214</c:v>
                </c:pt>
                <c:pt idx="63">
                  <c:v>231</c:v>
                </c:pt>
                <c:pt idx="64">
                  <c:v>219</c:v>
                </c:pt>
                <c:pt idx="65">
                  <c:v>230</c:v>
                </c:pt>
                <c:pt idx="66">
                  <c:v>214</c:v>
                </c:pt>
                <c:pt idx="67">
                  <c:v>229</c:v>
                </c:pt>
                <c:pt idx="68">
                  <c:v>220</c:v>
                </c:pt>
                <c:pt idx="69">
                  <c:v>223</c:v>
                </c:pt>
                <c:pt idx="70">
                  <c:v>216</c:v>
                </c:pt>
                <c:pt idx="71">
                  <c:v>221</c:v>
                </c:pt>
                <c:pt idx="72">
                  <c:v>221</c:v>
                </c:pt>
                <c:pt idx="73">
                  <c:v>217</c:v>
                </c:pt>
                <c:pt idx="74">
                  <c:v>216</c:v>
                </c:pt>
                <c:pt idx="75">
                  <c:v>230</c:v>
                </c:pt>
                <c:pt idx="76">
                  <c:v>209</c:v>
                </c:pt>
                <c:pt idx="77">
                  <c:v>220</c:v>
                </c:pt>
                <c:pt idx="78">
                  <c:v>215</c:v>
                </c:pt>
                <c:pt idx="79">
                  <c:v>223</c:v>
                </c:pt>
                <c:pt idx="80">
                  <c:v>212</c:v>
                </c:pt>
                <c:pt idx="81">
                  <c:v>221</c:v>
                </c:pt>
                <c:pt idx="82">
                  <c:v>212</c:v>
                </c:pt>
                <c:pt idx="83">
                  <c:v>224</c:v>
                </c:pt>
                <c:pt idx="84">
                  <c:v>212</c:v>
                </c:pt>
                <c:pt idx="85">
                  <c:v>228</c:v>
                </c:pt>
                <c:pt idx="86">
                  <c:v>218</c:v>
                </c:pt>
                <c:pt idx="87">
                  <c:v>218</c:v>
                </c:pt>
                <c:pt idx="88">
                  <c:v>212</c:v>
                </c:pt>
                <c:pt idx="89">
                  <c:v>230</c:v>
                </c:pt>
                <c:pt idx="90">
                  <c:v>218</c:v>
                </c:pt>
                <c:pt idx="91">
                  <c:v>228</c:v>
                </c:pt>
                <c:pt idx="92">
                  <c:v>212</c:v>
                </c:pt>
                <c:pt idx="93">
                  <c:v>224</c:v>
                </c:pt>
                <c:pt idx="94">
                  <c:v>214</c:v>
                </c:pt>
                <c:pt idx="95">
                  <c:v>226</c:v>
                </c:pt>
                <c:pt idx="96">
                  <c:v>216</c:v>
                </c:pt>
                <c:pt idx="97">
                  <c:v>222</c:v>
                </c:pt>
                <c:pt idx="98">
                  <c:v>203</c:v>
                </c:pt>
                <c:pt idx="99">
                  <c:v>225</c:v>
                </c:pt>
                <c:pt idx="100">
                  <c:v>219</c:v>
                </c:pt>
                <c:pt idx="101">
                  <c:v>228</c:v>
                </c:pt>
                <c:pt idx="102">
                  <c:v>215</c:v>
                </c:pt>
                <c:pt idx="103">
                  <c:v>228</c:v>
                </c:pt>
                <c:pt idx="104">
                  <c:v>216</c:v>
                </c:pt>
                <c:pt idx="105">
                  <c:v>215</c:v>
                </c:pt>
                <c:pt idx="106">
                  <c:v>210</c:v>
                </c:pt>
                <c:pt idx="107">
                  <c:v>219</c:v>
                </c:pt>
                <c:pt idx="108">
                  <c:v>208</c:v>
                </c:pt>
                <c:pt idx="109">
                  <c:v>209</c:v>
                </c:pt>
                <c:pt idx="110">
                  <c:v>216</c:v>
                </c:pt>
                <c:pt idx="111">
                  <c:v>229</c:v>
                </c:pt>
                <c:pt idx="112">
                  <c:v>213</c:v>
                </c:pt>
                <c:pt idx="113">
                  <c:v>230</c:v>
                </c:pt>
                <c:pt idx="114">
                  <c:v>217</c:v>
                </c:pt>
                <c:pt idx="115">
                  <c:v>230</c:v>
                </c:pt>
                <c:pt idx="116">
                  <c:v>217</c:v>
                </c:pt>
                <c:pt idx="117">
                  <c:v>222</c:v>
                </c:pt>
                <c:pt idx="118">
                  <c:v>214</c:v>
                </c:pt>
                <c:pt idx="119">
                  <c:v>215</c:v>
                </c:pt>
                <c:pt idx="120">
                  <c:v>222</c:v>
                </c:pt>
                <c:pt idx="121">
                  <c:v>212</c:v>
                </c:pt>
                <c:pt idx="122">
                  <c:v>213</c:v>
                </c:pt>
              </c:numCache>
            </c:numRef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Microsoft YaHei"/>
                  <a:ea typeface="Microsoft YaHei"/>
                  <a:cs typeface="Microsoft YaHei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235"/>
          <c:min val="170"/>
        </c:scaling>
        <c:delete val="0"/>
        <c:axPos val="l"/>
        <c:majorGridlines>
          <c:spPr>
            <a:ln xmlns:a="http://schemas.openxmlformats.org/drawingml/2006/main" w="9525">
              <a:solidFill>
                <a:srgbClr val="CAD6DC"/>
              </a:solidFill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majorUnit val="10"/>
      </c:valAx>
      <c:valAx>
        <c:axId val="48650112"/>
        <c:scaling>
          <c:orientation val="minMax"/>
          <c:max val="60"/>
          <c:min val="30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  <c:majorUnit val="5"/>
      </c:valAx>
      <c:spPr>
        <a:solidFill xmlns:a="http://schemas.openxmlformats.org/drawingml/2006/main">
          <a:srgbClr val="FFFFFF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650">
              <a:latin typeface="Microsoft YaHei"/>
              <a:ea typeface="Microsoft YaHei"/>
              <a:cs typeface="Microsoft YaHei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charts/chart6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2025">
                <a:latin typeface="Microsoft YaHei"/>
                <a:ea typeface="Microsoft YaHei"/>
                <a:cs typeface="Microsoft YaHei"/>
              </a:rPr>
              <a:t>Adelie各年份的组均鳍长（毫米）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2025">
              <a:latin typeface="Microsoft YaHei"/>
              <a:ea typeface="Microsoft YaHei"/>
              <a:cs typeface="Microsoft YaHei"/>
            </a:defRPr>
          </a:pPr>
        </a:p>
      </c:txPr>
    </c:title>
    <c:plotArea>
      <c:lineChart>
        <c:grouping val="standard"/>
        <c:varyColors val="0"/>
        <c:ser>
          <c:idx val="0"/>
          <c:order val="0"/>
          <c:tx>
            <c:v>female（雌）</c:v>
          </c:tx>
          <c:spPr>
            <a:solidFill xmlns:a="http://schemas.openxmlformats.org/drawingml/2006/main">
              <a:srgbClr val="245B77"/>
            </a:solidFill>
            <a:ln xmlns:a="http://schemas.openxmlformats.org/drawingml/2006/main" w="23813">
              <a:solidFill>
                <a:srgbClr val="245B77"/>
              </a:solidFill>
            </a:ln>
          </c:spPr>
          <c:marker>
            <c:symbol val="circle"/>
            <c:size val="5"/>
            <c:spPr>
              <a:solidFill xmlns:a="http://schemas.openxmlformats.org/drawingml/2006/main">
                <a:srgbClr val="245B77"/>
              </a:solidFill>
            </c:spPr>
          </c:marker>
          <c:cat>
            <c:numRef>
              <c:f>'Chart Data'!$A$2:$A$4</c:f>
              <c:numCache>
                <c:formatCode>General</c:formatCode>
                <c:ptCount val="3"/>
                <c:pt idx="0">
                  <c:v>2007</c:v>
                </c:pt>
                <c:pt idx="1">
                  <c:v>2008</c:v>
                </c:pt>
                <c:pt idx="2">
                  <c:v>2009</c:v>
                </c:pt>
              </c:numCache>
            </c:numRef>
          </c:cat>
          <c:val>
            <c:numRef>
              <c:f>'Chart Data'!$B$2:$B$4</c:f>
              <c:numCache>
                <c:formatCode>General</c:formatCode>
                <c:ptCount val="3"/>
                <c:pt idx="0">
                  <c:v>185.227272727</c:v>
                </c:pt>
                <c:pt idx="1">
                  <c:v>188.44</c:v>
                </c:pt>
                <c:pt idx="2">
                  <c:v>189.346153846</c:v>
                </c:pt>
              </c:numCache>
            </c:numRef>
          </c:val>
          <c:smooth val="0"/>
        </c:ser>
        <c:ser>
          <c:idx val="1"/>
          <c:order val="1"/>
          <c:tx>
            <c:v>male（雄）</c:v>
          </c:tx>
          <c:spPr>
            <a:solidFill xmlns:a="http://schemas.openxmlformats.org/drawingml/2006/main">
              <a:srgbClr val="2C6D68"/>
            </a:solidFill>
            <a:ln xmlns:a="http://schemas.openxmlformats.org/drawingml/2006/main" w="23813">
              <a:solidFill>
                <a:srgbClr val="2C6D68"/>
              </a:solidFill>
            </a:ln>
          </c:spPr>
          <c:marker>
            <c:symbol val="circle"/>
            <c:size val="5"/>
            <c:spPr>
              <a:solidFill xmlns:a="http://schemas.openxmlformats.org/drawingml/2006/main">
                <a:srgbClr val="2C6D68"/>
              </a:solidFill>
            </c:spPr>
          </c:marker>
          <c:cat>
            <c:numRef>
              <c:f>'Chart Data'!$C$2:$C$4</c:f>
              <c:numCache>
                <c:formatCode>General</c:formatCode>
                <c:ptCount val="3"/>
                <c:pt idx="0">
                  <c:v>2007</c:v>
                </c:pt>
                <c:pt idx="1">
                  <c:v>2008</c:v>
                </c:pt>
                <c:pt idx="2">
                  <c:v>2009</c:v>
                </c:pt>
              </c:numCache>
            </c:numRef>
          </c:cat>
          <c:val>
            <c:numRef>
              <c:f>'Chart Data'!$D$2:$D$4</c:f>
              <c:numCache>
                <c:formatCode>General</c:formatCode>
                <c:ptCount val="3"/>
                <c:pt idx="0">
                  <c:v>188.181818182</c:v>
                </c:pt>
                <c:pt idx="1">
                  <c:v>193.64</c:v>
                </c:pt>
                <c:pt idx="2">
                  <c:v>194.807692308</c:v>
                </c:pt>
              </c:numCache>
            </c:numRef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Microsoft YaHei"/>
                  <a:ea typeface="Microsoft YaHei"/>
                  <a:cs typeface="Microsoft YaHei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catAx>
      <c:valAx>
        <c:axId val="48672768"/>
        <c:scaling>
          <c:orientation val="minMax"/>
          <c:max val="200"/>
          <c:min val="180"/>
        </c:scaling>
        <c:delete val="0"/>
        <c:axPos val="l"/>
        <c:majorGridlines>
          <c:spPr>
            <a:ln xmlns:a="http://schemas.openxmlformats.org/drawingml/2006/main" w="9525">
              <a:solidFill>
                <a:srgbClr val="CAD6DC"/>
              </a:solidFill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Between val="between"/>
        <c:majorUnit val="5"/>
      </c:valAx>
      <c:spPr>
        <a:solidFill xmlns:a="http://schemas.openxmlformats.org/drawingml/2006/main">
          <a:srgbClr val="FFFFFF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650">
              <a:latin typeface="Microsoft YaHei"/>
              <a:ea typeface="Microsoft YaHei"/>
              <a:cs typeface="Microsoft YaHei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5473EBE-7858-48A4-B3A9-6C20D2312656}"/>
              </a:ext>
            </a:extLst>
          </p:cNvPr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10858500" y="4238625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9CA5417-91F7-44EF-AE05-F94073584BAF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7239000" y="4238625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3FBE7DE-75D2-4AC3-93A0-109893FF36BB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3619500" y="4238625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117E2FE-1067-4DA0-96AB-35E0614FE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07  数据处理与统计分析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326CB7-17E3-457B-854C-FE78636CB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数据处理与统计分析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E25CB03-3539-4E66-8DC4-9292DA5A1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418B4A8-89CC-4BE5-9F5D-DCA05094A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本节用公开测量数据，说明检查、计算和解释怎样衔接。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91CE4AA-21A8-4F6A-A1D1-F93D59157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10000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研究问题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80B5044-C6FF-420D-923B-70C7759A5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810000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原始数据检查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1D04538-9549-474B-AC3B-4ACF332A2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810000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统计计算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B773142-B3E7-4BE0-9243-6330EFD9E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3810000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结果与限制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E99AFB8-B203-4747-A5DC-C919C7DC5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95875"/>
            <a:ext cx="2857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同物种雌雄</a:t>
            </a:r>
          </a:p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鳍长差异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7765CD4-1517-4566-811D-A8D6D31EF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5095875"/>
            <a:ext cx="2857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核对字段、单位与缺失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8EF22B6-8C3F-45C6-A873-2A1E2BCDF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5095875"/>
            <a:ext cx="2857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描述分布并估计差异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D72F1F3-0C79-4C82-9309-8BDAD634A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5095875"/>
            <a:ext cx="2857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说明假设与适用范围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8DAC8D9-8E16-4990-B06E-30870FE22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715125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AD6DC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1307183-750D-483A-A6EE-EB0F754DE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058025"/>
            <a:ext cx="13716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示例任务：比较同一物种的雌雄鳍长，并核对年份、缺失与独立性假设。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21DFADE-2651-4859-8812-60F428E1A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分析对象、单位和排除规则共同决定结果含义。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9A32240-4A89-4E4C-96B8-C08994373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来源：UC Berkeley 2026，EDA I，pp.9/20/24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282453B-78E6-4616-B46F-A2B88F793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47166166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7210356-7D6D-4C38-86AA-B017AA5F1EBD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4095750" y="4929188"/>
            <a:ext cx="2095500" cy="152400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BAEC9D6-749D-4F2E-BD29-59903C45B02F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4095750" y="4929188"/>
            <a:ext cx="2095500" cy="9525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AAD58D4-265C-48B1-A3AF-039E971F70FB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 flipV="1">
            <a:off x="4095750" y="3595688"/>
            <a:ext cx="2095500" cy="133350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73399E0-98D7-4495-B53D-17A35D34A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07  数据处理与统计分析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6550D0C-C130-4555-920A-0D90BF211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公开数据的采集背景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A55B39B-B3E7-4702-A3F0-C78DB68C9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1036902-C60A-4463-8D6A-78477B14A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Palmer数据包含344只企鹅、3个物种、3座岛屿，采集年份为2007—2009。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C02F6FE-5BE7-4660-9F99-152EC2414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76750"/>
            <a:ext cx="333375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344条公开观测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B7DB67A-5599-499A-8BE4-2691FEE7F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190875"/>
            <a:ext cx="428625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Adelie 阿德利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B0CDB84-252A-443E-972E-E023A57ED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3381375"/>
            <a:ext cx="2571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152条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A5EEA34-59E4-4F5C-A1E0-F08E9FA5A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619625"/>
            <a:ext cx="428625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Chinstrap 帽带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7A434F2-7301-488A-9815-49441D637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4810125"/>
            <a:ext cx="2571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68条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8A4C04A-B26E-4D7B-A3C4-1E786E6A8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6048375"/>
            <a:ext cx="428625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Gentoo 巴布亚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B9DB927-8B5B-4ED5-A9F3-0F281FD97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6238875"/>
            <a:ext cx="2571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124条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04BBB92-1389-4406-8A60-AFD4F6415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905625"/>
            <a:ext cx="8096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4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4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3座岛屿，2007—2009年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A01E591-A3AE-4313-8A62-08A5000C1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公开观测数据的二次教学分析，研究范围需结合原始采样设计判断。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0D83FFC-675E-48B5-96AC-2DE1DB7D1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来源：palmerpenguins公开数据，本课程二次计算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F6E9F2D-D4A9-4AC6-84D5-2A17F1E07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50342064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48B737B-3D1D-4C14-90A3-7A463C896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07  数据处理与统计分析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2334816-7BE1-4928-93B5-97BD71727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原始表格中的数值与缺失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3ED4C84-267D-429C-AC97-74DE5288D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5F4CC2A-696B-453C-A41E-76C52A3B0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预览前6条记录，就能看见鳍长的单位、性别分类，以及整组测量缺失。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DAC9C12-EF47-43F0-BEDB-D44BED9291B1}"/>
              </a:ext>
            </a:extLst>
          </p:cNvPr>
          <p:cNvGraphicFramePr/>
          <p:nvPr/>
        </p:nvGraphicFramePr>
        <p:xfrm>
          <a:off xmlns:a="http://schemas.openxmlformats.org/drawingml/2006/main" x="762000" y="3143250"/>
          <a:ext xmlns:a="http://schemas.openxmlformats.org/drawingml/2006/main" cx="13716000" cy="4286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714500"/>
                <a:gridCol w="3238500"/>
                <a:gridCol w="2857500"/>
                <a:gridCol w="3048000"/>
                <a:gridCol w="2857500"/>
              </a:tblGrid>
              <a:tr h="612321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CSV行</a:t>
                      </a:r>
                    </a:p>
                  </a:txBody>
                  <a:tcPr marL="142875" marR="142875" marT="66675" marB="57150" anchor="t">
                    <a:lnL w="9525">
                      <a:solidFill>
                        <a:srgbClr val="CAD6DC"/>
                      </a:solidFill>
                    </a:lnL>
                    <a:lnR w="9525">
                      <a:solidFill>
                        <a:srgbClr val="CAD6DC"/>
                      </a:solidFill>
                    </a:lnR>
                    <a:lnT w="9525">
                      <a:solidFill>
                        <a:srgbClr val="CAD6DC"/>
                      </a:solidFill>
                    </a:lnT>
                    <a:lnB w="9525">
                      <a:solidFill>
                        <a:srgbClr val="CAD6DC"/>
                      </a:solidFill>
                    </a:lnB>
                    <a:solidFill>
                      <a:srgbClr val="132F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物种</a:t>
                      </a:r>
                    </a:p>
                  </a:txBody>
                  <a:tcPr marL="142875" marR="142875" marT="66675" marB="57150" anchor="t">
                    <a:lnR w="9525">
                      <a:solidFill>
                        <a:srgbClr val="CAD6DC"/>
                      </a:solidFill>
                    </a:lnR>
                    <a:lnT w="9525">
                      <a:solidFill>
                        <a:srgbClr val="CAD6DC"/>
                      </a:solidFill>
                    </a:lnT>
                    <a:lnB w="9525">
                      <a:solidFill>
                        <a:srgbClr val="CAD6DC"/>
                      </a:solidFill>
                    </a:lnB>
                    <a:solidFill>
                      <a:srgbClr val="132F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鳍长 mm</a:t>
                      </a:r>
                    </a:p>
                  </a:txBody>
                  <a:tcPr marL="142875" marR="142875" marT="66675" marB="57150" anchor="t">
                    <a:lnR w="9525">
                      <a:solidFill>
                        <a:srgbClr val="CAD6DC"/>
                      </a:solidFill>
                    </a:lnR>
                    <a:lnT w="9525">
                      <a:solidFill>
                        <a:srgbClr val="CAD6DC"/>
                      </a:solidFill>
                    </a:lnT>
                    <a:lnB w="9525">
                      <a:solidFill>
                        <a:srgbClr val="CAD6DC"/>
                      </a:solidFill>
                    </a:lnB>
                    <a:solidFill>
                      <a:srgbClr val="132F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性别</a:t>
                      </a:r>
                    </a:p>
                  </a:txBody>
                  <a:tcPr marL="142875" marR="142875" marT="66675" marB="57150" anchor="t">
                    <a:lnR w="9525">
                      <a:solidFill>
                        <a:srgbClr val="CAD6DC"/>
                      </a:solidFill>
                    </a:lnR>
                    <a:lnT w="9525">
                      <a:solidFill>
                        <a:srgbClr val="CAD6DC"/>
                      </a:solidFill>
                    </a:lnT>
                    <a:lnB w="9525">
                      <a:solidFill>
                        <a:srgbClr val="CAD6DC"/>
                      </a:solidFill>
                    </a:lnB>
                    <a:solidFill>
                      <a:srgbClr val="132F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年份</a:t>
                      </a:r>
                    </a:p>
                  </a:txBody>
                  <a:tcPr marL="142875" marR="142875" marT="66675" marB="57150" anchor="t">
                    <a:lnR w="9525">
                      <a:solidFill>
                        <a:srgbClr val="CAD6DC"/>
                      </a:solidFill>
                    </a:lnR>
                    <a:lnT w="9525">
                      <a:solidFill>
                        <a:srgbClr val="CAD6DC"/>
                      </a:solidFill>
                    </a:lnT>
                    <a:lnB w="9525">
                      <a:solidFill>
                        <a:srgbClr val="CAD6DC"/>
                      </a:solidFill>
                    </a:lnB>
                    <a:solidFill>
                      <a:srgbClr val="132F43"/>
                    </a:solidFill>
                  </a:tcPr>
                </a:tc>
              </a:tr>
              <a:tr h="612321"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</a:t>
                      </a:r>
                    </a:p>
                  </a:txBody>
                  <a:tcPr marL="142875" marR="142875" marT="66675" marB="57150" anchor="t">
                    <a:lnL w="9525">
                      <a:solidFill>
                        <a:srgbClr val="CAD6DC"/>
                      </a:solidFill>
                    </a:lnL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Adelie</a:t>
                      </a:r>
                    </a:p>
                  </a:txBody>
                  <a:tcPr marL="142875" marR="142875" marT="66675" marB="571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181</a:t>
                      </a:r>
                    </a:p>
                  </a:txBody>
                  <a:tcPr marL="142875" marR="142875" marT="66675" marB="571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male</a:t>
                      </a:r>
                    </a:p>
                  </a:txBody>
                  <a:tcPr marL="142875" marR="142875" marT="66675" marB="571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2007</a:t>
                      </a:r>
                    </a:p>
                  </a:txBody>
                  <a:tcPr marL="142875" marR="142875" marT="66675" marB="571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12321"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</a:t>
                      </a:r>
                    </a:p>
                  </a:txBody>
                  <a:tcPr marL="142875" marR="142875" marT="66675" marB="57150" anchor="t">
                    <a:lnL w="9525">
                      <a:solidFill>
                        <a:srgbClr val="CAD6DC"/>
                      </a:solidFill>
                    </a:lnL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Adelie</a:t>
                      </a:r>
                    </a:p>
                  </a:txBody>
                  <a:tcPr marL="142875" marR="142875" marT="66675" marB="571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186</a:t>
                      </a:r>
                    </a:p>
                  </a:txBody>
                  <a:tcPr marL="142875" marR="142875" marT="66675" marB="571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female</a:t>
                      </a:r>
                    </a:p>
                  </a:txBody>
                  <a:tcPr marL="142875" marR="142875" marT="66675" marB="571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2007</a:t>
                      </a:r>
                    </a:p>
                  </a:txBody>
                  <a:tcPr marL="142875" marR="142875" marT="66675" marB="571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12321"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</a:t>
                      </a:r>
                    </a:p>
                  </a:txBody>
                  <a:tcPr marL="142875" marR="142875" marT="66675" marB="57150" anchor="t">
                    <a:lnL w="9525">
                      <a:solidFill>
                        <a:srgbClr val="CAD6DC"/>
                      </a:solidFill>
                    </a:lnL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Adelie</a:t>
                      </a:r>
                    </a:p>
                  </a:txBody>
                  <a:tcPr marL="142875" marR="142875" marT="66675" marB="571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195</a:t>
                      </a:r>
                    </a:p>
                  </a:txBody>
                  <a:tcPr marL="142875" marR="142875" marT="66675" marB="571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female</a:t>
                      </a:r>
                    </a:p>
                  </a:txBody>
                  <a:tcPr marL="142875" marR="142875" marT="66675" marB="571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2007</a:t>
                      </a:r>
                    </a:p>
                  </a:txBody>
                  <a:tcPr marL="142875" marR="142875" marT="66675" marB="571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12321"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</a:t>
                      </a:r>
                    </a:p>
                  </a:txBody>
                  <a:tcPr marL="142875" marR="142875" marT="66675" marB="57150" anchor="t">
                    <a:lnL w="9525">
                      <a:solidFill>
                        <a:srgbClr val="CAD6DC"/>
                      </a:solidFill>
                    </a:lnL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Adelie</a:t>
                      </a:r>
                    </a:p>
                  </a:txBody>
                  <a:tcPr marL="142875" marR="142875" marT="66675" marB="571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NA</a:t>
                      </a:r>
                    </a:p>
                  </a:txBody>
                  <a:tcPr marL="142875" marR="142875" marT="66675" marB="571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NA</a:t>
                      </a:r>
                    </a:p>
                  </a:txBody>
                  <a:tcPr marL="142875" marR="142875" marT="66675" marB="571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2007</a:t>
                      </a:r>
                    </a:p>
                  </a:txBody>
                  <a:tcPr marL="142875" marR="142875" marT="66675" marB="571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12321"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</a:t>
                      </a:r>
                    </a:p>
                  </a:txBody>
                  <a:tcPr marL="142875" marR="142875" marT="66675" marB="57150" anchor="t">
                    <a:lnL w="9525">
                      <a:solidFill>
                        <a:srgbClr val="CAD6DC"/>
                      </a:solidFill>
                    </a:lnL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Adelie</a:t>
                      </a:r>
                    </a:p>
                  </a:txBody>
                  <a:tcPr marL="142875" marR="142875" marT="66675" marB="571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193</a:t>
                      </a:r>
                    </a:p>
                  </a:txBody>
                  <a:tcPr marL="142875" marR="142875" marT="66675" marB="571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female</a:t>
                      </a:r>
                    </a:p>
                  </a:txBody>
                  <a:tcPr marL="142875" marR="142875" marT="66675" marB="571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2007</a:t>
                      </a:r>
                    </a:p>
                  </a:txBody>
                  <a:tcPr marL="142875" marR="142875" marT="66675" marB="571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12321"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7</a:t>
                      </a:r>
                    </a:p>
                  </a:txBody>
                  <a:tcPr marL="142875" marR="142875" marT="66675" marB="57150" anchor="t">
                    <a:lnL w="9525">
                      <a:solidFill>
                        <a:srgbClr val="CAD6DC"/>
                      </a:solidFill>
                    </a:lnL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Adelie</a:t>
                      </a:r>
                    </a:p>
                  </a:txBody>
                  <a:tcPr marL="142875" marR="142875" marT="66675" marB="571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190</a:t>
                      </a:r>
                    </a:p>
                  </a:txBody>
                  <a:tcPr marL="142875" marR="142875" marT="66675" marB="571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male</a:t>
                      </a:r>
                    </a:p>
                  </a:txBody>
                  <a:tcPr marL="142875" marR="142875" marT="66675" marB="571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2007</a:t>
                      </a:r>
                    </a:p>
                  </a:txBody>
                  <a:tcPr marL="142875" marR="142875" marT="66675" marB="571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21D8D07-7959-4D01-ACA8-444E149A9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NA表示缺失；male为雄、female为雌。CSV行号仅用于追溯。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841E6B1-29BE-4F37-80D6-CC72FE877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来源：palmerpenguins公开数据，本课程二次计算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C37CB3C-D5A5-4D0C-AA98-CC316D9A9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35823685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6E8C7CB-3471-4A07-8B0D-FCEBA39AF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07  数据处理与统计分析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1449F6B-6435-442C-8364-1120114AC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字段定义与比较口径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60BAF5B-85AA-493B-AC21-19A181DEB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9A13488-6B74-4184-B215-6239F862A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示例问题限定为Adelie物种内部的雌雄鳍长比较，测量单位保留毫米。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FA6C63E-D5CB-40B0-8700-D7ADAE2DF50E}"/>
              </a:ext>
            </a:extLst>
          </p:cNvPr>
          <p:cNvGraphicFramePr/>
          <p:nvPr/>
        </p:nvGraphicFramePr>
        <p:xfrm>
          <a:off xmlns:a="http://schemas.openxmlformats.org/drawingml/2006/main" x="762000" y="3143250"/>
          <a:ext xmlns:a="http://schemas.openxmlformats.org/drawingml/2006/main" cx="13716000" cy="4286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619500"/>
                <a:gridCol w="5334000"/>
                <a:gridCol w="4762500"/>
              </a:tblGrid>
              <a:tr h="714375"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字段</a:t>
                      </a:r>
                    </a:p>
                  </a:txBody>
                  <a:tcPr marL="142875" marR="142875" marT="161925" marB="95250" anchor="t">
                    <a:lnL w="9525">
                      <a:solidFill>
                        <a:srgbClr val="CAD6DC"/>
                      </a:solidFill>
                    </a:lnL>
                    <a:lnR w="9525">
                      <a:solidFill>
                        <a:srgbClr val="CAD6DC"/>
                      </a:solidFill>
                    </a:lnR>
                    <a:lnT w="9525">
                      <a:solidFill>
                        <a:srgbClr val="CAD6DC"/>
                      </a:solidFill>
                    </a:lnT>
                    <a:lnB w="9525">
                      <a:solidFill>
                        <a:srgbClr val="CAD6DC"/>
                      </a:solidFill>
                    </a:lnB>
                    <a:solidFill>
                      <a:srgbClr val="132F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含义与单位</a:t>
                      </a:r>
                    </a:p>
                  </a:txBody>
                  <a:tcPr marL="142875" marR="142875" marT="161925" marB="95250" anchor="t">
                    <a:lnR w="9525">
                      <a:solidFill>
                        <a:srgbClr val="CAD6DC"/>
                      </a:solidFill>
                    </a:lnR>
                    <a:lnT w="9525">
                      <a:solidFill>
                        <a:srgbClr val="CAD6DC"/>
                      </a:solidFill>
                    </a:lnT>
                    <a:lnB w="9525">
                      <a:solidFill>
                        <a:srgbClr val="CAD6DC"/>
                      </a:solidFill>
                    </a:lnB>
                    <a:solidFill>
                      <a:srgbClr val="132F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本次用途</a:t>
                      </a:r>
                    </a:p>
                  </a:txBody>
                  <a:tcPr marL="142875" marR="142875" marT="161925" marB="95250" anchor="t">
                    <a:lnR w="9525">
                      <a:solidFill>
                        <a:srgbClr val="CAD6DC"/>
                      </a:solidFill>
                    </a:lnR>
                    <a:lnT w="9525">
                      <a:solidFill>
                        <a:srgbClr val="CAD6DC"/>
                      </a:solidFill>
                    </a:lnT>
                    <a:lnB w="9525">
                      <a:solidFill>
                        <a:srgbClr val="CAD6DC"/>
                      </a:solidFill>
                    </a:lnB>
                    <a:solidFill>
                      <a:srgbClr val="132F43"/>
                    </a:solidFill>
                  </a:tcPr>
                </a:tc>
              </a:tr>
              <a:tr h="714375"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species</a:t>
                      </a:r>
                    </a:p>
                  </a:txBody>
                  <a:tcPr marL="142875" marR="142875" marT="161925" marB="95250" anchor="t">
                    <a:lnL w="9525">
                      <a:solidFill>
                        <a:srgbClr val="CAD6DC"/>
                      </a:solidFill>
                    </a:lnL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物种，分类</a:t>
                      </a:r>
                    </a:p>
                  </a:txBody>
                  <a:tcPr marL="142875" marR="142875" marT="161925" marB="952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限定Adelie</a:t>
                      </a:r>
                    </a:p>
                  </a:txBody>
                  <a:tcPr marL="142875" marR="142875" marT="161925" marB="952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14375"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sex</a:t>
                      </a:r>
                    </a:p>
                  </a:txBody>
                  <a:tcPr marL="142875" marR="142875" marT="161925" marB="95250" anchor="t">
                    <a:lnL w="9525">
                      <a:solidFill>
                        <a:srgbClr val="CAD6DC"/>
                      </a:solidFill>
                    </a:lnL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female（雌）/ male（雄）</a:t>
                      </a:r>
                    </a:p>
                  </a:txBody>
                  <a:tcPr marL="142875" marR="142875" marT="161925" marB="952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分组变量</a:t>
                      </a:r>
                    </a:p>
                  </a:txBody>
                  <a:tcPr marL="142875" marR="142875" marT="161925" marB="952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14375"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flipper_length_mm</a:t>
                      </a:r>
                    </a:p>
                  </a:txBody>
                  <a:tcPr marL="142875" marR="142875" marT="161925" marB="95250" anchor="t">
                    <a:lnL w="9525">
                      <a:solidFill>
                        <a:srgbClr val="CAD6DC"/>
                      </a:solidFill>
                    </a:lnL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鳍长，毫米</a:t>
                      </a:r>
                    </a:p>
                  </a:txBody>
                  <a:tcPr marL="142875" marR="142875" marT="161925" marB="952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连续结果变量</a:t>
                      </a:r>
                    </a:p>
                  </a:txBody>
                  <a:tcPr marL="142875" marR="142875" marT="161925" marB="952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14375"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island / year</a:t>
                      </a:r>
                    </a:p>
                  </a:txBody>
                  <a:tcPr marL="142875" marR="142875" marT="161925" marB="95250" anchor="t">
                    <a:lnL w="9525">
                      <a:solidFill>
                        <a:srgbClr val="CAD6DC"/>
                      </a:solidFill>
                    </a:lnL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岛屿 / 采集年份</a:t>
                      </a:r>
                    </a:p>
                  </a:txBody>
                  <a:tcPr marL="142875" marR="142875" marT="161925" marB="952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检查组成与分层</a:t>
                      </a:r>
                    </a:p>
                  </a:txBody>
                  <a:tcPr marL="142875" marR="142875" marT="161925" marB="952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14375"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原始个体ID</a:t>
                      </a:r>
                    </a:p>
                  </a:txBody>
                  <a:tcPr marL="142875" marR="142875" marT="161925" marB="95250" anchor="t">
                    <a:lnL w="9525">
                      <a:solidFill>
                        <a:srgbClr val="CAD6DC"/>
                      </a:solidFill>
                    </a:lnL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简化表未提供</a:t>
                      </a:r>
                    </a:p>
                  </a:txBody>
                  <a:tcPr marL="142875" marR="142875" marT="161925" marB="952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无法仅凭此表核验依赖关系</a:t>
                      </a:r>
                    </a:p>
                  </a:txBody>
                  <a:tcPr marL="142875" marR="142875" marT="161925" marB="952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2A5E25F-FC27-490A-B70E-910C05F23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本节计算沿用原始字段，不对NA补零或猜测性别。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E23C820-3F95-4E8F-BFA1-D55D8489D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来源：palmerpenguins公开数据，本课程二次计算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B26B30B-1096-4372-A4C3-2ED4154C1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75353645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68960AF-8350-45BD-9E72-395229EE9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07  数据处理与统计分析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331F1F7-84DB-44E9-A68D-626058A44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缺失检查与分析分母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6496B3D-1020-4712-8D10-F9EC2530D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426EEE2-F613-4638-B456-59CCFF326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344条记录中，性别缺失11条，四个体型测量字段各缺失2条。</a:t>
            </a:r>
          </a:p>
        </p:txBody>
      </p:sp>
      <p:graphicFrame>
        <p:nvGraphicFramePr>
          <p:cNvPr id="5" name="Chart">
            <a:extLst xmlns:a="http://schemas.openxmlformats.org/drawingml/2006/main">
              <a:ext uri="{FF2B5EF4-FFF2-40B4-BE49-F238E27FC236}">
                <a16:creationId xmlns:a16="http://schemas.microsoft.com/office/drawing/2014/main" id="{52134FA7-3E51-48DC-BBE0-5EFA1A919210}"/>
              </a:ext>
            </a:extLst>
          </p:cNvPr>
          <p:cNvGraphicFramePr/>
          <p:nvPr/>
        </p:nvGraphicFramePr>
        <p:xfrm>
          <a:off xmlns:a="http://schemas.openxmlformats.org/drawingml/2006/main" x="762000" y="3143250"/>
          <a:ext xmlns:a="http://schemas.openxmlformats.org/drawingml/2006/main" cx="9144000" cy="4286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ebf93c1d9bb54763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4474E1C-C055-467B-92A7-29FCF4B40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3286125"/>
            <a:ext cx="3810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分析分母随问题改变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27A026F-2C76-4B74-B657-1EF31F2AE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4381500"/>
            <a:ext cx="3810000" cy="2762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物种、岛屿、年份</a:t>
            </a:r>
          </a:p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均无缺失。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同一条记录可能</a:t>
            </a:r>
          </a:p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缺少多个字段。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75D1F47-70C3-4925-B899-DA1AFAB3A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每个字段的缺失数有重叠，须回到行记录确定排除范围。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6D4D3F7-9489-47A4-BC58-CB29ACF8D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来源：palmerpenguins公开数据，本课程二次计算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038B630-C5A4-418D-ABF3-0175CA449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34185046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C8287E7-3D6D-4C72-AB21-0D485C2962B6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8858250" y="4429125"/>
            <a:ext cx="1809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DF57602-6E4A-4E22-8984-51FAE8F5D09D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3905250" y="4429125"/>
            <a:ext cx="1809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DB2A748-BFEC-4943-BAB9-CC0EA67D1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07  数据处理与统计分析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5AD0D5E-4996-4C62-A150-3BD37C9B6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本次计算的纳入流程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BCDF7C9-DAA4-40E1-9480-FE7E61294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DD6D733-CA69-49CD-8D1B-E9CE657C5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152条Adelie记录中，6条缺少性别或鳍长，最终纳入146条。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D8EEFFE-0F4F-4EE4-94FE-D5294C313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57625"/>
            <a:ext cx="31432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全部记录</a:t>
            </a:r>
          </a:p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344条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C2C3699-53D5-4021-9557-60CD02496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857625"/>
            <a:ext cx="31432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Adelie</a:t>
            </a:r>
          </a:p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152条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443EA14-4C37-43BE-AA5C-1349F2A67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3857625"/>
            <a:ext cx="38100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所需字段完整</a:t>
            </a:r>
          </a:p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146条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F678418-FF68-4A6E-AD28-3AAA9FEED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3333750"/>
            <a:ext cx="1905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限定物种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A4BA204-DFD5-4DA7-95D9-54BC6897B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333750"/>
            <a:ext cx="1905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排除6条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06D3492-8841-4922-A005-A174FA95C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5524500"/>
            <a:ext cx="3810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male：73条</a:t>
            </a:r>
          </a:p>
          <a:p xmlns:a="http://schemas.openxmlformats.org/drawingml/2006/main">
            <a:pPr>
              <a:def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female：73条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43FB18D-B83A-4D14-9852-A68F65DBE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381750"/>
            <a:ext cx="9334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排除依据：性别或鳍长缺失</a:t>
            </a:r>
          </a:p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未进行插补，完整记录分析仍可能受缺失机制影响。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E6AE3AF-92FF-4DA0-96E3-F094C21FE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仅检查本次所需列；缺失处理的影响仍须结合采样记录判断。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8FF7E70-652F-497A-AC4D-7A854E60C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来源：palmerpenguins公开数据，本课程二次计算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A6264EB-58AD-43DD-A43A-072A5D2A9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6024660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3B72228-F585-4705-9AEF-3F768BCDFB82}"/>
              </a:ext>
            </a:extLst>
          </p:cNvPr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10858500" y="4238625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1F5DFF1-D42A-4E65-A769-6198298D3B42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7239000" y="4238625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1D43D19-AE72-4D5B-8F4D-1EFF6D1E0E9D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3619500" y="4238625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1AAFAC2-3FD7-4A3D-9062-19E0534AC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07  数据处理与统计分析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C07A627-407B-4DF7-A2C8-D25792FC3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异常值的复核流程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19B830A-C280-49C6-A04A-2530248CE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E8D614-E697-420C-8B6D-8961F5B5A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远离多数观测的值需要查原因，删除和修正都要保留依据。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748DE5E-F05A-4B65-9683-633C491B2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10000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图形或规则标记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258EB91-BD2B-4C42-9585-CCF780B93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810000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回查原始记录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0BDB80F-0ED8-49FC-B5BC-002E0ADB1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810000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确认原因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082D26B-BF04-4B2A-93C6-55365E654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3810000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保留处理记录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6107868-F5CE-4FB7-9205-B95D54DEE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95875"/>
            <a:ext cx="2857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辨认需要核查的观测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17C9E56-2782-42D5-9A5F-4EF33D925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5095875"/>
            <a:ext cx="2857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核对单位与测量过程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4DD391E-964A-47EF-8EF5-C7FE418BB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5095875"/>
            <a:ext cx="2857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错误修正或合理保留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B4F12BF-10B2-4092-B373-4F8F4BF91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5095875"/>
            <a:ext cx="2857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必要时做敏感性分析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0DB7082-493F-489B-9928-CFF6F8E87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715125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AD6DC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CD0CCBD-F899-4B36-885E-BDFBD4C61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058025"/>
            <a:ext cx="13716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筛查只产生待核查记录。确认错误、修正及排除，都需说明依据。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A121913-71F6-4354-85DF-01A2DD3D1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按分布范围筛查标记2条，移除0条；异常原因仍需原记录复核。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DD57FFE-D72E-4444-AE10-9D7AFCE1F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来源：NIST统计手册 §1.3.5.17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C1DDD79-48C1-42AB-A706-A9D62398C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49156791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D1F2F0E-601D-45F0-A420-8E0CD4DB5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07  数据处理与统计分析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31CF622-BD43-4C79-95FC-1DC490061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鳍长分布与组间重叠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49EFF72-E20D-45E3-8B5C-F41714E97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FC36127-6673-4598-9926-5B309D072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雌雄分布有重叠，均值差异不能用于准确判断每一只企鹅的性别。</a:t>
            </a:r>
          </a:p>
        </p:txBody>
      </p:sp>
      <p:graphicFrame>
        <p:nvGraphicFramePr>
          <p:cNvPr id="5" name="Chart">
            <a:extLst xmlns:a="http://schemas.openxmlformats.org/drawingml/2006/main">
              <a:ext uri="{FF2B5EF4-FFF2-40B4-BE49-F238E27FC236}">
                <a16:creationId xmlns:a16="http://schemas.microsoft.com/office/drawing/2014/main" id="{A96265A5-B46A-454E-9D43-7B35F7AD99B0}"/>
              </a:ext>
            </a:extLst>
          </p:cNvPr>
          <p:cNvGraphicFramePr/>
          <p:nvPr/>
        </p:nvGraphicFramePr>
        <p:xfrm>
          <a:off xmlns:a="http://schemas.openxmlformats.org/drawingml/2006/main" x="762000" y="3143250"/>
          <a:ext xmlns:a="http://schemas.openxmlformats.org/drawingml/2006/main" cx="9144000" cy="4286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ad41667474f04710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B9F79E3-686B-480A-BE47-514AB576A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3286125"/>
            <a:ext cx="3810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每组73条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A54597C-89CD-465D-84FF-CC6561973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4381500"/>
            <a:ext cx="3810000" cy="2762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每5毫米一组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组间有重叠，</a:t>
            </a:r>
          </a:p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均值差异不等于</a:t>
            </a:r>
          </a:p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个体可准确分类。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EE23F5F-60DC-4105-BEFD-8BD951593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横轴为鳍长区间，纵轴为记录数。分箱边界与计数可复算。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45DA7B6-C2F8-46E0-9725-2B6FA1CDE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来源：palmerpenguins公开数据，本课程二次计算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8CF94FD-2470-4D22-B9C2-9D557319C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8996626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04EB601-587F-4236-9681-2A3B8F016F7F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4381500" y="4857750"/>
            <a:ext cx="2286000" cy="1214438"/>
          </a:xfrm>
          <a:prstGeom xmlns:a="http://schemas.openxmlformats.org/drawingml/2006/main" prst="bentConnector3">
            <a:avLst>
              <a:gd name="adj1" fmla="val 90000"/>
            </a:avLst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6F8A2A8-4993-4BC9-808E-6706A0C0147B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 flipV="1">
            <a:off x="4381500" y="3738563"/>
            <a:ext cx="2286000" cy="1119188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FC1EF84-1782-4E73-8865-8F0ACF349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07  数据处理与统计分析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9A9D544-EE21-4B50-AC3B-C564BAB6E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标准差与标准误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87E2A41-8EC2-41EA-B354-532553F2F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285A4D6-BB44-4760-BB83-1DA5EE8BC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标准差描述个体测量的分散程度，标准误描述均值估计在抽样中的波动。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DABCD2D-0E14-4151-B09B-397771864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81500"/>
            <a:ext cx="36195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female 73条测量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D67EA78-DA23-432B-B3AC-065A6B3DD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286125"/>
            <a:ext cx="476250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个体之间的分散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8C1B23D-414E-4B2F-95AB-EEDB857DE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5619750"/>
            <a:ext cx="476250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均值估计的波动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ADD0570-E01A-4B80-820C-DECAB3493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0" y="3476625"/>
            <a:ext cx="2571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SD = 5.60 mm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81D67F6-89E5-49CD-94A0-A9B7077FA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0" y="5810250"/>
            <a:ext cx="2571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SE = 0.65 mm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7797B82-7CB6-456A-BC14-92304C288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53125"/>
            <a:ext cx="5048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4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4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均值 187.79 mm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4263234-00FE-426B-A26D-E07E8829F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7019925"/>
            <a:ext cx="7810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独立同分布假设下：SE = SD / √n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0891518-06A6-4151-9BE2-590F69664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此处SE以行独立为假设，未核验巢或个体层面的相关结构。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B027770-7BD2-4CB3-BCC3-C59F06A28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来源：NIST统计手册 §1.3.5.2；palmerpenguins公开数据，本课程二次计算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ED3C810-F9B9-4E1A-85C2-FAB43439C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2033477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4199F66-461C-494F-94B3-980F92695C13}"/>
              </a:ext>
            </a:extLst>
          </p:cNvPr>
          <p:cNvCxnSpPr>
            <a:stCxn xmlns:a="http://schemas.openxmlformats.org/drawingml/2006/main" id="9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11049000" y="4905375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D5A6588-6508-47E6-BE52-CCB4AC15A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07  数据处理与统计分析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7782BF3-DD01-4328-BEFA-E446AB48D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独立组与配对数据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11383C8-BCBE-4FCA-A647-1BE773F4A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2989075-A7EF-4BB9-9031-B4E9EFF42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不同个体组成的两组，与同一个体在两个时点的记录，具有不同的数据结构。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BC752E4-1124-4CB9-8F2A-82FFA1BF5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90875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独立组示意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061CEB7-906C-4085-8B6B-956E0C99B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190875"/>
            <a:ext cx="6096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550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550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550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550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550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550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550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550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550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550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配对示意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0384802-DB46-4200-991E-CD17DE8B6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91000"/>
            <a:ext cx="27622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个体A、B、C</a:t>
            </a:r>
          </a:p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组1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890DDFB-4F11-4CD6-8239-E21F11FF8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4191000"/>
            <a:ext cx="27622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个体D、E、F</a:t>
            </a:r>
          </a:p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组2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2CF5AE7-1288-4FB4-933D-B631C2DF7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191000"/>
            <a:ext cx="26670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同一个体X</a:t>
            </a:r>
          </a:p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时点1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CE394B1-F985-4E14-9F00-D99B3133A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4191000"/>
            <a:ext cx="26670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同一个体X</a:t>
            </a:r>
          </a:p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时点2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D1C693F-870C-42B6-9E75-BF31BDA1C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429375"/>
            <a:ext cx="6191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比较两组的分布或均值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D21CFBA-7249-4F41-B274-E6E2FCAE1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6429375"/>
            <a:ext cx="6096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先计算每个个体的前后差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50D2F8D-905F-4E51-A4B4-BB2E56C35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教学结构示意。组内行数相等不能证明一一配对。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FFF3249-8CAF-4C4E-92D0-931ACEE6F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来源：NIST统计手册 §1.3.5.3；课程方法示意 / 教学模拟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4685BE5-53F8-4D4C-B4A7-77B3199E8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59739282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D018835-236A-4556-AAA6-48BC0A5CE220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4095750" y="4929188"/>
            <a:ext cx="2095500" cy="161925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2001EDE-1215-474A-AF36-A150772869FB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4095750" y="4929188"/>
            <a:ext cx="2095500" cy="14287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5C338EF-9D4D-4993-A29E-9E727BD5E620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 flipV="1">
            <a:off x="4095750" y="3595688"/>
            <a:ext cx="2095500" cy="133350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B702C25-028A-42B1-BFF1-BB4FB8D18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07  数据处理与统计分析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488556B-2FEB-422E-ACC9-176C9EC46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分析方法与数据结构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873958A-A184-49B2-A05F-26799784A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459C9C-816F-410C-8F09-8FB402C2D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方法选择需要同时考虑结果类型、研究问题、分配或采样单位及模型假设。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62A0E5F-1AA6-4D42-B6B0-3BAB37A24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76750"/>
            <a:ext cx="333375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结果与数据结构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E8C3CA5-DD8B-48AE-9424-84B0CBE06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143250"/>
            <a:ext cx="419100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连续结果 / 独立组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EA1D282-579A-4FB2-9A4D-FF16CFF17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3333750"/>
            <a:ext cx="3524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均值差：如Welch方法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AE1CACA-FC2A-46DD-9DC6-45FE74D9B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619625"/>
            <a:ext cx="419100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连续结果 / 配对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8A1B68E-430F-49C2-86E1-2F7645526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4810125"/>
            <a:ext cx="3524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对应差值：如配对分析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35F2032-E3CA-48CA-81FD-25101AE5F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6096000"/>
            <a:ext cx="419100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分类结果 / 计数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A4BDF86-DA63-4D1B-B824-FBBB09D9C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86500"/>
            <a:ext cx="3524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比例比较：检查稀疏计数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7BEDF96-B8FC-4B82-BFC1-34D9C5A55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191375"/>
            <a:ext cx="13716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重复测量、聚类或多组比较，需进一步匹配研究设计。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4ED763D-DF1C-47AD-AE4B-ED9C14F61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本节实际运行描述统计与分组重抽样（bootstrap），未运行所有分支。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09DC142-F0B6-4A25-A4D6-42CFB46FB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来源：NIST统计手册 §1.3.5.3；课程方法示意 / 教学模拟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4DC4C22-0249-4828-8902-13805E0F4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000243910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EFC67C9-5A3A-4582-A765-9E9E98D9E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07  数据处理与统计分析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2A280BF-AE44-4A88-B907-459718327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雌雄均值差与条件区间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BF808F1-000D-4E2E-B552-B43CD3F04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79FF08A-7152-4B83-AF19-64766CD5D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Adelie完整记录中，雄性均值比雌性高4.62毫米。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1E3FE54-95EB-4D13-B727-73910FF1D57D}"/>
              </a:ext>
            </a:extLst>
          </p:cNvPr>
          <p:cNvGraphicFramePr/>
          <p:nvPr/>
        </p:nvGraphicFramePr>
        <p:xfrm>
          <a:off xmlns:a="http://schemas.openxmlformats.org/drawingml/2006/main" x="762000" y="3095625"/>
          <a:ext xmlns:a="http://schemas.openxmlformats.org/drawingml/2006/main" cx="13716000" cy="2190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762500"/>
                <a:gridCol w="1905000"/>
                <a:gridCol w="3524250"/>
                <a:gridCol w="3524250"/>
              </a:tblGrid>
              <a:tr h="730250"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完整记录</a:t>
                      </a:r>
                    </a:p>
                  </a:txBody>
                  <a:tcPr marL="142875" marR="142875" marT="161925" marB="95250" anchor="t">
                    <a:lnL w="9525">
                      <a:solidFill>
                        <a:srgbClr val="CAD6DC"/>
                      </a:solidFill>
                    </a:lnL>
                    <a:lnR w="9525">
                      <a:solidFill>
                        <a:srgbClr val="CAD6DC"/>
                      </a:solidFill>
                    </a:lnR>
                    <a:lnT w="9525">
                      <a:solidFill>
                        <a:srgbClr val="CAD6DC"/>
                      </a:solidFill>
                    </a:lnT>
                    <a:lnB w="9525">
                      <a:solidFill>
                        <a:srgbClr val="CAD6DC"/>
                      </a:solidFill>
                    </a:lnB>
                    <a:solidFill>
                      <a:srgbClr val="132F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n</a:t>
                      </a:r>
                    </a:p>
                  </a:txBody>
                  <a:tcPr marL="142875" marR="142875" marT="161925" marB="95250" anchor="t">
                    <a:lnR w="9525">
                      <a:solidFill>
                        <a:srgbClr val="CAD6DC"/>
                      </a:solidFill>
                    </a:lnR>
                    <a:lnT w="9525">
                      <a:solidFill>
                        <a:srgbClr val="CAD6DC"/>
                      </a:solidFill>
                    </a:lnT>
                    <a:lnB w="9525">
                      <a:solidFill>
                        <a:srgbClr val="CAD6DC"/>
                      </a:solidFill>
                    </a:lnB>
                    <a:solidFill>
                      <a:srgbClr val="132F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均值 mm</a:t>
                      </a:r>
                    </a:p>
                  </a:txBody>
                  <a:tcPr marL="142875" marR="142875" marT="161925" marB="95250" anchor="t">
                    <a:lnR w="9525">
                      <a:solidFill>
                        <a:srgbClr val="CAD6DC"/>
                      </a:solidFill>
                    </a:lnR>
                    <a:lnT w="9525">
                      <a:solidFill>
                        <a:srgbClr val="CAD6DC"/>
                      </a:solidFill>
                    </a:lnT>
                    <a:lnB w="9525">
                      <a:solidFill>
                        <a:srgbClr val="CAD6DC"/>
                      </a:solidFill>
                    </a:lnB>
                    <a:solidFill>
                      <a:srgbClr val="132F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SD mm</a:t>
                      </a:r>
                    </a:p>
                  </a:txBody>
                  <a:tcPr marL="142875" marR="142875" marT="161925" marB="95250" anchor="t">
                    <a:lnR w="9525">
                      <a:solidFill>
                        <a:srgbClr val="CAD6DC"/>
                      </a:solidFill>
                    </a:lnR>
                    <a:lnT w="9525">
                      <a:solidFill>
                        <a:srgbClr val="CAD6DC"/>
                      </a:solidFill>
                    </a:lnT>
                    <a:lnB w="9525">
                      <a:solidFill>
                        <a:srgbClr val="CAD6DC"/>
                      </a:solidFill>
                    </a:lnB>
                    <a:solidFill>
                      <a:srgbClr val="132F43"/>
                    </a:solidFill>
                  </a:tcPr>
                </a:tc>
              </a:tr>
              <a:tr h="730250"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female（雌）</a:t>
                      </a:r>
                    </a:p>
                  </a:txBody>
                  <a:tcPr marL="142875" marR="142875" marT="161925" marB="95250" anchor="t">
                    <a:lnL w="9525">
                      <a:solidFill>
                        <a:srgbClr val="CAD6DC"/>
                      </a:solidFill>
                    </a:lnL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73</a:t>
                      </a:r>
                    </a:p>
                  </a:txBody>
                  <a:tcPr marL="142875" marR="142875" marT="161925" marB="952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187.79</a:t>
                      </a:r>
                    </a:p>
                  </a:txBody>
                  <a:tcPr marL="142875" marR="142875" marT="161925" marB="952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5.60</a:t>
                      </a:r>
                    </a:p>
                  </a:txBody>
                  <a:tcPr marL="142875" marR="142875" marT="161925" marB="952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30250"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male（雄）</a:t>
                      </a:r>
                    </a:p>
                  </a:txBody>
                  <a:tcPr marL="142875" marR="142875" marT="161925" marB="95250" anchor="t">
                    <a:lnL w="9525">
                      <a:solidFill>
                        <a:srgbClr val="CAD6DC"/>
                      </a:solidFill>
                    </a:lnL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73</a:t>
                      </a:r>
                    </a:p>
                  </a:txBody>
                  <a:tcPr marL="142875" marR="142875" marT="161925" marB="952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192.41</a:t>
                      </a:r>
                    </a:p>
                  </a:txBody>
                  <a:tcPr marL="142875" marR="142875" marT="161925" marB="952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6.60</a:t>
                      </a:r>
                    </a:p>
                  </a:txBody>
                  <a:tcPr marL="142875" marR="142875" marT="161925" marB="952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E98DAE3-D844-4DBB-AC42-129A049EA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15000"/>
            <a:ext cx="6191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7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7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7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7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7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7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7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7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7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7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雄减雌：4.62 mm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65B929F-F025-4E70-A9A5-C52F4996B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524625"/>
            <a:ext cx="13716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550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550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550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550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550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550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550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550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550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550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重抽样区间：2.68—6.58 mm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512EA25-AA4E-409D-8723-CF32C54B2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286625"/>
            <a:ext cx="13716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每组按行抽样，10000次，取2.5%与97.5%分位点。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EE8CCE0-B999-4ADE-A505-5D9354858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区间依赖行独立假设，不是原研究的已发表推断结论。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7093D45-12EF-4E84-84A3-D3DE350B7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来源：palmerpenguins公开数据，本课程二次计算；UC Berkeley 2026，置信区间，pp.4/7/8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6DE59B3-8810-481B-8AD8-62015A26E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340297697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5F7D072-BA7A-479A-8DC5-C7F8F8A9F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07  数据处理与统计分析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C2D5599-85FC-4007-A430-A7D2CED00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95%置信水平的重复抽样含义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80EA908-220C-4A1A-90A7-FFABCA70C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54D285F-B805-4611-BE86-A35836E5B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如果反复按同样规则抽样并构造区间，约95%的区间会包含那个固定真值。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3AF3CCE-ED45-4B19-AFD3-98572EB25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00375"/>
            <a:ext cx="6000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同一真值：100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36522A8-3059-4E0E-928C-9C3E7B0A2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619500"/>
            <a:ext cx="0" cy="3667125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963F3C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23D0739-B8A5-4334-9F28-965E0C36E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71875"/>
            <a:ext cx="762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981A02C-5F68-434D-8D85-F36E9D675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4148" y="3714750"/>
            <a:ext cx="3957755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245B77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10A15C1-84CE-4266-82C9-62598550E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14775"/>
            <a:ext cx="762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ACA88D4-67A9-48B8-BCAE-A210FE196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4868" y="4057650"/>
            <a:ext cx="3957755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245B77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0E8518C-FFC4-4EDA-AE88-076FB5CC2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57675"/>
            <a:ext cx="762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C7972AE-C646-4C7E-8B7C-1149BDD0E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0487" y="4400550"/>
            <a:ext cx="3957755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245B77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8B20541-5A71-4698-A324-F0F3166DB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00575"/>
            <a:ext cx="762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0193BCF-8E97-4FE2-BCB7-1E2F3FDD1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0757" y="4743450"/>
            <a:ext cx="3957755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245B77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0173172-30BD-4FF9-A2E6-B09451AB0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43475"/>
            <a:ext cx="762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2A1FF1F-F68F-4673-9865-396F3408D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1103" y="5086350"/>
            <a:ext cx="3957755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245B77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C0AA919-A2A4-447F-BC27-397221780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86375"/>
            <a:ext cx="762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6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5B49792-62F4-4709-A344-F2B4FDF23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0711" y="5429250"/>
            <a:ext cx="3957755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245B77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548A052-B7F6-4B56-B104-56EC4713A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629275"/>
            <a:ext cx="762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7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4B838FE-B9FB-47F0-8949-B90BDEE86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585" y="5772150"/>
            <a:ext cx="3957755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245B77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02F2C2B-661D-4739-8771-B248DF436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72175"/>
            <a:ext cx="762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8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9F7818F-2ECF-4926-9759-C0D673C8B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1154" y="6115050"/>
            <a:ext cx="3957755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245B77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E144330-7F78-4E4D-B179-30A8D5E32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315075"/>
            <a:ext cx="762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9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9D253AD-C1A6-4A21-9EAD-DC50B3A30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4269" y="6457950"/>
            <a:ext cx="3957755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245B77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D1D63E2-4EC4-41FE-B497-F2E6C9269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657975"/>
            <a:ext cx="762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F062FCD-C42C-415D-8210-08FD2F746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6659" y="6800850"/>
            <a:ext cx="3957755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245B77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EC38DC6-4DBA-4C0E-BB7C-5669D0084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7124700"/>
            <a:ext cx="666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95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C9271B4-3E97-456F-B61C-1BAAD3EDE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7124700"/>
            <a:ext cx="666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100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BE3C1C0-2C12-4CDC-9BE1-CD1D82D8A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7124700"/>
            <a:ext cx="666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105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AF146D3-3B75-4260-81DC-BC8B52EDD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477125"/>
            <a:ext cx="9525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横线为各次区间（显示前10次）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8325AFC-2C89-4737-A5C4-70E6D0146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3333750"/>
            <a:ext cx="2952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独立正态模型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4103F12-9262-446B-B66F-0A6CC767F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4333875"/>
            <a:ext cx="2952750" cy="2762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设定均值100</a:t>
            </a:r>
          </a:p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已知SD=10</a:t>
            </a:r>
          </a:p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每次n=25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1000次中</a:t>
            </a:r>
          </a:p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941次覆盖真值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2526913-25EB-4CDE-8CF7-73EA82C0A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正态模型教学模拟，参数自设；1000次结果及前10次区间均保留CSV。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3607B1C-B433-4A52-A527-DBAF17C2F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来源：UC Berkeley 2026，置信区间，pp.4/7/8；NIST统计手册 §1.3.5.2；课程方法示意 / 教学模拟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619F6FF-9BB1-4982-9455-840E3D451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631816212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A50F4D3-64B5-4039-B900-A4800EA9A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07  数据处理与统计分析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64BA442-E826-4D0C-B807-1858679BF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双侧P值的条件含义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9BB4E42-A68E-44D5-AC9D-FAA1FED41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4FD87D9-7FA9-4623-BEE1-68F74481D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教学设定：独立抛硬币20次，观察到15次正面，在正反等可能假设下计算两端概率。</a:t>
            </a:r>
          </a:p>
        </p:txBody>
      </p:sp>
      <p:graphicFrame>
        <p:nvGraphicFramePr>
          <p:cNvPr id="5" name="Chart">
            <a:extLst xmlns:a="http://schemas.openxmlformats.org/drawingml/2006/main">
              <a:ext uri="{FF2B5EF4-FFF2-40B4-BE49-F238E27FC236}">
                <a16:creationId xmlns:a16="http://schemas.microsoft.com/office/drawing/2014/main" id="{E44BFFCC-0817-4010-936D-8DFAF7870483}"/>
              </a:ext>
            </a:extLst>
          </p:cNvPr>
          <p:cNvGraphicFramePr/>
          <p:nvPr/>
        </p:nvGraphicFramePr>
        <p:xfrm>
          <a:off xmlns:a="http://schemas.openxmlformats.org/drawingml/2006/main" x="762000" y="3143250"/>
          <a:ext xmlns:a="http://schemas.openxmlformats.org/drawingml/2006/main" cx="9144000" cy="4286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0c2cf779274d4f95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C3ED26F-ACF3-4A23-A956-C0471E10B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3286125"/>
            <a:ext cx="3810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双侧极端事件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26056CF-1C2B-46E3-B1F8-1D5577E60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4381500"/>
            <a:ext cx="3810000" cy="2762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K ≤ 5 或 K ≥ 15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两端概率之和</a:t>
            </a:r>
          </a:p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P ≈ 0.0414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不表示零假设</a:t>
            </a:r>
          </a:p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为真的概率。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53BC81C-A478-4C39-8D97-3E68BFFCF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教学设定，不是企鹅检验。精确双侧P≈0.0414，未采用正态近似。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3F84FB5-3A97-46D6-8C6F-2D339767C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来源：UC Berkeley 2026，假设检验，pp.6/17/29；ASA，2016，P值声明；课程方法示意 / 教学模拟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EF47BF4-F214-41FB-B183-68CF6A3FB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888563209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14644C6-2269-4651-9D8B-29153B1FC823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9620250" y="4238625"/>
            <a:ext cx="857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4182083-A0DE-4B90-8898-19C4875B14CB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4762500" y="4238625"/>
            <a:ext cx="857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131024A-EB2D-4E06-99CF-9E7F32B99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07  数据处理与统计分析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9A22A93-86B2-4012-9FF9-F14EA9BE4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效应大小、统计证据与科研解释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4EC3971-0549-4035-B8B9-E936A746F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36FB336-CAF8-4BA0-A6CD-614F4DE54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结果报告需要同时交代差异大小、估计不确定性和研究设计允许的解释范围。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7C5C537-7F1A-485D-BA8F-E3291B35D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10000"/>
            <a:ext cx="4000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差异与单位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146D60F-0FD8-495B-9EDE-7C04F06D7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810000"/>
            <a:ext cx="4000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估计不确定性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DCF47B1-BC2C-450C-808F-80724B7B7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3810000"/>
            <a:ext cx="4000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研究范围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0305522-9A88-4C2B-9774-CD3366B90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95875"/>
            <a:ext cx="4000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对象和比较方向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DBB886F-BFB7-4937-B6CE-E5E2371EA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5095875"/>
            <a:ext cx="4000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抽样与模型条件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7A9D099-8AAA-409B-BF49-FAB639B20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5095875"/>
            <a:ext cx="4000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选择、混杂与适用对象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3911167-4317-41DB-968F-CE36FE0B4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715125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AD6DC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292CB01-9290-4795-B0A6-4DB97EFD4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058025"/>
            <a:ext cx="13716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企鹅的毫米差异和硬币的尾概率，分别对应不同问题与模型。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17CDBB2-8326-408A-AB06-1FE5BDC96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显著性阈值无法单独回答差异是否重要、研究是否可靠。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400238D-4523-47C8-B1DA-F91D2742C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来源：ASA，2016，P值声明；UC Berkeley 2026，假设检验，pp.6/17/29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DBF42EE-AA43-4D6E-8A75-F70363911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1442735752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C0D7AF9-FD04-4936-A27C-D1E2B5AEAD5D}"/>
              </a:ext>
            </a:extLst>
          </p:cNvPr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10858500" y="4238625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1E2005F-65B5-4604-A0FC-0AD52BD84A22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7239000" y="4238625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D0B9F29-2224-46B8-BC0E-D0ABAC8DD0B6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3619500" y="4238625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F569D2D-2079-47FD-9A6F-27A2F8D93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07  数据处理与统计分析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F7F94E2-90AF-4F08-879E-F69336F2F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Bootstrap的有放回重抽样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5434F53-5803-487A-99A6-25FCF5B62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AACD97D-8428-4F01-BD11-F31A27BC4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在每个组内重复抽取原有记录，观察均值差如何随重抽样改变。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824D27E-872A-45FA-B78A-F4F115353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10000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雌、雄两组</a:t>
            </a:r>
          </a:p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各73条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D74CF1B-499E-4BA5-8175-297DC57AE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810000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各组有放回抽样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76032B7-A840-49B1-A3C8-0AA930170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810000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计算一次均值差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41664C2-3F9A-4825-AFF2-8683C074F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3810000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重复10000次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057EC17-54D0-4687-8BB6-0E41993EA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95875"/>
            <a:ext cx="2857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保留原有测量记录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1B969C3-DDBE-47DD-BE90-8D0AD1416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5095875"/>
            <a:ext cx="2857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每组仍取73条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64F65FB-D8A4-4277-8ADD-90556C0BE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5095875"/>
            <a:ext cx="2857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方向固定为雄减雌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35E2959-E412-46F1-A72E-372872B58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5095875"/>
            <a:ext cx="2857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估计分位点与波动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16B966F-CF59-4C40-88E7-E56A4DC80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715125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AD6DC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730DCF2-5AE5-4C3C-B702-F43F5F063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058025"/>
            <a:ext cx="13716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若研究以巢、班级或受试者为单位，重抽样也需保留相应结构。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C469FBA-9F62-4649-BC14-852319E8A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这次脚本按行抽样。重抽样次数增加，不能修复原始样本的选择偏差。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53AA89C-3160-4708-AB9F-EF5CB10D7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来源：UC Berkeley 2026，置信区间，pp.4/7/8；NumPy有放回抽样文档；本地脚本实算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04E8BF2-EA1B-4147-A376-288E0AFC7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390787033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E383250-D7BC-4485-95B5-DF67ABB9E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07  数据处理与统计分析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A3E4215-8C4F-4760-AEBE-B35AB36DC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重抽样结果的分布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74B66CC-D7AC-41D8-807A-62407EB0D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08C66FA-DF2A-4A16-855C-8EAEE8144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10000次均值差的2.5%与97.5%分位点为2.68和6.58毫米。</a:t>
            </a:r>
          </a:p>
        </p:txBody>
      </p:sp>
      <p:graphicFrame>
        <p:nvGraphicFramePr>
          <p:cNvPr id="5" name="Chart">
            <a:extLst xmlns:a="http://schemas.openxmlformats.org/drawingml/2006/main">
              <a:ext uri="{FF2B5EF4-FFF2-40B4-BE49-F238E27FC236}">
                <a16:creationId xmlns:a16="http://schemas.microsoft.com/office/drawing/2014/main" id="{F6A099B8-8A5A-4A8D-AD0E-161374376980}"/>
              </a:ext>
            </a:extLst>
          </p:cNvPr>
          <p:cNvGraphicFramePr/>
          <p:nvPr/>
        </p:nvGraphicFramePr>
        <p:xfrm>
          <a:off xmlns:a="http://schemas.openxmlformats.org/drawingml/2006/main" x="762000" y="3143250"/>
          <a:ext xmlns:a="http://schemas.openxmlformats.org/drawingml/2006/main" cx="9144000" cy="4286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a77c5a8c08d14998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40AB939-2F8F-4865-9816-C1E0F58A0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3286125"/>
            <a:ext cx="3810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百分位区间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24008A9-91EB-48F4-84C0-45EDACAB0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4381500"/>
            <a:ext cx="3810000" cy="2762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每柱宽0.5毫米</a:t>
            </a:r>
          </a:p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横轴标区间左端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2.68—6.58 mm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这不是个体鳍长</a:t>
            </a:r>
          </a:p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的分布。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3E9749A-3B2C-4EAE-BA08-C1F23C41A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本地实际计算；随机种子、分位点算法与完整重抽样值均可检查。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89558BC-BA98-432D-B86B-72A90B3E2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来源：UC Berkeley 2026，置信区间，pp.4/7/8；NumPy有放回抽样文档；本地脚本实算；palmerpenguins公开数据，本课程二次计算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ABF97DE-08AD-4FF4-AEC4-7851E8661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5159222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AAA8C55-5369-43DE-BE3B-ED3A1B47F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07  数据处理与统计分析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4A99117-956A-4044-8218-F04193E3E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混合物种与组内相关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9890920-B46F-4EFF-A2A3-60E5BBD26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0E9B017-4A70-4C25-8847-587FFD669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把物种混在一起，喙长与鳍长的总体相关可能包含物种间差异。</a:t>
            </a:r>
          </a:p>
        </p:txBody>
      </p:sp>
      <p:graphicFrame>
        <p:nvGraphicFramePr>
          <p:cNvPr id="5" name="Chart">
            <a:extLst xmlns:a="http://schemas.openxmlformats.org/drawingml/2006/main">
              <a:ext uri="{FF2B5EF4-FFF2-40B4-BE49-F238E27FC236}">
                <a16:creationId xmlns:a16="http://schemas.microsoft.com/office/drawing/2014/main" id="{070BDAD1-025E-4CF6-9065-5480B6C88687}"/>
              </a:ext>
            </a:extLst>
          </p:cNvPr>
          <p:cNvGraphicFramePr/>
          <p:nvPr/>
        </p:nvGraphicFramePr>
        <p:xfrm>
          <a:off xmlns:a="http://schemas.openxmlformats.org/drawingml/2006/main" x="762000" y="3143250"/>
          <a:ext xmlns:a="http://schemas.openxmlformats.org/drawingml/2006/main" cx="9144000" cy="4286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583acc79476e47d0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33D8018-D430-4A32-A31C-1FF937684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3286125"/>
            <a:ext cx="3810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Pearson相关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91407C3-4081-4CA3-89BE-B93E292EE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4381500"/>
            <a:ext cx="3810000" cy="2762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总体 r = 0.656</a:t>
            </a:r>
          </a:p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Adelie内 r = 0.326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总体关系包含</a:t>
            </a:r>
          </a:p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物种间的差异。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41D74AD-7323-4BF1-BE63-778BE9558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横轴喙长mm，纵轴鳍长mm。点来自公开观测，未画未经计算的拟合线。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F492BEB-2135-430F-9058-E2EAD7F29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来源：palmerpenguins公开数据，本课程二次计算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CFE176B-2E3A-4F1E-B777-AF4D3BA5C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1019436631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4BC3A33-9E41-4CB8-B535-E23472882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07  数据处理与统计分析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207A3AD-4A0B-4E11-879C-AD339C678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采集年份与样本组成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54EBCF6-9B69-4D10-B95A-F3F990801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328D2C-8E34-4EEB-AB06-A2AE4158D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同为Adelie，2007—2009年的均值仍有变化，合并报告需要检查组成。</a:t>
            </a:r>
          </a:p>
        </p:txBody>
      </p:sp>
      <p:graphicFrame>
        <p:nvGraphicFramePr>
          <p:cNvPr id="5" name="Chart">
            <a:extLst xmlns:a="http://schemas.openxmlformats.org/drawingml/2006/main">
              <a:ext uri="{FF2B5EF4-FFF2-40B4-BE49-F238E27FC236}">
                <a16:creationId xmlns:a16="http://schemas.microsoft.com/office/drawing/2014/main" id="{83365327-E65B-4BFD-BAA8-60CB4442EB06}"/>
              </a:ext>
            </a:extLst>
          </p:cNvPr>
          <p:cNvGraphicFramePr/>
          <p:nvPr/>
        </p:nvGraphicFramePr>
        <p:xfrm>
          <a:off xmlns:a="http://schemas.openxmlformats.org/drawingml/2006/main" x="762000" y="3143250"/>
          <a:ext xmlns:a="http://schemas.openxmlformats.org/drawingml/2006/main" cx="9144000" cy="4286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d7df94ba9dff4385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83F18AE-10A4-464B-890A-D8B8ADBAC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3286125"/>
            <a:ext cx="3810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各年每组记录数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A8C9A87-89ED-47FC-97EC-BC42C9CE5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4381500"/>
            <a:ext cx="3810000" cy="2762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2007：22条</a:t>
            </a:r>
          </a:p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2008：25条</a:t>
            </a:r>
          </a:p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2009：26条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各年观测的组均值，</a:t>
            </a:r>
          </a:p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不表示个体生长。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2B5D1AD-621F-4C86-B024-1FA153E86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各年为观测记录的组均值，不是同一批个体的纵向变化。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AE0E772-8A0C-42D5-BF41-0D09FCC85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来源：palmerpenguins公开数据，本课程二次计算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C12CAF4-23B7-484F-BCFD-62D1405D8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19</a:t>
            </a:r>
          </a:p>
        </p:txBody>
      </p:sp>
    </p:spTree>
    <p:extLst>
      <p:ext uri="{BB962C8B-B14F-4D97-AF65-F5344CB8AC3E}">
        <p14:creationId xmlns:p14="http://schemas.microsoft.com/office/powerpoint/2010/main" val="2993273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53416D2-BFC4-479B-A56D-6CE895790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07  数据处理与统计分析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346182-121D-4154-98FB-23B4E8281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结果段落中的对象、数字与限制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3B582A3-607B-463F-9815-7BBEDF704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649A4C6-F85A-45F8-8EDC-2A4FAE786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一段可检查的结果文字，需要把纳入范围、差异方向、方法和限定条件写在一起。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B9B15B1-1D13-4E70-AF2D-29197389E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38500"/>
            <a:ext cx="13716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4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4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二次分析结果示例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BC1057A-27CC-4FEF-86F7-C9D3F6E2D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91000"/>
            <a:ext cx="13716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4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4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在性别与鳍长均完整的146条Adelie记录中，雌雄各73条。雄性平均鳍长为192.41毫米，雌性为187.79毫米，均值差为4.62毫米。按两组分别进行10000次有放回重抽样，百分位区间为2.68—6.58毫米。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AA9E452-9061-466C-8C57-D7A658082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43625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AD6DC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06EFCC6-D71C-483F-BCBF-61D440E50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524625"/>
            <a:ext cx="137160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该区间依赖行独立的抽样假设。简化数据未提供可核验的巢与个体对应关系，也未在此模型中调整年份、岛屿和缺失机制，因此本例保留为条件分析，不作因果解释。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A012EBC-A6FC-4C45-A147-EDE730EB0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公开数据的二次教学结果，未作为原研究的结论或新科研成果发布。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2D95813-9300-4397-99FD-67560A11C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来源：palmerpenguins公开数据，本课程二次计算；ASA，2016，P值声明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2C91484-D81F-4EF6-B740-DE9E0797B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20</a:t>
            </a:r>
          </a:p>
        </p:txBody>
      </p:sp>
    </p:spTree>
    <p:extLst>
      <p:ext uri="{BB962C8B-B14F-4D97-AF65-F5344CB8AC3E}">
        <p14:creationId xmlns:p14="http://schemas.microsoft.com/office/powerpoint/2010/main" val="1411234257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F8B449A-3167-4168-9E11-485FB66A9F86}"/>
              </a:ext>
            </a:extLst>
          </p:cNvPr>
          <p:cNvCxnSpPr>
            <a:stCxn xmlns:a="http://schemas.openxmlformats.org/drawingml/2006/main" id="13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 flipV="1">
            <a:off x="9477375" y="5024438"/>
            <a:ext cx="1476375" cy="1595438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28CB529-F6A0-4A3F-BD72-A46CD7FC225E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4191000" y="5024438"/>
            <a:ext cx="1762125" cy="1595438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82F9502-C629-4423-A9B7-2440BDF75483}"/>
              </a:ext>
            </a:extLst>
          </p:cNvPr>
          <p:cNvCxnSpPr>
            <a:stCxn xmlns:a="http://schemas.openxmlformats.org/drawingml/2006/main" id="10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 flipV="1">
            <a:off x="9477375" y="5024438"/>
            <a:ext cx="1476375" cy="119063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BD2CCC6-2420-4974-8C44-F45BD777C60B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4191000" y="5024438"/>
            <a:ext cx="1762125" cy="119063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3E119BC-B41E-42AD-8CD0-0DFC2CCF876B}"/>
              </a:ext>
            </a:extLst>
          </p:cNvPr>
          <p:cNvCxnSpPr>
            <a:stCxn xmlns:a="http://schemas.openxmlformats.org/drawingml/2006/main" id="7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9477375" y="3667125"/>
            <a:ext cx="1476375" cy="1357313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D25CAB8-BC40-4BF1-958B-0A4956D845B5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 flipV="1">
            <a:off x="4191000" y="3667125"/>
            <a:ext cx="1762125" cy="1357313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B9FDCE2-509F-4313-82AB-AACE13707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07  数据处理与统计分析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C04CE65-FC33-4A05-A7A0-E23D827E9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同一分析的Python、R与SPSS代码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B8A7156-0B1D-4FE3-962F-565B44D2E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5BDD6EF-A3FC-4B3E-93B7-59CF41C92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先固定研究问题、筛选条件和统计量，再把同一分析交给不同软件执行。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A9A6B86-0019-40C7-8EC7-263F0B6D2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72000"/>
            <a:ext cx="342900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公开CSV与统一条件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423232E-5342-4CAD-BE11-0FB5B1BE5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4572000"/>
            <a:ext cx="352425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对照同一核对口径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B49A92E-B8BA-4095-BA98-99FBF9F8C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3143250"/>
            <a:ext cx="35242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Python</a:t>
            </a:r>
          </a:p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本地实际执行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390A790-1278-431F-B452-860C6113E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4619625"/>
            <a:ext cx="35242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R</a:t>
            </a:r>
          </a:p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本地WebR实际执行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3BDDCD7-D813-4638-8F89-BD6862034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6096000"/>
            <a:ext cx="35242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SPSS</a:t>
            </a:r>
          </a:p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代码已提供，未执行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E4E327E-B780-4DF1-A659-337FE22BE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91250"/>
            <a:ext cx="38100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Adelie物种</a:t>
            </a:r>
          </a:p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性别与鳍长完整</a:t>
            </a:r>
          </a:p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只作描述统计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7C7752B-3C32-449A-BA18-7CE4C1572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191250"/>
            <a:ext cx="35242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纳入哪些行？</a:t>
            </a:r>
          </a:p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样本数、均值与SD？</a:t>
            </a:r>
          </a:p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雄减雌的差值？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E5A4CCB-CBBD-4236-8C43-9E273E120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Python与本地WebR已实际执行；SPSS仅提供代码，未执行。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4F81155-9547-4E34-8661-53F3BBBC9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来源：UC Berkeley 2026，EDA I，pp.9/20/24；本地Python/R实算与代码；Cursor官方说明，未操作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1188B60-F010-45B8-8229-E87576060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21</a:t>
            </a:r>
          </a:p>
        </p:txBody>
      </p:sp>
    </p:spTree>
    <p:extLst>
      <p:ext uri="{BB962C8B-B14F-4D97-AF65-F5344CB8AC3E}">
        <p14:creationId xmlns:p14="http://schemas.microsoft.com/office/powerpoint/2010/main" val="1086923049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D6235CF-CFCA-43BC-A74F-B3FF59062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07  数据处理与统计分析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33757A7-2609-4E47-998C-996A9207C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Python与R的实际结果核对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ED1E07B-7466-4E9B-83D3-DD029FB00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41EE3AD-7EEE-419E-9F6B-54876DAF7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软件输出需要对照纳入行、分组、单位和计算定义，界面不同不应改变分析对象。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03DAEAF-CC8F-4729-8016-119CBF1C1E45}"/>
              </a:ext>
            </a:extLst>
          </p:cNvPr>
          <p:cNvGraphicFramePr/>
          <p:nvPr/>
        </p:nvGraphicFramePr>
        <p:xfrm>
          <a:off xmlns:a="http://schemas.openxmlformats.org/drawingml/2006/main" x="762000" y="3143250"/>
          <a:ext xmlns:a="http://schemas.openxmlformats.org/drawingml/2006/main" cx="13716000" cy="3810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334000"/>
                <a:gridCol w="4191000"/>
                <a:gridCol w="4191000"/>
              </a:tblGrid>
              <a:tr h="762000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核对项目</a:t>
                      </a:r>
                    </a:p>
                  </a:txBody>
                  <a:tcPr marL="142875" marR="142875" marT="66675" marB="57150" anchor="t">
                    <a:lnL w="9525">
                      <a:solidFill>
                        <a:srgbClr val="CAD6DC"/>
                      </a:solidFill>
                    </a:lnL>
                    <a:lnR w="9525">
                      <a:solidFill>
                        <a:srgbClr val="CAD6DC"/>
                      </a:solidFill>
                    </a:lnR>
                    <a:lnT w="9525">
                      <a:solidFill>
                        <a:srgbClr val="CAD6DC"/>
                      </a:solidFill>
                    </a:lnT>
                    <a:lnB w="9525">
                      <a:solidFill>
                        <a:srgbClr val="CAD6DC"/>
                      </a:solidFill>
                    </a:lnB>
                    <a:solidFill>
                      <a:srgbClr val="132F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Python实际输出</a:t>
                      </a:r>
                    </a:p>
                  </a:txBody>
                  <a:tcPr marL="142875" marR="142875" marT="66675" marB="57150" anchor="t">
                    <a:lnR w="9525">
                      <a:solidFill>
                        <a:srgbClr val="CAD6DC"/>
                      </a:solidFill>
                    </a:lnR>
                    <a:lnT w="9525">
                      <a:solidFill>
                        <a:srgbClr val="CAD6DC"/>
                      </a:solidFill>
                    </a:lnT>
                    <a:lnB w="9525">
                      <a:solidFill>
                        <a:srgbClr val="CAD6DC"/>
                      </a:solidFill>
                    </a:lnB>
                    <a:solidFill>
                      <a:srgbClr val="132F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R实际输出</a:t>
                      </a:r>
                    </a:p>
                  </a:txBody>
                  <a:tcPr marL="142875" marR="142875" marT="66675" marB="57150" anchor="t">
                    <a:lnR w="9525">
                      <a:solidFill>
                        <a:srgbClr val="CAD6DC"/>
                      </a:solidFill>
                    </a:lnR>
                    <a:lnT w="9525">
                      <a:solidFill>
                        <a:srgbClr val="CAD6DC"/>
                      </a:solidFill>
                    </a:lnT>
                    <a:lnB w="9525">
                      <a:solidFill>
                        <a:srgbClr val="CAD6DC"/>
                      </a:solidFill>
                    </a:lnB>
                    <a:solidFill>
                      <a:srgbClr val="132F43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纳入数 / 雌雄各n</a:t>
                      </a:r>
                    </a:p>
                  </a:txBody>
                  <a:tcPr marL="142875" marR="142875" marT="66675" marB="57150" anchor="t">
                    <a:lnL w="9525">
                      <a:solidFill>
                        <a:srgbClr val="CAD6DC"/>
                      </a:solidFill>
                    </a:lnL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146 / 各73</a:t>
                      </a:r>
                    </a:p>
                  </a:txBody>
                  <a:tcPr marL="142875" marR="142875" marT="66675" marB="571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146 / 各73</a:t>
                      </a:r>
                    </a:p>
                  </a:txBody>
                  <a:tcPr marL="142875" marR="142875" marT="66675" marB="571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均值 mm：雌 / 雄</a:t>
                      </a:r>
                    </a:p>
                  </a:txBody>
                  <a:tcPr marL="142875" marR="142875" marT="66675" marB="57150" anchor="t">
                    <a:lnL w="9525">
                      <a:solidFill>
                        <a:srgbClr val="CAD6DC"/>
                      </a:solidFill>
                    </a:lnL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187.79 / 192.41</a:t>
                      </a:r>
                    </a:p>
                  </a:txBody>
                  <a:tcPr marL="142875" marR="142875" marT="66675" marB="571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187.79 / 192.41</a:t>
                      </a:r>
                    </a:p>
                  </a:txBody>
                  <a:tcPr marL="142875" marR="142875" marT="66675" marB="571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样本SD mm：雌 / 雄</a:t>
                      </a:r>
                    </a:p>
                  </a:txBody>
                  <a:tcPr marL="142875" marR="142875" marT="66675" marB="57150" anchor="t">
                    <a:lnL w="9525">
                      <a:solidFill>
                        <a:srgbClr val="CAD6DC"/>
                      </a:solidFill>
                    </a:lnL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5.60 / 6.60</a:t>
                      </a:r>
                    </a:p>
                  </a:txBody>
                  <a:tcPr marL="142875" marR="142875" marT="66675" marB="571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5.60 / 6.60</a:t>
                      </a:r>
                    </a:p>
                  </a:txBody>
                  <a:tcPr marL="142875" marR="142875" marT="66675" marB="571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雄减雌均值差 mm</a:t>
                      </a:r>
                    </a:p>
                  </a:txBody>
                  <a:tcPr marL="142875" marR="142875" marT="66675" marB="57150" anchor="t">
                    <a:lnL w="9525">
                      <a:solidFill>
                        <a:srgbClr val="CAD6DC"/>
                      </a:solidFill>
                    </a:lnL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4.62</a:t>
                      </a:r>
                    </a:p>
                  </a:txBody>
                  <a:tcPr marL="142875" marR="142875" marT="66675" marB="571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4.62</a:t>
                      </a:r>
                    </a:p>
                  </a:txBody>
                  <a:tcPr marL="142875" marR="142875" marT="66675" marB="5715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CEBA5F7-1FDE-4563-BB67-D46025C03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191375"/>
            <a:ext cx="13716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逐行核对146条记录，再比数字。SD采用n−1分母，均值差固定为雄性减雌性。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FCDEB21-2433-4EB5-8824-47B28E4B1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48600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SPSS尚未运行；得到输出后，再核对同样的行号和统计量。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D53E791-4544-4BAE-875A-A68C36651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34375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来源：本地Python/R实算与代码；R官方数据输入与SD说明；IBM官方语法索引，未执行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92E4A00-9089-4508-9599-24F3A7F52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296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22</a:t>
            </a:r>
          </a:p>
        </p:txBody>
      </p:sp>
    </p:spTree>
    <p:extLst>
      <p:ext uri="{BB962C8B-B14F-4D97-AF65-F5344CB8AC3E}">
        <p14:creationId xmlns:p14="http://schemas.microsoft.com/office/powerpoint/2010/main" val="14283500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Microsoft YaHei"/>
        <a:ea typeface=""/>
        <a:cs typeface=""/>
      </a:majorFont>
      <a:minorFont>
        <a:latin typeface="Microsoft YaHei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2026-10-19T02:18:00.2980000Z</dcterms:created>
  <dcterms:modified xsi:type="dcterms:W3CDTF">2026-10-19T02:18:00.2980000Z</dcterms:modified>
</coreProperties>
</file>