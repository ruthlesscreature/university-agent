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3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4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5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6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281c83ab694021" /><Relationship Type="http://schemas.openxmlformats.org/officeDocument/2006/relationships/extended-properties" Target="/docProps/app.xml" Id="R889cc4cd2cb6402c" /><Relationship Type="http://schemas.openxmlformats.org/officeDocument/2006/relationships/officeDocument" Target="/ppt/presentation.xml" Id="R46aa99621f0640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4b1a7d1f1b47b0"/>
  </p:sldMasterIdLst>
  <p:notesMasterIdLst>
    <p:notesMasterId xmlns:r="http://schemas.openxmlformats.org/officeDocument/2006/relationships" r:id="R0b2984583d944520"/>
  </p:notesMasterIdLst>
  <p:sldIdLst>
    <p:sldId xmlns:r="http://schemas.openxmlformats.org/officeDocument/2006/relationships" id="256" r:id="Rd47a70273ac442e1"/>
    <p:sldId xmlns:r="http://schemas.openxmlformats.org/officeDocument/2006/relationships" id="257" r:id="Rcd29a1f5bfcf43c1"/>
    <p:sldId xmlns:r="http://schemas.openxmlformats.org/officeDocument/2006/relationships" id="258" r:id="R9e6250c7b5d1428b"/>
    <p:sldId xmlns:r="http://schemas.openxmlformats.org/officeDocument/2006/relationships" id="259" r:id="R3f3358520a204a69"/>
    <p:sldId xmlns:r="http://schemas.openxmlformats.org/officeDocument/2006/relationships" id="260" r:id="Rc2d927bc0eff4c35"/>
    <p:sldId xmlns:r="http://schemas.openxmlformats.org/officeDocument/2006/relationships" id="261" r:id="R155ca3d7cb83466f"/>
    <p:sldId xmlns:r="http://schemas.openxmlformats.org/officeDocument/2006/relationships" id="262" r:id="Rf3e87397676e472c"/>
    <p:sldId xmlns:r="http://schemas.openxmlformats.org/officeDocument/2006/relationships" id="263" r:id="Rcfe177a1dd8f41c5"/>
    <p:sldId xmlns:r="http://schemas.openxmlformats.org/officeDocument/2006/relationships" id="264" r:id="Rdf63ac3a1651472f"/>
    <p:sldId xmlns:r="http://schemas.openxmlformats.org/officeDocument/2006/relationships" id="265" r:id="R2a45f339c92d42a5"/>
    <p:sldId xmlns:r="http://schemas.openxmlformats.org/officeDocument/2006/relationships" id="266" r:id="R98a003d928374291"/>
    <p:sldId xmlns:r="http://schemas.openxmlformats.org/officeDocument/2006/relationships" id="267" r:id="R38f4ea405d104dc1"/>
    <p:sldId xmlns:r="http://schemas.openxmlformats.org/officeDocument/2006/relationships" id="268" r:id="R419875cc6b83485a"/>
    <p:sldId xmlns:r="http://schemas.openxmlformats.org/officeDocument/2006/relationships" id="269" r:id="Rafc394ee7a4942b0"/>
    <p:sldId xmlns:r="http://schemas.openxmlformats.org/officeDocument/2006/relationships" id="270" r:id="R1fefab4537404581"/>
    <p:sldId xmlns:r="http://schemas.openxmlformats.org/officeDocument/2006/relationships" id="271" r:id="Rc3910429caf94df3"/>
    <p:sldId xmlns:r="http://schemas.openxmlformats.org/officeDocument/2006/relationships" id="272" r:id="R4771b042ea9d4b61"/>
    <p:sldId xmlns:r="http://schemas.openxmlformats.org/officeDocument/2006/relationships" id="273" r:id="R3ae38b19373d49e5"/>
    <p:sldId xmlns:r="http://schemas.openxmlformats.org/officeDocument/2006/relationships" id="274" r:id="Rf1f4ab9e0dc64aba"/>
    <p:sldId xmlns:r="http://schemas.openxmlformats.org/officeDocument/2006/relationships" id="275" r:id="Rcd42b160f4954660"/>
    <p:sldId xmlns:r="http://schemas.openxmlformats.org/officeDocument/2006/relationships" id="276" r:id="R721dec7d312c419d"/>
    <p:sldId xmlns:r="http://schemas.openxmlformats.org/officeDocument/2006/relationships" id="277" r:id="R7bb516c173b34e92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82721914a24679" /><Relationship Type="http://schemas.openxmlformats.org/officeDocument/2006/relationships/slideMaster" Target="/ppt/slideMasters/slideMaster1.xml" Id="R204b1a7d1f1b47b0" /><Relationship Type="http://schemas.openxmlformats.org/officeDocument/2006/relationships/notesMaster" Target="/ppt/notesMasters/notesMaster1.xml" Id="R0b2984583d944520" /><Relationship Type="http://schemas.openxmlformats.org/officeDocument/2006/relationships/presProps" Target="/ppt/presProps.xml" Id="R80a9556539634ba4" /><Relationship Type="http://schemas.openxmlformats.org/officeDocument/2006/relationships/tableStyles" Target="/ppt/tableStyles.xml" Id="R9382bec6802f46fa" /><Relationship Type="http://schemas.openxmlformats.org/officeDocument/2006/relationships/slide" Target="/ppt/slides/slide1.xml" Id="Rd47a70273ac442e1" /><Relationship Type="http://schemas.openxmlformats.org/officeDocument/2006/relationships/slide" Target="/ppt/slides/slide2.xml" Id="Rcd29a1f5bfcf43c1" /><Relationship Type="http://schemas.openxmlformats.org/officeDocument/2006/relationships/slide" Target="/ppt/slides/slide3.xml" Id="R9e6250c7b5d1428b" /><Relationship Type="http://schemas.openxmlformats.org/officeDocument/2006/relationships/slide" Target="/ppt/slides/slide4.xml" Id="R3f3358520a204a69" /><Relationship Type="http://schemas.openxmlformats.org/officeDocument/2006/relationships/slide" Target="/ppt/slides/slide5.xml" Id="Rc2d927bc0eff4c35" /><Relationship Type="http://schemas.openxmlformats.org/officeDocument/2006/relationships/slide" Target="/ppt/slides/slide6.xml" Id="R155ca3d7cb83466f" /><Relationship Type="http://schemas.openxmlformats.org/officeDocument/2006/relationships/slide" Target="/ppt/slides/slide7.xml" Id="Rf3e87397676e472c" /><Relationship Type="http://schemas.openxmlformats.org/officeDocument/2006/relationships/slide" Target="/ppt/slides/slide8.xml" Id="Rcfe177a1dd8f41c5" /><Relationship Type="http://schemas.openxmlformats.org/officeDocument/2006/relationships/slide" Target="/ppt/slides/slide9.xml" Id="Rdf63ac3a1651472f" /><Relationship Type="http://schemas.openxmlformats.org/officeDocument/2006/relationships/slide" Target="/ppt/slides/slide10.xml" Id="R2a45f339c92d42a5" /><Relationship Type="http://schemas.openxmlformats.org/officeDocument/2006/relationships/slide" Target="/ppt/slides/slide11.xml" Id="R98a003d928374291" /><Relationship Type="http://schemas.openxmlformats.org/officeDocument/2006/relationships/slide" Target="/ppt/slides/slide12.xml" Id="R38f4ea405d104dc1" /><Relationship Type="http://schemas.openxmlformats.org/officeDocument/2006/relationships/slide" Target="/ppt/slides/slide13.xml" Id="R419875cc6b83485a" /><Relationship Type="http://schemas.openxmlformats.org/officeDocument/2006/relationships/slide" Target="/ppt/slides/slide14.xml" Id="Rafc394ee7a4942b0" /><Relationship Type="http://schemas.openxmlformats.org/officeDocument/2006/relationships/slide" Target="/ppt/slides/slide15.xml" Id="R1fefab4537404581" /><Relationship Type="http://schemas.openxmlformats.org/officeDocument/2006/relationships/slide" Target="/ppt/slides/slide16.xml" Id="Rc3910429caf94df3" /><Relationship Type="http://schemas.openxmlformats.org/officeDocument/2006/relationships/slide" Target="/ppt/slides/slide17.xml" Id="R4771b042ea9d4b61" /><Relationship Type="http://schemas.openxmlformats.org/officeDocument/2006/relationships/slide" Target="/ppt/slides/slide18.xml" Id="R3ae38b19373d49e5" /><Relationship Type="http://schemas.openxmlformats.org/officeDocument/2006/relationships/slide" Target="/ppt/slides/slide19.xml" Id="Rf1f4ab9e0dc64aba" /><Relationship Type="http://schemas.openxmlformats.org/officeDocument/2006/relationships/slide" Target="/ppt/slides/slide20.xml" Id="Rcd42b160f4954660" /><Relationship Type="http://schemas.openxmlformats.org/officeDocument/2006/relationships/slide" Target="/ppt/slides/slide21.xml" Id="R721dec7d312c419d" /><Relationship Type="http://schemas.openxmlformats.org/officeDocument/2006/relationships/slide" Target="/ppt/slides/slide22.xml" Id="R7bb516c173b34e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b0f3f8f2584b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9c1355288c4857" /><Relationship Type="http://schemas.openxmlformats.org/officeDocument/2006/relationships/notesMaster" Target="/ppt/notesMasters/notesMaster1.xml" Id="Rd006445e4a314d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1399cd385c455f" /><Relationship Type="http://schemas.openxmlformats.org/officeDocument/2006/relationships/notesMaster" Target="/ppt/notesMasters/notesMaster1.xml" Id="R11d459923e394c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9ae65979d6472a" /><Relationship Type="http://schemas.openxmlformats.org/officeDocument/2006/relationships/notesMaster" Target="/ppt/notesMasters/notesMaster1.xml" Id="R7f448855550546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4ac27f6a9c40d2" /><Relationship Type="http://schemas.openxmlformats.org/officeDocument/2006/relationships/notesMaster" Target="/ppt/notesMasters/notesMaster1.xml" Id="R54c947b2bbfc4e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2be98a3a6f420f" /><Relationship Type="http://schemas.openxmlformats.org/officeDocument/2006/relationships/notesMaster" Target="/ppt/notesMasters/notesMaster1.xml" Id="Rb0646064080d49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d6f98532cd41cc" /><Relationship Type="http://schemas.openxmlformats.org/officeDocument/2006/relationships/notesMaster" Target="/ppt/notesMasters/notesMaster1.xml" Id="R93c68f9a2c3843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899be9e36e468f" /><Relationship Type="http://schemas.openxmlformats.org/officeDocument/2006/relationships/notesMaster" Target="/ppt/notesMasters/notesMaster1.xml" Id="Rcccc8880e4b74d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3664a986f24a76" /><Relationship Type="http://schemas.openxmlformats.org/officeDocument/2006/relationships/notesMaster" Target="/ppt/notesMasters/notesMaster1.xml" Id="R6a69583c378e4f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1e622c552c4f05" /><Relationship Type="http://schemas.openxmlformats.org/officeDocument/2006/relationships/notesMaster" Target="/ppt/notesMasters/notesMaster1.xml" Id="R70ed1627af3f4d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d00158b7114f1e" /><Relationship Type="http://schemas.openxmlformats.org/officeDocument/2006/relationships/notesMaster" Target="/ppt/notesMasters/notesMaster1.xml" Id="Re34b3608887243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e0a57e57ec4c9c" /><Relationship Type="http://schemas.openxmlformats.org/officeDocument/2006/relationships/notesMaster" Target="/ppt/notesMasters/notesMaster1.xml" Id="Rb11e2743a08d43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4b4a5e4f6c46e2" /><Relationship Type="http://schemas.openxmlformats.org/officeDocument/2006/relationships/notesMaster" Target="/ppt/notesMasters/notesMaster1.xml" Id="R2e176c4fab8c45c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fe0fd9cf0124aa4" /><Relationship Type="http://schemas.openxmlformats.org/officeDocument/2006/relationships/notesMaster" Target="/ppt/notesMasters/notesMaster1.xml" Id="Rb781501adcf04bb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a7f1e4e71a24d3c" /><Relationship Type="http://schemas.openxmlformats.org/officeDocument/2006/relationships/notesMaster" Target="/ppt/notesMasters/notesMaster1.xml" Id="R219ce3131297478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ea9b40f5cda48c1" /><Relationship Type="http://schemas.openxmlformats.org/officeDocument/2006/relationships/notesMaster" Target="/ppt/notesMasters/notesMaster1.xml" Id="Re2a6a5ac911f42d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35985d65e8940f9" /><Relationship Type="http://schemas.openxmlformats.org/officeDocument/2006/relationships/notesMaster" Target="/ppt/notesMasters/notesMaster1.xml" Id="R72f223d036fd473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8a1aa6eb9564c10" /><Relationship Type="http://schemas.openxmlformats.org/officeDocument/2006/relationships/notesMaster" Target="/ppt/notesMasters/notesMaster1.xml" Id="R75b035865f314d2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070aa88dd994df6" /><Relationship Type="http://schemas.openxmlformats.org/officeDocument/2006/relationships/notesMaster" Target="/ppt/notesMasters/notesMaster1.xml" Id="R6855fd8d92364d1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33b180bbcd941d1" /><Relationship Type="http://schemas.openxmlformats.org/officeDocument/2006/relationships/notesMaster" Target="/ppt/notesMasters/notesMaster1.xml" Id="Rc26fc20331e94c5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cb0fdcbd4884500" /><Relationship Type="http://schemas.openxmlformats.org/officeDocument/2006/relationships/notesMaster" Target="/ppt/notesMasters/notesMaster1.xml" Id="R8196ba95ea0444e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17663aab40e4f24" /><Relationship Type="http://schemas.openxmlformats.org/officeDocument/2006/relationships/notesMaster" Target="/ppt/notesMasters/notesMaster1.xml" Id="R11e1187a7711478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a16c1d9c5684152" /><Relationship Type="http://schemas.openxmlformats.org/officeDocument/2006/relationships/notesMaster" Target="/ppt/notesMasters/notesMaster1.xml" Id="R133d49f2e94248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从原始文件出发，先明确问题、测量单位和比较范围。AI可以生成清洗与分析代码，讲师要核对过滤条件、分母和输出。后面保留完整CSV、代码与计算结果。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Lecture2: EDA I</a:t>
            </a:r>
          </a:p>
          <a:p xmlns:a="http://schemas.openxmlformats.org/drawingml/2006/main">
            <a:r>
              <a:t>https://docs.google.com/presentation/d/1_i5kgBSmCoYQF2bB1jfGpZkL3pRWku54BDd5xxLqZVE/edit</a:t>
            </a:r>
          </a:p>
          <a:p xmlns:a="http://schemas.openxmlformats.org/drawingml/2006/main">
            <a:r>
              <a:t>定位：PDF第9、20、24页，已渲染查看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由Kristen Gorman和Palmer Station LTER采集，课程使用Horst等整理的8字段简化版。观测对象是企鹅个体，但简化表不能独立核验巢、个体唯一性或重复记录。此处的CSV行号只用于追溯，不能冒充生物学个体ID。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本页取CSV前6数据行，显示行号为文件物理行号，包含表头。第5行的NA表示记录缺失，不能把它转成0毫米。表格只抽取本节需要的几列，其余字段仍保存在完整CSV中。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先定义分析目标，再取列。Adelie通称阿德利企鹅，本节保留源表名称便于对照。性别是分类记录，鳍长是连续测量；年份与岛屿可能影响组成，不能忽略。没有用全部字段缺失来决定本次分析纳入。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缺失按字段统计，同一行可能同时缺多列，因此不能把各字段缺失数相加当作总排除数。图显示完整344行的字段缺失情况。具体比较另按目标列筛选。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从344条筛选Adelie后有152条，按sex与flipper_length_mm完整记录分析，得到female73条、male73条。被排除的CSV物理行号为5、10、11、12、13、49。未进行插补。缺失可能与测量或采样有关，完整记录结果不能证明缺失无偏。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课程脚本对Adelie完整记录做1.5倍IQR范围筛查，只保存标记，不据此删除。筛查阈值是探索规则，不等于错误认定。可查单位转换、录入、仪器和采样背景；不能查明时保留并比较不同分析。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NIST/SEMATECH: Detection of Outliers</a:t>
            </a:r>
          </a:p>
          <a:p xmlns:a="http://schemas.openxmlformats.org/drawingml/2006/main">
            <a:r>
              <a:t>https://www.itl.nist.gov/div898/handbook/eda/section3/eda35h.htm</a:t>
            </a:r>
          </a:p>
          <a:p xmlns:a="http://schemas.openxmlformats.org/drawingml/2006/main">
            <a:r>
              <a:t>定位：Introduction，Labeling/Accomodation/Identification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以5毫米等宽区间汇总Adelie完整记录，区间左闭右开，最后区间按NumPy规则包含右端点。每组73条。两组分布的重叠提醒讲师区分群体均值与个体判别，不给出未经验证的分类准确率。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female组均值187.79mm，样本SD5.60mm。把行视为独立同分布观测时，均值SE=SD/√73=0.65mm。SE公式依赖独立性；巢或年份关联可能使简单SE不适用。不能把SE小理解为每个个体都靠近均值。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NIST/SEMATECH: Confidence Limits for the Mean</a:t>
            </a:r>
          </a:p>
          <a:p xmlns:a="http://schemas.openxmlformats.org/drawingml/2006/main">
            <a:r>
              <a:t>https://www.itl.nist.gov/div898/handbook/eda/section3/eda352.htm</a:t>
            </a:r>
          </a:p>
          <a:p xmlns:a="http://schemas.openxmlformats.org/drawingml/2006/main">
            <a:r>
              <a:t>定位：Purpose与Definition；重复抽样解释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左侧示意不同个体A、B分别进入两组，右侧是同一个体X的前后记录。配对需要可核验的对应关系。企鹅数据的简化表没有前后测ID，不因两组数量相等就配对。示意字母不是实际采样ID。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NIST/SEMATECH: Two-Sample t-Test for Equal Means</a:t>
            </a:r>
          </a:p>
          <a:p xmlns:a="http://schemas.openxmlformats.org/drawingml/2006/main">
            <a:r>
              <a:t>https://www.itl.nist.gov/div898/handbook/eda/section3/eda353.htm</a:t>
            </a:r>
          </a:p>
          <a:p xmlns:a="http://schemas.openxmlformats.org/drawingml/2006/main">
            <a:r>
              <a:t>定位：paired/unpaired与Welch-Satterthwaite说明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课程自编方法说明与教学模拟</a:t>
            </a:r>
          </a:p>
          <a:p xmlns:a="http://schemas.openxmlformats.org/drawingml/2006/main">
            <a:r>
              <a:t>local:training/section-07/lesson.json</a:t>
            </a:r>
          </a:p>
          <a:p xmlns:a="http://schemas.openxmlformats.org/drawingml/2006/main">
            <a:r>
              <a:t>定位：模拟内容不代表科研观测或模型执行截图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连续结果比较均值可考虑独立组Welch或配对差值方法，类别结果可比较比例并检查稀疏计数；多个组、重复测量或聚类需要相应模型。正态性检验的一个P值不能自动决定全部方法。此页只展示选择框架，没有宣称已运行所有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NIST/SEMATECH: Two-Sample t-Test for Equal Means</a:t>
            </a:r>
          </a:p>
          <a:p xmlns:a="http://schemas.openxmlformats.org/drawingml/2006/main">
            <a:r>
              <a:t>https://www.itl.nist.gov/div898/handbook/eda/section3/eda353.htm</a:t>
            </a:r>
          </a:p>
          <a:p xmlns:a="http://schemas.openxmlformats.org/drawingml/2006/main">
            <a:r>
              <a:t>定位：paired/unpaired与Welch-Satterthwaite说明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课程自编方法说明与教学模拟</a:t>
            </a:r>
          </a:p>
          <a:p xmlns:a="http://schemas.openxmlformats.org/drawingml/2006/main">
            <a:r>
              <a:t>local:training/section-07/lesson.json</a:t>
            </a:r>
          </a:p>
          <a:p xmlns:a="http://schemas.openxmlformats.org/drawingml/2006/main">
            <a:r>
              <a:t>定位：模拟内容不代表科研观测或模型执行截图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雄性192.41、雌性187.79mm；差定义为male减female。对两组分别按行有放回抽样10000次，2.5%与97.5%分位点构成百分位区间。得到约2.68—6.58mm，数值由脚本产生。这是行独立模型下的教学区间，未覆盖选择偏差、缺失机制或巢内相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Lecture11: Confidence intervals I</a:t>
            </a:r>
          </a:p>
          <a:p xmlns:a="http://schemas.openxmlformats.org/drawingml/2006/main">
            <a:r>
              <a:t>https://docs.google.com/presentation/d/1as5Nr_mx7eZk1Wz4mZJdOcHGjycFxf5FqhZyfXqjLbk/edit</a:t>
            </a:r>
          </a:p>
          <a:p xmlns:a="http://schemas.openxmlformats.org/drawingml/2006/main">
            <a:r>
              <a:t>定位：PDF第4、7、8页，已渲染查看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模拟设总体均值100、已知SD10、每次25个独立正态观测；用已知SD的正态区间，不用样本SD替代。运行1000次，显示前10次。某组10次的覆盖比例无需等于95%，1000次也有蒙特卡洛波动。模型参数是自设值，与企鹅数据无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Lecture11: Confidence intervals I</a:t>
            </a:r>
          </a:p>
          <a:p xmlns:a="http://schemas.openxmlformats.org/drawingml/2006/main">
            <a:r>
              <a:t>https://docs.google.com/presentation/d/1as5Nr_mx7eZk1Wz4mZJdOcHGjycFxf5FqhZyfXqjLbk/edit</a:t>
            </a:r>
          </a:p>
          <a:p xmlns:a="http://schemas.openxmlformats.org/drawingml/2006/main">
            <a:r>
              <a:t>定位：PDF第4、7、8页，已渲染查看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NIST/SEMATECH: Confidence Limits for the Mean</a:t>
            </a:r>
          </a:p>
          <a:p xmlns:a="http://schemas.openxmlformats.org/drawingml/2006/main">
            <a:r>
              <a:t>https://www.itl.nist.gov/div898/handbook/eda/section3/eda352.htm</a:t>
            </a:r>
          </a:p>
          <a:p xmlns:a="http://schemas.openxmlformats.org/drawingml/2006/main">
            <a:r>
              <a:t>定位：Purpose与Definition；重复抽样解释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课程自编方法说明与教学模拟</a:t>
            </a:r>
          </a:p>
          <a:p xmlns:a="http://schemas.openxmlformats.org/drawingml/2006/main">
            <a:r>
              <a:t>local:training/section-07/lesson.json</a:t>
            </a:r>
          </a:p>
          <a:p xmlns:a="http://schemas.openxmlformats.org/drawingml/2006/main">
            <a:r>
              <a:t>定位：模拟内容不代表科研观测或模型执行截图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零假设是每次正面概率0.5且独立。双侧极端事件定义K≥15或K≤5，精确二项分布相加得到0.041389。15次正面是教学设定，没有伪装成实际抛掷记录。P值不等于零假设为真的概率，也不等于结果由偶然造成的概率。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Lecture14: Hypothesis testing I</a:t>
            </a:r>
          </a:p>
          <a:p xmlns:a="http://schemas.openxmlformats.org/drawingml/2006/main">
            <a:r>
              <a:t>https://docs.google.com/presentation/d/1kVlWvs05VWO8afAteE92p85yHMnPlo1WEuktsL6AeHE/edit</a:t>
            </a:r>
          </a:p>
          <a:p xmlns:a="http://schemas.openxmlformats.org/drawingml/2006/main">
            <a:r>
              <a:t>定位：PDF第6、17、29页已渲染查看；第30、34页读取文字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ASA 2016 Statement on Statistical Significance and P-Values</a:t>
            </a:r>
          </a:p>
          <a:p xmlns:a="http://schemas.openxmlformats.org/drawingml/2006/main">
            <a:r>
              <a:t>https://www.amstat.org/asa/files/pdfs/p-valuestatement.pdf</a:t>
            </a:r>
          </a:p>
          <a:p xmlns:a="http://schemas.openxmlformats.org/drawingml/2006/main">
            <a:r>
              <a:t>定位：第2—3页原则；模型条件、效应大小和选择性报告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课程自编方法说明与教学模拟</a:t>
            </a:r>
          </a:p>
          <a:p xmlns:a="http://schemas.openxmlformats.org/drawingml/2006/main">
            <a:r>
              <a:t>local:training/section-07/lesson.json</a:t>
            </a:r>
          </a:p>
          <a:p xmlns:a="http://schemas.openxmlformats.org/drawingml/2006/main">
            <a:r>
              <a:t>定位：模拟内容不代表科研观测或模型执行截图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将估计量、模型条件与外推范围对应。企鹅示例报告毫米差异与条件bootstrap区间，没有计算性别的因果效应。硬币示例只有特定零假设下的尾概率，两者不能混在一段结果里。阈值不代表科学或应用价值的统一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ASA 2016 Statement on Statistical Significance and P-Values</a:t>
            </a:r>
          </a:p>
          <a:p xmlns:a="http://schemas.openxmlformats.org/drawingml/2006/main">
            <a:r>
              <a:t>https://www.amstat.org/asa/files/pdfs/p-valuestatement.pdf</a:t>
            </a:r>
          </a:p>
          <a:p xmlns:a="http://schemas.openxmlformats.org/drawingml/2006/main">
            <a:r>
              <a:t>定位：第2—3页原则；模型条件、效应大小和选择性报告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Lecture14: Hypothesis testing I</a:t>
            </a:r>
          </a:p>
          <a:p xmlns:a="http://schemas.openxmlformats.org/drawingml/2006/main">
            <a:r>
              <a:t>https://docs.google.com/presentation/d/1kVlWvs05VWO8afAteE92p85yHMnPlo1WEuktsL6AeHE/edit</a:t>
            </a:r>
          </a:p>
          <a:p xmlns:a="http://schemas.openxmlformats.org/drawingml/2006/main">
            <a:r>
              <a:t>定位：PDF第6、17、29页已渲染查看；第30、34页读取文字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每组样本数73，组内有放回抽样，因此同一行可在一次抽样内出现多次；每次计算male减female的均值差。10000次不是新增10000批真实动物数据。若存在配对或巢内相关，应按相应单位重抽样；当前简化表不能支持这种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Lecture11: Confidence intervals I</a:t>
            </a:r>
          </a:p>
          <a:p xmlns:a="http://schemas.openxmlformats.org/drawingml/2006/main">
            <a:r>
              <a:t>https://docs.google.com/presentation/d/1as5Nr_mx7eZk1Wz4mZJdOcHGjycFxf5FqhZyfXqjLbk/edit</a:t>
            </a:r>
          </a:p>
          <a:p xmlns:a="http://schemas.openxmlformats.org/drawingml/2006/main">
            <a:r>
              <a:t>定位：PDF第4、7、8页，已渲染查看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NumPy Generator.choice documentation</a:t>
            </a:r>
          </a:p>
          <a:p xmlns:a="http://schemas.openxmlformats.org/drawingml/2006/main">
            <a:r>
              <a:t>https://numpy.org/doc/stable/reference/random/generated/numpy.random.Generator.choice.html</a:t>
            </a:r>
          </a:p>
          <a:p xmlns:a="http://schemas.openxmlformats.org/drawingml/2006/main">
            <a:r>
              <a:t>定位：replace参数；版本见results.json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重抽样分布用于展示当前样本在指定抽样方案下的不确定性。图为0.5毫米等宽区间频数汇总，完整10000次值保存在CSV。均值差的分布与个体鳍长分布不同，不能相互替代。随机种子20261018。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Lecture11: Confidence intervals I</a:t>
            </a:r>
          </a:p>
          <a:p xmlns:a="http://schemas.openxmlformats.org/drawingml/2006/main">
            <a:r>
              <a:t>https://docs.google.com/presentation/d/1as5Nr_mx7eZk1Wz4mZJdOcHGjycFxf5FqhZyfXqjLbk/edit</a:t>
            </a:r>
          </a:p>
          <a:p xmlns:a="http://schemas.openxmlformats.org/drawingml/2006/main">
            <a:r>
              <a:t>定位：PDF第4、7、8页，已渲染查看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NumPy Generator.choice documentation</a:t>
            </a:r>
          </a:p>
          <a:p xmlns:a="http://schemas.openxmlformats.org/drawingml/2006/main">
            <a:r>
              <a:t>https://numpy.org/doc/stable/reference/random/generated/numpy.random.Generator.choice.html</a:t>
            </a:r>
          </a:p>
          <a:p xmlns:a="http://schemas.openxmlformats.org/drawingml/2006/main">
            <a:r>
              <a:t>定位：replace参数；版本见results.json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物种的完整喙长和鳍长记录为342条，图按物种着色。总体Pearson相关约0.656，Adelie内约0.326。数字差异说明总体关系与同物种内关系不同，不能把总体直线当成每个物种的关系；相关不表明改变喙长会造成鳍长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按年份与性别分组复算均值。雌雄各年份的n分别22、25、26。折线连接各年组均值，未跟踪同一个体，不能讲成个体随时间的生长曲线。这一分层检查未调整岛屿、巢等因素，也不能消除混杂。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读结果示例见页面。讲师可按对象、计算、假设逐句解释，不把代码输出整段贴入论文。此处区间是本课程二次计算，不能引用成原论文中的结论。性别及其他变量未随机分配，不声称因果；未完成原始研究设计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ASA 2016 Statement on Statistical Significance and P-Values</a:t>
            </a:r>
          </a:p>
          <a:p xmlns:a="http://schemas.openxmlformats.org/drawingml/2006/main">
            <a:r>
              <a:t>https://www.amstat.org/asa/files/pdfs/p-valuestatement.pdf</a:t>
            </a:r>
          </a:p>
          <a:p xmlns:a="http://schemas.openxmlformats.org/drawingml/2006/main">
            <a:r>
              <a:t>定位：第2—3页原则；模型条件、效应大小和选择性报告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接在结果解释之后，说明教师如何判断代码修改是否生效。先讲具体任务：在同一份公开企鹅数据中，把鳍长均值差从雄性减雌性改成雌性减雄性。原先4.616438毫米，修改后为负4.616438毫米，两组各73条，纳入146条，均值和样本SD保持不变。正负号随比较顺序改变，不能据此声称发现了另一种研究效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sor是代码编辑与Agent工具入口，可以在当前权限和运行设置下读取文件、修改代码并发起终端命令。Python解释器是实际运行Python代码的软件，终端是输入命令和查看运行输出的位置。编辑器内显示一段代码，不证明它已经执行；聊天中的数字也不证明它来自当前文件。演示时先核对当前目录、实际解释器路径和版本，再看运行命令、退出码、新文件和脚本版本。具体按钮与安装步骤不占主课时间，已有Cursor环境的讲师可按配套任务展示；本课程不要求学员安装或操作账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在本地Codex调用Python执行两份完整脚本，没有在Cursor操作或调用Cursor模型。cursor-packet中baseline.py来自原cross-tool/analysis.py，基线仅改输出目录。modified.py改差值公式、字段名和打印字段，同时使用独立目录。code-change.diff展示实际差异。两个目录的included_rows.csv、summary.csv用于检查纳入行、人数、均值和样本SD；comparison.csv对应不同方向的差值，run.json及run-evidence.json保存时间、路径、版本、退出码和哈希。check_results.py从原CSV独立复算，不仅检查程序是否退出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Python、R、SPSS三份同口径代码继续保留在cross-tool。Python与本地WebR已实际执行，下一页仍比较雄减雌口径；新增雌减雄仅作为代码修改教学例子，未将R输出暗中改成新方向。SPSS语法未执行，桌面R与RStudio未实测。所有教学任务和解释由AI编写，尚待授课教师审定。科学边界仍保留：这里只作公开数据描述统计，未核实独立性、总体代表性或因果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国外参考为CMU Generative AI 2025 Lecture23物理第26页（印刷页30），它把代码、执行器、检验和反馈分别呈现。借鉴这一次序，中文页的四步图可编辑，没有移用原图、模型成绩或自主纠错结论。Cursor功能另查本轮官方Agent mode及Terminal integration原文。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Nayebi &amp; Gormley, CMU Generative AI, Lecture23, Nov19 2025</a:t>
            </a:r>
          </a:p>
          <a:p xmlns:a="http://schemas.openxmlformats.org/drawingml/2006/main">
            <a:r>
              <a:t>https://www.cs.cmu.edu/~mgormley/courses/10423-f25/slides/lecture23-code.pdf</a:t>
            </a:r>
          </a:p>
          <a:p xmlns:a="http://schemas.openxmlformats.org/drawingml/2006/main">
            <a:r>
              <a:t>定位：物理第26页（印刷页30），Iterative Self-Refinement；采用执行器和检验反馈的讲授关系，不采用原图与结论承诺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Cursor Agent mode与Terminal integration官方说明</a:t>
            </a:r>
          </a:p>
          <a:p xmlns:a="http://schemas.openxmlformats.org/drawingml/2006/main">
            <a:r>
              <a:t>https://prod.cursor.com/help/ai-features/agent</a:t>
            </a:r>
          </a:p>
          <a:p xmlns:a="http://schemas.openxmlformats.org/drawingml/2006/main">
            <a:r>
              <a:t>定位：2026-10-19实际读取What can Agent mode do、How do I review Agent changes；终端说明另见cursor-packet/参考资料.md；未在Cursor操作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代码差值方向修改的本地Python实际运行</a:t>
            </a:r>
          </a:p>
          <a:p xmlns:a="http://schemas.openxmlformats.org/drawingml/2006/main">
            <a:r>
              <a:t>local:training/section-07/cursor-packet/run-evidence.json</a:t>
            </a:r>
          </a:p>
          <a:p xmlns:a="http://schemas.openxmlformats.org/drawingml/2006/main">
            <a:r>
              <a:t>定位：baseline.py、modified.py、code-change.diff、两个输出目录及check_results.py；公开数据二次描述统计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与R对146条纳入记录逐行比较CSV行号、性别编码和鳍长数值，再比较每组n、均值、样本SD和雄减雌均值差，绝对容差1e-9。两组各73条，雌性均值187.7945205479452、SD5.595034763345455；雄性均值192.41095890410958、SD6.599317339354874；差4.616438356164366毫米。样本SD的分母为n-1。页面只列实际执行的Python和R结果，不以空列代替SPSS实测；SPSS代码随包提供，尚无其输出。本页只作描述数值的一致性核对；不能据此证明抽样独立、科学结论或SPSS语法已运行。完整材料仍保留原始CSV、代码、筛选记录、输出、运行信息和未决问题。下一节进入科研图表与技术路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本轮Python与本地WebR描述统计、纳入行及输出比较</a:t>
            </a:r>
          </a:p>
          <a:p xmlns:a="http://schemas.openxmlformats.org/drawingml/2006/main">
            <a:r>
              <a:t>local:training/section-07/cross-tool/checks.json</a:t>
            </a:r>
          </a:p>
          <a:p xmlns:a="http://schemas.openxmlformats.org/drawingml/2006/main">
            <a:r>
              <a:t>定位：analysis.py、analysis.R、analysis.sps；R真实执行在本地WebR，SPSS未运行；run.json与runtime-provenance分别记录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R官方read.csv与样本sd说明</a:t>
            </a:r>
          </a:p>
          <a:p xmlns:a="http://schemas.openxmlformats.org/drawingml/2006/main">
            <a:r>
              <a:t>https://stat.ethz.ch/R-manual/R-devel/library/stats/html/sd.html</a:t>
            </a:r>
          </a:p>
          <a:p xmlns:a="http://schemas.openxmlformats.org/drawingml/2006/main">
            <a:r>
              <a:t>定位：sd使用n-1分母；read.csv的na.strings与stringsAsFactors参数另见cross-tool/参考资料.md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IBM SPSS Statistics GET DATA / MEANS / AGGREGATE / SAVE TRANSLATE索引</a:t>
            </a:r>
          </a:p>
          <a:p xmlns:a="http://schemas.openxmlformats.org/drawingml/2006/main">
            <a:r>
              <a:t>https://www.ibm.com/docs/en/spss-statistics/31.0.0?topic=reference-means</a:t>
            </a:r>
          </a:p>
          <a:p xmlns:a="http://schemas.openxmlformats.org/drawingml/2006/main">
            <a:r>
              <a:t>定位：官方搜索索引可读取语法；完整页面和31版PDF在本轮访问403。语法文件未通过SPSS执行验证，不作为已运行证据。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21376a88bb4be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c9789caea443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8405282426473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054fa0d3cf4a7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ed0b855b974b4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7bad30589549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1FACF7-BB26-411E-938A-991DE47E0A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B975A9A-9AD5-47A1-9569-7EBC59E9420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CDC93DC-6D32-4EEC-AEBA-58977DF71D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CABFA2-993A-4B0F-BCA9-891025434D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1BA2C13-DEFE-4EC5-A421-5079CEAE09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673A736-EB21-4E36-8F58-C01B065A7E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8F0063B-71BE-4C11-86E8-75EB030DCB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103C072-A377-459F-BBCF-886EB15631A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67F2F5-1C60-4364-BAE8-36AEFCED2C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794BE0D-3E81-499C-82D8-275C0CB283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08279cb5904a7c" /><Relationship Type="http://schemas.openxmlformats.org/officeDocument/2006/relationships/slideLayout" Target="/ppt/slideLayouts/slideLayout1.xml" Id="R75b1417fbee244c9" /><Relationship Type="http://schemas.openxmlformats.org/officeDocument/2006/relationships/slideLayout" Target="/ppt/slideLayouts/slideLayout2.xml" Id="R8f15b59ab7b34b53" /><Relationship Type="http://schemas.openxmlformats.org/officeDocument/2006/relationships/slideLayout" Target="/ppt/slideLayouts/slideLayout3.xml" Id="R0a6b1cfe4cc542fd" /><Relationship Type="http://schemas.openxmlformats.org/officeDocument/2006/relationships/slideLayout" Target="/ppt/slideLayouts/slideLayout4.xml" Id="Re58861b96d7740ce" /><Relationship Type="http://schemas.openxmlformats.org/officeDocument/2006/relationships/slideLayout" Target="/ppt/slideLayouts/slideLayout5.xml" Id="R48ef6b59df7c479f" /><Relationship Type="http://schemas.openxmlformats.org/officeDocument/2006/relationships/slideLayout" Target="/ppt/slideLayouts/slideLayout6.xml" Id="R3e8cf9f5eea24e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b1417fbee244c9"/>
    <p:sldLayoutId xmlns:r="http://schemas.openxmlformats.org/officeDocument/2006/relationships" id="2147483650" r:id="R8f15b59ab7b34b53"/>
    <p:sldLayoutId xmlns:r="http://schemas.openxmlformats.org/officeDocument/2006/relationships" id="2147483651" r:id="R0a6b1cfe4cc542fd"/>
    <p:sldLayoutId xmlns:r="http://schemas.openxmlformats.org/officeDocument/2006/relationships" id="2147483652" r:id="Re58861b96d7740ce"/>
    <p:sldLayoutId xmlns:r="http://schemas.openxmlformats.org/officeDocument/2006/relationships" id="2147483653" r:id="R48ef6b59df7c479f"/>
    <p:sldLayoutId xmlns:r="http://schemas.openxmlformats.org/officeDocument/2006/relationships" id="2147483654" r:id="R3e8cf9f5eea24e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39fc343553490a" /><Relationship Type="http://schemas.openxmlformats.org/officeDocument/2006/relationships/notesSlide" Target="/ppt/notesSlides/notesSlide1.xml" Id="R57920cd4f4b747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80d1bbec314bef" /><Relationship Type="http://schemas.openxmlformats.org/officeDocument/2006/relationships/notesSlide" Target="/ppt/notesSlides/notesSlide2.xml" Id="R5eb9d54b133142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8d60dd30b5425f" /><Relationship Type="http://schemas.openxmlformats.org/officeDocument/2006/relationships/notesSlide" Target="/ppt/notesSlides/notesSlide3.xml" Id="Rfaa1f0e01c6b4d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d85309018e423d" /><Relationship Type="http://schemas.openxmlformats.org/officeDocument/2006/relationships/notesSlide" Target="/ppt/notesSlides/notesSlide4.xml" Id="Rccf470c54c2543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38e057249e4f5f" /><Relationship Type="http://schemas.openxmlformats.org/officeDocument/2006/relationships/chart" Target="/ppt/slides/charts/chart1.xml" Id="Rfe9aebb051cc43a7" /><Relationship Type="http://schemas.openxmlformats.org/officeDocument/2006/relationships/notesSlide" Target="/ppt/notesSlides/notesSlide5.xml" Id="Rf30b19fa86764c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6048b0b83b4bcf" /><Relationship Type="http://schemas.openxmlformats.org/officeDocument/2006/relationships/notesSlide" Target="/ppt/notesSlides/notesSlide6.xml" Id="Reec0f378a0ed44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bc3976d7554509" /><Relationship Type="http://schemas.openxmlformats.org/officeDocument/2006/relationships/notesSlide" Target="/ppt/notesSlides/notesSlide7.xml" Id="Rf5639ba604664f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95b29b87a64869" /><Relationship Type="http://schemas.openxmlformats.org/officeDocument/2006/relationships/chart" Target="/ppt/slides/charts/chart2.xml" Id="Rfde1b32404b04a5b" /><Relationship Type="http://schemas.openxmlformats.org/officeDocument/2006/relationships/notesSlide" Target="/ppt/notesSlides/notesSlide8.xml" Id="R3ff9dc653a7d40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6f49da20b0427f" /><Relationship Type="http://schemas.openxmlformats.org/officeDocument/2006/relationships/notesSlide" Target="/ppt/notesSlides/notesSlide9.xml" Id="Rb3297cd79dde4db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a60bbde0aa4706" /><Relationship Type="http://schemas.openxmlformats.org/officeDocument/2006/relationships/notesSlide" Target="/ppt/notesSlides/notesSlide10.xml" Id="Rdd1ef1d0209a43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27ffb95f054bb6" /><Relationship Type="http://schemas.openxmlformats.org/officeDocument/2006/relationships/notesSlide" Target="/ppt/notesSlides/notesSlide11.xml" Id="Rf9d7e735ed3e4dc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7c218b6ca843d4" /><Relationship Type="http://schemas.openxmlformats.org/officeDocument/2006/relationships/notesSlide" Target="/ppt/notesSlides/notesSlide12.xml" Id="Rdeab6d55f582406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5680827e654cdb" /><Relationship Type="http://schemas.openxmlformats.org/officeDocument/2006/relationships/notesSlide" Target="/ppt/notesSlides/notesSlide13.xml" Id="Rf673a7a4ba1442c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21caa76fe34fbb" /><Relationship Type="http://schemas.openxmlformats.org/officeDocument/2006/relationships/chart" Target="/ppt/slides/charts/chart3.xml" Id="R382e665ca9104f54" /><Relationship Type="http://schemas.openxmlformats.org/officeDocument/2006/relationships/notesSlide" Target="/ppt/notesSlides/notesSlide14.xml" Id="R84b6e715b8154ba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f764253ddc4a25" /><Relationship Type="http://schemas.openxmlformats.org/officeDocument/2006/relationships/notesSlide" Target="/ppt/notesSlides/notesSlide15.xml" Id="Rd4b57cd674c14cb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bfac3ae5ed469e" /><Relationship Type="http://schemas.openxmlformats.org/officeDocument/2006/relationships/notesSlide" Target="/ppt/notesSlides/notesSlide16.xml" Id="Re357165ce698431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9fa973389f44e6" /><Relationship Type="http://schemas.openxmlformats.org/officeDocument/2006/relationships/chart" Target="/ppt/slides/charts/chart4.xml" Id="R5fdd83da814446ce" /><Relationship Type="http://schemas.openxmlformats.org/officeDocument/2006/relationships/notesSlide" Target="/ppt/notesSlides/notesSlide17.xml" Id="R6acd1b0d42e441b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4c41aa2a874b89" /><Relationship Type="http://schemas.openxmlformats.org/officeDocument/2006/relationships/chart" Target="/ppt/slides/charts/chart5.xml" Id="Re110cdd42a4a4b80" /><Relationship Type="http://schemas.openxmlformats.org/officeDocument/2006/relationships/notesSlide" Target="/ppt/notesSlides/notesSlide18.xml" Id="Ra400dbeabbc1437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52502ebea441e1" /><Relationship Type="http://schemas.openxmlformats.org/officeDocument/2006/relationships/chart" Target="/ppt/slides/charts/chart6.xml" Id="R69db5d179a2d4d1d" /><Relationship Type="http://schemas.openxmlformats.org/officeDocument/2006/relationships/notesSlide" Target="/ppt/notesSlides/notesSlide19.xml" Id="Re381c0086a43425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537a3d89d7442d" /><Relationship Type="http://schemas.openxmlformats.org/officeDocument/2006/relationships/notesSlide" Target="/ppt/notesSlides/notesSlide20.xml" Id="R21c64f69c5d245a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a8e846a9db4391" /><Relationship Type="http://schemas.openxmlformats.org/officeDocument/2006/relationships/notesSlide" Target="/ppt/notesSlides/notesSlide21.xml" Id="R678d9b2e66fa46a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b657d43124459a" /><Relationship Type="http://schemas.openxmlformats.org/officeDocument/2006/relationships/notesSlide" Target="/ppt/notesSlides/notesSlide22.xml" Id="Rc6fe28225fd6435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344条记录的字段缺失数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缺失记录数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Data'!$A$2:$A$6</c:f>
              <c:strCache>
                <c:ptCount val="5"/>
                <c:pt idx="0">
                  <c:v>喙长</c:v>
                </c:pt>
                <c:pt idx="1">
                  <c:v>喙深</c:v>
                </c:pt>
                <c:pt idx="2">
                  <c:v>鳍长</c:v>
                </c:pt>
                <c:pt idx="3">
                  <c:v>体重</c:v>
                </c:pt>
                <c:pt idx="4">
                  <c:v>性别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11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Adelie鳍长分箱频数（毫米）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female（雌）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2</c:v>
                </c:pt>
                <c:pt idx="1">
                  <c:v>3</c:v>
                </c:pt>
                <c:pt idx="2">
                  <c:v>11</c:v>
                </c:pt>
                <c:pt idx="3">
                  <c:v>27</c:v>
                </c:pt>
                <c:pt idx="4">
                  <c:v>21</c:v>
                </c:pt>
                <c:pt idx="5">
                  <c:v>8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v>male（雄）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23813">
              <a:solidFill>
                <a:srgbClr val="2C6D68"/>
              </a:solidFill>
            </a:ln>
          </c:spPr>
          <c:invertIfNegative val="0"/>
          <c:cat>
            <c:strRef>
              <c:f>'Chart Data'!$C$2:$C$10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Data'!$D$2:$D$10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10</c:v>
                </c:pt>
                <c:pt idx="3">
                  <c:v>8</c:v>
                </c:pt>
                <c:pt idx="4">
                  <c:v>24</c:v>
                </c:pt>
                <c:pt idx="5">
                  <c:v>22</c:v>
                </c:pt>
                <c:pt idx="6">
                  <c:v>5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正面次数K的二项分布（n=20，p=0.5）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概率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numRef>
              <c:f>'Chart Data'!$A$2:$A$22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'Chart Data'!$B$2:$B$22</c:f>
              <c:numCache>
                <c:formatCode>0.00</c:formatCode>
                <c:ptCount val="21"/>
                <c:pt idx="0">
                  <c:v>9.53674316406E-07</c:v>
                </c:pt>
                <c:pt idx="1">
                  <c:v>1.90734863281E-05</c:v>
                </c:pt>
                <c:pt idx="2">
                  <c:v>0.000181198120117</c:v>
                </c:pt>
                <c:pt idx="3">
                  <c:v>0.0010871887207</c:v>
                </c:pt>
                <c:pt idx="4">
                  <c:v>0.00462055206299</c:v>
                </c:pt>
                <c:pt idx="5">
                  <c:v>0.0147857666016</c:v>
                </c:pt>
                <c:pt idx="6">
                  <c:v>0.0369644165039</c:v>
                </c:pt>
                <c:pt idx="7">
                  <c:v>0.0739288330078</c:v>
                </c:pt>
                <c:pt idx="8">
                  <c:v>0.120134353638</c:v>
                </c:pt>
                <c:pt idx="9">
                  <c:v>0.160179138184</c:v>
                </c:pt>
                <c:pt idx="10">
                  <c:v>0.176197052002</c:v>
                </c:pt>
                <c:pt idx="11">
                  <c:v>0.160179138184</c:v>
                </c:pt>
                <c:pt idx="12">
                  <c:v>0.120134353638</c:v>
                </c:pt>
                <c:pt idx="13">
                  <c:v>0.0739288330078</c:v>
                </c:pt>
                <c:pt idx="14">
                  <c:v>0.0369644165039</c:v>
                </c:pt>
                <c:pt idx="15">
                  <c:v>0.0147857666016</c:v>
                </c:pt>
                <c:pt idx="16">
                  <c:v>0.00462055206299</c:v>
                </c:pt>
                <c:pt idx="17">
                  <c:v>0.0010871887207</c:v>
                </c:pt>
                <c:pt idx="18">
                  <c:v>0.000181198120117</c:v>
                </c:pt>
                <c:pt idx="19">
                  <c:v>1.90734863281E-05</c:v>
                </c:pt>
                <c:pt idx="20">
                  <c:v>9.53674316406E-07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2"/>
          <c:min val="0"/>
        </c:scaling>
        <c:delete val="0"/>
        <c:axPos val="l"/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均值差的重抽样分布（毫米）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重抽样次数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numRef>
              <c:f>'Chart Data'!$A$2:$A$21</c:f>
              <c:numCache>
                <c:formatCode>General</c:formatCode>
                <c:ptCount val="20"/>
                <c:pt idx="0">
                  <c:v>0.0</c:v>
                </c:pt>
                <c:pt idx="1">
                  <c:v>0.5</c:v>
                </c:pt>
                <c:pt idx="2">
                  <c:v>1.0</c:v>
                </c:pt>
                <c:pt idx="3">
                  <c:v>1.5</c:v>
                </c:pt>
                <c:pt idx="4">
                  <c:v>2.0</c:v>
                </c:pt>
                <c:pt idx="5">
                  <c:v>2.5</c:v>
                </c:pt>
                <c:pt idx="6">
                  <c:v>3.0</c:v>
                </c:pt>
                <c:pt idx="7">
                  <c:v>3.5</c:v>
                </c:pt>
                <c:pt idx="8">
                  <c:v>4.0</c:v>
                </c:pt>
                <c:pt idx="9">
                  <c:v>4.5</c:v>
                </c:pt>
                <c:pt idx="10">
                  <c:v>5.0</c:v>
                </c:pt>
                <c:pt idx="11">
                  <c:v>5.5</c:v>
                </c:pt>
                <c:pt idx="12">
                  <c:v>6.0</c:v>
                </c:pt>
                <c:pt idx="13">
                  <c:v>6.5</c:v>
                </c:pt>
                <c:pt idx="14">
                  <c:v>7.0</c:v>
                </c:pt>
                <c:pt idx="15">
                  <c:v>7.5</c:v>
                </c:pt>
                <c:pt idx="16">
                  <c:v>8.0</c:v>
                </c:pt>
                <c:pt idx="17">
                  <c:v>8.5</c:v>
                </c:pt>
                <c:pt idx="18">
                  <c:v>9.0</c:v>
                </c:pt>
                <c:pt idx="19">
                  <c:v>9.5</c:v>
                </c:pt>
              </c:numCache>
            </c:numRef>
          </c:cat>
          <c:val>
            <c:numRef>
              <c:f>'Chart Data'!$B$2:$B$21</c:f>
              <c:numCache>
                <c:formatCode>General</c:formatCode>
                <c:ptCount val="20"/>
                <c:pt idx="0">
                  <c:v>0</c:v>
                </c:pt>
                <c:pt idx="1">
                  <c:v>1</c:v>
                </c:pt>
                <c:pt idx="2">
                  <c:v>8</c:v>
                </c:pt>
                <c:pt idx="3">
                  <c:v>32</c:v>
                </c:pt>
                <c:pt idx="4">
                  <c:v>121</c:v>
                </c:pt>
                <c:pt idx="5">
                  <c:v>366</c:v>
                </c:pt>
                <c:pt idx="6">
                  <c:v>829</c:v>
                </c:pt>
                <c:pt idx="7">
                  <c:v>1308</c:v>
                </c:pt>
                <c:pt idx="8">
                  <c:v>1849</c:v>
                </c:pt>
                <c:pt idx="9">
                  <c:v>1987</c:v>
                </c:pt>
                <c:pt idx="10">
                  <c:v>1617</c:v>
                </c:pt>
                <c:pt idx="11">
                  <c:v>1037</c:v>
                </c:pt>
                <c:pt idx="12">
                  <c:v>555</c:v>
                </c:pt>
                <c:pt idx="13">
                  <c:v>214</c:v>
                </c:pt>
                <c:pt idx="14">
                  <c:v>57</c:v>
                </c:pt>
                <c:pt idx="15">
                  <c:v>16</c:v>
                </c:pt>
                <c:pt idx="16">
                  <c:v>3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喙长与鳍长：按物种着色（毫米）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marker"/>
        <c:varyColors val="0"/>
        <c:ser>
          <c:idx val="0"/>
          <c:order val="0"/>
          <c:tx>
            <c:v>Adelie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0">
              <a:noFill/>
            </a:ln>
          </c:spPr>
          <c:marker>
            <c:symbol val="circle"/>
            <c:size val="5"/>
            <c:spPr>
              <a:solidFill xmlns:a="http://schemas.openxmlformats.org/drawingml/2006/main">
                <a:srgbClr val="245B77"/>
              </a:solidFill>
            </c:spPr>
          </c:marker>
          <c:xVal>
            <c:numRef>
              <c:f>'Chart Data'!$A$2:$A$152</c:f>
              <c:numCache>
                <c:formatCode>General</c:formatCode>
                <c:ptCount val="151"/>
                <c:pt idx="0">
                  <c:v>39.1</c:v>
                </c:pt>
                <c:pt idx="1">
                  <c:v>39.5</c:v>
                </c:pt>
                <c:pt idx="2">
                  <c:v>40.3</c:v>
                </c:pt>
                <c:pt idx="3">
                  <c:v>36.7</c:v>
                </c:pt>
                <c:pt idx="4">
                  <c:v>39.3</c:v>
                </c:pt>
                <c:pt idx="5">
                  <c:v>38.9</c:v>
                </c:pt>
                <c:pt idx="6">
                  <c:v>39.2</c:v>
                </c:pt>
                <c:pt idx="7">
                  <c:v>34.1</c:v>
                </c:pt>
                <c:pt idx="8">
                  <c:v>42</c:v>
                </c:pt>
                <c:pt idx="9">
                  <c:v>37.8</c:v>
                </c:pt>
                <c:pt idx="10">
                  <c:v>37.8</c:v>
                </c:pt>
                <c:pt idx="11">
                  <c:v>41.1</c:v>
                </c:pt>
                <c:pt idx="12">
                  <c:v>38.6</c:v>
                </c:pt>
                <c:pt idx="13">
                  <c:v>34.6</c:v>
                </c:pt>
                <c:pt idx="14">
                  <c:v>36.6</c:v>
                </c:pt>
                <c:pt idx="15">
                  <c:v>38.7</c:v>
                </c:pt>
                <c:pt idx="16">
                  <c:v>42.5</c:v>
                </c:pt>
                <c:pt idx="17">
                  <c:v>34.4</c:v>
                </c:pt>
                <c:pt idx="18">
                  <c:v>46</c:v>
                </c:pt>
                <c:pt idx="19">
                  <c:v>37.8</c:v>
                </c:pt>
                <c:pt idx="20">
                  <c:v>37.7</c:v>
                </c:pt>
                <c:pt idx="21">
                  <c:v>35.9</c:v>
                </c:pt>
                <c:pt idx="22">
                  <c:v>38.2</c:v>
                </c:pt>
                <c:pt idx="23">
                  <c:v>38.8</c:v>
                </c:pt>
                <c:pt idx="24">
                  <c:v>35.3</c:v>
                </c:pt>
                <c:pt idx="25">
                  <c:v>40.6</c:v>
                </c:pt>
                <c:pt idx="26">
                  <c:v>40.5</c:v>
                </c:pt>
                <c:pt idx="27">
                  <c:v>37.9</c:v>
                </c:pt>
                <c:pt idx="28">
                  <c:v>40.5</c:v>
                </c:pt>
                <c:pt idx="29">
                  <c:v>39.5</c:v>
                </c:pt>
                <c:pt idx="30">
                  <c:v>37.2</c:v>
                </c:pt>
                <c:pt idx="31">
                  <c:v>39.5</c:v>
                </c:pt>
                <c:pt idx="32">
                  <c:v>40.9</c:v>
                </c:pt>
                <c:pt idx="33">
                  <c:v>36.4</c:v>
                </c:pt>
                <c:pt idx="34">
                  <c:v>39.2</c:v>
                </c:pt>
                <c:pt idx="35">
                  <c:v>38.8</c:v>
                </c:pt>
                <c:pt idx="36">
                  <c:v>42.2</c:v>
                </c:pt>
                <c:pt idx="37">
                  <c:v>37.6</c:v>
                </c:pt>
                <c:pt idx="38">
                  <c:v>39.8</c:v>
                </c:pt>
                <c:pt idx="39">
                  <c:v>36.5</c:v>
                </c:pt>
                <c:pt idx="40">
                  <c:v>40.8</c:v>
                </c:pt>
                <c:pt idx="41">
                  <c:v>36</c:v>
                </c:pt>
                <c:pt idx="42">
                  <c:v>44.1</c:v>
                </c:pt>
                <c:pt idx="43">
                  <c:v>37</c:v>
                </c:pt>
                <c:pt idx="44">
                  <c:v>39.6</c:v>
                </c:pt>
                <c:pt idx="45">
                  <c:v>41.1</c:v>
                </c:pt>
                <c:pt idx="46">
                  <c:v>37.5</c:v>
                </c:pt>
                <c:pt idx="47">
                  <c:v>36</c:v>
                </c:pt>
                <c:pt idx="48">
                  <c:v>42.3</c:v>
                </c:pt>
                <c:pt idx="49">
                  <c:v>39.6</c:v>
                </c:pt>
                <c:pt idx="50">
                  <c:v>40.1</c:v>
                </c:pt>
                <c:pt idx="51">
                  <c:v>35</c:v>
                </c:pt>
                <c:pt idx="52">
                  <c:v>42</c:v>
                </c:pt>
                <c:pt idx="53">
                  <c:v>34.5</c:v>
                </c:pt>
                <c:pt idx="54">
                  <c:v>41.4</c:v>
                </c:pt>
                <c:pt idx="55">
                  <c:v>39</c:v>
                </c:pt>
                <c:pt idx="56">
                  <c:v>40.6</c:v>
                </c:pt>
                <c:pt idx="57">
                  <c:v>36.5</c:v>
                </c:pt>
                <c:pt idx="58">
                  <c:v>37.6</c:v>
                </c:pt>
                <c:pt idx="59">
                  <c:v>35.7</c:v>
                </c:pt>
                <c:pt idx="60">
                  <c:v>41.3</c:v>
                </c:pt>
                <c:pt idx="61">
                  <c:v>37.6</c:v>
                </c:pt>
                <c:pt idx="62">
                  <c:v>41.1</c:v>
                </c:pt>
                <c:pt idx="63">
                  <c:v>36.4</c:v>
                </c:pt>
                <c:pt idx="64">
                  <c:v>41.6</c:v>
                </c:pt>
                <c:pt idx="65">
                  <c:v>35.5</c:v>
                </c:pt>
                <c:pt idx="66">
                  <c:v>41.1</c:v>
                </c:pt>
                <c:pt idx="67">
                  <c:v>35.9</c:v>
                </c:pt>
                <c:pt idx="68">
                  <c:v>41.8</c:v>
                </c:pt>
                <c:pt idx="69">
                  <c:v>33.5</c:v>
                </c:pt>
                <c:pt idx="70">
                  <c:v>39.7</c:v>
                </c:pt>
                <c:pt idx="71">
                  <c:v>39.6</c:v>
                </c:pt>
                <c:pt idx="72">
                  <c:v>45.8</c:v>
                </c:pt>
                <c:pt idx="73">
                  <c:v>35.5</c:v>
                </c:pt>
                <c:pt idx="74">
                  <c:v>42.8</c:v>
                </c:pt>
                <c:pt idx="75">
                  <c:v>40.9</c:v>
                </c:pt>
                <c:pt idx="76">
                  <c:v>37.2</c:v>
                </c:pt>
                <c:pt idx="77">
                  <c:v>36.2</c:v>
                </c:pt>
                <c:pt idx="78">
                  <c:v>42.1</c:v>
                </c:pt>
                <c:pt idx="79">
                  <c:v>34.6</c:v>
                </c:pt>
                <c:pt idx="80">
                  <c:v>42.9</c:v>
                </c:pt>
                <c:pt idx="81">
                  <c:v>36.7</c:v>
                </c:pt>
                <c:pt idx="82">
                  <c:v>35.1</c:v>
                </c:pt>
                <c:pt idx="83">
                  <c:v>37.3</c:v>
                </c:pt>
                <c:pt idx="84">
                  <c:v>41.3</c:v>
                </c:pt>
                <c:pt idx="85">
                  <c:v>36.3</c:v>
                </c:pt>
                <c:pt idx="86">
                  <c:v>36.9</c:v>
                </c:pt>
                <c:pt idx="87">
                  <c:v>38.3</c:v>
                </c:pt>
                <c:pt idx="88">
                  <c:v>38.9</c:v>
                </c:pt>
                <c:pt idx="89">
                  <c:v>35.7</c:v>
                </c:pt>
                <c:pt idx="90">
                  <c:v>41.1</c:v>
                </c:pt>
                <c:pt idx="91">
                  <c:v>34</c:v>
                </c:pt>
                <c:pt idx="92">
                  <c:v>39.6</c:v>
                </c:pt>
                <c:pt idx="93">
                  <c:v>36.2</c:v>
                </c:pt>
                <c:pt idx="94">
                  <c:v>40.8</c:v>
                </c:pt>
                <c:pt idx="95">
                  <c:v>38.1</c:v>
                </c:pt>
                <c:pt idx="96">
                  <c:v>40.3</c:v>
                </c:pt>
                <c:pt idx="97">
                  <c:v>33.1</c:v>
                </c:pt>
                <c:pt idx="98">
                  <c:v>43.2</c:v>
                </c:pt>
                <c:pt idx="99">
                  <c:v>35</c:v>
                </c:pt>
                <c:pt idx="100">
                  <c:v>41</c:v>
                </c:pt>
                <c:pt idx="101">
                  <c:v>37.7</c:v>
                </c:pt>
                <c:pt idx="102">
                  <c:v>37.8</c:v>
                </c:pt>
                <c:pt idx="103">
                  <c:v>37.9</c:v>
                </c:pt>
                <c:pt idx="104">
                  <c:v>39.7</c:v>
                </c:pt>
                <c:pt idx="105">
                  <c:v>38.6</c:v>
                </c:pt>
                <c:pt idx="106">
                  <c:v>38.2</c:v>
                </c:pt>
                <c:pt idx="107">
                  <c:v>38.1</c:v>
                </c:pt>
                <c:pt idx="108">
                  <c:v>43.2</c:v>
                </c:pt>
                <c:pt idx="109">
                  <c:v>38.1</c:v>
                </c:pt>
                <c:pt idx="110">
                  <c:v>45.6</c:v>
                </c:pt>
                <c:pt idx="111">
                  <c:v>39.7</c:v>
                </c:pt>
                <c:pt idx="112">
                  <c:v>42.2</c:v>
                </c:pt>
                <c:pt idx="113">
                  <c:v>39.6</c:v>
                </c:pt>
                <c:pt idx="114">
                  <c:v>42.7</c:v>
                </c:pt>
                <c:pt idx="115">
                  <c:v>38.6</c:v>
                </c:pt>
                <c:pt idx="116">
                  <c:v>37.3</c:v>
                </c:pt>
                <c:pt idx="117">
                  <c:v>35.7</c:v>
                </c:pt>
                <c:pt idx="118">
                  <c:v>41.1</c:v>
                </c:pt>
                <c:pt idx="119">
                  <c:v>36.2</c:v>
                </c:pt>
                <c:pt idx="120">
                  <c:v>37.7</c:v>
                </c:pt>
                <c:pt idx="121">
                  <c:v>40.2</c:v>
                </c:pt>
                <c:pt idx="122">
                  <c:v>41.4</c:v>
                </c:pt>
                <c:pt idx="123">
                  <c:v>35.2</c:v>
                </c:pt>
                <c:pt idx="124">
                  <c:v>40.6</c:v>
                </c:pt>
                <c:pt idx="125">
                  <c:v>38.8</c:v>
                </c:pt>
                <c:pt idx="126">
                  <c:v>41.5</c:v>
                </c:pt>
                <c:pt idx="127">
                  <c:v>39</c:v>
                </c:pt>
                <c:pt idx="128">
                  <c:v>44.1</c:v>
                </c:pt>
                <c:pt idx="129">
                  <c:v>38.5</c:v>
                </c:pt>
                <c:pt idx="130">
                  <c:v>43.1</c:v>
                </c:pt>
                <c:pt idx="131">
                  <c:v>36.8</c:v>
                </c:pt>
                <c:pt idx="132">
                  <c:v>37.5</c:v>
                </c:pt>
                <c:pt idx="133">
                  <c:v>38.1</c:v>
                </c:pt>
                <c:pt idx="134">
                  <c:v>41.1</c:v>
                </c:pt>
                <c:pt idx="135">
                  <c:v>35.6</c:v>
                </c:pt>
                <c:pt idx="136">
                  <c:v>40.2</c:v>
                </c:pt>
                <c:pt idx="137">
                  <c:v>37</c:v>
                </c:pt>
                <c:pt idx="138">
                  <c:v>39.7</c:v>
                </c:pt>
                <c:pt idx="139">
                  <c:v>40.2</c:v>
                </c:pt>
                <c:pt idx="140">
                  <c:v>40.6</c:v>
                </c:pt>
                <c:pt idx="141">
                  <c:v>32.1</c:v>
                </c:pt>
                <c:pt idx="142">
                  <c:v>40.7</c:v>
                </c:pt>
                <c:pt idx="143">
                  <c:v>37.3</c:v>
                </c:pt>
                <c:pt idx="144">
                  <c:v>39</c:v>
                </c:pt>
                <c:pt idx="145">
                  <c:v>39.2</c:v>
                </c:pt>
                <c:pt idx="146">
                  <c:v>36.6</c:v>
                </c:pt>
                <c:pt idx="147">
                  <c:v>36</c:v>
                </c:pt>
                <c:pt idx="148">
                  <c:v>37.8</c:v>
                </c:pt>
                <c:pt idx="149">
                  <c:v>36</c:v>
                </c:pt>
                <c:pt idx="150">
                  <c:v>41.5</c:v>
                </c:pt>
              </c:numCache>
            </c:numRef>
          </c:xVal>
          <c:yVal>
            <c:numRef>
              <c:f>'Chart Data'!$B$2:$B$152</c:f>
              <c:numCache>
                <c:formatCode>General</c:formatCode>
                <c:ptCount val="151"/>
                <c:pt idx="0">
                  <c:v>181</c:v>
                </c:pt>
                <c:pt idx="1">
                  <c:v>186</c:v>
                </c:pt>
                <c:pt idx="2">
                  <c:v>195</c:v>
                </c:pt>
                <c:pt idx="3">
                  <c:v>193</c:v>
                </c:pt>
                <c:pt idx="4">
                  <c:v>190</c:v>
                </c:pt>
                <c:pt idx="5">
                  <c:v>181</c:v>
                </c:pt>
                <c:pt idx="6">
                  <c:v>195</c:v>
                </c:pt>
                <c:pt idx="7">
                  <c:v>193</c:v>
                </c:pt>
                <c:pt idx="8">
                  <c:v>190</c:v>
                </c:pt>
                <c:pt idx="9">
                  <c:v>186</c:v>
                </c:pt>
                <c:pt idx="10">
                  <c:v>180</c:v>
                </c:pt>
                <c:pt idx="11">
                  <c:v>182</c:v>
                </c:pt>
                <c:pt idx="12">
                  <c:v>191</c:v>
                </c:pt>
                <c:pt idx="13">
                  <c:v>198</c:v>
                </c:pt>
                <c:pt idx="14">
                  <c:v>185</c:v>
                </c:pt>
                <c:pt idx="15">
                  <c:v>195</c:v>
                </c:pt>
                <c:pt idx="16">
                  <c:v>197</c:v>
                </c:pt>
                <c:pt idx="17">
                  <c:v>184</c:v>
                </c:pt>
                <c:pt idx="18">
                  <c:v>194</c:v>
                </c:pt>
                <c:pt idx="19">
                  <c:v>174</c:v>
                </c:pt>
                <c:pt idx="20">
                  <c:v>180</c:v>
                </c:pt>
                <c:pt idx="21">
                  <c:v>189</c:v>
                </c:pt>
                <c:pt idx="22">
                  <c:v>185</c:v>
                </c:pt>
                <c:pt idx="23">
                  <c:v>180</c:v>
                </c:pt>
                <c:pt idx="24">
                  <c:v>187</c:v>
                </c:pt>
                <c:pt idx="25">
                  <c:v>183</c:v>
                </c:pt>
                <c:pt idx="26">
                  <c:v>187</c:v>
                </c:pt>
                <c:pt idx="27">
                  <c:v>172</c:v>
                </c:pt>
                <c:pt idx="28">
                  <c:v>180</c:v>
                </c:pt>
                <c:pt idx="29">
                  <c:v>178</c:v>
                </c:pt>
                <c:pt idx="30">
                  <c:v>178</c:v>
                </c:pt>
                <c:pt idx="31">
                  <c:v>188</c:v>
                </c:pt>
                <c:pt idx="32">
                  <c:v>184</c:v>
                </c:pt>
                <c:pt idx="33">
                  <c:v>195</c:v>
                </c:pt>
                <c:pt idx="34">
                  <c:v>196</c:v>
                </c:pt>
                <c:pt idx="35">
                  <c:v>190</c:v>
                </c:pt>
                <c:pt idx="36">
                  <c:v>180</c:v>
                </c:pt>
                <c:pt idx="37">
                  <c:v>181</c:v>
                </c:pt>
                <c:pt idx="38">
                  <c:v>184</c:v>
                </c:pt>
                <c:pt idx="39">
                  <c:v>182</c:v>
                </c:pt>
                <c:pt idx="40">
                  <c:v>195</c:v>
                </c:pt>
                <c:pt idx="41">
                  <c:v>186</c:v>
                </c:pt>
                <c:pt idx="42">
                  <c:v>196</c:v>
                </c:pt>
                <c:pt idx="43">
                  <c:v>185</c:v>
                </c:pt>
                <c:pt idx="44">
                  <c:v>190</c:v>
                </c:pt>
                <c:pt idx="45">
                  <c:v>182</c:v>
                </c:pt>
                <c:pt idx="46">
                  <c:v>179</c:v>
                </c:pt>
                <c:pt idx="47">
                  <c:v>190</c:v>
                </c:pt>
                <c:pt idx="48">
                  <c:v>191</c:v>
                </c:pt>
                <c:pt idx="49">
                  <c:v>186</c:v>
                </c:pt>
                <c:pt idx="50">
                  <c:v>188</c:v>
                </c:pt>
                <c:pt idx="51">
                  <c:v>190</c:v>
                </c:pt>
                <c:pt idx="52">
                  <c:v>200</c:v>
                </c:pt>
                <c:pt idx="53">
                  <c:v>187</c:v>
                </c:pt>
                <c:pt idx="54">
                  <c:v>191</c:v>
                </c:pt>
                <c:pt idx="55">
                  <c:v>186</c:v>
                </c:pt>
                <c:pt idx="56">
                  <c:v>193</c:v>
                </c:pt>
                <c:pt idx="57">
                  <c:v>181</c:v>
                </c:pt>
                <c:pt idx="58">
                  <c:v>194</c:v>
                </c:pt>
                <c:pt idx="59">
                  <c:v>185</c:v>
                </c:pt>
                <c:pt idx="60">
                  <c:v>195</c:v>
                </c:pt>
                <c:pt idx="61">
                  <c:v>185</c:v>
                </c:pt>
                <c:pt idx="62">
                  <c:v>192</c:v>
                </c:pt>
                <c:pt idx="63">
                  <c:v>184</c:v>
                </c:pt>
                <c:pt idx="64">
                  <c:v>192</c:v>
                </c:pt>
                <c:pt idx="65">
                  <c:v>195</c:v>
                </c:pt>
                <c:pt idx="66">
                  <c:v>188</c:v>
                </c:pt>
                <c:pt idx="67">
                  <c:v>190</c:v>
                </c:pt>
                <c:pt idx="68">
                  <c:v>198</c:v>
                </c:pt>
                <c:pt idx="69">
                  <c:v>190</c:v>
                </c:pt>
                <c:pt idx="70">
                  <c:v>190</c:v>
                </c:pt>
                <c:pt idx="71">
                  <c:v>196</c:v>
                </c:pt>
                <c:pt idx="72">
                  <c:v>197</c:v>
                </c:pt>
                <c:pt idx="73">
                  <c:v>190</c:v>
                </c:pt>
                <c:pt idx="74">
                  <c:v>195</c:v>
                </c:pt>
                <c:pt idx="75">
                  <c:v>191</c:v>
                </c:pt>
                <c:pt idx="76">
                  <c:v>184</c:v>
                </c:pt>
                <c:pt idx="77">
                  <c:v>187</c:v>
                </c:pt>
                <c:pt idx="78">
                  <c:v>195</c:v>
                </c:pt>
                <c:pt idx="79">
                  <c:v>189</c:v>
                </c:pt>
                <c:pt idx="80">
                  <c:v>196</c:v>
                </c:pt>
                <c:pt idx="81">
                  <c:v>187</c:v>
                </c:pt>
                <c:pt idx="82">
                  <c:v>193</c:v>
                </c:pt>
                <c:pt idx="83">
                  <c:v>191</c:v>
                </c:pt>
                <c:pt idx="84">
                  <c:v>194</c:v>
                </c:pt>
                <c:pt idx="85">
                  <c:v>190</c:v>
                </c:pt>
                <c:pt idx="86">
                  <c:v>189</c:v>
                </c:pt>
                <c:pt idx="87">
                  <c:v>189</c:v>
                </c:pt>
                <c:pt idx="88">
                  <c:v>190</c:v>
                </c:pt>
                <c:pt idx="89">
                  <c:v>202</c:v>
                </c:pt>
                <c:pt idx="90">
                  <c:v>205</c:v>
                </c:pt>
                <c:pt idx="91">
                  <c:v>185</c:v>
                </c:pt>
                <c:pt idx="92">
                  <c:v>186</c:v>
                </c:pt>
                <c:pt idx="93">
                  <c:v>187</c:v>
                </c:pt>
                <c:pt idx="94">
                  <c:v>208</c:v>
                </c:pt>
                <c:pt idx="95">
                  <c:v>190</c:v>
                </c:pt>
                <c:pt idx="96">
                  <c:v>196</c:v>
                </c:pt>
                <c:pt idx="97">
                  <c:v>178</c:v>
                </c:pt>
                <c:pt idx="98">
                  <c:v>192</c:v>
                </c:pt>
                <c:pt idx="99">
                  <c:v>192</c:v>
                </c:pt>
                <c:pt idx="100">
                  <c:v>203</c:v>
                </c:pt>
                <c:pt idx="101">
                  <c:v>183</c:v>
                </c:pt>
                <c:pt idx="102">
                  <c:v>190</c:v>
                </c:pt>
                <c:pt idx="103">
                  <c:v>193</c:v>
                </c:pt>
                <c:pt idx="104">
                  <c:v>184</c:v>
                </c:pt>
                <c:pt idx="105">
                  <c:v>199</c:v>
                </c:pt>
                <c:pt idx="106">
                  <c:v>190</c:v>
                </c:pt>
                <c:pt idx="107">
                  <c:v>181</c:v>
                </c:pt>
                <c:pt idx="108">
                  <c:v>197</c:v>
                </c:pt>
                <c:pt idx="109">
                  <c:v>198</c:v>
                </c:pt>
                <c:pt idx="110">
                  <c:v>191</c:v>
                </c:pt>
                <c:pt idx="111">
                  <c:v>193</c:v>
                </c:pt>
                <c:pt idx="112">
                  <c:v>197</c:v>
                </c:pt>
                <c:pt idx="113">
                  <c:v>191</c:v>
                </c:pt>
                <c:pt idx="114">
                  <c:v>196</c:v>
                </c:pt>
                <c:pt idx="115">
                  <c:v>188</c:v>
                </c:pt>
                <c:pt idx="116">
                  <c:v>199</c:v>
                </c:pt>
                <c:pt idx="117">
                  <c:v>189</c:v>
                </c:pt>
                <c:pt idx="118">
                  <c:v>189</c:v>
                </c:pt>
                <c:pt idx="119">
                  <c:v>187</c:v>
                </c:pt>
                <c:pt idx="120">
                  <c:v>198</c:v>
                </c:pt>
                <c:pt idx="121">
                  <c:v>176</c:v>
                </c:pt>
                <c:pt idx="122">
                  <c:v>202</c:v>
                </c:pt>
                <c:pt idx="123">
                  <c:v>186</c:v>
                </c:pt>
                <c:pt idx="124">
                  <c:v>199</c:v>
                </c:pt>
                <c:pt idx="125">
                  <c:v>191</c:v>
                </c:pt>
                <c:pt idx="126">
                  <c:v>195</c:v>
                </c:pt>
                <c:pt idx="127">
                  <c:v>191</c:v>
                </c:pt>
                <c:pt idx="128">
                  <c:v>210</c:v>
                </c:pt>
                <c:pt idx="129">
                  <c:v>190</c:v>
                </c:pt>
                <c:pt idx="130">
                  <c:v>197</c:v>
                </c:pt>
                <c:pt idx="131">
                  <c:v>193</c:v>
                </c:pt>
                <c:pt idx="132">
                  <c:v>199</c:v>
                </c:pt>
                <c:pt idx="133">
                  <c:v>187</c:v>
                </c:pt>
                <c:pt idx="134">
                  <c:v>190</c:v>
                </c:pt>
                <c:pt idx="135">
                  <c:v>191</c:v>
                </c:pt>
                <c:pt idx="136">
                  <c:v>200</c:v>
                </c:pt>
                <c:pt idx="137">
                  <c:v>185</c:v>
                </c:pt>
                <c:pt idx="138">
                  <c:v>193</c:v>
                </c:pt>
                <c:pt idx="139">
                  <c:v>193</c:v>
                </c:pt>
                <c:pt idx="140">
                  <c:v>187</c:v>
                </c:pt>
                <c:pt idx="141">
                  <c:v>188</c:v>
                </c:pt>
                <c:pt idx="142">
                  <c:v>190</c:v>
                </c:pt>
                <c:pt idx="143">
                  <c:v>192</c:v>
                </c:pt>
                <c:pt idx="144">
                  <c:v>185</c:v>
                </c:pt>
                <c:pt idx="145">
                  <c:v>190</c:v>
                </c:pt>
                <c:pt idx="146">
                  <c:v>184</c:v>
                </c:pt>
                <c:pt idx="147">
                  <c:v>195</c:v>
                </c:pt>
                <c:pt idx="148">
                  <c:v>193</c:v>
                </c:pt>
                <c:pt idx="149">
                  <c:v>187</c:v>
                </c:pt>
                <c:pt idx="150">
                  <c:v>201</c:v>
                </c:pt>
              </c:numCache>
            </c:numRef>
          </c:yVal>
        </c:ser>
        <c:ser>
          <c:idx val="1"/>
          <c:order val="1"/>
          <c:tx>
            <c:v>Chinstrap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0">
              <a:noFill/>
            </a:ln>
          </c:spPr>
          <c:marker>
            <c:symbol val="circle"/>
            <c:size val="5"/>
            <c:spPr>
              <a:solidFill xmlns:a="http://schemas.openxmlformats.org/drawingml/2006/main">
                <a:srgbClr val="2C6D68"/>
              </a:solidFill>
            </c:spPr>
          </c:marker>
          <c:xVal>
            <c:numRef>
              <c:f>'Chart Data'!$C$2:$C$69</c:f>
              <c:numCache>
                <c:formatCode>General</c:formatCode>
                <c:ptCount val="68"/>
                <c:pt idx="0">
                  <c:v>46.5</c:v>
                </c:pt>
                <c:pt idx="1">
                  <c:v>50</c:v>
                </c:pt>
                <c:pt idx="2">
                  <c:v>51.3</c:v>
                </c:pt>
                <c:pt idx="3">
                  <c:v>45.4</c:v>
                </c:pt>
                <c:pt idx="4">
                  <c:v>52.7</c:v>
                </c:pt>
                <c:pt idx="5">
                  <c:v>45.2</c:v>
                </c:pt>
                <c:pt idx="6">
                  <c:v>46.1</c:v>
                </c:pt>
                <c:pt idx="7">
                  <c:v>51.3</c:v>
                </c:pt>
                <c:pt idx="8">
                  <c:v>46</c:v>
                </c:pt>
                <c:pt idx="9">
                  <c:v>51.3</c:v>
                </c:pt>
                <c:pt idx="10">
                  <c:v>46.6</c:v>
                </c:pt>
                <c:pt idx="11">
                  <c:v>51.7</c:v>
                </c:pt>
                <c:pt idx="12">
                  <c:v>47</c:v>
                </c:pt>
                <c:pt idx="13">
                  <c:v>52</c:v>
                </c:pt>
                <c:pt idx="14">
                  <c:v>45.9</c:v>
                </c:pt>
                <c:pt idx="15">
                  <c:v>50.5</c:v>
                </c:pt>
                <c:pt idx="16">
                  <c:v>50.3</c:v>
                </c:pt>
                <c:pt idx="17">
                  <c:v>58</c:v>
                </c:pt>
                <c:pt idx="18">
                  <c:v>46.4</c:v>
                </c:pt>
                <c:pt idx="19">
                  <c:v>49.2</c:v>
                </c:pt>
                <c:pt idx="20">
                  <c:v>42.4</c:v>
                </c:pt>
                <c:pt idx="21">
                  <c:v>48.5</c:v>
                </c:pt>
                <c:pt idx="22">
                  <c:v>43.2</c:v>
                </c:pt>
                <c:pt idx="23">
                  <c:v>50.6</c:v>
                </c:pt>
                <c:pt idx="24">
                  <c:v>46.7</c:v>
                </c:pt>
                <c:pt idx="25">
                  <c:v>52</c:v>
                </c:pt>
                <c:pt idx="26">
                  <c:v>50.5</c:v>
                </c:pt>
                <c:pt idx="27">
                  <c:v>49.5</c:v>
                </c:pt>
                <c:pt idx="28">
                  <c:v>46.4</c:v>
                </c:pt>
                <c:pt idx="29">
                  <c:v>52.8</c:v>
                </c:pt>
                <c:pt idx="30">
                  <c:v>40.9</c:v>
                </c:pt>
                <c:pt idx="31">
                  <c:v>54.2</c:v>
                </c:pt>
                <c:pt idx="32">
                  <c:v>42.5</c:v>
                </c:pt>
                <c:pt idx="33">
                  <c:v>51</c:v>
                </c:pt>
                <c:pt idx="34">
                  <c:v>49.7</c:v>
                </c:pt>
                <c:pt idx="35">
                  <c:v>47.5</c:v>
                </c:pt>
                <c:pt idx="36">
                  <c:v>47.6</c:v>
                </c:pt>
                <c:pt idx="37">
                  <c:v>52</c:v>
                </c:pt>
                <c:pt idx="38">
                  <c:v>46.9</c:v>
                </c:pt>
                <c:pt idx="39">
                  <c:v>53.5</c:v>
                </c:pt>
                <c:pt idx="40">
                  <c:v>49</c:v>
                </c:pt>
                <c:pt idx="41">
                  <c:v>46.2</c:v>
                </c:pt>
                <c:pt idx="42">
                  <c:v>50.9</c:v>
                </c:pt>
                <c:pt idx="43">
                  <c:v>45.5</c:v>
                </c:pt>
                <c:pt idx="44">
                  <c:v>50.9</c:v>
                </c:pt>
                <c:pt idx="45">
                  <c:v>50.8</c:v>
                </c:pt>
                <c:pt idx="46">
                  <c:v>50.1</c:v>
                </c:pt>
                <c:pt idx="47">
                  <c:v>49</c:v>
                </c:pt>
                <c:pt idx="48">
                  <c:v>51.5</c:v>
                </c:pt>
                <c:pt idx="49">
                  <c:v>49.8</c:v>
                </c:pt>
                <c:pt idx="50">
                  <c:v>48.1</c:v>
                </c:pt>
                <c:pt idx="51">
                  <c:v>51.4</c:v>
                </c:pt>
                <c:pt idx="52">
                  <c:v>45.7</c:v>
                </c:pt>
                <c:pt idx="53">
                  <c:v>50.7</c:v>
                </c:pt>
                <c:pt idx="54">
                  <c:v>42.5</c:v>
                </c:pt>
                <c:pt idx="55">
                  <c:v>52.2</c:v>
                </c:pt>
                <c:pt idx="56">
                  <c:v>45.2</c:v>
                </c:pt>
                <c:pt idx="57">
                  <c:v>49.3</c:v>
                </c:pt>
                <c:pt idx="58">
                  <c:v>50.2</c:v>
                </c:pt>
                <c:pt idx="59">
                  <c:v>45.6</c:v>
                </c:pt>
                <c:pt idx="60">
                  <c:v>51.9</c:v>
                </c:pt>
                <c:pt idx="61">
                  <c:v>46.8</c:v>
                </c:pt>
                <c:pt idx="62">
                  <c:v>45.7</c:v>
                </c:pt>
                <c:pt idx="63">
                  <c:v>55.8</c:v>
                </c:pt>
                <c:pt idx="64">
                  <c:v>43.5</c:v>
                </c:pt>
                <c:pt idx="65">
                  <c:v>49.6</c:v>
                </c:pt>
                <c:pt idx="66">
                  <c:v>50.8</c:v>
                </c:pt>
                <c:pt idx="67">
                  <c:v>50.2</c:v>
                </c:pt>
              </c:numCache>
            </c:numRef>
          </c:xVal>
          <c:yVal>
            <c:numRef>
              <c:f>'Chart Data'!$D$2:$D$69</c:f>
              <c:numCache>
                <c:formatCode>General</c:formatCode>
                <c:ptCount val="68"/>
                <c:pt idx="0">
                  <c:v>192</c:v>
                </c:pt>
                <c:pt idx="1">
                  <c:v>196</c:v>
                </c:pt>
                <c:pt idx="2">
                  <c:v>193</c:v>
                </c:pt>
                <c:pt idx="3">
                  <c:v>188</c:v>
                </c:pt>
                <c:pt idx="4">
                  <c:v>197</c:v>
                </c:pt>
                <c:pt idx="5">
                  <c:v>198</c:v>
                </c:pt>
                <c:pt idx="6">
                  <c:v>178</c:v>
                </c:pt>
                <c:pt idx="7">
                  <c:v>197</c:v>
                </c:pt>
                <c:pt idx="8">
                  <c:v>195</c:v>
                </c:pt>
                <c:pt idx="9">
                  <c:v>198</c:v>
                </c:pt>
                <c:pt idx="10">
                  <c:v>193</c:v>
                </c:pt>
                <c:pt idx="11">
                  <c:v>194</c:v>
                </c:pt>
                <c:pt idx="12">
                  <c:v>185</c:v>
                </c:pt>
                <c:pt idx="13">
                  <c:v>201</c:v>
                </c:pt>
                <c:pt idx="14">
                  <c:v>190</c:v>
                </c:pt>
                <c:pt idx="15">
                  <c:v>201</c:v>
                </c:pt>
                <c:pt idx="16">
                  <c:v>197</c:v>
                </c:pt>
                <c:pt idx="17">
                  <c:v>181</c:v>
                </c:pt>
                <c:pt idx="18">
                  <c:v>190</c:v>
                </c:pt>
                <c:pt idx="19">
                  <c:v>195</c:v>
                </c:pt>
                <c:pt idx="20">
                  <c:v>181</c:v>
                </c:pt>
                <c:pt idx="21">
                  <c:v>191</c:v>
                </c:pt>
                <c:pt idx="22">
                  <c:v>187</c:v>
                </c:pt>
                <c:pt idx="23">
                  <c:v>193</c:v>
                </c:pt>
                <c:pt idx="24">
                  <c:v>195</c:v>
                </c:pt>
                <c:pt idx="25">
                  <c:v>197</c:v>
                </c:pt>
                <c:pt idx="26">
                  <c:v>200</c:v>
                </c:pt>
                <c:pt idx="27">
                  <c:v>200</c:v>
                </c:pt>
                <c:pt idx="28">
                  <c:v>191</c:v>
                </c:pt>
                <c:pt idx="29">
                  <c:v>205</c:v>
                </c:pt>
                <c:pt idx="30">
                  <c:v>187</c:v>
                </c:pt>
                <c:pt idx="31">
                  <c:v>201</c:v>
                </c:pt>
                <c:pt idx="32">
                  <c:v>187</c:v>
                </c:pt>
                <c:pt idx="33">
                  <c:v>203</c:v>
                </c:pt>
                <c:pt idx="34">
                  <c:v>195</c:v>
                </c:pt>
                <c:pt idx="35">
                  <c:v>199</c:v>
                </c:pt>
                <c:pt idx="36">
                  <c:v>195</c:v>
                </c:pt>
                <c:pt idx="37">
                  <c:v>210</c:v>
                </c:pt>
                <c:pt idx="38">
                  <c:v>192</c:v>
                </c:pt>
                <c:pt idx="39">
                  <c:v>205</c:v>
                </c:pt>
                <c:pt idx="40">
                  <c:v>210</c:v>
                </c:pt>
                <c:pt idx="41">
                  <c:v>187</c:v>
                </c:pt>
                <c:pt idx="42">
                  <c:v>196</c:v>
                </c:pt>
                <c:pt idx="43">
                  <c:v>196</c:v>
                </c:pt>
                <c:pt idx="44">
                  <c:v>196</c:v>
                </c:pt>
                <c:pt idx="45">
                  <c:v>201</c:v>
                </c:pt>
                <c:pt idx="46">
                  <c:v>190</c:v>
                </c:pt>
                <c:pt idx="47">
                  <c:v>212</c:v>
                </c:pt>
                <c:pt idx="48">
                  <c:v>187</c:v>
                </c:pt>
                <c:pt idx="49">
                  <c:v>198</c:v>
                </c:pt>
                <c:pt idx="50">
                  <c:v>199</c:v>
                </c:pt>
                <c:pt idx="51">
                  <c:v>201</c:v>
                </c:pt>
                <c:pt idx="52">
                  <c:v>193</c:v>
                </c:pt>
                <c:pt idx="53">
                  <c:v>203</c:v>
                </c:pt>
                <c:pt idx="54">
                  <c:v>187</c:v>
                </c:pt>
                <c:pt idx="55">
                  <c:v>197</c:v>
                </c:pt>
                <c:pt idx="56">
                  <c:v>191</c:v>
                </c:pt>
                <c:pt idx="57">
                  <c:v>203</c:v>
                </c:pt>
                <c:pt idx="58">
                  <c:v>202</c:v>
                </c:pt>
                <c:pt idx="59">
                  <c:v>194</c:v>
                </c:pt>
                <c:pt idx="60">
                  <c:v>206</c:v>
                </c:pt>
                <c:pt idx="61">
                  <c:v>189</c:v>
                </c:pt>
                <c:pt idx="62">
                  <c:v>195</c:v>
                </c:pt>
                <c:pt idx="63">
                  <c:v>207</c:v>
                </c:pt>
                <c:pt idx="64">
                  <c:v>202</c:v>
                </c:pt>
                <c:pt idx="65">
                  <c:v>193</c:v>
                </c:pt>
                <c:pt idx="66">
                  <c:v>210</c:v>
                </c:pt>
                <c:pt idx="67">
                  <c:v>198</c:v>
                </c:pt>
              </c:numCache>
            </c:numRef>
          </c:yVal>
        </c:ser>
        <c:ser>
          <c:idx val="2"/>
          <c:order val="2"/>
          <c:tx>
            <c:v>Gentoo</c:v>
          </c:tx>
          <c:spPr>
            <a:solidFill xmlns:a="http://schemas.openxmlformats.org/drawingml/2006/main">
              <a:srgbClr val="963F3C"/>
            </a:solidFill>
            <a:ln xmlns:a="http://schemas.openxmlformats.org/drawingml/2006/main" w="0">
              <a:noFill/>
            </a:ln>
          </c:spPr>
          <c:marker>
            <c:symbol val="circle"/>
            <c:size val="5"/>
            <c:spPr>
              <a:solidFill xmlns:a="http://schemas.openxmlformats.org/drawingml/2006/main">
                <a:srgbClr val="963F3C"/>
              </a:solidFill>
            </c:spPr>
          </c:marker>
          <c:xVal>
            <c:numRef>
              <c:f>'Chart Data'!$E$2:$E$124</c:f>
              <c:numCache>
                <c:formatCode>General</c:formatCode>
                <c:ptCount val="123"/>
                <c:pt idx="0">
                  <c:v>46.1</c:v>
                </c:pt>
                <c:pt idx="1">
                  <c:v>50</c:v>
                </c:pt>
                <c:pt idx="2">
                  <c:v>48.7</c:v>
                </c:pt>
                <c:pt idx="3">
                  <c:v>50</c:v>
                </c:pt>
                <c:pt idx="4">
                  <c:v>47.6</c:v>
                </c:pt>
                <c:pt idx="5">
                  <c:v>46.5</c:v>
                </c:pt>
                <c:pt idx="6">
                  <c:v>45.4</c:v>
                </c:pt>
                <c:pt idx="7">
                  <c:v>46.7</c:v>
                </c:pt>
                <c:pt idx="8">
                  <c:v>43.3</c:v>
                </c:pt>
                <c:pt idx="9">
                  <c:v>46.8</c:v>
                </c:pt>
                <c:pt idx="10">
                  <c:v>40.9</c:v>
                </c:pt>
                <c:pt idx="11">
                  <c:v>49</c:v>
                </c:pt>
                <c:pt idx="12">
                  <c:v>45.5</c:v>
                </c:pt>
                <c:pt idx="13">
                  <c:v>48.4</c:v>
                </c:pt>
                <c:pt idx="14">
                  <c:v>45.8</c:v>
                </c:pt>
                <c:pt idx="15">
                  <c:v>49.3</c:v>
                </c:pt>
                <c:pt idx="16">
                  <c:v>42</c:v>
                </c:pt>
                <c:pt idx="17">
                  <c:v>49.2</c:v>
                </c:pt>
                <c:pt idx="18">
                  <c:v>46.2</c:v>
                </c:pt>
                <c:pt idx="19">
                  <c:v>48.7</c:v>
                </c:pt>
                <c:pt idx="20">
                  <c:v>50.2</c:v>
                </c:pt>
                <c:pt idx="21">
                  <c:v>45.1</c:v>
                </c:pt>
                <c:pt idx="22">
                  <c:v>46.5</c:v>
                </c:pt>
                <c:pt idx="23">
                  <c:v>46.3</c:v>
                </c:pt>
                <c:pt idx="24">
                  <c:v>42.9</c:v>
                </c:pt>
                <c:pt idx="25">
                  <c:v>46.1</c:v>
                </c:pt>
                <c:pt idx="26">
                  <c:v>44.5</c:v>
                </c:pt>
                <c:pt idx="27">
                  <c:v>47.8</c:v>
                </c:pt>
                <c:pt idx="28">
                  <c:v>48.2</c:v>
                </c:pt>
                <c:pt idx="29">
                  <c:v>50</c:v>
                </c:pt>
                <c:pt idx="30">
                  <c:v>47.3</c:v>
                </c:pt>
                <c:pt idx="31">
                  <c:v>42.8</c:v>
                </c:pt>
                <c:pt idx="32">
                  <c:v>45.1</c:v>
                </c:pt>
                <c:pt idx="33">
                  <c:v>59.6</c:v>
                </c:pt>
                <c:pt idx="34">
                  <c:v>49.1</c:v>
                </c:pt>
                <c:pt idx="35">
                  <c:v>48.4</c:v>
                </c:pt>
                <c:pt idx="36">
                  <c:v>42.6</c:v>
                </c:pt>
                <c:pt idx="37">
                  <c:v>44.4</c:v>
                </c:pt>
                <c:pt idx="38">
                  <c:v>44</c:v>
                </c:pt>
                <c:pt idx="39">
                  <c:v>48.7</c:v>
                </c:pt>
                <c:pt idx="40">
                  <c:v>42.7</c:v>
                </c:pt>
                <c:pt idx="41">
                  <c:v>49.6</c:v>
                </c:pt>
                <c:pt idx="42">
                  <c:v>45.3</c:v>
                </c:pt>
                <c:pt idx="43">
                  <c:v>49.6</c:v>
                </c:pt>
                <c:pt idx="44">
                  <c:v>50.5</c:v>
                </c:pt>
                <c:pt idx="45">
                  <c:v>43.6</c:v>
                </c:pt>
                <c:pt idx="46">
                  <c:v>45.5</c:v>
                </c:pt>
                <c:pt idx="47">
                  <c:v>50.5</c:v>
                </c:pt>
                <c:pt idx="48">
                  <c:v>44.9</c:v>
                </c:pt>
                <c:pt idx="49">
                  <c:v>45.2</c:v>
                </c:pt>
                <c:pt idx="50">
                  <c:v>46.6</c:v>
                </c:pt>
                <c:pt idx="51">
                  <c:v>48.5</c:v>
                </c:pt>
                <c:pt idx="52">
                  <c:v>45.1</c:v>
                </c:pt>
                <c:pt idx="53">
                  <c:v>50.1</c:v>
                </c:pt>
                <c:pt idx="54">
                  <c:v>46.5</c:v>
                </c:pt>
                <c:pt idx="55">
                  <c:v>45</c:v>
                </c:pt>
                <c:pt idx="56">
                  <c:v>43.8</c:v>
                </c:pt>
                <c:pt idx="57">
                  <c:v>45.5</c:v>
                </c:pt>
                <c:pt idx="58">
                  <c:v>43.2</c:v>
                </c:pt>
                <c:pt idx="59">
                  <c:v>50.4</c:v>
                </c:pt>
                <c:pt idx="60">
                  <c:v>45.3</c:v>
                </c:pt>
                <c:pt idx="61">
                  <c:v>46.2</c:v>
                </c:pt>
                <c:pt idx="62">
                  <c:v>45.7</c:v>
                </c:pt>
                <c:pt idx="63">
                  <c:v>54.3</c:v>
                </c:pt>
                <c:pt idx="64">
                  <c:v>45.8</c:v>
                </c:pt>
                <c:pt idx="65">
                  <c:v>49.8</c:v>
                </c:pt>
                <c:pt idx="66">
                  <c:v>46.2</c:v>
                </c:pt>
                <c:pt idx="67">
                  <c:v>49.5</c:v>
                </c:pt>
                <c:pt idx="68">
                  <c:v>43.5</c:v>
                </c:pt>
                <c:pt idx="69">
                  <c:v>50.7</c:v>
                </c:pt>
                <c:pt idx="70">
                  <c:v>47.7</c:v>
                </c:pt>
                <c:pt idx="71">
                  <c:v>46.4</c:v>
                </c:pt>
                <c:pt idx="72">
                  <c:v>48.2</c:v>
                </c:pt>
                <c:pt idx="73">
                  <c:v>46.5</c:v>
                </c:pt>
                <c:pt idx="74">
                  <c:v>46.4</c:v>
                </c:pt>
                <c:pt idx="75">
                  <c:v>48.6</c:v>
                </c:pt>
                <c:pt idx="76">
                  <c:v>47.5</c:v>
                </c:pt>
                <c:pt idx="77">
                  <c:v>51.1</c:v>
                </c:pt>
                <c:pt idx="78">
                  <c:v>45.2</c:v>
                </c:pt>
                <c:pt idx="79">
                  <c:v>45.2</c:v>
                </c:pt>
                <c:pt idx="80">
                  <c:v>49.1</c:v>
                </c:pt>
                <c:pt idx="81">
                  <c:v>52.5</c:v>
                </c:pt>
                <c:pt idx="82">
                  <c:v>47.4</c:v>
                </c:pt>
                <c:pt idx="83">
                  <c:v>50</c:v>
                </c:pt>
                <c:pt idx="84">
                  <c:v>44.9</c:v>
                </c:pt>
                <c:pt idx="85">
                  <c:v>50.8</c:v>
                </c:pt>
                <c:pt idx="86">
                  <c:v>43.4</c:v>
                </c:pt>
                <c:pt idx="87">
                  <c:v>51.3</c:v>
                </c:pt>
                <c:pt idx="88">
                  <c:v>47.5</c:v>
                </c:pt>
                <c:pt idx="89">
                  <c:v>52.1</c:v>
                </c:pt>
                <c:pt idx="90">
                  <c:v>47.5</c:v>
                </c:pt>
                <c:pt idx="91">
                  <c:v>52.2</c:v>
                </c:pt>
                <c:pt idx="92">
                  <c:v>45.5</c:v>
                </c:pt>
                <c:pt idx="93">
                  <c:v>49.5</c:v>
                </c:pt>
                <c:pt idx="94">
                  <c:v>44.5</c:v>
                </c:pt>
                <c:pt idx="95">
                  <c:v>50.8</c:v>
                </c:pt>
                <c:pt idx="96">
                  <c:v>49.4</c:v>
                </c:pt>
                <c:pt idx="97">
                  <c:v>46.9</c:v>
                </c:pt>
                <c:pt idx="98">
                  <c:v>48.4</c:v>
                </c:pt>
                <c:pt idx="99">
                  <c:v>51.1</c:v>
                </c:pt>
                <c:pt idx="100">
                  <c:v>48.5</c:v>
                </c:pt>
                <c:pt idx="101">
                  <c:v>55.9</c:v>
                </c:pt>
                <c:pt idx="102">
                  <c:v>47.2</c:v>
                </c:pt>
                <c:pt idx="103">
                  <c:v>49.1</c:v>
                </c:pt>
                <c:pt idx="104">
                  <c:v>47.3</c:v>
                </c:pt>
                <c:pt idx="105">
                  <c:v>46.8</c:v>
                </c:pt>
                <c:pt idx="106">
                  <c:v>41.7</c:v>
                </c:pt>
                <c:pt idx="107">
                  <c:v>53.4</c:v>
                </c:pt>
                <c:pt idx="108">
                  <c:v>43.3</c:v>
                </c:pt>
                <c:pt idx="109">
                  <c:v>48.1</c:v>
                </c:pt>
                <c:pt idx="110">
                  <c:v>50.5</c:v>
                </c:pt>
                <c:pt idx="111">
                  <c:v>49.8</c:v>
                </c:pt>
                <c:pt idx="112">
                  <c:v>43.5</c:v>
                </c:pt>
                <c:pt idx="113">
                  <c:v>51.5</c:v>
                </c:pt>
                <c:pt idx="114">
                  <c:v>46.2</c:v>
                </c:pt>
                <c:pt idx="115">
                  <c:v>55.1</c:v>
                </c:pt>
                <c:pt idx="116">
                  <c:v>44.5</c:v>
                </c:pt>
                <c:pt idx="117">
                  <c:v>48.8</c:v>
                </c:pt>
                <c:pt idx="118">
                  <c:v>47.2</c:v>
                </c:pt>
                <c:pt idx="119">
                  <c:v>46.8</c:v>
                </c:pt>
                <c:pt idx="120">
                  <c:v>50.4</c:v>
                </c:pt>
                <c:pt idx="121">
                  <c:v>45.2</c:v>
                </c:pt>
                <c:pt idx="122">
                  <c:v>49.9</c:v>
                </c:pt>
              </c:numCache>
            </c:numRef>
          </c:xVal>
          <c:yVal>
            <c:numRef>
              <c:f>'Chart Data'!$F$2:$F$124</c:f>
              <c:numCache>
                <c:formatCode>General</c:formatCode>
                <c:ptCount val="123"/>
                <c:pt idx="0">
                  <c:v>211</c:v>
                </c:pt>
                <c:pt idx="1">
                  <c:v>230</c:v>
                </c:pt>
                <c:pt idx="2">
                  <c:v>210</c:v>
                </c:pt>
                <c:pt idx="3">
                  <c:v>218</c:v>
                </c:pt>
                <c:pt idx="4">
                  <c:v>215</c:v>
                </c:pt>
                <c:pt idx="5">
                  <c:v>210</c:v>
                </c:pt>
                <c:pt idx="6">
                  <c:v>211</c:v>
                </c:pt>
                <c:pt idx="7">
                  <c:v>219</c:v>
                </c:pt>
                <c:pt idx="8">
                  <c:v>209</c:v>
                </c:pt>
                <c:pt idx="9">
                  <c:v>215</c:v>
                </c:pt>
                <c:pt idx="10">
                  <c:v>214</c:v>
                </c:pt>
                <c:pt idx="11">
                  <c:v>216</c:v>
                </c:pt>
                <c:pt idx="12">
                  <c:v>214</c:v>
                </c:pt>
                <c:pt idx="13">
                  <c:v>213</c:v>
                </c:pt>
                <c:pt idx="14">
                  <c:v>210</c:v>
                </c:pt>
                <c:pt idx="15">
                  <c:v>217</c:v>
                </c:pt>
                <c:pt idx="16">
                  <c:v>210</c:v>
                </c:pt>
                <c:pt idx="17">
                  <c:v>221</c:v>
                </c:pt>
                <c:pt idx="18">
                  <c:v>209</c:v>
                </c:pt>
                <c:pt idx="19">
                  <c:v>222</c:v>
                </c:pt>
                <c:pt idx="20">
                  <c:v>218</c:v>
                </c:pt>
                <c:pt idx="21">
                  <c:v>215</c:v>
                </c:pt>
                <c:pt idx="22">
                  <c:v>213</c:v>
                </c:pt>
                <c:pt idx="23">
                  <c:v>215</c:v>
                </c:pt>
                <c:pt idx="24">
                  <c:v>215</c:v>
                </c:pt>
                <c:pt idx="25">
                  <c:v>215</c:v>
                </c:pt>
                <c:pt idx="26">
                  <c:v>216</c:v>
                </c:pt>
                <c:pt idx="27">
                  <c:v>215</c:v>
                </c:pt>
                <c:pt idx="28">
                  <c:v>210</c:v>
                </c:pt>
                <c:pt idx="29">
                  <c:v>220</c:v>
                </c:pt>
                <c:pt idx="30">
                  <c:v>222</c:v>
                </c:pt>
                <c:pt idx="31">
                  <c:v>209</c:v>
                </c:pt>
                <c:pt idx="32">
                  <c:v>207</c:v>
                </c:pt>
                <c:pt idx="33">
                  <c:v>230</c:v>
                </c:pt>
                <c:pt idx="34">
                  <c:v>220</c:v>
                </c:pt>
                <c:pt idx="35">
                  <c:v>220</c:v>
                </c:pt>
                <c:pt idx="36">
                  <c:v>213</c:v>
                </c:pt>
                <c:pt idx="37">
                  <c:v>219</c:v>
                </c:pt>
                <c:pt idx="38">
                  <c:v>208</c:v>
                </c:pt>
                <c:pt idx="39">
                  <c:v>208</c:v>
                </c:pt>
                <c:pt idx="40">
                  <c:v>208</c:v>
                </c:pt>
                <c:pt idx="41">
                  <c:v>225</c:v>
                </c:pt>
                <c:pt idx="42">
                  <c:v>210</c:v>
                </c:pt>
                <c:pt idx="43">
                  <c:v>216</c:v>
                </c:pt>
                <c:pt idx="44">
                  <c:v>222</c:v>
                </c:pt>
                <c:pt idx="45">
                  <c:v>217</c:v>
                </c:pt>
                <c:pt idx="46">
                  <c:v>210</c:v>
                </c:pt>
                <c:pt idx="47">
                  <c:v>225</c:v>
                </c:pt>
                <c:pt idx="48">
                  <c:v>213</c:v>
                </c:pt>
                <c:pt idx="49">
                  <c:v>215</c:v>
                </c:pt>
                <c:pt idx="50">
                  <c:v>210</c:v>
                </c:pt>
                <c:pt idx="51">
                  <c:v>220</c:v>
                </c:pt>
                <c:pt idx="52">
                  <c:v>210</c:v>
                </c:pt>
                <c:pt idx="53">
                  <c:v>225</c:v>
                </c:pt>
                <c:pt idx="54">
                  <c:v>217</c:v>
                </c:pt>
                <c:pt idx="55">
                  <c:v>220</c:v>
                </c:pt>
                <c:pt idx="56">
                  <c:v>208</c:v>
                </c:pt>
                <c:pt idx="57">
                  <c:v>220</c:v>
                </c:pt>
                <c:pt idx="58">
                  <c:v>208</c:v>
                </c:pt>
                <c:pt idx="59">
                  <c:v>224</c:v>
                </c:pt>
                <c:pt idx="60">
                  <c:v>208</c:v>
                </c:pt>
                <c:pt idx="61">
                  <c:v>221</c:v>
                </c:pt>
                <c:pt idx="62">
                  <c:v>214</c:v>
                </c:pt>
                <c:pt idx="63">
                  <c:v>231</c:v>
                </c:pt>
                <c:pt idx="64">
                  <c:v>219</c:v>
                </c:pt>
                <c:pt idx="65">
                  <c:v>230</c:v>
                </c:pt>
                <c:pt idx="66">
                  <c:v>214</c:v>
                </c:pt>
                <c:pt idx="67">
                  <c:v>229</c:v>
                </c:pt>
                <c:pt idx="68">
                  <c:v>220</c:v>
                </c:pt>
                <c:pt idx="69">
                  <c:v>223</c:v>
                </c:pt>
                <c:pt idx="70">
                  <c:v>216</c:v>
                </c:pt>
                <c:pt idx="71">
                  <c:v>221</c:v>
                </c:pt>
                <c:pt idx="72">
                  <c:v>221</c:v>
                </c:pt>
                <c:pt idx="73">
                  <c:v>217</c:v>
                </c:pt>
                <c:pt idx="74">
                  <c:v>216</c:v>
                </c:pt>
                <c:pt idx="75">
                  <c:v>230</c:v>
                </c:pt>
                <c:pt idx="76">
                  <c:v>209</c:v>
                </c:pt>
                <c:pt idx="77">
                  <c:v>220</c:v>
                </c:pt>
                <c:pt idx="78">
                  <c:v>215</c:v>
                </c:pt>
                <c:pt idx="79">
                  <c:v>223</c:v>
                </c:pt>
                <c:pt idx="80">
                  <c:v>212</c:v>
                </c:pt>
                <c:pt idx="81">
                  <c:v>221</c:v>
                </c:pt>
                <c:pt idx="82">
                  <c:v>212</c:v>
                </c:pt>
                <c:pt idx="83">
                  <c:v>224</c:v>
                </c:pt>
                <c:pt idx="84">
                  <c:v>212</c:v>
                </c:pt>
                <c:pt idx="85">
                  <c:v>228</c:v>
                </c:pt>
                <c:pt idx="86">
                  <c:v>218</c:v>
                </c:pt>
                <c:pt idx="87">
                  <c:v>218</c:v>
                </c:pt>
                <c:pt idx="88">
                  <c:v>212</c:v>
                </c:pt>
                <c:pt idx="89">
                  <c:v>230</c:v>
                </c:pt>
                <c:pt idx="90">
                  <c:v>218</c:v>
                </c:pt>
                <c:pt idx="91">
                  <c:v>228</c:v>
                </c:pt>
                <c:pt idx="92">
                  <c:v>212</c:v>
                </c:pt>
                <c:pt idx="93">
                  <c:v>224</c:v>
                </c:pt>
                <c:pt idx="94">
                  <c:v>214</c:v>
                </c:pt>
                <c:pt idx="95">
                  <c:v>226</c:v>
                </c:pt>
                <c:pt idx="96">
                  <c:v>216</c:v>
                </c:pt>
                <c:pt idx="97">
                  <c:v>222</c:v>
                </c:pt>
                <c:pt idx="98">
                  <c:v>203</c:v>
                </c:pt>
                <c:pt idx="99">
                  <c:v>225</c:v>
                </c:pt>
                <c:pt idx="100">
                  <c:v>219</c:v>
                </c:pt>
                <c:pt idx="101">
                  <c:v>228</c:v>
                </c:pt>
                <c:pt idx="102">
                  <c:v>215</c:v>
                </c:pt>
                <c:pt idx="103">
                  <c:v>228</c:v>
                </c:pt>
                <c:pt idx="104">
                  <c:v>216</c:v>
                </c:pt>
                <c:pt idx="105">
                  <c:v>215</c:v>
                </c:pt>
                <c:pt idx="106">
                  <c:v>210</c:v>
                </c:pt>
                <c:pt idx="107">
                  <c:v>219</c:v>
                </c:pt>
                <c:pt idx="108">
                  <c:v>208</c:v>
                </c:pt>
                <c:pt idx="109">
                  <c:v>209</c:v>
                </c:pt>
                <c:pt idx="110">
                  <c:v>216</c:v>
                </c:pt>
                <c:pt idx="111">
                  <c:v>229</c:v>
                </c:pt>
                <c:pt idx="112">
                  <c:v>213</c:v>
                </c:pt>
                <c:pt idx="113">
                  <c:v>230</c:v>
                </c:pt>
                <c:pt idx="114">
                  <c:v>217</c:v>
                </c:pt>
                <c:pt idx="115">
                  <c:v>230</c:v>
                </c:pt>
                <c:pt idx="116">
                  <c:v>217</c:v>
                </c:pt>
                <c:pt idx="117">
                  <c:v>222</c:v>
                </c:pt>
                <c:pt idx="118">
                  <c:v>214</c:v>
                </c:pt>
                <c:pt idx="119">
                  <c:v>215</c:v>
                </c:pt>
                <c:pt idx="120">
                  <c:v>222</c:v>
                </c:pt>
                <c:pt idx="121">
                  <c:v>212</c:v>
                </c:pt>
                <c:pt idx="122">
                  <c:v>213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35"/>
          <c:min val="1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60"/>
          <c:min val="3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Adelie各年份的组均鳍长（毫米）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female（雌）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245B77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</c:numCache>
            </c:num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185.227272727</c:v>
                </c:pt>
                <c:pt idx="1">
                  <c:v>188.44</c:v>
                </c:pt>
                <c:pt idx="2">
                  <c:v>189.346153846</c:v>
                </c:pt>
              </c:numCache>
            </c:numRef>
          </c:val>
          <c:smooth val="0"/>
        </c:ser>
        <c:ser>
          <c:idx val="1"/>
          <c:order val="1"/>
          <c:tx>
            <c:v>male（雄）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23813">
              <a:solidFill>
                <a:srgbClr val="2C6D68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2C6D68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</c:numCache>
            </c:num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188.181818182</c:v>
                </c:pt>
                <c:pt idx="1">
                  <c:v>193.64</c:v>
                </c:pt>
                <c:pt idx="2">
                  <c:v>194.807692308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00"/>
          <c:min val="1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FC04AE-5A85-42F5-BDCE-2CC76BA111A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87ED0A-13C8-494B-835E-382BD842AC9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690A76-AE84-4F06-A66E-E0EAE06ADF0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9DF860-4572-4BDF-981E-FB19A131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2D978-6836-48D8-AE58-5DA29E74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数据处理与统计分析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F683D-3D58-4D40-AAD2-F1131A65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FD9AF9-B13B-4B15-BDE8-980CBD64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本节用公开测量数据，说明检查、计算和解释怎样衔接。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BB087-C31F-4564-98FC-DF7C67B0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9DDA4E-EC52-45DF-A549-DD43212E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原始数据检查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13EAC-CF8D-4D81-A1B3-143C37D5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统计计算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293F9B-EDC0-41D3-81DA-7F2AC270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结果与限制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4F228C-D03A-4B22-B89A-6F015503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同物种雌雄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鳍长差异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89DAA5-9968-4350-8B7D-1844CE95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核对字段、单位与缺失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8A559C-3F6B-428B-85A7-43429B44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描述分布并估计差异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E5A23D-15EB-4101-83FA-FA32ADC8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说明假设与适用范围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C139FB-E173-4FF0-A037-1518EE31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D7CAA0-4CC5-4A34-BE81-675619FF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580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示例任务：比较同一物种的雌雄鳍长，并核对年份、缺失与独立性假设。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FF50D2-E412-40C6-B021-3FC43DFD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分析对象、单位和排除规则共同决定结果含义。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02425A-5670-4A19-9D8B-C2A0BAF8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Berkeley 2026，EDA I，pp.9/20/24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751932-CF6C-4F1D-8F0D-624F8306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62379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1F2367-4A72-46C8-9EBB-D7922029723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095750" y="4929188"/>
            <a:ext cx="2095500" cy="1524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693626-D208-40DA-958F-71E29B8629F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095750" y="4929188"/>
            <a:ext cx="2095500" cy="95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0C1856-C2CA-4EE4-A9E5-342BE57F262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095750" y="3595688"/>
            <a:ext cx="209550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4F78CC-3952-4B75-8CA3-30CD0293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74AFE-B480-4E95-913B-168F0CFE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公开数据的采集背景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8B6195-CB64-43B1-9B63-92C9C160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F91147-2297-4D97-BB79-82D3B683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Palmer数据包含344只企鹅、3个物种、3座岛屿，采集年份为2007—2009。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495A4-3A2A-475B-BD37-0FB33288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333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344条公开观测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261988-7E3C-40AF-A08A-3C22BD83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90875"/>
            <a:ext cx="4286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Adelie 阿德利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81882-C835-4E25-AA81-9DE9F996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3813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152条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00BFE6-853A-4FEE-B204-5D020EC7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9625"/>
            <a:ext cx="4286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Chinstrap 帽带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3B5C92-2403-44A0-BF88-ECE625F5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81012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68条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D73159-9755-490E-B8D2-AA970A5B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48375"/>
            <a:ext cx="4286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Gentoo 巴布亚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502B9D-DDC7-4D37-B855-CC314E3E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238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124条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E5D01E-6477-4A1A-A59A-783C770D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05625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3座岛屿，2007—2009年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6C3F86-819F-4D30-BC45-2BD1733C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公开观测数据的二次教学分析，研究范围需结合原始采样设计判断。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49CA21-1A7B-4611-9123-539FD533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010F7D-1B22-4A4D-A4B1-B9A96502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539958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0C511A-578A-4EB2-8837-D9CDBF60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B72E6-E73A-4E62-A3F6-22D94EBF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原始表格中的数值与缺失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E1D20C-C6F0-4ACA-AD62-00F13F3D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209F2-8E2D-47A5-8D62-A2F18334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预览前6条记录，就能看见鳍长的单位、性别分类，以及整组测量缺失。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918D8-5436-44AE-9241-F262A26E11D2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137160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238500"/>
                <a:gridCol w="2857500"/>
                <a:gridCol w="3048000"/>
                <a:gridCol w="2857500"/>
              </a:tblGrid>
              <a:tr h="612321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CSV行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物种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鳍长 mm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性别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年份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181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male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2007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186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female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2007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195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female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2007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2007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193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female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2007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male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2007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C532B-55B2-4F4F-8FF3-A04E16AA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NA表示缺失；male为雄、female为雌。CSV行号仅用于追溯。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D05133-5AB5-4B21-B1DC-E192E1F1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E77DCF-C61C-4ADF-9086-72CDC60B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960325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833E25-C953-4B6E-9825-206AC54B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E24AE-BD0A-46D7-BEFB-BC607378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字段定义与比较口径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3027B6-4BC4-4571-A5B0-165EA7ED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84767-4FF4-4EF4-A848-5641621C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示例问题限定为Adelie物种内部的雌雄鳍长比较，测量单位保留毫米。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CB206-9018-495D-8213-C1EBA057B92A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137160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5334000"/>
                <a:gridCol w="4762500"/>
              </a:tblGrid>
              <a:tr h="7143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含义与单位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本次用途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species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物种，分类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限定Adelie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sex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female（雌）/ male（雄）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分组变量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flipper_length_mm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鳍长，毫米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连续结果变量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island / year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岛屿 / 采集年份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检查组成与分层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原始个体ID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简化表未提供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无法仅凭此表核验依赖关系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CD58B2-209D-47CD-9F04-F321AB68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本节计算沿用原始字段，不对NA补零或猜测性别。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F32B9-EEFB-47F2-9B8F-466EB4D6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81C07C-AA6B-4449-B65D-0C4E3904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110352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E4F229-6678-4E15-A3C5-5DDE8679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A49C6-1528-40A5-83E1-C2BF81EC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缺失检查与分析分母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C0C98-B744-4CD2-B377-1BE9791B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78392-76E9-4F83-8A1C-D56741D1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344条记录中，性别缺失11条，四个体型测量字段各缺失2条。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C0815583-5BE1-4721-BD50-57B782FD0DD5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144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e9aebb051cc43a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6C5D0-133E-46E9-8738-32185061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分析分母随问题改变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BD5579-B359-4733-9CC1-CB16F1F9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物种、岛屿、年份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均无缺失。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同一条记录可能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缺少多个字段。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3158F-F419-4A82-9A14-713BB508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每个字段的缺失数有重叠，须回到行记录确定排除范围。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F8455F-9CF7-4F4D-A0B7-24D923B9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3B5305-CF47-431B-B438-2730F2F7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1055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DA2C7D-FE58-4AFE-9EE5-DF313B908A3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858250" y="44291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FBD1A4-30B4-43C9-BE0B-43F9D4CFB1C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905250" y="44291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80329C-DF15-4386-8734-4C3DECF7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A9554-0C7E-47FB-BE9B-B11E610E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本次计算的纳入流程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D0BDD7-E689-4627-8B7D-B4DC8D9A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B0754-00AB-4061-80D9-6A97BF75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152条Adelie记录中，6条缺少性别或鳍长，最终纳入146条。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45D54-7F1B-48AA-BB36-4DADF7A0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全部记录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344条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48D25-013E-4218-9457-31B72931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57625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Adelie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152条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748166-1ED3-4354-84B3-D2175B16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57625"/>
            <a:ext cx="3810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所需字段完整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146条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406C47-02FD-490D-A38A-B1CE9E88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337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限定物种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D64BD7-5A4C-4C64-AB53-0EB050B3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337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排除6条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0310EE-E74C-4B7F-AC9E-5B6882A6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24500"/>
            <a:ext cx="381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male：73条</a:t>
            </a:r>
          </a:p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female：73条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78FAEE-83C3-4212-BFF0-9C91A0F9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排除依据：性别或鳍长缺失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未进行插补，完整记录分析仍可能受缺失机制影响。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E12ABC-DAF4-4899-8574-2E5315FE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仅检查本次所需列；缺失处理的影响仍须结合采样记录判断。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04392B-0637-48D8-AB74-9B7A80D7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295038-8B3F-4333-8701-F3247E54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718428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D92F1-780C-4024-8651-149B5862BDC8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C79890-A1AB-4FE9-8495-03F943F1651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31DBE6-E429-4D3A-89A4-632A7BC8FE7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21D620-A671-4621-A493-0733E2EB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7025A-26BF-4354-85CA-EAF49878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异常值的复核流程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8AA0F-A4BD-47B9-901F-D981A2AF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67C374-D00D-4594-8449-91B97C8F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远离多数观测的值需要查原因，删除和修正都要保留依据。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2F06E-0500-41D7-9D4C-1CFF83C6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图形或规则标记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764C38-D5B8-487C-A0EA-AB77E2C0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回查原始记录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8FE6B-D8C7-4421-87D4-A9EB7B01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确认原因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0D06A-B69B-49AF-8215-ACD893A9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保留处理记录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7FCE0A-17CF-4544-B42E-4991A9D3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辨认需要核查的观测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A278D-9920-42ED-A4E4-CCFB4F78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核对单位与测量过程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1CB933-4DEF-44E9-A339-A66ECBCF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错误修正或合理保留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25F173-7901-4166-811D-BECF49C3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必要时做敏感性分析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8C4B32-5BBB-4494-ADD9-82A5E74A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1EC200-F546-4152-A384-8FFD83F1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580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筛查只产生待核查记录。确认错误、修正及排除，都需说明依据。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6F6DA2-F893-4AE8-8CB2-5EE001FA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按分布范围筛查标记2条，移除0条；异常原因仍需原记录复核。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999A8F-1F00-4DA6-BF5E-64DB3A13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来源：NIST统计手册 §1.3.5.17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151FD3-3B69-403B-8B28-715CC109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840167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C73E5E-ED79-47B7-9340-3A9E24A1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31EB2-4661-4947-8CB5-4CA7B2D7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鳍长分布与组间重叠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9660B-0B68-4262-B422-C1EFBE23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B8B3E-A02B-42D7-A800-F3D8ED26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雌雄分布有重叠，均值差异不能用于准确判断每一只企鹅的性别。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3278AA4-41AB-49AB-B5C0-6B66CF50320D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144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de1b32404b04a5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E79ED4-3C56-4E74-A9B2-32140AC8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每组73条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EAED85-5671-4554-A24B-08965670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每5毫米一组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组间有重叠，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均值差异不等于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个体可准确分类。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74F14-5F45-496C-9BB0-ABE57EF4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横轴为鳍长区间，纵轴为记录数。分箱边界与计数可复算。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72445B-981A-44AE-82C3-C6A8F938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4410FF-DBD6-4027-A2B6-6CF51778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398098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BA550-8B83-4B3C-8A50-106A08E9BDD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381500" y="4857750"/>
            <a:ext cx="2286000" cy="1214438"/>
          </a:xfrm>
          <a:prstGeom xmlns:a="http://schemas.openxmlformats.org/drawingml/2006/main" prst="bentConnector3">
            <a:avLst>
              <a:gd name="adj1" fmla="val 9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1ACB6-C6E8-4608-B41F-329408D0216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381500" y="3738563"/>
            <a:ext cx="2286000" cy="1119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EE3032-FCA7-4D9A-943E-8B5247EF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E1022-1325-432A-A309-41718C6C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标准差与标准误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43A779-47C1-4EF2-9F2C-8C837098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89591-46BE-4028-AC29-6069B6D6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标准差描述个体测量的分散程度，标准误描述均值估计在抽样中的波动。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ABFCF-CF8E-4131-8CD3-8928CFC0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3619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female 73条测量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E2801-16FE-4A47-807F-8891BF12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762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个体之间的分散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C7651-F0B2-4C59-9393-00FACAD4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19750"/>
            <a:ext cx="4762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均值估计的波动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020F18-CD24-4C17-AD65-6180A755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476625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SD = 5.60 mm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99AA14-EDC6-4474-850C-90FD8213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81025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SE = 0.65 mm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7F46D7-456E-4828-8822-34230DA2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均值 187.79 mm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A6A8E1-EB87-44BE-A0AC-46F5F7DB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019925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独立同分布假设下：SE = SD / √n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22A61D-672D-4734-8005-22175623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此处SE以行独立为假设，未核验巢或个体层面的相关结构。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EBF52C-E0F4-48B3-A406-E6EEA336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来源：NIST统计手册 §1.3.5.2；palmerpenguins公开数据，本课程二次计算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6DA6EC-6E71-474B-A52B-54C01E44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125750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BC7906-3C5A-46E3-B39A-7B577DEC1400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1049000" y="4905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FA432C-22EB-45ED-8F1A-2CD4C6E4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22DED7-A7CB-431F-8064-E4B9271E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独立组与配对数据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E885A-2F44-49EC-B097-4358CD53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B4AC8-753D-49E5-A8A3-9D4767D2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不同个体组成的两组，与同一个体在两个时点的记录，具有不同的数据结构。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0BD4A-CF2A-40EA-B75D-85003E43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独立组示意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AC66D-7D6B-44B4-8DC9-51382D38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90875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配对示意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06F58-21ED-4574-8E7F-AD4FB370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276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个体A、B、C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组1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9B992F-ED1C-462D-89A6-2AFA8840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91000"/>
            <a:ext cx="276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个体D、E、F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组2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E2E098-AA34-4529-BA17-3E9E8757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9100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同一个体X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时点1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BE22A6-B35B-4A69-8CB5-C8944EA7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19100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同一个体X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时点2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B39D80-BF9B-41F3-8CA1-DD923F8B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比较两组的分布或均值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EF6A59-43DF-4B8B-89E3-BBBB83E4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29375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先计算每个个体的前后差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89F8E8-06D9-480A-92FC-A9CF1550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教学结构示意。组内行数相等不能证明一一配对。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1682F1-6CEF-42D0-BDDD-0A1CB477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来源：NIST统计手册 §1.3.5.3；课程方法示意 / 教学模拟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C215CF-FA15-4166-AD2E-1A072D7D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27559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9F39F4-7995-4F6E-A395-DAB165CE563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095750" y="4929188"/>
            <a:ext cx="2095500" cy="1619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314989-6B00-49DD-A555-16238018D63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095750" y="4929188"/>
            <a:ext cx="2095500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FAD23A-54A7-4414-9677-8443467EFBC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095750" y="3595688"/>
            <a:ext cx="209550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4D7B6E-938D-41A5-883C-09F1D901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A69A0-8206-4D2B-A0CE-AA66F458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分析方法与数据结构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FD5A1-58A4-43FC-9FE4-CEBC2B76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D029C-8A81-47C3-BC2E-C2C3F3B4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方法选择需要同时考虑结果类型、研究问题、分配或采样单位及模型假设。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F651DE-D253-4D7E-9280-24A76084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333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结果与数据结构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AF980-EFBB-4D97-B846-2B790EF7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191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连续结果 / 独立组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71454F-45D0-457B-ABD4-DCE6A541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333750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均值差：如Welch方法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08F0BD-EFE4-4ED5-8F0B-4948AD76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9625"/>
            <a:ext cx="4191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连续结果 / 配对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79EBE-1C4B-492F-A576-939978B2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810125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对应差值：如配对分析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1B4800-3792-4498-B189-D54CA1AF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96000"/>
            <a:ext cx="4191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分类结果 / 计数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D39B92-2616-40AF-9673-73DCCD03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比例比较：检查稀疏计数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6ACD76-9CFE-4442-9020-AE6F01F5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重复测量、聚类或多组比较，需进一步匹配研究设计。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0B7479-CC4B-4A1A-B363-1E9ED81B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本节实际运行描述统计与分组重抽样（bootstrap），未运行所有分支。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9FA600-F679-4577-9262-91065F6B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来源：NIST统计手册 §1.3.5.3；课程方法示意 / 教学模拟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44C59D-440F-47CA-9C61-B8BCE38D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554007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CFF024-1342-4C62-83A3-E55FDCA1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8F4FC-1921-4303-9188-645AA74C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雌雄均值差与条件区间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0E4A8-DD81-48D1-83A1-FF826AF9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88B78-37B6-4E1A-B599-3DA88B1C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Adelie完整记录中，雄性均值比雌性高4.62毫米。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B8B82-F19F-42B9-A121-3F814369BC8A}"/>
              </a:ext>
            </a:extLst>
          </p:cNvPr>
          <p:cNvGraphicFramePr/>
          <p:nvPr/>
        </p:nvGraphicFramePr>
        <p:xfrm>
          <a:off xmlns:a="http://schemas.openxmlformats.org/drawingml/2006/main" x="762000" y="3095625"/>
          <a:ext xmlns:a="http://schemas.openxmlformats.org/drawingml/2006/main" cx="137160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1905000"/>
                <a:gridCol w="3524250"/>
                <a:gridCol w="3524250"/>
              </a:tblGrid>
              <a:tr h="7302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完整记录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均值 mm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 mm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female（雌）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187.79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5.60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male（雄）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192.41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6.60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AB0DB6-7A7D-4D99-A5F2-F5A544D2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雄减雌：4.62 mm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303255-0D11-48B5-9172-C313967E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重抽样区间：2.68—6.58 mm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F05277-789C-4561-A51B-F80FB452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每组按行抽样，10000次，取2.5%与97.5%分位点。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3342B0-5C7F-4F57-98DC-5B8DDCF8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区间依赖行独立假设，不是原研究的已发表推断结论。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9F863-0E2A-4C03-A123-DF2D913F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来源：palmerpenguins公开数据，本课程二次计算；UC Berkeley 2026，置信区间，pp.4/7/8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A79F3B-7797-4C24-8D84-AF4B82F8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480514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626AA0-393D-4EC3-94D1-C1DD85F3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31372-0F4B-4371-BB62-561EF925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95%置信水平的重复抽样含义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87D615-2B13-41FF-8F97-7F49FB5B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220B4-318D-4C91-B051-9305B06F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如果反复按同样规则抽样并构造区间，约95%的区间会包含那个固定真值。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E0557-25BC-49F2-BD16-8D1C2FF5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600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同一真值：100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AD339A-595D-4CAF-BF5F-C22C05DD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0" cy="36671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63F3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C1850D-91AC-423A-AD7F-4C3BF392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5E22A2-6EC6-4EB8-82FE-E23761B3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4148" y="3714750"/>
            <a:ext cx="395775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6D3FA9-D63B-4404-96BC-5F1E0CD2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47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00A9F2-53AC-4D57-9960-2B9BF13F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4868" y="4057650"/>
            <a:ext cx="395775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72DD1F-BA5E-4614-83AB-F2EB6A7B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1EE361-8740-430F-870A-19F79BFC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487" y="4400550"/>
            <a:ext cx="395775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1CA51A-EED6-44A1-A2C3-E191448D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005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C03248-15DC-4A7F-8301-90F74439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0757" y="4743450"/>
            <a:ext cx="395775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D8A955-1252-41EB-A489-70161767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434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4438A7-D76D-438D-8939-60940B98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1103" y="5086350"/>
            <a:ext cx="395775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D15BBF-BA48-4C75-A60B-549C6BD8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AFB1C7-1DC2-4FE9-A4D2-0A7C06D3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711" y="5429250"/>
            <a:ext cx="395775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90A4E3-4E2A-426C-A217-39782BBA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292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75B599-B75E-4C86-BA44-6CD31CEF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585" y="5772150"/>
            <a:ext cx="395775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42487B-3C47-4917-993D-56F9EF45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721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ECCFF3-6333-46CE-A58F-B97CB7BA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154" y="6115050"/>
            <a:ext cx="395775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3BC550-24B9-46C6-86FB-D901C8B0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150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10E9D0-6E92-4AD5-9364-A3ACEDF0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4269" y="6457950"/>
            <a:ext cx="395775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0ED986-D5A5-4F27-BBC4-6158A098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579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7C5C3C-15B5-4430-8B2B-94FD9644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6659" y="6800850"/>
            <a:ext cx="395775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6AC547-31C5-472E-9ADF-3F2312E8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1247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95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809EC6-0C63-4425-95BE-267EAC72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71247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4F6765-F211-488B-8E94-F869D954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71247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6EEFCF-E971-4E8F-952B-018DD30C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7712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横线为各次区间（显示前10次）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4CACA5-2506-4CDD-9910-A0BE8214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333750"/>
            <a:ext cx="295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独立正态模型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ADA4E3-D607-4790-911A-E0F43298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333875"/>
            <a:ext cx="2952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设定均值100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已知SD=10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每次n=25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1000次中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941次覆盖真值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4EE357-C024-43CF-BEDE-43AC23AB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正态模型教学模拟，参数自设；1000次结果及前10次区间均保留CSV。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4E2374-2725-4A68-B46E-EC475869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Berkeley 2026，置信区间，pp.4/7/8；NIST统计手册 §1.3.5.2；课程方法示意 / 教学模拟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19A753-E937-43ED-8D13-185DD177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320942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ACC5AD-857F-4996-AC93-1BA1DA35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997E9-B346-4760-865C-A6FCEA02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双侧P值的条件含义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0F4FB-B663-4ED4-A2C0-AB27FAEB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2482E2-D5D2-47DA-A4BA-DAB72025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教学设定：独立抛硬币20次，观察到15次正面，在正反等可能假设下计算两端概率。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4156A395-4E74-44F3-ACA9-69AF380B3C6E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144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2e665ca9104f5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6130A3-78A9-493B-92EA-254C2D24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双侧极端事件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E3FAD-B49A-4895-AC15-64701112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K ≤ 5 或 K ≥ 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两端概率之和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P ≈ 0.0414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不表示零假设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为真的概率。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B4248-648C-4F73-B5D1-D865DCEF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教学设定，不是企鹅检验。精确双侧P≈0.0414，未采用正态近似。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D3A3A8-1BFF-4295-87C7-95C4ABD0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Berkeley 2026，假设检验，pp.6/17/29；ASA，2016，P值声明；课程方法示意 / 教学模拟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FE191-47EE-4C74-954D-D0EA93BC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861148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B1A02F-EDBD-4DD2-AACC-B13D1CDC176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4238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194B19-1ED8-4B5B-A7BA-6A8E8036283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4238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9CA9EF-D036-409C-8207-3B4BBCA8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08B4D-177D-4C01-9899-46E4EFCE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效应大小、统计证据与科研解释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8C44E-FDE6-481E-A48E-E1532E92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BE3E1A-B893-4A86-840E-C09B959D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结果报告需要同时交代差异大小、估计不确定性和研究设计允许的解释范围。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08E00-637C-4217-AC3F-0FFE2EA6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差异与单位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D23FD-5186-430F-A00E-E0021529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1000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估计不确定性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6360B-CDCA-49CA-9E0A-BB0C219F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81000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0C95AC-A7F2-4BC8-893C-F9813A7E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对象和比较方向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AFDE84-66ED-4067-B0B4-51638E40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95875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抽样与模型条件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4CAB06-72F4-4A73-BE48-8933840B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095875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选择、混杂与适用对象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8EF949-FEFF-4F55-9E24-68F6C1A2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75210F-4F35-4591-A935-2EEDBD7D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580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企鹅的毫米差异和硬币的尾概率，分别对应不同问题与模型。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587DDA-CB5C-4A22-9DD5-1398A766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显著性阈值无法单独回答差异是否重要、研究是否可靠。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EE4B7D-BFA7-40AC-8D92-04F83715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来源：ASA，2016，P值声明；UC Berkeley 2026，假设检验，pp.6/17/29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745A46-EA82-4529-86C7-12C96E7F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00656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AB50F8-E0B5-42AA-8E09-942F64711DB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06D36A-520C-42C0-99C2-78E3E5384D1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4D0BC9-0E34-4E64-BB16-374A7813732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FE39C0-3404-41CE-AEEE-CFCA72BA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7FC31-BECF-4113-9ADE-02D35786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Bootstrap的有放回重抽样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F2FCD5-2668-4F6C-BA9B-CCD5CC4E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58CE46-A736-4040-B28D-8CF85279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在每个组内重复抽取原有记录，观察均值差如何随重抽样改变。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FD1C7-A9D3-4B99-9486-EE8C28B4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雌、雄两组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各73条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F46D5B-5C92-4FC1-AD34-58A1317F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各组有放回抽样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26234-6B98-4624-B8DA-A8642EAA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计算一次均值差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B83A50-65FD-4C56-9E28-FE85F426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重复10000次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D64D1A-332A-4393-91FD-33526BEB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保留原有测量记录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93F3E0-4717-4D93-A557-CFE33E5F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每组仍取73条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82C8DD-840C-4FD5-B229-2433680A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方向固定为雄减雌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053FA3-E705-4ADE-B47C-CC67FF24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估计分位点与波动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98617D-014A-41BE-8950-2460AA37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C3BCE5-CB97-49D6-8778-EE209A66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580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若研究以巢、班级或受试者为单位，重抽样也需保留相应结构。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0529C3-1496-4F23-8715-F502A38F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这次脚本按行抽样。重抽样次数增加，不能修复原始样本的选择偏差。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D046C9-D8A4-42CC-991E-EAEF6CEA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Berkeley 2026，置信区间，pp.4/7/8；NumPy有放回抽样文档；本地脚本实算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759BEB-79D9-45F4-AB02-0D49DEEA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7809257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18A3FB-0D34-4C0C-8D90-3AA56428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F1EE6B-D7FD-4121-BFAF-7CD26C15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重抽样结果的分布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0A682-AB18-498A-ADE3-A14A9F0F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87CB4-A1C9-4989-B5E1-602FE70C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10000次均值差的2.5%与97.5%分位点为2.68和6.58毫米。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1A9FD4D9-4298-4533-BA20-CF942A27AA97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144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fdd83da814446c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D16C28-2AA2-408B-B2C8-D71E362C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百分位区间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D646EB-FEFD-447E-8026-FC2E2108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每柱宽0.5毫米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横轴标区间左端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2.68—6.58 mm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这不是个体鳍长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的分布。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EFF7C4-9E7D-4810-808D-7CA53AA5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本地实际计算；随机种子、分位点算法与完整重抽样值均可检查。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CCDF6B-D058-4049-B4C4-8A2FCFCB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Berkeley 2026，置信区间，pp.4/7/8；NumPy有放回抽样文档；本地脚本实算；palmerpenguins公开数据，本课程二次计算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F4BAC1-F836-4E49-A728-7ADB3057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3067316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7D1CB8-FD13-4BCF-A518-8F9E3A27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77A59-8E35-4724-8EFC-A35D9C0B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混合物种与组内相关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FC06D-D59D-47F2-9F7E-9E47A563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BFB25-44B0-4F84-8DCE-A260ED4F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把物种混在一起，喙长与鳍长的总体相关可能包含物种间差异。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9A657251-8BA0-4819-B95E-AD326048BCC0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144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10cdd42a4a4b8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7D9F5-361C-4EC1-B7BF-8E137A4F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Pearson相关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2BDB2-8470-4D9A-B60B-D5D927B0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总体 r = 0.656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Adelie内 r = 0.326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总体关系包含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物种间的差异。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2BE15A-9A8D-42A9-8AB6-30DDB2F3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横轴喙长mm，纵轴鳍长mm。点来自公开观测，未画未经计算的拟合线。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147E04-F496-4ADE-8A57-E44C6F12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FB9DDA-C534-4728-9877-45E28120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69436890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DFC724-0BE9-4598-BC79-703A30DC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2FDD3-F344-4D39-9A43-BCE4E938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采集年份与样本组成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23E77-F238-4110-AA65-51CCBE52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0F211-3424-48C5-B3B6-75092C3C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同为Adelie，2007—2009年的均值仍有变化，合并报告需要检查组成。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62D0BF7-03F7-4AAC-9B5E-E0C225202108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144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9db5d179a2d4d1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B30117-E914-4A9E-91F2-BDD0FD11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各年每组记录数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EDEB13-A414-4114-B178-5DFD2F9E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2007：22条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2008：25条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2009：26条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各年观测的组均值，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不表示个体生长。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88ABB3-850A-4008-B479-BBE6A049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各年为观测记录的组均值，不是同一批个体的纵向变化。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6DBBD8-BA86-4D5D-B8A7-9FA75964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C31981-0124-4409-91C8-24244D7E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7452028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041509-A54C-4540-80CD-FEB050C3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383DDE-D7FB-4BCD-8901-6EEF726B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结果段落中的对象、数字与限制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098DAB-0609-4C68-838F-F8BE5C17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87E611-2F8B-40E5-8071-D71DC443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一段可检查的结果文字，需要把纳入范围、差异方向、方法和限定条件写在一起。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2EB23-8468-4976-B433-F444954B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二次分析结果示例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CA682-96B8-40AC-903A-5487297B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371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在性别与鳍长均完整的146条Adelie记录中，雌雄各73条。雄性平均鳍长为192.41毫米，雌性为187.79毫米，均值差为4.62毫米。按两组分别进行10000次有放回重抽样，百分位区间为2.68—6.58毫米。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3AB77-8F21-4947-94FF-71918DB6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D4EDB3-C889-48ED-BA92-E843CCD2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1371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该区间依赖行独立的抽样假设。简化数据未提供可核验的巢与个体对应关系，也未在此模型中调整年份、岛屿和缺失机制，因此本例保留为条件分析，不作因果解释。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788E0E-F07B-4101-8884-437893FE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公开数据的二次教学结果，未作为原研究的结论或新科研成果发布。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7B6CB6-90C2-4A65-9D79-0840F537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来源：palmerpenguins公开数据，本课程二次计算；ASA，2016，P值声明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04E909-790A-4BDD-8640-B87341FE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91805822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E179D5-0A4C-430C-BDA8-6ED18862F51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9D9D69-2895-4B76-A7CF-CBF965B2CC7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7F3A0E-B8E6-4218-8F02-9AD4D5D9D42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387A9C-6720-40EC-8363-7520AECB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70876B-E22A-4608-9726-31727645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Cursor改代码以后，怎样确认结果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DD3601-650B-40B1-87FE-D968A686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66BC2-D0EE-49D2-966F-4959D859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同一份企鹅数据：把鳍长均值差由“雄减雌”改为“雌减雄”，再核对两次输出。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B2DC65-1DBA-47AB-8CDE-B57C134F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Cursor：编辑代码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9B5F23-B9A3-432C-A485-96D89195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Python：运行脚本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E90F67-3CE8-4F6A-90B3-46A9AFB1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文件：两次输出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1B57B5-BEFD-4BA3-8360-C2635FCB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复核：回到原数据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7B52E7-048D-4DD0-85CD-BCF69A3F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改差值公式和字段名；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查看修改前后的差异。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1B41A2-7690-434B-A01F-6DBC68BA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243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使用同一个解释器，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分别执行两个脚本。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13D758-9088-4608-8753-0B16592F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243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分开保存CSV和记录；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差值应为相反数。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C6E83D-BC83-4CEF-89EF-22139ACE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5243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纳入行、两组人数、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均值和SD应不变。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5C6EAB-FA12-44E6-AC99-144E6C67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FB5823-A6D6-46C1-A5B9-16F2D764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1502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实际Python输出：同一数据、同一146条记录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035984-6391-44DF-B9DC-18625742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22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原脚本：雄减雌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EB8187-24CE-4075-92E3-D07D2EA1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5722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修改后：雌减雄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F28A56-D6F6-45C2-85FB-BCB3DD8E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每组仍为73条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B5B5B7-5505-403B-A46E-9639185E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866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+4.616438 mm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A8948C-9CF8-4506-ABF3-2B53E2C3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70866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−4.616438 mm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7CE9BA-3213-4655-82C7-C1897491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1532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均值与样本SD不变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43D977-0E08-4A2D-BCB1-454485DE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本例两份Python脚本已在本地运行；Cursor未操作，SPSS未执行。R沿用本地WebR实算记录。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78C6D7-0893-4F71-A625-04D24923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来源：CMU 2025 Lecture23，第26页；Cursor Agent与终端文档；本地Python改动与实算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AF404E-EC1A-4F77-8C49-7C586807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94605653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3FC77A-0C40-4E33-B7D1-C51FDA64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EE642-7587-4F78-BA99-1A0ECFB0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Python与R的实际结果核对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06D7A0-0D3B-4890-990D-BB2AAC29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87D5A-7274-437F-A2E7-CCB3FA3D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软件输出需要对照纳入行、分组、单位和计算定义，界面不同不应改变分析对象。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8A570-897D-44F9-9855-F23F02D71660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137160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4191000"/>
                <a:gridCol w="4191000"/>
              </a:tblGrid>
              <a:tr h="7620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核对项目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Python实际输出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R实际输出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纳入数 / 雌雄各n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146 / 各73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146 / 各73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均值 mm：雌 / 雄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187.79 / 192.41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187.79 / 192.41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样本SD mm：雌 / 雄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5.60 / 6.60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5.60 / 6.60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雄减雌均值差 mm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4.62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4.62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F406E8-7185-43D0-82B3-4866DBC9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逐行核对146条记录，再比数字。SD采用n−1分母，均值差固定为雄性减雌性。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EA3CB-FEA2-4695-914C-DE2CFC73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SPSS尚未运行；得到输出后，再核对同样的行号和统计量。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84D3A4-74DA-4A7B-94A9-B521CDD0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来源：本地Python/R实算与代码；R官方数据输入与SD说明；IBM官方语法索引，未执行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A2F612-91AF-47BC-A858-4935611F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530654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2026-10-19T07:51:36.2400000Z</dcterms:created>
  <dcterms:modified xsi:type="dcterms:W3CDTF">2026-10-19T07:51:36.2400000Z</dcterms:modified>
</coreProperties>
</file>