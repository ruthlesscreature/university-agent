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3d3e7bed284bee" /><Relationship Type="http://schemas.openxmlformats.org/officeDocument/2006/relationships/extended-properties" Target="/docProps/app.xml" Id="R59084c7cbc3d4910" /><Relationship Type="http://schemas.openxmlformats.org/officeDocument/2006/relationships/officeDocument" Target="/ppt/presentation.xml" Id="R2956f8b3a9a742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c395099f444591"/>
  </p:sldMasterIdLst>
  <p:notesMasterIdLst>
    <p:notesMasterId xmlns:r="http://schemas.openxmlformats.org/officeDocument/2006/relationships" r:id="R908a9c77daef4bb6"/>
  </p:notesMasterIdLst>
  <p:sldIdLst>
    <p:sldId xmlns:r="http://schemas.openxmlformats.org/officeDocument/2006/relationships" id="256" r:id="Rf024239d8769438e"/>
    <p:sldId xmlns:r="http://schemas.openxmlformats.org/officeDocument/2006/relationships" id="257" r:id="R5f8d8645aa18454f"/>
    <p:sldId xmlns:r="http://schemas.openxmlformats.org/officeDocument/2006/relationships" id="258" r:id="R7d909ade13e842f4"/>
    <p:sldId xmlns:r="http://schemas.openxmlformats.org/officeDocument/2006/relationships" id="259" r:id="R897c7d045b6e4915"/>
    <p:sldId xmlns:r="http://schemas.openxmlformats.org/officeDocument/2006/relationships" id="260" r:id="Rf097e6da0e0c44e9"/>
    <p:sldId xmlns:r="http://schemas.openxmlformats.org/officeDocument/2006/relationships" id="261" r:id="Radcea64527034f52"/>
    <p:sldId xmlns:r="http://schemas.openxmlformats.org/officeDocument/2006/relationships" id="262" r:id="R7ce89e36f47146df"/>
    <p:sldId xmlns:r="http://schemas.openxmlformats.org/officeDocument/2006/relationships" id="263" r:id="Rea1416cfad8e4842"/>
    <p:sldId xmlns:r="http://schemas.openxmlformats.org/officeDocument/2006/relationships" id="264" r:id="R6ac8a8a63c2644a2"/>
    <p:sldId xmlns:r="http://schemas.openxmlformats.org/officeDocument/2006/relationships" id="265" r:id="Rf9d6f4bbd51248a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38074e314a4651" /><Relationship Type="http://schemas.openxmlformats.org/officeDocument/2006/relationships/slideMaster" Target="/ppt/slideMasters/slideMaster1.xml" Id="Re1c395099f444591" /><Relationship Type="http://schemas.openxmlformats.org/officeDocument/2006/relationships/notesMaster" Target="/ppt/notesMasters/notesMaster1.xml" Id="R908a9c77daef4bb6" /><Relationship Type="http://schemas.openxmlformats.org/officeDocument/2006/relationships/presProps" Target="/ppt/presProps.xml" Id="R7acbc0ab3ae84b40" /><Relationship Type="http://schemas.openxmlformats.org/officeDocument/2006/relationships/tableStyles" Target="/ppt/tableStyles.xml" Id="R154e1ee5d1f94c38" /><Relationship Type="http://schemas.openxmlformats.org/officeDocument/2006/relationships/slide" Target="/ppt/slides/slide1.xml" Id="Rf024239d8769438e" /><Relationship Type="http://schemas.openxmlformats.org/officeDocument/2006/relationships/slide" Target="/ppt/slides/slide2.xml" Id="R5f8d8645aa18454f" /><Relationship Type="http://schemas.openxmlformats.org/officeDocument/2006/relationships/slide" Target="/ppt/slides/slide3.xml" Id="R7d909ade13e842f4" /><Relationship Type="http://schemas.openxmlformats.org/officeDocument/2006/relationships/slide" Target="/ppt/slides/slide4.xml" Id="R897c7d045b6e4915" /><Relationship Type="http://schemas.openxmlformats.org/officeDocument/2006/relationships/slide" Target="/ppt/slides/slide5.xml" Id="Rf097e6da0e0c44e9" /><Relationship Type="http://schemas.openxmlformats.org/officeDocument/2006/relationships/slide" Target="/ppt/slides/slide6.xml" Id="Radcea64527034f52" /><Relationship Type="http://schemas.openxmlformats.org/officeDocument/2006/relationships/slide" Target="/ppt/slides/slide7.xml" Id="R7ce89e36f47146df" /><Relationship Type="http://schemas.openxmlformats.org/officeDocument/2006/relationships/slide" Target="/ppt/slides/slide8.xml" Id="Rea1416cfad8e4842" /><Relationship Type="http://schemas.openxmlformats.org/officeDocument/2006/relationships/slide" Target="/ppt/slides/slide9.xml" Id="R6ac8a8a63c2644a2" /><Relationship Type="http://schemas.openxmlformats.org/officeDocument/2006/relationships/slide" Target="/ppt/slides/slide10.xml" Id="Rf9d6f4bbd51248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a8d99b168348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3ba650e14b4447" /><Relationship Type="http://schemas.openxmlformats.org/officeDocument/2006/relationships/notesMaster" Target="/ppt/notesMasters/notesMaster1.xml" Id="Ra06c023569e943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a5ded7a8bf4e95" /><Relationship Type="http://schemas.openxmlformats.org/officeDocument/2006/relationships/notesMaster" Target="/ppt/notesMasters/notesMaster1.xml" Id="R79f1641055514d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0ddae854a6488e" /><Relationship Type="http://schemas.openxmlformats.org/officeDocument/2006/relationships/notesMaster" Target="/ppt/notesMasters/notesMaster1.xml" Id="Rd08b1a9072e54b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67e6c2897a4f70" /><Relationship Type="http://schemas.openxmlformats.org/officeDocument/2006/relationships/notesMaster" Target="/ppt/notesMasters/notesMaster1.xml" Id="Rc0484971739b46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b98a67b3844d75" /><Relationship Type="http://schemas.openxmlformats.org/officeDocument/2006/relationships/notesMaster" Target="/ppt/notesMasters/notesMaster1.xml" Id="R8b0c83f358ac49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f3b4af522445af" /><Relationship Type="http://schemas.openxmlformats.org/officeDocument/2006/relationships/notesMaster" Target="/ppt/notesMasters/notesMaster1.xml" Id="Rc6ca4145b52845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10f7f53dea4372" /><Relationship Type="http://schemas.openxmlformats.org/officeDocument/2006/relationships/notesMaster" Target="/ppt/notesMasters/notesMaster1.xml" Id="R0bf06321788c4b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160246e91c4e1f" /><Relationship Type="http://schemas.openxmlformats.org/officeDocument/2006/relationships/notesMaster" Target="/ppt/notesMasters/notesMaster1.xml" Id="R8e1583d1bd8841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03c6bbae4540ee" /><Relationship Type="http://schemas.openxmlformats.org/officeDocument/2006/relationships/notesMaster" Target="/ppt/notesMasters/notesMaster1.xml" Id="Rcb67202ca5d443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d2330c38384d01" /><Relationship Type="http://schemas.openxmlformats.org/officeDocument/2006/relationships/notesMaster" Target="/ppt/notesMasters/notesMaster1.xml" Id="R3c060bc5b41f4e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结题理解为对原定工作逐项交代。先定位项目实际采用的任务书、获批变更和当期填报要求，再检查过程及成果。贯穿案例借企鹅公开数据演示三项材料核对要求，不能说是国家自然科学基金项目、先验注册研究或本课程野外采集。材料核对、科学解释和正式验收分别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HaDEA，REPA Reporting and Payment Webinar，26 March 2025</a:t>
            </a:r>
          </a:p>
          <a:p xmlns:a="http://schemas.openxmlformats.org/drawingml/2006/main">
            <a:r>
              <a:t>https://hadea.ec.europa.eu/document/download/1e773e0c-f2ab-44db-9f80-c7a02cc75bb4_en?filename=REPA+-+Webinar+-+March+2025.pdf</a:t>
            </a:r>
          </a:p>
          <a:p xmlns:a="http://schemas.openxmlformats.org/drawingml/2006/main">
            <a:r>
              <a:t>定位：已逐页查看PDF物理页75、97、98、102、104；采用持续记录、材料分工与报告汇总讲法，不照搬CEF制度或截图作为中国系统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本节自编材料核对任务书</a:t>
            </a:r>
          </a:p>
          <a:p xmlns:a="http://schemas.openxmlformats.org/drawingml/2006/main">
            <a:r>
              <a:t>local:training/section-12/closeout-packet/input/taskbook.json</a:t>
            </a:r>
          </a:p>
          <a:p xmlns:a="http://schemas.openxmlformats.org/drawingml/2006/main">
            <a:r>
              <a:t>定位：M1来源与筛选，M2分组均值，M3个体与抽样资料；借现成数据演示，不是预注册研究目标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data、License、References；简化CSV344条。input/source.json保留原始下载URL、CC0许可和哈希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采用2026年1月14日通告二（一）和五（二）。负责人须保证内容真实、数据准确，注意知识产权；正式报告不能直接复制论文。成果需核对与项目的关联、参与者、时间、发表及资助标注，避免把未正式或在线发表论文等列作成果。不得使用生成式AI直接生成的申请、进展、结题报告，也不能使用未核实内容。因此这里演示检索定位、复算、证据检查与目录整理，不将AI文字包装成正式报送正文。通告对成果和生成内容的要求均需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国家自然科学基金委员会，关于2026年度项目申请与结题等有关事项的通告，2026-01-14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定位：二（一）1至6与二（二）：报告、附件、成果范围、决算和依托单位；五（二）：生成式AI直接生成报告限制。通告的2026集中期日期不作为下一年度时间要求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项目以获批任务书及变更版本为基准，执行中保存数据、方法与进度记录，按项目规定报送年度或阶段进展。中期检查如适用，应比较计划、实际成果和仍有的偏差，明确下一步处理及责任，涉及变更的按适用规定办理。结题前逐项整理证据。HaDEA课件97页用时间关系说明持续记录与阶段报告，98页强调里程碑及交付物更新；这里仅借讲法，不照搬CEF周期。NSFC2026通告第三（一）涉及项目进展报告。教学案例目前M1来源筛选和M2分组统计已核，M3抽样依据待补，未虚构负责人、期限、中期审批或实际基金项目。完成判据指用什么材料和方法核对一项工作，后续证据表给出M1至M3的具体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HaDEA，REPA Reporting and Payment Webinar，26 March 2025</a:t>
            </a:r>
          </a:p>
          <a:p xmlns:a="http://schemas.openxmlformats.org/drawingml/2006/main">
            <a:r>
              <a:t>https://hadea.ec.europa.eu/document/download/1e773e0c-f2ab-44db-9f80-c7a02cc75bb4_en?filename=REPA+-+Webinar+-+March+2025.pdf</a:t>
            </a:r>
          </a:p>
          <a:p xmlns:a="http://schemas.openxmlformats.org/drawingml/2006/main">
            <a:r>
              <a:t>定位：已逐页查看PDF物理页75、97、98、102、104；采用持续记录、材料分工与报告汇总讲法，不照搬CEF制度或截图作为中国系统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国家自然科学基金委员会，关于2026年度项目申请与结题等有关事项的通告，2026-01-14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定位：二（一）1至6与二（二）：报告、附件、成果范围、决算和依托单位；五（二）：生成式AI直接生成报告限制。通告的2026集中期日期不作为下一年度时间要求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本节自编材料核对任务书</a:t>
            </a:r>
          </a:p>
          <a:p xmlns:a="http://schemas.openxmlformats.org/drawingml/2006/main">
            <a:r>
              <a:t>local:training/section-12/closeout-packet/input/taskbook.json</a:t>
            </a:r>
          </a:p>
          <a:p xmlns:a="http://schemas.openxmlformats.org/drawingml/2006/main">
            <a:r>
              <a:t>定位：M1来源与筛选，M2分组均值，M3个体与抽样资料；借现成数据演示，不是预注册研究目标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输入为palmerpenguins的简化CSV。按species选Adelie，再保留sex为female或male且flipper_length_mm非缺失的记录。152中排除6条，原CSV物理行号5、10、11、12、13、49，其中第1行是表头，行号不等于个体编号。必须保留原文件和来源哈希，不能覆盖。此处只做缺失字段筛选，不按结果好坏删除数据，也未因异常值筛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data、License、References；简化CSV344条。input/source.json保留原始下载URL、CC0许可和哈希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程序实际读CSV并复算，不只检查文件是否存在。M1和M2为VERIFIED，中文材料已核；M3为PENDING，中文待补资料。UNSUPPORTED指某个说法没有证据支持，例如把公开数据说成自己采集。材料存在、内容可复算和结论有效是不同层面。证据表随CSV及JSON保留，定位可回到源文件与计算字段。 本轮附件目录登记9个实际文件的路径、大小及SHA-256；A01为自编要求，A02来源，A03原CSV，A04执行器，A05纳入行，A06计算，A07证据表，A08问题，A09排除主张。编号用于定位，不表示证据充分。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本节自编材料核对任务书</a:t>
            </a:r>
          </a:p>
          <a:p xmlns:a="http://schemas.openxmlformats.org/drawingml/2006/main">
            <a:r>
              <a:t>local:training/section-12/closeout-packet/input/taskbook.json</a:t>
            </a:r>
          </a:p>
          <a:p xmlns:a="http://schemas.openxmlformats.org/drawingml/2006/main">
            <a:r>
              <a:t>定位：M1来源与筛选，M2分组均值，M3个体与抽样资料；借现成数据演示，不是预注册研究目标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独立复算：146条Adelie记录，雌雄各73。平均鳍长雌性187.7945205毫米，雄性192.4109589毫米，雄减雌4.6164384毫米，显示两位小数。图采用0起点避免夸大均值比例。该描述限于当前筛选记录，不能推断性别的因果机制，不能把简化记录的独立性当成已确认。这里的例句用于教学说明数据表达，不作为国自然正式报告的AI正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data、License、References；简化CSV344条。input/source.json保留原始下载URL、CC0许可和哈希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3缺口来自简化CSV没有个体标识与抽样设计，不等于原项目没有这些资料。后续需回原始数据和采样说明核对重复测量与独立性，必要时调整分析。当前保留PENDING。若有人提出课程自采数据或已证因果机制，则标UNSUPPORTED并从成果叙述排除。实际项目如发生目标、人员、合作或技术路线等变更，按适用规定查批复与版本，不能靠改结题文字消除偏差。 图中前三步表示材料核对顺序。文件哈希固定版本，数值复算核对计算；个体重复、采样依赖与科学外推需另外审查，当前未通过该项。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本节自编材料核对任务书</a:t>
            </a:r>
          </a:p>
          <a:p xmlns:a="http://schemas.openxmlformats.org/drawingml/2006/main">
            <a:r>
              <a:t>local:training/section-12/closeout-packet/input/taskbook.json</a:t>
            </a:r>
          </a:p>
          <a:p xmlns:a="http://schemas.openxmlformats.org/drawingml/2006/main">
            <a:r>
              <a:t>定位：M1来源与筛选，M2分组均值，M3个体与抽样资料；借现成数据演示，不是预注册研究目标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HaDEA，REPA Reporting and Payment Webinar，26 March 2025</a:t>
            </a:r>
          </a:p>
          <a:p xmlns:a="http://schemas.openxmlformats.org/drawingml/2006/main">
            <a:r>
              <a:t>https://hadea.ec.europa.eu/document/download/1e773e0c-f2ab-44db-9f80-c7a02cc75bb4_en?filename=REPA+-+Webinar+-+March+2025.pdf</a:t>
            </a:r>
          </a:p>
          <a:p xmlns:a="http://schemas.openxmlformats.org/drawingml/2006/main">
            <a:r>
              <a:t>定位：已逐页查看PDF物理页75、97、98、102、104；采用持续记录、材料分工与报告汇总讲法，不照搬CEF制度或截图作为中国系统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本页SW01取自课程Section 7描述统计脚本，按本轮快照实际执行，输入344条、纳入146条、雌雄各73；代码、输入、输出和哈希在software-packet。教学快照不作为软件开发完成日期、著作权人或登记软件版本认定。贡献与权属材料尚缺，不补填人员或单位，不将Codex写为法律作者。本页借国家版权局办法第九至十一条说明申请表、程序及文档、相关证明三类材料；实际只提供短脚本和教学功能说明，未填官方申请表或制作正式交存页。没有申请、登记号或证书。成果台账另区分外部Gorman论文与Section 11交底教学草稿，均不计为本人的论文或专利成果。内部整理和软件登记结果不同，项目关联、本人贡献及成果计入要求另按真实材料确认。经费与资产仍须由负责人会同科研、财务、资产部门核对，账目、决算、合作单位和资产材料不被软件台账代替。本案例无实际经费，不填写金额或宣称财务审核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HaDEA，REPA Reporting and Payment Webinar，26 March 2025</a:t>
            </a:r>
          </a:p>
          <a:p xmlns:a="http://schemas.openxmlformats.org/drawingml/2006/main">
            <a:r>
              <a:t>https://hadea.ec.europa.eu/document/download/1e773e0c-f2ab-44db-9f80-c7a02cc75bb4_en?filename=REPA+-+Webinar+-+March+2025.pdf</a:t>
            </a:r>
          </a:p>
          <a:p xmlns:a="http://schemas.openxmlformats.org/drawingml/2006/main">
            <a:r>
              <a:t>定位：已逐页查看PDF物理页75、97、98、102、104；采用持续记录、材料分工与报告汇总讲法，不照搬CEF制度或截图作为中国系统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国家版权局《计算机软件著作权登记办法》</a:t>
            </a:r>
          </a:p>
          <a:p xmlns:a="http://schemas.openxmlformats.org/drawingml/2006/main">
            <a:r>
              <a:t>https://www.ncac.gov.cn/xxfb/flfg/bmgz/202410/t20241015_869486.html</a:t>
            </a:r>
          </a:p>
          <a:p xmlns:a="http://schemas.openxmlformats.org/drawingml/2006/main">
            <a:r>
              <a:t>定位：2026-10-19读第四、七至十一、二十条；材料类别和状态区分，不判断本例适格性、贡献或权属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本轮软件教学快照与实际执行</a:t>
            </a:r>
          </a:p>
          <a:p xmlns:a="http://schemas.openxmlformats.org/drawingml/2006/main">
            <a:r>
              <a:t>local:training/section-12/software-packet/snapshot.json</a:t>
            </a:r>
          </a:p>
          <a:p xmlns:a="http://schemas.openxmlformats.org/drawingml/2006/main">
            <a:r>
              <a:t>定位：代码与数据哈希、source/python-output、成果台账、登记材料核对；无登记申请或证书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国家自然科学基金委员会，关于2026年度项目申请与结题等有关事项的通告，2026-01-14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定位：二（一）1至6与二（二）：报告、附件、成果范围、决算和依托单位；五（二）：生成式AI直接生成报告限制。通告的2026集中期日期不作为下一年度时间要求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为本次实际DOCX经LibreOffice渲染的第一页，不是模拟界面或Agent执行截图。程序解析JSON与CSV，校验来源哈希、复算统计和对应条目，保存计算、证据矩阵、问题及运行记录。没有任意PDF/OCR接入、云端模型调用、自动正式提交或科研签核。Closeout技能定义和本节脚本能力分别说明。Word是AI编写的教学材料核对示例，当前状态materials_review_required。 本轮Word第三页为实际附件目录，完整哈希保存在JSON和CSV。纳入表的csv_physical_line可返回原CSV定位，不能视作个体编号。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本节自编材料核对任务书</a:t>
            </a:r>
          </a:p>
          <a:p xmlns:a="http://schemas.openxmlformats.org/drawingml/2006/main">
            <a:r>
              <a:t>local:training/section-12/closeout-packet/input/taskbook.json</a:t>
            </a:r>
          </a:p>
          <a:p xmlns:a="http://schemas.openxmlformats.org/drawingml/2006/main">
            <a:r>
              <a:t>定位：M1来源与筛选，M2分组均值，M3个体与抽样资料；借现成数据演示，不是预注册研究目标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通告的流程为线上提交报告与附件，基金委审核后下载最终PDF，负责人签字向单位提交纸质原件并保证版本一致，依托单位还须按要求审核和报送。这里压缩成责任与版本关系图，具体系统步骤、纸质要求和日期以适用通知为准，不将2026集中期日期当成下一年度要求。AI可检查文件版本与附件缺失，不能代替负责人和依托单位作出正式确认。本例文件未报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国家自然科学基金委员会，关于2026年度项目申请与结题等有关事项的通告，2026-01-14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定位：二（一）1至6与二（二）：报告、附件、成果范围、决算和依托单位；五（二）：生成式AI直接生成报告限制。通告的2026集中期日期不作为下一年度时间要求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HaDEA，REPA Reporting and Payment Webinar，26 March 2025</a:t>
            </a:r>
          </a:p>
          <a:p xmlns:a="http://schemas.openxmlformats.org/drawingml/2006/main">
            <a:r>
              <a:t>https://hadea.ec.europa.eu/document/download/1e773e0c-f2ab-44db-9f80-c7a02cc75bb4_en?filename=REPA+-+Webinar+-+March+2025.pdf</a:t>
            </a:r>
          </a:p>
          <a:p xmlns:a="http://schemas.openxmlformats.org/drawingml/2006/main">
            <a:r>
              <a:t>定位：已逐页查看PDF物理页75、97、98、102、104；采用持续记录、材料分工与报告汇总讲法，不照搬CEF制度或截图作为中国系统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b6ad07aa2a437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99fca2389e4cc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1d5d4185854dd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68dfd055fa400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63fbbee67d4b1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2aa78f809346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96A05A-D1AE-4D03-94FF-F44F19A424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2B6B511-35BF-4E0B-A8C0-4E9866A29EB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CB55AE0-7F8C-4E6D-932C-DC1331DB7C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C0815D-F636-4DD0-958F-B06E83E204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2D161C6-306B-4BED-975A-4731F267E6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0E32C93-E865-4D59-87BF-BE8188CBF3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356A12-AA7E-4B7E-BEDF-91A2A48C3D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7A43066-100F-4BB4-A74C-734878F82B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DFBCBC-10FA-4431-ABE5-CC9C207D9E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E6FEC9A-4DB3-481B-95F1-A6919D35A2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49edddaa69415f" /><Relationship Type="http://schemas.openxmlformats.org/officeDocument/2006/relationships/slideLayout" Target="/ppt/slideLayouts/slideLayout1.xml" Id="Rd857dedece6245ae" /><Relationship Type="http://schemas.openxmlformats.org/officeDocument/2006/relationships/slideLayout" Target="/ppt/slideLayouts/slideLayout2.xml" Id="Rc7aba5227a924650" /><Relationship Type="http://schemas.openxmlformats.org/officeDocument/2006/relationships/slideLayout" Target="/ppt/slideLayouts/slideLayout3.xml" Id="R798efb4da755461a" /><Relationship Type="http://schemas.openxmlformats.org/officeDocument/2006/relationships/slideLayout" Target="/ppt/slideLayouts/slideLayout4.xml" Id="Red3e79e7874b46df" /><Relationship Type="http://schemas.openxmlformats.org/officeDocument/2006/relationships/slideLayout" Target="/ppt/slideLayouts/slideLayout5.xml" Id="R861c2807df6a4e61" /><Relationship Type="http://schemas.openxmlformats.org/officeDocument/2006/relationships/slideLayout" Target="/ppt/slideLayouts/slideLayout6.xml" Id="Rdfaa81971c784c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57dedece6245ae"/>
    <p:sldLayoutId xmlns:r="http://schemas.openxmlformats.org/officeDocument/2006/relationships" id="2147483650" r:id="Rc7aba5227a924650"/>
    <p:sldLayoutId xmlns:r="http://schemas.openxmlformats.org/officeDocument/2006/relationships" id="2147483651" r:id="R798efb4da755461a"/>
    <p:sldLayoutId xmlns:r="http://schemas.openxmlformats.org/officeDocument/2006/relationships" id="2147483652" r:id="Red3e79e7874b46df"/>
    <p:sldLayoutId xmlns:r="http://schemas.openxmlformats.org/officeDocument/2006/relationships" id="2147483653" r:id="R861c2807df6a4e61"/>
    <p:sldLayoutId xmlns:r="http://schemas.openxmlformats.org/officeDocument/2006/relationships" id="2147483654" r:id="Rdfaa81971c784c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ee9b2030664dce" /><Relationship Type="http://schemas.openxmlformats.org/officeDocument/2006/relationships/notesSlide" Target="/ppt/notesSlides/notesSlide1.xml" Id="R1f04137e8ded45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48be0812b643a6" /><Relationship Type="http://schemas.openxmlformats.org/officeDocument/2006/relationships/notesSlide" Target="/ppt/notesSlides/notesSlide2.xml" Id="R4c500258b4cb47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e64f75520f40a2" /><Relationship Type="http://schemas.openxmlformats.org/officeDocument/2006/relationships/notesSlide" Target="/ppt/notesSlides/notesSlide3.xml" Id="R92db5cec597343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1c04aa5d2a4320" /><Relationship Type="http://schemas.openxmlformats.org/officeDocument/2006/relationships/notesSlide" Target="/ppt/notesSlides/notesSlide4.xml" Id="R5ea911f84ce549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dc66930d454f52" /><Relationship Type="http://schemas.openxmlformats.org/officeDocument/2006/relationships/notesSlide" Target="/ppt/notesSlides/notesSlide5.xml" Id="R909ff03e2b034a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0fbff408ea4aae" /><Relationship Type="http://schemas.openxmlformats.org/officeDocument/2006/relationships/chart" Target="/ppt/slides/charts/chart1.xml" Id="R9449ee703df943ef" /><Relationship Type="http://schemas.openxmlformats.org/officeDocument/2006/relationships/notesSlide" Target="/ppt/notesSlides/notesSlide6.xml" Id="R569bb6fdd9d844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5d194435124011" /><Relationship Type="http://schemas.openxmlformats.org/officeDocument/2006/relationships/notesSlide" Target="/ppt/notesSlides/notesSlide7.xml" Id="Ra56fd8ec1ab44b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965f74a0ea4864" /><Relationship Type="http://schemas.openxmlformats.org/officeDocument/2006/relationships/notesSlide" Target="/ppt/notesSlides/notesSlide8.xml" Id="R9061889ac2da4f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ad200f76d84028" /><Relationship Type="http://schemas.openxmlformats.org/officeDocument/2006/relationships/image" Target="/ppt/media/image.png" Id="R8728094ab0c4460a" /><Relationship Type="http://schemas.openxmlformats.org/officeDocument/2006/relationships/notesSlide" Target="/ppt/notesSlides/notesSlide9.xml" Id="Rcc41741b8b3145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9979c4a6b34b6f" /><Relationship Type="http://schemas.openxmlformats.org/officeDocument/2006/relationships/notesSlide" Target="/ppt/notesSlides/notesSlide10.xml" Id="Rfe4c7d8a832144a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>
                <a:latin typeface="Microsoft YaHei"/>
                <a:ea typeface="Microsoft YaHei"/>
                <a:cs typeface="Microsoft YaHei"/>
              </a:rPr>
              <a:t>Adelie所选记录的平均鳍长（mm）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平均鳍长（mm）</c:v>
          </c:tx>
          <c:spPr>
            <a:solidFill xmlns:a="http://schemas.openxmlformats.org/drawingml/2006/main">
              <a:srgbClr val="245B77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雌性 n=73</c:v>
                </c:pt>
                <c:pt idx="1">
                  <c:v>雄性 n=73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187.794520548</c:v>
                </c:pt>
                <c:pt idx="1">
                  <c:v>192.410958904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FD943E-E4ED-48F9-B70F-888EE91652AB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BDE47B-181A-47DC-8928-643D42759DC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74771A-FD41-4414-AB2E-E64C27635E0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59400B-783A-4DFC-A7C3-BAA20109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4587F-2A88-4AB8-B53F-9AFBD1FE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项目执行与结题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0E9D8-876F-4AE6-A8B0-7D9FE213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073A3-189D-45D6-927A-776036E0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任务书提出的每项要求，都应找到过程记录、实际成果和可定位的证明材料。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325FD-734D-468E-8625-8DEC7473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任务与完成判据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F430C-D8B6-4F38-819C-4B4BBDF2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过程记录及变更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89B26-E515-48F9-93AF-27C2A4E9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成果与证明材料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536934-D46A-43F2-9F65-ADE3BE13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结题材料与归档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055C63-96D0-4450-BD1E-2921F1B4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以任务书和获批版本为准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7120C6-03E6-4D2B-BE33-152C82CC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4825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数据、方法、偏差和处理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218FE5-953D-4AD6-8764-287D3054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4825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逐项定位，保留缺口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820B0B-7F5F-44E1-8F29-1CFC0497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4825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负责人和单位按规定核对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37E8BD-18F9-470D-9E17-1757C21F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本节案例：公开数据能复算到哪里，结题材料就据此写到哪里。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910EC0-84CC-4EBC-A2F4-3393805E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贯穿案例：企鹅公开数据复核。任务书为教学自编，数据与计算分别留证。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5A7570-C4A1-4F38-951E-5355AA66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来源：HaDEA 2025原始课件 pp.97–98/102/104；自编教学任务书，非基金任务书；palmerpenguins公开数据，课程二次计算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0063F0-7B87-45BF-BC2D-D911F2C6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879738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9DEC14-70B2-4653-B1C4-D87FFCC4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EC7EA-7613-4D9C-81F0-6CE787BF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国自然结题材料的使用边界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D655A-A6B6-441C-A897-B066203D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8B094-6E86-42DB-8984-51D8EC29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2026年通告要求据实报告，不得使用生成式AI直接生成的项目进展和结题报告。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903A1-502F-4A6F-BD42-F3AB9FAC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报告的事实依据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2A1A8-F7FC-4A27-9E2F-769FB9D2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负责人核对数据、成果与项目关联，按要求整理正文和附件。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D402C-DE3C-42F9-B1B7-6BEAA36F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F7BEC-A1A5-463B-8693-1D246C84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成果列入的条件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D9BF48-5C13-467B-BE96-25A28403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24375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核对发表状态、项目参与者、时间、资助标注与项目相关性。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47DC2-37E0-4890-82AA-E688CA62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52EA6F-4C37-4967-9B37-4F2661B2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AI辅助的范围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2C2937-5579-4BF4-AC1F-50489563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9055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定位资料、复算数字、检查缺项。正式报告由负责人依据真实材料撰写。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7DEE6F-9BD8-44F8-BE5B-FB620746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79BE0-E111-4676-9BCC-C22B4AA3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本节Word是材料核对教学示例，不作为国家自然科学基金正式结题报告提交。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D6E853-4F9A-421A-837C-BAFB1B02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来源：NSFC 2026通告，二、五部分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2CCA6B-41CA-4EA1-BB16-486E91AC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355416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65B5A-F386-4B82-86C0-CC9E08DE584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6BA4D-7F18-4045-BDB3-5FEA7DB5574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D26A86-BA5C-4BAA-9B03-2D3FDD98594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74CE02-23EE-4232-94AA-8862E087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E2D59-E8C7-4B87-806C-8E4614C1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项目进度与阶段检查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8CCEE-E548-4E93-9BA2-CF39FB3C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D44F8-5EA8-4CCC-BD95-D28EBD3F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日常记录、进展报告和阶段检查应对照同一任务基线，及时发现偏差。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D1F7B-6FDA-461A-9982-BD8FF7A6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立项时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73119-2C04-4883-A92A-E021EF36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执行中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728E0-5566-42E3-8676-303842BE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阶段检查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61FD5-01AE-4238-863A-A0607AC6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结题前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C77D75-FBE3-43A9-8571-9E50EB39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任务要求与完成判据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记录分工及版本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F13E33-7594-4414-A2FF-E50DA439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按要求报进展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保留数据与方法记录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DA1BE-DF4B-406D-BDFD-050C95D2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对照计划检查偏差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办理必要的变更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CC10B4-7997-4CE9-8038-CA5CED4F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逐项核对证明材料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整理正文及附件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834E88-95BA-43A1-A8C5-06C37220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案例当前：数据来源和统计已核，抽样依据待补。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8F52D9-080E-4E98-BDF5-7F2320E4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阶段记录保留问题、影响、处理状态与后续安排，不能只报“进展顺利”。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93B645-D847-4961-9C19-34D43B01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进展报告和中期检查的适用范围、周期与审批方式，以项目规定为准。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A41F14-C44C-4DFD-A1C0-C5EA0F34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来源：HaDEA 2025原始课件 pp.97–98/102/104；NSFC 2026通告，二、五部分；自编教学任务书，非基金任务书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8F5326-DE45-4F25-BF9C-C753E268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307784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45DE8-B798-4F4D-95BF-AC04766E6E4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D4A9C4-497B-431A-A9B4-D56206FCAFC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13F4F2-6522-4FFD-AA3B-421E1ED0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B5FB9-AB14-421B-BBBA-7FB4BD31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过程记录如何保留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63CE1-733A-442D-A69D-35C5EBBF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E22A17-0234-4A3F-BCCC-1AAA890A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每次筛选都保存条件、记录位置和版本，结题时才能解释样本为何变化。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9428D-7345-45A9-9C44-97F834FF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344条公开记录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F9DD9-4BC0-44B6-9CF1-F09CBB14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152条Adelie记录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31438A-4A98-411B-BB56-EC538DF3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146条分析记录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E93643-6702-4BEF-8BBC-65DC024A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00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保存原始文件与来源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8EE30-AAB7-4994-B94B-DF6D5E1E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67250"/>
            <a:ext cx="400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条件：species为Adelie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F4A58D-3768-41FA-993B-76253A70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67250"/>
            <a:ext cx="400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性别和鳍长均有记录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02A4E9-4C9A-49EA-A4AE-844EB086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152条中排除6条缺失记录，保留原CSV行号：5、10、11、12、13、49。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9F8F72-F0D6-46E8-AF61-058B6806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原文件、筛选条件、排除原因和计算程序一起保存。行号用于定位，不是个体编号。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84752C-AA3A-4CB4-B12B-8A2BDE0D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公开项目的原始观测与本课程的二次计算分别登记，保留原始采集者信息。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EBF181-0009-4B31-B2AE-AC83ADD7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来源：palmerpenguins公开数据，课程二次计算；实际本地复算与文件记录，无模型调用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9170B6-7C30-40C2-8FAF-263989F9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760508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A58083-A981-4B2D-8AB2-17F00729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12B6DF-5074-4434-8D45-5E1EF6FE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任务、成果与证据的对应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280297-7FA4-4348-BDDA-8CCD653D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0D516-27B8-4883-A3E5-4BDB6690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每项任务对应到实际附件和具体字段，证据表保留材料已核与待补的区别。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69200-F871-4B3B-9AD0-EDA5DA6E022F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7239000"/>
                <a:gridCol w="2476500"/>
              </a:tblGrid>
              <a:tr h="1047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任务条目</a:t>
                      </a:r>
                    </a:p>
                  </a:txBody>
                  <a:tcPr marL="142875" marR="142875" marT="15240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当前结果与材料定位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材料状态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M1 来源与筛选</a:t>
                      </a:r>
                    </a:p>
                  </a:txBody>
                  <a:tcPr marL="142875" marR="142875" marT="15240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A02来源、A03原始CSV、A05纳入表</a:t>
                      </a:r>
                    </a:p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344条中筛得146条分析记录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材料已核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M2 分组统计</a:t>
                      </a:r>
                    </a:p>
                  </a:txBody>
                  <a:tcPr marL="142875" marR="142875" marT="15240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A04程序、A06计算结果</a:t>
                      </a:r>
                    </a:p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雌雄各73条，雄减雌4.62 mm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材料已核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M3 抽样依据</a:t>
                      </a:r>
                    </a:p>
                  </a:txBody>
                  <a:tcPr marL="142875" marR="142875" marT="15240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A03列名缺个体与抽样字段</a:t>
                      </a:r>
                    </a:p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A08记录待补，当前未判为完成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待补资料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3C7937-8C2A-40DA-A8A1-7B28093E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“材料已核”仅表示列明检查通过，未代表研究者认可科学解释或项目通过验收。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08588-BD49-497D-8F4C-19F6FCAD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来源：自编教学任务书，非基金任务书；实际本地复算与文件记录，无模型调用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64C64C-8C61-4008-82A8-5FC05383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912202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AF98AB-4323-42C5-86E1-9F0BD3E9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C851E-C161-426B-AA87-7F90B2A6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结果段落中的数字与限定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411F3-103D-4EC6-A3A9-EACFD468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AFDEC-3137-4369-99F4-CF27B1D5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结果需要说明分析对象、单位和比较方向，同时保留当前数据不能回答的问题。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1A39AF08-4706-4639-BED5-F96272A2C944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49ee703df943e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306B3-0BA5-42C9-A782-5BA9D3CB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90875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能够据实说明的结果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3D950E-5E2E-429F-9747-CEED3E8D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5715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雌性平均鳍长187.79 mm，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雄性192.41 mm，均值高4.62 mm。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该差值描述本次所选记录。个体重复与采样依赖尚待核对，不能据此解释因果机制。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D03C1-16E1-460C-8F6D-0889794A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所选Adelie记录的描述统计，无因果识别；个体重复和采样依赖仍待核对。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7CA1E-0894-4CB5-A888-569152C6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来源：palmerpenguins公开数据，课程二次计算；实际本地复算与文件记录，无模型调用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FF926D-A8DD-40C9-BF55-82503F84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890190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F1334E-CED4-4D3E-97BF-7CFA686736B7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2477750" y="4191000"/>
            <a:ext cx="0" cy="1619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C0A6C-BC68-4A91-8871-85C9A47243F2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620000" y="4191000"/>
            <a:ext cx="0" cy="1619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52F8B2-09BF-4247-8C6F-A0F40C147F2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762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B52826-EADA-4C4A-8E09-2095B1C2CEC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762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270020-118F-4537-B317-A09505D8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671DE-3E80-49E1-860A-3ECBA7CB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文件完整、数字正确以后，还要核对什么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E5F4D-62A8-48CD-B616-AD5470B1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E7C8DE-166D-4DD8-BF4C-F72DA196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来源和均值已经核对，仍需查看个体标识与采样记录，才能判断分析假设是否适用。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38FCF-7468-4F61-9A9D-880C304A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核对来源与文件版本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354D9A-BE69-41B6-9C91-132152E6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复算筛选与分组均值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B4CE0A-64A6-4EC7-8A61-3C6B9467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继续查个体与采样依据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50C2A1-ACF5-492D-9855-0CFDB261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810250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M1、M2：材料已核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8E0EB3-2541-4709-BC31-B9384C29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810250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M3：仍待补资料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5EDF6-2057-4849-B8F9-B68C81AB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附件A02、A03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来源、许可及原文件哈希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3F5723-EE7E-429A-B457-93BAF7B2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76275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附件A04至A06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146条记录、分组数与差值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7AD4CD-7E21-427F-BB10-9A40B3ED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76275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附件A08登记缺口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不能凭正确均值确认独立性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A18E0C-7AED-497D-B3B7-80C27DEA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当前结论限于所选记录的描述，个体重复、采样依赖和分析假设仍待核。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2482F5-D405-46B4-878F-A8A280A0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来源：自编教学任务书，非基金任务书；实际本地复算与文件记录，无模型调用；HaDEA 2025原始课件 pp.97–98/102/104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BCAC09-F735-4A88-85CA-458E6A50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634596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04E285-A550-45D3-BDC7-988A58733B4E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048000" y="54292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F9088-1B7E-4549-AE5D-CE0A2CF92842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048000" y="404812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6B0C09-1D5B-42BB-9BE7-9A0C7076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3EAF5-4F5C-4FF5-B4BF-2066732E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软件成果的版本、贡献与登记材料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EBF63-F24A-4C08-B1C9-1A67A935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456CB-413A-4D11-95C8-9DB18988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台账先记录实际软件和运行证据，再核对本人贡献、权属及登记材料。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E45DE-D56A-413B-8D84-1CC92261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固定教学代码快照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F4282-28BE-41CD-9906-852039DC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运行同一份公开CSV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FB726-DACD-4AEB-929A-614CA689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48375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整理材料并保留缺口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A7544-A13E-410F-A388-082F8699D16D}"/>
              </a:ext>
            </a:extLst>
          </p:cNvPr>
          <p:cNvGraphicFramePr/>
          <p:nvPr/>
        </p:nvGraphicFramePr>
        <p:xfrm>
          <a:off xmlns:a="http://schemas.openxmlformats.org/drawingml/2006/main" x="6191250" y="3143250"/>
          <a:ext xmlns:a="http://schemas.openxmlformats.org/drawingml/2006/main" cx="828675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905500"/>
              </a:tblGrid>
              <a:tr h="6508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核对项目</a:t>
                      </a:r>
                    </a:p>
                  </a:txBody>
                  <a:tcPr marL="133350" marR="133350" marT="95250" marB="762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SW01当前证据与状态</a:t>
                      </a:r>
                    </a:p>
                  </a:txBody>
                  <a:tcPr marL="133350" marR="133350" marT="95250" marB="762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版本定位</a:t>
                      </a:r>
                    </a:p>
                  </a:txBody>
                  <a:tcPr marL="133350" marR="133350" marT="95250" marB="762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2026-10-19教学快照；哈希随包</a:t>
                      </a:r>
                    </a:p>
                  </a:txBody>
                  <a:tcPr marL="133350" marR="133350" marT="95250" marB="762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实际运行</a:t>
                      </a:r>
                    </a:p>
                  </a:txBody>
                  <a:tcPr marL="133350" marR="133350" marT="95250" marB="762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344条输入，146条纳入，雌雄各73</a:t>
                      </a:r>
                    </a:p>
                  </a:txBody>
                  <a:tcPr marL="133350" marR="133350" marT="95250" marB="762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本人贡献及权属</a:t>
                      </a:r>
                    </a:p>
                  </a:txBody>
                  <a:tcPr marL="133350" marR="133350" marT="95250" marB="762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实际人员、职责和归属尚未确认</a:t>
                      </a:r>
                    </a:p>
                  </a:txBody>
                  <a:tcPr marL="133350" marR="133350" marT="95250" marB="762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所需材料</a:t>
                      </a:r>
                    </a:p>
                  </a:txBody>
                  <a:tcPr marL="133350" marR="133350" marT="95250" marB="762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申请表、程序及文档、相关证明</a:t>
                      </a:r>
                    </a:p>
                  </a:txBody>
                  <a:tcPr marL="133350" marR="133350" marT="95250" marB="762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登记状态</a:t>
                      </a:r>
                    </a:p>
                  </a:txBody>
                  <a:tcPr marL="133350" marR="133350" marT="95250" marB="762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未申请；无登记号或证书</a:t>
                      </a:r>
                    </a:p>
                  </a:txBody>
                  <a:tcPr marL="133350" marR="133350" marT="95250" marB="762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897F3-20D8-414A-9B89-9E99E3B3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经费与资产另按项目要求核对，软件台账不代替财务审核。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8C2DFE-86D2-4DBA-89F0-BFC4C21D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自编教学台账：软件已运行，贡献与权属未确认，未申请登记。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58A19-9216-4707-9222-A1C03F38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来源：HaDEA 2025原始课件 pp.97–98/102/104；国家版权局，软件登记办法第9至11条；软件教学快照、实际输出与待补材料；NSFC 2026通告，二、五部分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AACF7C-4FD3-48F8-B4A6-C9B3244E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421592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57E3F7-F6F5-4F02-80F9-4AAE6FED0AE5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810750" y="53816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DB5246-688C-440B-BB77-3D896B2793CF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810750" y="395287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1FC9D-0B84-4DFD-AB48-E8BFB308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2A62B-5D87-4860-91FE-643219B0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Closeout流程的实际输出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781AB-DDFF-48EF-A774-2340BAB2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751DE4-DE94-4E95-89E3-2ECD6D68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本地程序读取任务要求和CSV，保存146条纳入记录、计算结果、9项附件目录及核对Word。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37181-D0BB-4683-98A4-96200DA958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28094ab0c4460a"/>
          <a:stretch xmlns:a="http://schemas.openxmlformats.org/drawingml/2006/main"/>
        </p:blipFill>
        <p:spPr>
          <a:xfrm xmlns:a="http://schemas.openxmlformats.org/drawingml/2006/main">
            <a:off x="1164648" y="2952750"/>
            <a:ext cx="3385705" cy="4381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1F42A-3152-4662-BEDA-67B7E65F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本次实际生成的Word第1页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C1B3B-97F8-4E5B-BABA-8AA0706D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任务要求与原始CSV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FA3EC4-440E-4855-AE78-9C1D96E8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962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复算数字并逐项对应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12F77-AEE1-4FC9-BD8A-6DC96144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04837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Word、证据表与9项附件目录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4EAFA8-3922-4318-B2C0-53C7E651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7191375"/>
            <a:ext cx="819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附件逐项记录路径与哈希。2项已核，1项待补。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E1834E-C891-454F-9A4D-9D07D27C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真实执行为本节文件程序，无外部模型调用；未表示云端Closeout功能已经运行。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5C3DB1-020C-412C-AE48-2876D812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来源：实际本地复算与文件记录，无模型调用；自编教学任务书，非基金任务书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03EB03-9C66-4CDE-A35A-3A4AC6C9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10005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46E83B-5F0F-4E22-AF02-03166E63E08D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1334750" y="4191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E492B6-A1D5-4301-A408-9678F6EC0F4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72500" y="4191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E78A72-A901-4179-BDBD-3A59088CC88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810250" y="4191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016E8-7637-4C97-B12E-FB3ECFF9972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48000" y="4191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057FBD-FB93-47CD-A8F4-E338F4E9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F6C42-F5A4-49F6-8459-4AA2B1E2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提交、复核与版本一致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8FF967-882C-4DB3-8151-99DA975D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4EEC0-3F9E-4B7B-B0AE-E61C54CC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研究者核对科学内容，单位核对报送材料，提交和归档应保留同一个确认版本。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817FA-F26D-4BE0-82C5-62113B65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负责人核对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0DEA5D-3BCC-45B6-9D62-EBB2F7BE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147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单位线上审核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D04AD-EAEC-4ABD-802C-65649E14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基金委审核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DF54CD-1508-4E98-92E4-008180D1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下载最终PDF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9467D5-61C8-4251-820C-21C93A1A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7147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签字与归档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EA72E1-AE97-4C60-828F-D6C62003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正式报送时，电子版、最终PDF及签字材料应保持版本一致。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AE60AF-7CC9-4D5A-B4EB-D8F1D793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具体步骤和时间以适用通知及单位要求为准。AI整理文件不等于负责人确认或正式签核。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1CDB44-4C90-4827-AE3E-D37300EB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本例只完成材料核对演示，未正式报送、未代签；下一节为科研汇报与成果传播。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0064F6-E4D8-433D-A445-B92BF41E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来源：NSFC 2026通告，二、五部分；实际本地复算与文件记录，无模型调用；HaDEA 2025原始课件 pp.97–98/102/104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D3BD4B-27DF-45F2-9A56-0E23FBF8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115568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2026-10-19T16:22:15.5570000Z</dcterms:created>
  <dcterms:modified xsi:type="dcterms:W3CDTF">2026-10-19T16:22:15.5570000Z</dcterms:modified>
</coreProperties>
</file>