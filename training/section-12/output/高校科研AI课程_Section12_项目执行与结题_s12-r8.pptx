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c1052af8254dff" /><Relationship Type="http://schemas.openxmlformats.org/officeDocument/2006/relationships/extended-properties" Target="/docProps/app.xml" Id="R56759f2cbf9c4696" /><Relationship Type="http://schemas.openxmlformats.org/officeDocument/2006/relationships/officeDocument" Target="/ppt/presentation.xml" Id="Rc6b29d9b328542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3a5abefd0f4658"/>
  </p:sldMasterIdLst>
  <p:notesMasterIdLst>
    <p:notesMasterId xmlns:r="http://schemas.openxmlformats.org/officeDocument/2006/relationships" r:id="Rece53fec18734f11"/>
  </p:notesMasterIdLst>
  <p:sldIdLst>
    <p:sldId xmlns:r="http://schemas.openxmlformats.org/officeDocument/2006/relationships" id="256" r:id="R9e9250e3ddd64d73"/>
    <p:sldId xmlns:r="http://schemas.openxmlformats.org/officeDocument/2006/relationships" id="257" r:id="R97b55a0d263d4345"/>
    <p:sldId xmlns:r="http://schemas.openxmlformats.org/officeDocument/2006/relationships" id="258" r:id="R2e4ad7e7d8cb4df3"/>
    <p:sldId xmlns:r="http://schemas.openxmlformats.org/officeDocument/2006/relationships" id="259" r:id="R3406bfb1a351458d"/>
    <p:sldId xmlns:r="http://schemas.openxmlformats.org/officeDocument/2006/relationships" id="260" r:id="R6cb022450f9c4781"/>
    <p:sldId xmlns:r="http://schemas.openxmlformats.org/officeDocument/2006/relationships" id="261" r:id="Rc167cb27709d4f76"/>
    <p:sldId xmlns:r="http://schemas.openxmlformats.org/officeDocument/2006/relationships" id="262" r:id="R0e1503b56223441f"/>
    <p:sldId xmlns:r="http://schemas.openxmlformats.org/officeDocument/2006/relationships" id="263" r:id="Rc403f29b31004370"/>
    <p:sldId xmlns:r="http://schemas.openxmlformats.org/officeDocument/2006/relationships" id="264" r:id="R3aeca4df4fff481a"/>
    <p:sldId xmlns:r="http://schemas.openxmlformats.org/officeDocument/2006/relationships" id="265" r:id="R267b446dc9d1443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7d3ba389db4080" /><Relationship Type="http://schemas.openxmlformats.org/officeDocument/2006/relationships/slideMaster" Target="/ppt/slideMasters/slideMaster1.xml" Id="Rf73a5abefd0f4658" /><Relationship Type="http://schemas.openxmlformats.org/officeDocument/2006/relationships/notesMaster" Target="/ppt/notesMasters/notesMaster1.xml" Id="Rece53fec18734f11" /><Relationship Type="http://schemas.openxmlformats.org/officeDocument/2006/relationships/presProps" Target="/ppt/presProps.xml" Id="R4368b16cf2e94504" /><Relationship Type="http://schemas.openxmlformats.org/officeDocument/2006/relationships/tableStyles" Target="/ppt/tableStyles.xml" Id="Re502abfa1fcf4db0" /><Relationship Type="http://schemas.openxmlformats.org/officeDocument/2006/relationships/slide" Target="/ppt/slides/slide1.xml" Id="R9e9250e3ddd64d73" /><Relationship Type="http://schemas.openxmlformats.org/officeDocument/2006/relationships/slide" Target="/ppt/slides/slide2.xml" Id="R97b55a0d263d4345" /><Relationship Type="http://schemas.openxmlformats.org/officeDocument/2006/relationships/slide" Target="/ppt/slides/slide3.xml" Id="R2e4ad7e7d8cb4df3" /><Relationship Type="http://schemas.openxmlformats.org/officeDocument/2006/relationships/slide" Target="/ppt/slides/slide4.xml" Id="R3406bfb1a351458d" /><Relationship Type="http://schemas.openxmlformats.org/officeDocument/2006/relationships/slide" Target="/ppt/slides/slide5.xml" Id="R6cb022450f9c4781" /><Relationship Type="http://schemas.openxmlformats.org/officeDocument/2006/relationships/slide" Target="/ppt/slides/slide6.xml" Id="Rc167cb27709d4f76" /><Relationship Type="http://schemas.openxmlformats.org/officeDocument/2006/relationships/slide" Target="/ppt/slides/slide7.xml" Id="R0e1503b56223441f" /><Relationship Type="http://schemas.openxmlformats.org/officeDocument/2006/relationships/slide" Target="/ppt/slides/slide8.xml" Id="Rc403f29b31004370" /><Relationship Type="http://schemas.openxmlformats.org/officeDocument/2006/relationships/slide" Target="/ppt/slides/slide9.xml" Id="R3aeca4df4fff481a" /><Relationship Type="http://schemas.openxmlformats.org/officeDocument/2006/relationships/slide" Target="/ppt/slides/slide10.xml" Id="R267b446dc9d144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290773b3624b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b5add348d44a35" /><Relationship Type="http://schemas.openxmlformats.org/officeDocument/2006/relationships/notesMaster" Target="/ppt/notesMasters/notesMaster1.xml" Id="R4d13448771c54e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2ab43fdb9d4142" /><Relationship Type="http://schemas.openxmlformats.org/officeDocument/2006/relationships/notesMaster" Target="/ppt/notesMasters/notesMaster1.xml" Id="Rcc14b0fa10c842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9edcf0ccf34217" /><Relationship Type="http://schemas.openxmlformats.org/officeDocument/2006/relationships/notesMaster" Target="/ppt/notesMasters/notesMaster1.xml" Id="R61a7428d810840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8bde5671d74511" /><Relationship Type="http://schemas.openxmlformats.org/officeDocument/2006/relationships/notesMaster" Target="/ppt/notesMasters/notesMaster1.xml" Id="Rc800221721e646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558066725e4c38" /><Relationship Type="http://schemas.openxmlformats.org/officeDocument/2006/relationships/notesMaster" Target="/ppt/notesMasters/notesMaster1.xml" Id="R3ac6ac8912e140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efc6adcae94baf" /><Relationship Type="http://schemas.openxmlformats.org/officeDocument/2006/relationships/notesMaster" Target="/ppt/notesMasters/notesMaster1.xml" Id="R00a7681b820346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86c191738d4f1a" /><Relationship Type="http://schemas.openxmlformats.org/officeDocument/2006/relationships/notesMaster" Target="/ppt/notesMasters/notesMaster1.xml" Id="R4016d2a311714a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5a742794ed4469" /><Relationship Type="http://schemas.openxmlformats.org/officeDocument/2006/relationships/notesMaster" Target="/ppt/notesMasters/notesMaster1.xml" Id="R65c34317828142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4171c8f0b04f19" /><Relationship Type="http://schemas.openxmlformats.org/officeDocument/2006/relationships/notesMaster" Target="/ppt/notesMasters/notesMaster1.xml" Id="R23606993753142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513e47302742c8" /><Relationship Type="http://schemas.openxmlformats.org/officeDocument/2006/relationships/notesMaster" Target="/ppt/notesMasters/notesMaster1.xml" Id="Rb64bfd9c4ea344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结题理解为对原定工作逐项交代。先定位项目实际采用的任务书、获批变更和当期填报要求，再检查过程及成果。贯穿案例借企鹅公开数据演示三项材料核对要求，不能说是国家自然科学基金项目、先验注册研究或本课程野外采集。材料核对、科学解释和正式验收分别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用2026年1月14日通告二（一）和五（二）。负责人须保证内容真实、数据准确，注意知识产权；正式报告不能直接复制论文。成果需核对与项目的关联、参与者、时间、发表及资助标注，避免把未正式或在线发表论文等列作成果。不得使用生成式AI直接生成的申请、进展、结题报告，也不能使用未核实内容。因此这里演示检索定位、复算、证据检查与目录整理，不将AI文字包装成正式报送正文。通告对成果和生成内容的要求均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项目以获批任务书及变更版本为基准，执行中保存数据、方法与进度记录，按项目规定报送年度或阶段进展。中期检查如适用，应比较计划、实际成果和仍有的偏差，明确下一步处理及责任，涉及变更的按适用规定办理。结题前逐项整理证据。HaDEA课件97页用时间关系说明持续记录与阶段报告，98页强调里程碑及交付物更新；这里仅借讲法，不照搬CEF周期。NSFC2026通告第三（一）涉及项目进展报告。教学案例目前M1来源筛选和M2分组统计已核，M3抽样依据待补，未虚构负责人、期限、中期审批或实际基金项目。完成判据指用什么材料和方法核对一项工作，后续证据表给出M1至M3的具体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为palmerpenguins的简化CSV。按species选Adelie，再保留sex为female或male且flipper_length_mm非缺失的记录。152中排除6条，原CSV物理行号5、10、11、12、13、49，其中第1行是表头，行号不等于个体编号。必须保留原文件和来源哈希，不能覆盖。此处只做缺失字段筛选，不按结果好坏删除数据，也未因异常值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程序实际读CSV并复算，不只检查文件是否存在。M1和M2为VERIFIED，中文材料已核；M3为PENDING，中文待补资料。UNSUPPORTED指某个说法没有证据支持，例如把公开数据说成自己采集。材料存在、内容可复算和结论有效是不同层面。证据表随CSV及JSON保留，定位可回到源文件与计算字段。 本轮附件目录登记9个实际文件的路径、大小及SHA-256；A01为自编要求，A02来源，A03原CSV，A04执行器，A05纳入行，A06计算，A07证据表，A08问题，A09排除主张。编号用于定位，不表示证据充分。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独立复算：146条Adelie记录，雌雄各73。平均鳍长雌性187.7945205毫米，雄性192.4109589毫米，雄减雌4.6164384毫米，显示两位小数。图采用0起点避免夸大均值比例。该描述限于当前筛选记录，不能推断性别的因果机制，不能把简化记录的独立性当成已确认。这里的例句用于教学说明数据表达，不作为国自然正式报告的AI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3缺口来自简化CSV没有个体标识与抽样设计，不等于原项目没有这些资料。后续需回原始数据和采样说明核对重复测量与独立性，必要时调整分析。当前保留PENDING。若有人提出课程自采数据或已证因果机制，则标UNSUPPORTED并从成果叙述排除。实际项目如发生目标、人员、合作或技术路线等变更，按适用规定查批复与版本，不能靠改结题文字消除偏差。 图中前三步表示材料核对顺序。文件哈希固定版本，数值复算核对计算；个体重复、采样依赖与科学外推需另外审查，当前未通过该项。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本页SW01取自课程Section 7描述统计脚本，按本轮快照实际执行，输入344条、纳入146条、雌雄各73；代码、输入、输出和哈希在software-packet。教学快照不作为软件开发完成日期、著作权人或登记软件版本认定。贡献与权属材料尚缺，不补填人员或单位，不将Codex写为法律作者。本页借国家版权局办法第九至十一条说明申请表、程序及文档、相关证明三类材料；实际只提供短脚本和教学功能说明，未填官方申请表或制作正式交存页。没有申请、登记号或证书。成果台账另区分外部Gorman论文与Section 11交底教学草稿，均不计为本人的论文或专利成果。内部整理和软件登记结果不同，项目关联、本人贡献及成果计入要求另按真实材料确认。经费与资产仍须由负责人会同科研、财务、资产部门核对，账目、决算、合作单位和资产材料不被软件台账代替。本案例无实际经费，不填写金额或宣称财务审核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国家版权局《计算机软件著作权登记办法》</a:t>
            </a:r>
          </a:p>
          <a:p xmlns:a="http://schemas.openxmlformats.org/drawingml/2006/main">
            <a:r>
              <a:t>https://www.ncac.gov.cn/xxfb/flfg/bmgz/202410/t20241015_869486.html</a:t>
            </a:r>
          </a:p>
          <a:p xmlns:a="http://schemas.openxmlformats.org/drawingml/2006/main">
            <a:r>
              <a:t>定位：2026-10-19读第四、七至十一、二十条；材料类别和状态区分，不判断本例适格性、贡献或权属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本轮软件教学快照与实际执行</a:t>
            </a:r>
          </a:p>
          <a:p xmlns:a="http://schemas.openxmlformats.org/drawingml/2006/main">
            <a:r>
              <a:t>local:training/section-12/software-packet/snapshot.json</a:t>
            </a:r>
          </a:p>
          <a:p xmlns:a="http://schemas.openxmlformats.org/drawingml/2006/main">
            <a:r>
              <a:t>定位：代码与数据哈希、source/python-output、成果台账、登记材料核对；无登记申请或证书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为本次实际DOCX经LibreOffice渲染的第一页，不是模拟界面或Agent执行截图。程序解析JSON与CSV，校验来源哈希、复算统计和对应条目，保存计算、证据矩阵、问题及运行记录。没有任意PDF/OCR接入、云端模型调用、自动正式提交或科研签核。Closeout技能定义和本节脚本能力分别说明。Word是AI编写的教学材料核对示例，当前状态materials_review_required。 本轮Word第三页为实际附件目录，完整哈希保存在JSON和CSV。纳入表的csv_physical_line可返回原CSV定位，不能视作个体编号。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通告的流程为线上提交报告与附件，基金委审核后下载最终PDF，负责人签字向单位提交纸质原件并保证版本一致，依托单位还须按要求审核和报送。这里压缩成责任与版本关系图，具体系统步骤、纸质要求和日期以适用通知为准，不将2026集中期日期当成下一年度要求。AI可检查文件版本与附件缺失，不能代替负责人和依托单位作出正式确认。本例文件未报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4c4005e4a40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86a3a484948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2ed46e8e749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c6e34440049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89fe3673b4f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3ae2560af49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2344E9-65CF-4518-8A68-615B0CC3F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F01744-1296-4504-80F7-0B0435A218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2169D6-7E9D-4AB9-B7FC-CD074A627F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0BF512-FF55-4695-84A1-684414694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191F05-96D7-4E1B-B660-2B960B7304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33BE9D-AF58-4802-8B83-14AE573B6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5BF25D-A9DC-4318-ACCA-7A236063B2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0036B5-D5D4-4EAC-8579-FB1FB13372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5206FF-1311-446E-B416-B818B08EF9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08CAB8-82E8-4616-B52B-7E7BFBF611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cea5bdedc54065" /><Relationship Type="http://schemas.openxmlformats.org/officeDocument/2006/relationships/slideLayout" Target="/ppt/slideLayouts/slideLayout1.xml" Id="R216bee3abd364cfb" /><Relationship Type="http://schemas.openxmlformats.org/officeDocument/2006/relationships/slideLayout" Target="/ppt/slideLayouts/slideLayout2.xml" Id="Re7e9685bf5dd4344" /><Relationship Type="http://schemas.openxmlformats.org/officeDocument/2006/relationships/slideLayout" Target="/ppt/slideLayouts/slideLayout3.xml" Id="R8789bbddfe3f45f6" /><Relationship Type="http://schemas.openxmlformats.org/officeDocument/2006/relationships/slideLayout" Target="/ppt/slideLayouts/slideLayout4.xml" Id="Re712f0cca5b34d18" /><Relationship Type="http://schemas.openxmlformats.org/officeDocument/2006/relationships/slideLayout" Target="/ppt/slideLayouts/slideLayout5.xml" Id="R47f637acd0524245" /><Relationship Type="http://schemas.openxmlformats.org/officeDocument/2006/relationships/slideLayout" Target="/ppt/slideLayouts/slideLayout6.xml" Id="R53aedb7de9af4e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6bee3abd364cfb"/>
    <p:sldLayoutId xmlns:r="http://schemas.openxmlformats.org/officeDocument/2006/relationships" id="2147483650" r:id="Re7e9685bf5dd4344"/>
    <p:sldLayoutId xmlns:r="http://schemas.openxmlformats.org/officeDocument/2006/relationships" id="2147483651" r:id="R8789bbddfe3f45f6"/>
    <p:sldLayoutId xmlns:r="http://schemas.openxmlformats.org/officeDocument/2006/relationships" id="2147483652" r:id="Re712f0cca5b34d18"/>
    <p:sldLayoutId xmlns:r="http://schemas.openxmlformats.org/officeDocument/2006/relationships" id="2147483653" r:id="R47f637acd0524245"/>
    <p:sldLayoutId xmlns:r="http://schemas.openxmlformats.org/officeDocument/2006/relationships" id="2147483654" r:id="R53aedb7de9af4e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6d6054cdee435a" /><Relationship Type="http://schemas.openxmlformats.org/officeDocument/2006/relationships/notesSlide" Target="/ppt/notesSlides/notesSlide1.xml" Id="Rcbe666769f7e41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5dbb25c61848ed" /><Relationship Type="http://schemas.openxmlformats.org/officeDocument/2006/relationships/notesSlide" Target="/ppt/notesSlides/notesSlide2.xml" Id="Rf2a7687a419543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778be7a024a59" /><Relationship Type="http://schemas.openxmlformats.org/officeDocument/2006/relationships/notesSlide" Target="/ppt/notesSlides/notesSlide3.xml" Id="R5472d32c307843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06a7f254b2405e" /><Relationship Type="http://schemas.openxmlformats.org/officeDocument/2006/relationships/notesSlide" Target="/ppt/notesSlides/notesSlide4.xml" Id="R8946ad15ba644a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994425fa9442d" /><Relationship Type="http://schemas.openxmlformats.org/officeDocument/2006/relationships/notesSlide" Target="/ppt/notesSlides/notesSlide5.xml" Id="Rc20554f97f9b47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d1e13c9712419e" /><Relationship Type="http://schemas.openxmlformats.org/officeDocument/2006/relationships/chart" Target="/ppt/slides/charts/chart1.xml" Id="R4c36105a701544c2" /><Relationship Type="http://schemas.openxmlformats.org/officeDocument/2006/relationships/notesSlide" Target="/ppt/notesSlides/notesSlide6.xml" Id="Rcbe308a5c1d14f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984198d114fae" /><Relationship Type="http://schemas.openxmlformats.org/officeDocument/2006/relationships/notesSlide" Target="/ppt/notesSlides/notesSlide7.xml" Id="R5f4ffae1095947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f00f659ea84668" /><Relationship Type="http://schemas.openxmlformats.org/officeDocument/2006/relationships/notesSlide" Target="/ppt/notesSlides/notesSlide8.xml" Id="Red2c8477dd8f44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0597bf2bf14ba4" /><Relationship Type="http://schemas.openxmlformats.org/officeDocument/2006/relationships/image" Target="/ppt/media/image.png" Id="R684fef5358444275" /><Relationship Type="http://schemas.openxmlformats.org/officeDocument/2006/relationships/notesSlide" Target="/ppt/notesSlides/notesSlide9.xml" Id="Rf8ee4e6f10b347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e81435ea0477f" /><Relationship Type="http://schemas.openxmlformats.org/officeDocument/2006/relationships/notesSlide" Target="/ppt/notesSlides/notesSlide10.xml" Id="R7b6eea635020408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latin typeface="Microsoft YaHei"/>
                <a:ea typeface="Microsoft YaHei"/>
                <a:cs typeface="Microsoft YaHei"/>
              </a:rPr>
              <a:t>Adelie所选记录的平均鳍长（mm）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平均鳍长（mm）</c:v>
          </c:tx>
          <c:spPr>
            <a:solidFill xmlns:a="http://schemas.openxmlformats.org/drawingml/2006/main">
              <a:srgbClr val="245B7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雌性 n=73</c:v>
                </c:pt>
                <c:pt idx="1">
                  <c:v>雄性 n=73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23140-1DEE-4D9E-8C2A-60D4A60F54D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89C76-2FAD-4976-B1DC-BCD15D83C98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12CC1-DABA-4F23-ACC4-4277F214F30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7BAA0-29F8-4692-8C79-1E168966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26AF8-A5A5-46BC-AA89-71A6C0B8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项目执行与结题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B4660-A449-4152-8151-CE7B80B3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9F630-DDCB-488F-8D66-8C687A45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任务书提出的每项要求，都应找到过程记录、实际成果和可定位的证明材料。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537E2-2981-42D3-9475-A6308E56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任务与完成判据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44487-0DB8-41C6-B684-25E0D03B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过程记录及变更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02DD3-E4AE-455E-B725-C16FA3B9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成果与证明材料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FA41F-DDA5-4AE0-BA3F-FC56384B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结题材料与归档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3162A-3B2C-49E0-932D-1689ADEB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以任务书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和获批版本为准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7E705-E69A-41DF-86EF-738F02DC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数据与方法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偏差和处理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C732D-3F99-4698-A34C-4E8D55A3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逐项定位，保留缺口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3F086-4D70-4054-A31D-171F660B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负责人和单位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按规定核对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D2AC8-0ECD-4B8B-B1D8-10C683C7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本节案例：公开数据能复算到哪里，结题材料就据此写到哪里。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55D9B-D539-4899-9EFF-D494FBA4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贯穿案例：企鹅公开数据复核。任务书为教学自编，数据与计算分别留证。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E5452-76B8-4EA6-A16D-2B2C9DD9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pp.97–98/102/104；自编教学任务书，非基金任务书；palmerpenguins公开数据，课程二次计算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C4835-F45B-47AB-8319-59CE0D1C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742929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E88B6-5CD4-4D4C-9131-47463E70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82E7E-B7A8-4114-8666-8DA7E325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国自然结题材料的使用边界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D7AB2-B666-42CF-AAF1-A63F6345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E0838-749D-471A-AB04-05645F70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2026年通告要求据实报告，不得使用生成式AI直接生成的项目进展和结题报告。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CF556-D391-4D11-881A-780FFF67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报告的事实依据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FF024-C33B-43DE-9A1A-2A1D5C45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负责人核对数据、成果与项目关联，按要求整理正文和附件。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5D9A8-E0F5-49EF-A49C-B7688045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81773-6C5B-4632-A76B-2CE45700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成果列入的条件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7E0BE-1862-48A2-B32B-D39C9E99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核对发表状态、项目参与者、时间、资助标注与项目相关性。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C9E03-F662-4538-8672-6374411D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6241D-856C-4DD2-8B73-D890C0A5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AI辅助的范围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A1DD9-6FF1-4EA5-BB78-B21DBA5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定位资料、复算数字、检查缺项。正式报告由负责人依据真实材料撰写。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C5442-82DF-4BC1-85A3-930BB67B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A9C36-7798-495B-9569-B99F64D1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本节Word是材料核对教学示例，不作为国家自然科学基金正式结题报告提交。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6DD56-122F-45FA-AA42-AEBFF38B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来源：NSFC 2026通告，二、五部分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CB831-6686-48EB-9945-41489958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4641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9CCD8-4FEE-47F1-9B96-16E008C9D97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71291-06CA-47F9-9774-CD2A1F9CAED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A6961-CE0D-4FE7-AC12-CC46D64F59F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85C1B-BA29-4C66-9C66-CAC06509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C15FD-03E9-482C-BDDB-7BC8212D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项目进度与阶段检查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BCC99-BC03-4C13-A445-6A98136E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A43E2-C9BA-4439-BCAF-271AC7AA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日常记录、进展报告和阶段检查应对照同一任务基线，及时发现偏差。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02B81-2461-4CC9-9F52-4FA6C1CD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BAFF6-FE8C-4BFF-9BCC-7A4E5A67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A4B3B-CBF2-42DF-9063-9E9C0331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阶段检查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B1444-44DD-4389-BB91-437C29F6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结题前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04C3C-B5A2-47D7-83D0-BA4A018F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任务要求与完成判据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记录分工及版本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CF145-D583-40F9-A997-FD6564D5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按要求报进展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保留数据与方法记录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45888-6C4E-41C2-A4AE-79B6B101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对照计划检查偏差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办理必要的变更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6221B-0179-4E7F-A763-1D2A1DF9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逐项核对证明材料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整理正文及附件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8851D-9C91-4376-BA91-ECD4918D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案例当前：数据来源和统计已核，抽样依据待补。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786AE-22B5-44E6-AC87-992FB46F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阶段记录保留问题、影响、处理状态与后续安排，不能只报“进展顺利”。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1055E-68B6-4CE8-86C5-3206B6AD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进展报告和中期检查的适用范围、周期与审批方式，以项目规定为准。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3A2EA-030A-440C-BCCC-72AB693A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pp.97–98/102/104；NSFC 2026通告，二、五部分；自编教学任务书，非基金任务书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C99DF-4E7A-4E84-BA50-F9722069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26258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4AED8-724D-4713-87C7-B5CD23F79AF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F0B62-2251-4E91-A672-17B7DBE99B8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EB8EC-53FD-478E-9B1E-EB9D7239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01735-FE64-46CF-BB64-A2C63882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过程记录如何保留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8732B-3776-4BE4-B1BF-CD483F0B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F850C-A363-4E32-AB60-79CB2534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每次筛选都保存条件、记录位置和版本，结题时才能解释样本为何变化。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70617-59F8-4320-B038-77343547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344条公开记录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0FDE5-9602-4C5F-962D-416AC77A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152条Adelie记录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BD99B-D98C-4D0C-AA71-8D544346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146条分析记录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5DED1-D61F-4150-8B4B-D207B320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保存原始文件与来源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B3062-0D13-45FF-B901-EBB7FC11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条件：species为Adelie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A81DA-4175-4E20-9EA2-5CA6BFD3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性别和鳍长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均有记录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5548C-F8BB-4324-A130-275A958F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152条中排除6条缺失记录，保留原CSV行号：5、10、11、12、13、49。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741A7-380F-4226-9DF2-CA67C65E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原文件、筛选条件、排除原因和计算程序一起保存。行号用于定位，不是个体编号。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3B75B-E665-423C-B884-AEC00D88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公开项目的原始观测与本课程的二次计算分别登记，保留原始采集者信息。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759A4-2CFC-4513-A0AD-F3BBA9F1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来源：palmerpenguins公开数据，课程二次计算；实际本地复算与文件记录，无模型调用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E5398-596F-450A-9B42-DE91225E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0345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94501-B3E4-4D49-98A7-A8862D57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EE330-9B07-4EC0-A6C9-1DB0DFA5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任务、成果与证据的对应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F4075-1A16-4F54-A03E-DF5350BB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E5D1B-E5D6-495D-BA98-3EBF6F0E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每项任务对应到实际附件和具体字段，证据表保留材料已核与待补的区别。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C9AA2-8168-4D79-BEE9-822A645B6871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239000"/>
                <a:gridCol w="247650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任务条目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当前结果与材料定位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材料状态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来源与筛选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A02来源、A03原始CSV、A05纳入表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344条中筛得146条分析记录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材料已核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分组统计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A04程序、A06计算结果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雌雄各73条，雄减雌4.62 mm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材料已核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抽样依据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A03列名缺个体与抽样字段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A08记录待补，当前未判为完成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待补资料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8AFE2-83B9-4E72-921F-72672F7D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“材料已核”仅表示列明检查通过，未代表研究者认可科学解释或项目通过验收。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6F81D-8D44-4199-9ECB-B683E891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来源：自编教学任务书，非基金任务书；实际本地复算与文件记录，无模型调用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F16A3-88E6-44FA-AE1C-91885928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02121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EB60F-BB54-4925-8F32-361EE1EF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D62BF-DE23-4B21-9ED7-5E193E4C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结果段落中的数字与限定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9C2CB-2478-40E3-81D2-EE4D89C2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3B17B-B332-42F6-8EB2-3014B769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结果需要说明分析对象、单位和比较方向，同时保留当前数据不能回答的问题。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236E18E-7A9D-491D-9A1F-F90DC45A3C1C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36105a701544c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CB71E-85E5-4627-BCF2-F9E265E9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能够据实说明的结果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1B410-9A58-498B-9D52-D3A137FE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5715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雌性平均鳍长187.79 mm，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雄性192.41 mm，均值高4.62 mm。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该差值描述本次所选记录。个体重复与采样依赖尚待核对，不能据此解释因果机制。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1DDE4-1FD7-46D6-85D9-F7897741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所选Adelie记录的描述统计，无因果识别；个体重复和采样依赖仍待核对。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108B0-2E6F-4E02-A8F6-C4B3429B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来源：palmerpenguins公开数据，课程二次计算；实际本地复算与文件记录，无模型调用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04A01-2793-4BD9-9C2F-9146E6E6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99767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3A1BF-2B45-4ED1-B4DA-C5DEFC1DCB3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477750" y="4191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3F331-AD4F-4633-B049-71441F285D4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4191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12E97-1023-472F-80C0-37EDBD4FC0A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4C594-289C-4477-B4A8-BF629B27B27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DB99C-DE83-4B44-A1B2-B343522C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7B190-A5C4-4739-97DE-361DA338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文件完整、数字正确以后，还要核对什么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3CF9F-3B34-49B7-BBDD-F52FF94F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34823-9393-494E-B13B-9EA1539A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来源和均值已经核对，仍需查看个体标识与采样记录，才能判断分析假设是否适用。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5BA70-D801-4686-9DFD-D366FC0F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核对来源与文件版本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0C8CE-247E-4771-B018-333EA585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复算筛选与分组均值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9580D-219C-4A4B-97FA-30695F75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继续查个体与采样依据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5F2DF-4648-405D-BD38-83B13BF4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1025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M1、M2：材料已核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C044C-2E42-4E03-B4F4-EC0E7751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81025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M3：仍待补资料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F287B-A011-48FF-AE4B-AC85356F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附件A02、A03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来源、许可及原文件哈希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D1718-8183-4581-8CA0-40BF1FB6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762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附件A04至A06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146条记录、分组数与差值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B0E8A-744F-4416-AA9D-F86FFE0B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762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附件A08登记缺口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不能凭正确均值确认独立性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66D21-0CCC-4AAA-88C6-32013B92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当前结论限于所选记录的描述，个体重复、采样依赖和分析假设仍待核。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06D6B-1E37-4B77-BA9C-219197F7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来源：自编教学任务书，非基金任务书；实际本地复算与文件记录，无模型调用；HaDEA 2025原始课件 pp.97–98/102/104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4F19F-AFD3-4663-93F0-24A41D63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65693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86D8F-ADFC-4904-AE5D-E89930C3086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048000" y="5429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EA358-F68B-4515-87B2-0F8DAB7D506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048000" y="4048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DA944-A377-46ED-98E1-180E0381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9FC75-FD62-4ACC-9F5E-FE4C7F11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软件成果的版本、贡献与登记材料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FFBBD-72A7-4E23-B8D5-A538FCCF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F87C5-4B89-4CA2-855B-1E0E6211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台账先记录实际软件和运行证据，再核对本人贡献、权属及登记材料。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29393-99CE-4845-A606-F5E5C198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固定教学代码快照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2B05E-1669-4BF4-9D65-D7BFE79C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运行同一份公开CSV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4F41B-AB79-4330-8384-E31568BE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整理材料并保留缺口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B7587-244B-4F75-BB72-2E956F4B4D02}"/>
              </a:ext>
            </a:extLst>
          </p:cNvPr>
          <p:cNvGraphicFramePr/>
          <p:nvPr/>
        </p:nvGraphicFramePr>
        <p:xfrm>
          <a:off xmlns:a="http://schemas.openxmlformats.org/drawingml/2006/main" x="6191250" y="3143250"/>
          <a:ext xmlns:a="http://schemas.openxmlformats.org/drawingml/2006/main" cx="8286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905500"/>
              </a:tblGrid>
              <a:tr h="650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核对项目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SW01当前证据与状态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版本定位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2026-10-19教学快照；哈希随包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实际运行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344条输入，146条纳入，雌雄各73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本人贡献及权属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实际人员、职责和归属尚未确认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所需材料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申请表、程序及文档、相关证明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登记状态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未申请；无登记号或证书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232A3-7DD7-4781-96D0-21177495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经费与资产另按项目要求核对，软件台账不代替财务审核。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199B8-AFD5-43E9-8F6B-B495B720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自编教学台账：软件已运行，贡献与权属未确认，未申请登记。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1A091-D4B8-4EE4-89DA-4E32E4F7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pp.97–98/102/104；国家版权局，软件登记办法第9至11条；软件教学快照、实际输出与待补材料；NSFC 2026通告，二、五部分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FD1AF-6F6E-418C-AAAC-0AB34B2B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69889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54864-DA22-45CF-8D3F-E32BD76E8FF1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10750" y="5381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28BF4-8C29-4321-97BA-9FE54F467DF3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10750" y="39528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985DC-8F48-4D45-9926-154AB632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6D2F5-D507-4C54-B910-59949C21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Closeout流程的实际输出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A3749-2295-437E-9B7D-1ACB2006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458AD-AEE5-4740-AED7-0DA59F68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本地程序读取任务要求和CSV，保存146条纳入记录、计算结果、9项附件目录及核对Word。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32770-198F-4AD8-B464-2F4339590F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fef5358444275"/>
          <a:stretch xmlns:a="http://schemas.openxmlformats.org/drawingml/2006/main"/>
        </p:blipFill>
        <p:spPr>
          <a:xfrm xmlns:a="http://schemas.openxmlformats.org/drawingml/2006/main">
            <a:off x="1164648" y="2952750"/>
            <a:ext cx="3385705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6EC57-4849-4BD3-A144-AB49E32B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本次实际生成的Word第1页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3D69C-836D-4DCD-9334-F7DBFCB4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任务要求与原始CSV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FA27A-540F-445A-A817-58A43BA4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复算数字并逐项对应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D45E5-FDCB-4250-A06F-BE067A82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483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Word、证据表与9项附件目录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BB777-B63E-47BC-8829-719B5E56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191375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附件逐项记录路径与哈希。2项已核，1项待补。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C4D88-5AA8-486F-A74B-EBC45108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真实执行为本节文件程序，无外部模型调用；未表示云端Closeout功能已经运行。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F5234-A585-430A-937C-F5B8BF57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来源：实际本地复算与文件记录，无模型调用；自编教学任务书，非基金任务书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217ED-126E-44E1-9209-762DE248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692480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102F1-690C-467D-B126-C8FDAE6618C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3347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C9307-7474-4835-9496-BB57D37805F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1CFAE-208B-4A94-92C6-334F7527C6C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0668D-BD70-4A31-AABC-DAD26F50641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812F5-A454-427A-BA88-BFA281CA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548C6-A993-4998-B551-3592C0E4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提交、复核与版本一致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54E2A-11A3-4AD9-83D0-59092FF7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EBB33-1218-447A-801E-3D44A99F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研究者核对科学内容，单位核对报送材料，提交和归档应保留同一个确认版本。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A76CB-6007-4C7E-A221-B238E3D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负责人核对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59668-1469-4161-9445-0C68CA7B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单位线上审核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094A7-6594-4134-BED8-577F99FC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基金委审核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AD444-979E-4222-829D-6D7C5ED3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下载最终PDF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C5758-2F0B-465B-BAC1-9AABC8D3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签字与归档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16F44-FCDD-428B-88DF-E1C09B0D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正式报送时，电子版、最终PDF及签字材料应保持版本一致。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C212F-A123-477E-A753-CEE49883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具体步骤和时间以适用通知及单位要求为准。AI整理文件不等于负责人确认或正式签核。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EB96A-10BE-4FBB-BA97-B6F4D30C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本例只完成材料核对演示，未正式报送、未代签；下一节为科研汇报与成果传播。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841A8-D827-4EE5-8BE6-D517ABF9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来源：NSFC 2026通告，二、五部分；实际本地复算与文件记录，无模型调用；HaDEA 2025原始课件 pp.97–98/102/104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EA0E8-DEB3-4921-A86B-554053F6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6854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2026-10-20T01:01:25.0990000Z</dcterms:created>
  <dcterms:modified xsi:type="dcterms:W3CDTF">2026-10-20T01:01:25.1000000Z</dcterms:modified>
</coreProperties>
</file>