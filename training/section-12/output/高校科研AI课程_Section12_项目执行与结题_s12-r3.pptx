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dd7db06c84cf5" /><Relationship Type="http://schemas.openxmlformats.org/officeDocument/2006/relationships/extended-properties" Target="/docProps/app.xml" Id="Ra5041b3cad3d4b6a" /><Relationship Type="http://schemas.openxmlformats.org/officeDocument/2006/relationships/officeDocument" Target="/ppt/presentation.xml" Id="R4028bf2cf7a94d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e2eee04f044cb"/>
  </p:sldMasterIdLst>
  <p:notesMasterIdLst>
    <p:notesMasterId xmlns:r="http://schemas.openxmlformats.org/officeDocument/2006/relationships" r:id="R4f13ae2de352433b"/>
  </p:notesMasterIdLst>
  <p:sldIdLst>
    <p:sldId xmlns:r="http://schemas.openxmlformats.org/officeDocument/2006/relationships" id="256" r:id="Ree68a59298a84f70"/>
    <p:sldId xmlns:r="http://schemas.openxmlformats.org/officeDocument/2006/relationships" id="257" r:id="R1fa84d5c7f384821"/>
    <p:sldId xmlns:r="http://schemas.openxmlformats.org/officeDocument/2006/relationships" id="258" r:id="R43450bc87ef24a7e"/>
    <p:sldId xmlns:r="http://schemas.openxmlformats.org/officeDocument/2006/relationships" id="259" r:id="R29402d02e8714159"/>
    <p:sldId xmlns:r="http://schemas.openxmlformats.org/officeDocument/2006/relationships" id="260" r:id="Rd02b6f3c52954e72"/>
    <p:sldId xmlns:r="http://schemas.openxmlformats.org/officeDocument/2006/relationships" id="261" r:id="Rf39072c3fab94828"/>
    <p:sldId xmlns:r="http://schemas.openxmlformats.org/officeDocument/2006/relationships" id="262" r:id="Rd7a52893b8b24033"/>
    <p:sldId xmlns:r="http://schemas.openxmlformats.org/officeDocument/2006/relationships" id="263" r:id="R820b4ef833134d9c"/>
    <p:sldId xmlns:r="http://schemas.openxmlformats.org/officeDocument/2006/relationships" id="264" r:id="Rb61d56dbc10e416d"/>
    <p:sldId xmlns:r="http://schemas.openxmlformats.org/officeDocument/2006/relationships" id="265" r:id="R0cf63ec3ba1142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5999fafd7a4256" /><Relationship Type="http://schemas.openxmlformats.org/officeDocument/2006/relationships/slideMaster" Target="/ppt/slideMasters/slideMaster1.xml" Id="Rc4be2eee04f044cb" /><Relationship Type="http://schemas.openxmlformats.org/officeDocument/2006/relationships/notesMaster" Target="/ppt/notesMasters/notesMaster1.xml" Id="R4f13ae2de352433b" /><Relationship Type="http://schemas.openxmlformats.org/officeDocument/2006/relationships/presProps" Target="/ppt/presProps.xml" Id="R1b0942d6b9b14607" /><Relationship Type="http://schemas.openxmlformats.org/officeDocument/2006/relationships/tableStyles" Target="/ppt/tableStyles.xml" Id="R8f180cbc5ace4aac" /><Relationship Type="http://schemas.openxmlformats.org/officeDocument/2006/relationships/slide" Target="/ppt/slides/slide1.xml" Id="Ree68a59298a84f70" /><Relationship Type="http://schemas.openxmlformats.org/officeDocument/2006/relationships/slide" Target="/ppt/slides/slide2.xml" Id="R1fa84d5c7f384821" /><Relationship Type="http://schemas.openxmlformats.org/officeDocument/2006/relationships/slide" Target="/ppt/slides/slide3.xml" Id="R43450bc87ef24a7e" /><Relationship Type="http://schemas.openxmlformats.org/officeDocument/2006/relationships/slide" Target="/ppt/slides/slide4.xml" Id="R29402d02e8714159" /><Relationship Type="http://schemas.openxmlformats.org/officeDocument/2006/relationships/slide" Target="/ppt/slides/slide5.xml" Id="Rd02b6f3c52954e72" /><Relationship Type="http://schemas.openxmlformats.org/officeDocument/2006/relationships/slide" Target="/ppt/slides/slide6.xml" Id="Rf39072c3fab94828" /><Relationship Type="http://schemas.openxmlformats.org/officeDocument/2006/relationships/slide" Target="/ppt/slides/slide7.xml" Id="Rd7a52893b8b24033" /><Relationship Type="http://schemas.openxmlformats.org/officeDocument/2006/relationships/slide" Target="/ppt/slides/slide8.xml" Id="R820b4ef833134d9c" /><Relationship Type="http://schemas.openxmlformats.org/officeDocument/2006/relationships/slide" Target="/ppt/slides/slide9.xml" Id="Rb61d56dbc10e416d" /><Relationship Type="http://schemas.openxmlformats.org/officeDocument/2006/relationships/slide" Target="/ppt/slides/slide10.xml" Id="R0cf63ec3ba11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c12505bbe1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8533a5c8b4fb4" /><Relationship Type="http://schemas.openxmlformats.org/officeDocument/2006/relationships/notesMaster" Target="/ppt/notesMasters/notesMaster1.xml" Id="R8551a64ff3094f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8e0a9e736745ca" /><Relationship Type="http://schemas.openxmlformats.org/officeDocument/2006/relationships/notesMaster" Target="/ppt/notesMasters/notesMaster1.xml" Id="Rd724e2f72bde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8fb54271ad4546" /><Relationship Type="http://schemas.openxmlformats.org/officeDocument/2006/relationships/notesMaster" Target="/ppt/notesMasters/notesMaster1.xml" Id="R794b1563035f44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9d0bbc17b24c8f" /><Relationship Type="http://schemas.openxmlformats.org/officeDocument/2006/relationships/notesMaster" Target="/ppt/notesMasters/notesMaster1.xml" Id="R2ca22c83f1cf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b88314e65a4fc6" /><Relationship Type="http://schemas.openxmlformats.org/officeDocument/2006/relationships/notesMaster" Target="/ppt/notesMasters/notesMaster1.xml" Id="Rd507d02208b140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9427304d614f63" /><Relationship Type="http://schemas.openxmlformats.org/officeDocument/2006/relationships/notesMaster" Target="/ppt/notesMasters/notesMaster1.xml" Id="R339e742fa4d342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c8b506357746cd" /><Relationship Type="http://schemas.openxmlformats.org/officeDocument/2006/relationships/notesMaster" Target="/ppt/notesMasters/notesMaster1.xml" Id="R15655e42338d4c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b28c57bfc644f2" /><Relationship Type="http://schemas.openxmlformats.org/officeDocument/2006/relationships/notesMaster" Target="/ppt/notesMasters/notesMaster1.xml" Id="R96705f10008f42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27102265a64fa5" /><Relationship Type="http://schemas.openxmlformats.org/officeDocument/2006/relationships/notesMaster" Target="/ppt/notesMasters/notesMaster1.xml" Id="R8d34c954503f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5b876c46ed4626" /><Relationship Type="http://schemas.openxmlformats.org/officeDocument/2006/relationships/notesMaster" Target="/ppt/notesMasters/notesMaster1.xml" Id="Rd754212ad6494c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结题理解为对原定工作逐项交代。先定位项目实际采用的任务书、获批变更和当期填报要求，再检查过程及成果。贯穿案例借企鹅公开数据演示三项材料核对要求，不能说是国家自然科学基金项目、先验注册研究或本课程野外采集。材料核对、科学解释和正式验收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2026年1月14日通告二（一）和五（二）。负责人须保证内容真实、数据准确，注意知识产权；正式报告不能直接复制论文。成果需核对与项目的关联、参与者、时间、发表及资助标注，避免把未正式或在线发表论文等列作成果。不得使用生成式AI直接生成的申请、进展、结题报告，也不能使用未核实内容。因此这里演示检索定位、复算、证据检查与目录整理，不将AI文字包装成正式报送正文。通告对成果和生成内容的要求均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项目以获批任务书及变更版本为基准，执行中保存数据、方法与进度记录，按项目规定报送年度或阶段进展。中期检查如适用，应比较计划、实际成果和仍有的偏差，明确下一步处理及责任，涉及变更的按适用规定办理。结题前逐项整理证据。HaDEA课件97页用时间关系说明持续记录与阶段报告，98页强调里程碑及交付物更新；这里仅借讲法，不照搬CEF周期。NSFC2026通告第三（一）涉及项目进展报告。教学案例目前M1来源筛选和M2分组统计已核，M3抽样依据待补，未虚构负责人、期限、中期审批或实际基金项目。完成判据指用什么材料和方法核对一项工作，后续证据表给出M1至M3的具体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为palmerpenguins的简化CSV。按species选Adelie，再保留sex为female或male且flipper_length_mm非缺失的记录。152中排除6条，原CSV物理行号5、10、11、12、13、49，其中第1行是表头，行号不等于个体编号。必须保留原文件和来源哈希，不能覆盖。此处只做缺失字段筛选，不按结果好坏删除数据，也未因异常值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程序实际读CSV并复算，不只检查文件是否存在。M1和M2为VERIFIED，中文材料已核；M3为PENDING，中文待补资料。UNSUPPORTED指某个说法没有证据支持，例如把公开数据说成自己采集。材料存在、内容可复算和结论有效是不同层面。证据表随CSV及JSON保留，定位可回到源文件与计算字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独立复算：146条Adelie记录，雌雄各73。平均鳍长雌性187.7945205毫米，雄性192.4109589毫米，雄减雌4.6164384毫米，显示两位小数。图采用0起点避免夸大均值比例。该描述限于当前筛选记录，不能推断性别的因果机制，不能把简化记录的独立性当成已确认。这里的例句用于教学说明数据表达，不作为国自然正式报告的AI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data、License、References；简化CSV344条。input/source.json保留原始下载URL、CC0许可和哈希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3缺口来自简化CSV没有个体标识与抽样设计，不等于原项目没有这些资料。后续需回原始数据和采样说明核对重复测量与独立性，必要时调整分析。当前保留PENDING。若有人提出课程自采数据或已证因果机制，则标UNSUPPORTED并从成果叙述排除。实际项目如发生目标、人员、合作或技术路线等变更，按适用规定查批复与版本，不能靠改结题文字消除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科研归档至少能从要求追到原始资料、处理规则、结果与对应附件。实际附件按系统和单位要求分类与命名，保存内容版本和责任人。2026通告要求会同科研、财务、资产部门清理账目与资产，如实编制决算，核对账表一致；涉及合作单位的按规定分别审核和汇总。此处没有真实财务记录，不演示金额、不声称财务审核通过。国外课件75页仅采用证据保留思路，不套用CEF成本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为本次实际DOCX经LibreOffice渲染的第一页，不是模拟界面或Agent执行截图。程序解析JSON与CSV，校验来源哈希、复算统计和对应条目，保存计算、证据矩阵、问题及运行记录。没有任意PDF/OCR接入、云端模型调用、自动正式提交或科研签核。Closeout技能定义和本节脚本能力分别说明。Word是AI编写的教学材料核对示例，当前状态materials_review_requir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本节自编材料核对任务书</a:t>
            </a:r>
          </a:p>
          <a:p xmlns:a="http://schemas.openxmlformats.org/drawingml/2006/main">
            <a:r>
              <a:t>local:training/section-12/closeout-packet/input/taskbook.json</a:t>
            </a:r>
          </a:p>
          <a:p xmlns:a="http://schemas.openxmlformats.org/drawingml/2006/main">
            <a:r>
              <a:t>定位：M1来源与筛选，M2分组均值，M3个体与抽样资料；借现成数据演示，不是预注册研究目标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通告的流程为线上提交报告与附件，基金委审核后下载最终PDF，负责人签字向单位提交纸质原件并保证版本一致，依托单位还须按要求审核和报送。这里压缩成责任与版本关系图，具体系统步骤、纸质要求和日期以适用通知为准，不将2026集中期日期当成下一年度要求。AI可检查文件版本与附件缺失，不能代替负责人和依托单位作出正式确认。本例文件未报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国家自然科学基金委员会，关于2026年度项目申请与结题等有关事项的通告，2026-01-14</a:t>
            </a:r>
          </a:p>
          <a:p xmlns:a="http://schemas.openxmlformats.org/drawingml/2006/main">
            <a:r>
              <a:t>https://www.nsfc.gov.cn/p1/3381/2824/99667.html</a:t>
            </a:r>
          </a:p>
          <a:p xmlns:a="http://schemas.openxmlformats.org/drawingml/2006/main">
            <a:r>
              <a:t>定位：二（一）1至6与二（二）：报告、附件、成果范围、决算和依托单位；五（二）：生成式AI直接生成报告限制。通告的2026集中期日期不作为下一年度时间要求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本节实际数据复算和材料执行记录</a:t>
            </a:r>
          </a:p>
          <a:p xmlns:a="http://schemas.openxmlformats.org/drawingml/2006/main">
            <a:r>
              <a:t>local:training/section-12/execution-evidence.json</a:t>
            </a:r>
          </a:p>
          <a:p xmlns:a="http://schemas.openxmlformats.org/drawingml/2006/main">
            <a:r>
              <a:t>定位：run_closeout.py；output/calculation.json、evidence-matrix.json、issues.json、run.json；非科研验收或Cloudflare功能验证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HaDEA，REPA Reporting and Payment Webinar，26 March 2025</a:t>
            </a:r>
          </a:p>
          <a:p xmlns:a="http://schemas.openxmlformats.org/drawingml/2006/main">
            <a:r>
              <a:t>https://hadea.ec.europa.eu/document/download/1e773e0c-f2ab-44db-9f80-c7a02cc75bb4_en?filename=REPA+-+Webinar+-+March+2025.pdf</a:t>
            </a:r>
          </a:p>
          <a:p xmlns:a="http://schemas.openxmlformats.org/drawingml/2006/main">
            <a:r>
              <a:t>定位：已逐页查看PDF物理页75、97、98、102、104；采用持续记录、材料分工与报告汇总讲法，不照搬CEF制度或截图作为中国系统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57f62d0044a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8ed291c0941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52de37bd14f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0eaf0faf04c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d46c8823c49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a061ee96a42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EC9D61-725C-4F78-9B1D-BE42B8117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8DE40F-C931-4196-92A6-2AE50E0C73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F5B082-9196-40AE-ADB5-CBD0849AE0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26BEAD-F83C-44BF-908F-64C12906F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B05971-14E5-419A-8FC7-7F615B9483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8E1A69-735C-423B-B7E2-3DF7B297A9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16C9BE-41D9-4521-BA56-A3A610C5C2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247EE1-C7B5-48F1-90A4-732013E3C4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068673-2AF6-4794-AF82-25225AEBD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360C04-B466-48C4-A49C-AFA41CD8DF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9c92dbb9ed4717" /><Relationship Type="http://schemas.openxmlformats.org/officeDocument/2006/relationships/slideLayout" Target="/ppt/slideLayouts/slideLayout1.xml" Id="Re40dfda4acb640a6" /><Relationship Type="http://schemas.openxmlformats.org/officeDocument/2006/relationships/slideLayout" Target="/ppt/slideLayouts/slideLayout2.xml" Id="R73ec665d2e2f470e" /><Relationship Type="http://schemas.openxmlformats.org/officeDocument/2006/relationships/slideLayout" Target="/ppt/slideLayouts/slideLayout3.xml" Id="R7e8a503579f34c1b" /><Relationship Type="http://schemas.openxmlformats.org/officeDocument/2006/relationships/slideLayout" Target="/ppt/slideLayouts/slideLayout4.xml" Id="R06a2a11b88c24c7c" /><Relationship Type="http://schemas.openxmlformats.org/officeDocument/2006/relationships/slideLayout" Target="/ppt/slideLayouts/slideLayout5.xml" Id="R093dd8b68790441a" /><Relationship Type="http://schemas.openxmlformats.org/officeDocument/2006/relationships/slideLayout" Target="/ppt/slideLayouts/slideLayout6.xml" Id="R220bfe72e3f741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0dfda4acb640a6"/>
    <p:sldLayoutId xmlns:r="http://schemas.openxmlformats.org/officeDocument/2006/relationships" id="2147483650" r:id="R73ec665d2e2f470e"/>
    <p:sldLayoutId xmlns:r="http://schemas.openxmlformats.org/officeDocument/2006/relationships" id="2147483651" r:id="R7e8a503579f34c1b"/>
    <p:sldLayoutId xmlns:r="http://schemas.openxmlformats.org/officeDocument/2006/relationships" id="2147483652" r:id="R06a2a11b88c24c7c"/>
    <p:sldLayoutId xmlns:r="http://schemas.openxmlformats.org/officeDocument/2006/relationships" id="2147483653" r:id="R093dd8b68790441a"/>
    <p:sldLayoutId xmlns:r="http://schemas.openxmlformats.org/officeDocument/2006/relationships" id="2147483654" r:id="R220bfe72e3f741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a0e6de8da4a24" /><Relationship Type="http://schemas.openxmlformats.org/officeDocument/2006/relationships/notesSlide" Target="/ppt/notesSlides/notesSlide1.xml" Id="R142d3848c601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7e09f8943438f" /><Relationship Type="http://schemas.openxmlformats.org/officeDocument/2006/relationships/notesSlide" Target="/ppt/notesSlides/notesSlide2.xml" Id="R86d36d3e4d2b46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7c386691e4f25" /><Relationship Type="http://schemas.openxmlformats.org/officeDocument/2006/relationships/notesSlide" Target="/ppt/notesSlides/notesSlide3.xml" Id="R408ff50b6dc041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833ff38534499" /><Relationship Type="http://schemas.openxmlformats.org/officeDocument/2006/relationships/notesSlide" Target="/ppt/notesSlides/notesSlide4.xml" Id="R4df6d0dedb264c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ffdd02b2ce46a0" /><Relationship Type="http://schemas.openxmlformats.org/officeDocument/2006/relationships/notesSlide" Target="/ppt/notesSlides/notesSlide5.xml" Id="R78e35f5ee66d4c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2e8680068f4fa1" /><Relationship Type="http://schemas.openxmlformats.org/officeDocument/2006/relationships/chart" Target="/ppt/slides/charts/chart1.xml" Id="Rf77e6b90e9b64f24" /><Relationship Type="http://schemas.openxmlformats.org/officeDocument/2006/relationships/notesSlide" Target="/ppt/notesSlides/notesSlide6.xml" Id="Re3df44e2f6c74a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38dcefab14b54" /><Relationship Type="http://schemas.openxmlformats.org/officeDocument/2006/relationships/notesSlide" Target="/ppt/notesSlides/notesSlide7.xml" Id="Rdf2e1dca40a449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f51fabd52479d" /><Relationship Type="http://schemas.openxmlformats.org/officeDocument/2006/relationships/notesSlide" Target="/ppt/notesSlides/notesSlide8.xml" Id="R2078ac94d96248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33cf3a7ec64b03" /><Relationship Type="http://schemas.openxmlformats.org/officeDocument/2006/relationships/image" Target="/ppt/media/image.png" Id="R4656efb62c8c4ded" /><Relationship Type="http://schemas.openxmlformats.org/officeDocument/2006/relationships/notesSlide" Target="/ppt/notesSlides/notesSlide9.xml" Id="R1c9a3e6987fb44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db66367464ec5" /><Relationship Type="http://schemas.openxmlformats.org/officeDocument/2006/relationships/notesSlide" Target="/ppt/notesSlides/notesSlide10.xml" Id="Rd72502e3739f44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Microsoft YaHei"/>
                <a:ea typeface="Microsoft YaHei"/>
                <a:cs typeface="Microsoft YaHei"/>
              </a:rPr>
              <a:t>Adelie所选记录的平均鳍长（mm）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平均鳍长（mm）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雌性 n=73</c:v>
                </c:pt>
                <c:pt idx="1">
                  <c:v>雄性 n=73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187.794520548</c:v>
                </c:pt>
                <c:pt idx="1">
                  <c:v>192.410958904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409BE-5C49-4732-A1AA-15F33777568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C54E1-4E7C-423F-AECB-A9FE478EA4D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35BB6-F6A5-426A-AD18-BC23CEED756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084DD-0C6D-4F51-B572-25DE992F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B11A2-280B-48AF-A039-76A8AAE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项目执行与结题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776BE-8250-46C8-8ACC-D579DF6D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DE406-18BC-43EF-9AC4-78FB22A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任务书提出的每项要求，都应找到过程记录、实际成果和可定位的证明材料。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13A06-E7BD-4F28-A416-82C59848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任务与完成判据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0BF86-5F12-4FDF-8095-B72A39F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过程记录及变更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FE399-84A5-4BB3-B2B4-777210E8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成果与证明材料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8DF52-9359-4E48-9CF7-DB67281A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结题材料与归档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F82E3-C9E3-4F07-BF8D-881E2B65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以任务书和获批版本为准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37067-6DBD-49F5-A36B-D02CE53C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数据、方法、偏差和处理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9810C-DC5A-4336-AB90-6942981D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逐项定位，保留缺口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36B08-D6B3-4B03-A465-B6C6D88A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负责人和单位按规定核对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E647B5-D1B9-445E-8450-E04950AE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本节案例：公开数据能复算到哪里，结题材料就据此写到哪里。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9EE59-C250-4B6A-B93B-B3708E80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贯穿案例：企鹅公开数据复核。任务书为教学自编，数据与计算分别留证。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11054F-8392-4750-A1B5-0B76AF8E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pp.97–98/102/104；自编教学任务书，非基金任务书；palmerpenguins公开数据，课程二次计算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D2FBF-9A99-493B-909D-70E20B4A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41387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85ECB-3A46-4DA4-B471-EDC00FE5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5D2B2-5AE3-44C4-9E16-833E9AC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国自然结题材料的使用边界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08F07-FED8-45B3-BE07-203B6257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A5432-B4C3-4867-B256-716E74EF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2026年通告要求据实报告，不得使用生成式AI直接生成的项目进展和结题报告。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EEB3C-5ABC-4477-8289-11556AC6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报告的事实依据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2C974-88F3-45F4-82F3-1A665CEE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负责人核对数据、成果与项目关联，按要求整理正文和附件。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6AA18-F670-4876-8C99-263DEBD6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A8401-EF97-4436-9004-63F9B565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成果列入的条件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D90D3-3F83-4CAD-A3D8-FC9519C1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核对发表状态、项目参与者、时间、资助标注与项目相关性。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A4188-C8A8-4CA1-BC93-B55820D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FA96A-2A44-41FC-8887-9D390E08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AI辅助的范围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784C2-8894-44B8-AB81-4EB8155D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定位资料、复算数字、检查缺项。正式报告由负责人依据真实材料撰写。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E2D22-757D-4D40-B7F1-D997E9DB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FFA9-637B-4FFA-99DF-EF3C264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本节Word是材料核对教学示例，不作为国家自然科学基金正式结题报告提交。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EA48C-D0C4-4FDC-A831-D9D29DF9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FA899-5EA7-4876-B4CE-29768565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0280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F499D-74B0-4E72-A1C1-57E72A3FF4C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6331F-3F95-4100-9BA6-74DB6FA401E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E4E94-821A-4B8F-BA75-7DC7FDC3131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040B2-9A26-49EE-9F75-D5055ABF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D8EA5-5D03-4BCF-A9B2-ED300E71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项目进度与阶段检查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F0D3A-9936-4CDF-A64D-6B7BBCEF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DA85A-ED5E-4C96-8F70-F5998BDC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日常记录、进展报告和阶段检查应对照同一任务基线，及时发现偏差。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865A-7A56-4959-BF67-F886639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立项时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E2C95-3499-4A86-98E3-4A5AC70F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D426E-EA47-48E0-96B1-15A7B6F4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阶段检查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B54CA-6F61-4DAF-8CBD-A3F1BD3C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结题前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6618C-1E42-47D3-AC00-2BC45FBD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任务要求与完成判据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记录分工及版本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576EA-FA6F-489E-A947-6CFE1C0E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按要求报进展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保留数据与方法记录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FC5A6-7E0B-4683-A4EE-4CAB4183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对照计划检查偏差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办理必要的变更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90CF2-CF62-4F08-9C14-3A20D93F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逐项核对证明材料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整理正文及附件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0330D-40A8-4BD3-A7ED-BBD6535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案例当前：数据来源和统计已核，抽样依据待补。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F38C2-F0B3-41F1-BBF4-72878E3D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阶段记录保留问题、影响、处理状态与后续安排，不能只报“进展顺利”。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FF9FD-A05A-4761-AF2E-E3F28489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进展报告和中期检查的适用范围、周期与审批方式，以项目规定为准。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84C11-8712-40C9-8AE1-8BC7F4A0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来源：HaDEA 2025原始课件 pp.97–98/102/104；NSFC 2026通告，二、五部分；自编教学任务书，非基金任务书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D7D3F-9E98-4DB4-82AF-802A2069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8612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0DD10-8249-4478-92EC-C04ED9D536B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11227-FDFD-4A75-8213-9B146D7D4D9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3DE9A-84A6-45D9-9DFF-38D4498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0603B-A352-4ECF-8216-90D6406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过程记录如何保留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22457-541A-4F34-9052-C4D14B1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02462-43A9-45C7-B066-9AD34E0F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每次筛选都保存条件、记录位置和版本，结题时才能解释样本为何变化。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CF193-DABD-4041-BB1D-66696AC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A9B30-F0BC-44F3-9E96-56CBFCB8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152条Adelie记录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5FABF-F2B6-4C79-AA19-617DDA1F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146条分析记录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5E873-D05F-4D5D-8031-EF659E55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保存原始文件与来源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B3978-4237-4292-9682-A943D8DB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条件：species为Adelie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0208C-1609-4538-A093-6498EF77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性别和鳍长均有记录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2F116-8C99-4B13-AC8F-3D7C1E9C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152条中排除6条缺失记录，保留原CSV行号：5、10、11、12、13、49。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B2EFA-8388-4E0F-B017-2C688232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原文件、筛选条件、排除原因和计算程序一起保存。行号用于定位，不是个体编号。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370D2-A7F9-4AB8-B964-DB318C4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公开项目的原始观测与本课程的二次计算分别登记，保留原始采集者信息。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1169A-3596-48D1-ACB3-54AD45CD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8743E-B518-4B63-B790-34510A67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6648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F43D9-CABC-4058-9BF2-CACC6A44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0ED34-03F9-4D01-9BF4-ADBB02AA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任务、成果与证据的对应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A8BF7-107D-4D87-AD3E-2562D97E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B4B0F-4506-4F6E-AA9F-CE1D76EE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同一张证据表写明条目、文件定位与未决事项，完成状态只对应已经核对的范围。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DFED4-C732-4F56-8435-B019988DF033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7239000"/>
                <a:gridCol w="2476500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任务条目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当前结果与材料定位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材料状态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来源与筛选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来源表、原始CSV与筛选记录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344条中筛得146条分析记录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分组统计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计算结果中分组数、均值与差值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雌雄各73条，雄减雌4.62 mm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材料已核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抽样依据</a:t>
                      </a:r>
                    </a:p>
                  </a:txBody>
                  <a:tcPr marL="142875" marR="142875" marT="15240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简化CSV缺个体标识和抽样设计</a:t>
                      </a:r>
                    </a:p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需继续查原始数据及采样记录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待补资料</a:t>
                      </a:r>
                    </a:p>
                  </a:txBody>
                  <a:tcPr marL="142875" marR="142875" marT="15240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012FD-59C9-4D9A-BBD7-C34FBBA7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“材料已核”仅表示列明检查通过，未代表研究者认可科学解释或项目通过验收。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7A009-4B46-4847-89CA-2D0D70F7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2FED5-C4B6-407E-9558-FF27E51A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22705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8C989-5BA7-4309-BFFC-5271C2F6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07E76-5038-4FDB-B377-C3F0895A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结果段落中的数字与限定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47692-5D97-4FE6-A5A0-90746A7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61545-07C8-4DFE-9B98-DC83A190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结果需要说明分析对象、单位和比较方向，同时保留当前数据不能回答的问题。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D400B42-3D3D-47E1-A5AA-7DC5B38BCAC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7e6b90e9b64f2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B81FB-D570-4A63-A6B7-8F597694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能够据实说明的结果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3B000-F069-4A3F-A5DC-F72E90C9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5715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雌性平均鳍长187.79 mm，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雄性192.41 mm，均值高4.62 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该差值描述本次所选记录。个体重复与采样依赖尚待核对，不能据此解释因果机制。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42E5E-7D86-429E-A415-1F12257C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所选Adelie记录的描述统计，无因果识别；个体重复和采样依赖仍待核对。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3AF83-A30B-4AF9-8F50-703BF96C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来源：palmerpenguins公开数据，课程二次计算；实际本地复算与文件记录，无模型调用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09560-10B1-4B9B-B515-044BCE7F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03301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23481-9C4E-462A-AA7C-D6DBB9F0A486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763125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3649E-C42B-47F4-B658-9DDE89BA65F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809875" y="4191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9B319-F452-40E9-BE43-FA4466979A4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7750" y="37623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248C5-DBCD-48C5-9551-9153B025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79C48-96A0-41CA-9CE4-15ED718C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偏差、缺口与后续安排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446EE-A959-45E9-94F0-39DDA348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C424C-0785-4812-961E-09D272B6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未完成的工作需要说明当前证据、对结论的影响，以及下一步需要补什么资料。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3FD32-7487-4DA7-91A4-2386AA46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M3缺个体与抽样资料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F7F56-239B-4750-A933-E4FE2B9F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回查原始记录与采样说明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BFCCC-0E4E-4D46-B1F2-A2059599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目前仍标记为待补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4D97-BA6A-4AD2-B08C-22146A43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1025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补齐后复核分析及适用范围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1BEEC-ED37-4451-91F9-3AD61013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754F2-C03A-4CF4-9C4B-6834FE9E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0B89B-C152-43D7-8A24-8B2D1D54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对结论的影响：保留描述统计，暂不确认独立性、总体外推或因果解释。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699B8-7688-40DF-8E0C-275FD247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补资料与修改目标按实际项目管理规定办理，本例没有已批准的变更或延期。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33B83-9A9D-4F86-987C-DC048844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来源：自编教学任务书，非基金任务书；实际本地复算与文件记录，无模型调用；HaDEA 2025原始课件 pp.97–98/102/104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B7EFB1-A02E-46C2-9002-BFEAACA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0511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940C7-CFAA-4F62-BF3D-986CC60BE27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1525250" y="50006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CFA5F-9FD9-42CA-BB48-55FE95AF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C9E45-18CF-4A18-9281-49B0CB1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成果归档与经费材料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548EF-1DF1-4560-BE10-EDCBF304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84547-9BD1-47A3-9ABF-B0DB62BD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研究内容与经费分别核对，正文中的成果和金额都应能回到相应原始记录。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FEE84-86AE-499E-A36F-E83D507C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研究材料归档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D6724-A091-4159-BDA6-D9EC6EB7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572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任务要求及变更依据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公开原始数据与来源记录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筛选规则、程序及计算结果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证据矩阵、缺口和对应附件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已确认版本与提交记录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5ED00-9F31-4229-A9B1-953DDB4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经费与资产核对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CB840-B25E-4AAD-95E4-AD8F4433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590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科研、财务和资产记录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97DB7-2866-4B28-BDB1-262755C7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96000"/>
            <a:ext cx="590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核对账目、决算与资产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65E1D-E657-4B45-BF41-FE4922BA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8637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由负责人会同相关部门核对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274CC-FDB7-4BDC-AF07-3AEA1800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本案例无真实经费账目、论文发表或专利授权材料，不填写金额及成果数量。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497EE-B73C-47FE-AFCD-A2A7D54F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2026通告，二、五部分；HaDEA 2025原始课件 pp.97–98/102/104；实际本地复算与文件记录，无模型调用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5808D-0581-4EFA-A1BC-A9564C94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35455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F4BF5-09C3-46BE-B495-14CB29CD694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4FD9E-D7E9-448F-AA30-39F23E41FE0E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FB6CC-F5B9-4D9B-8859-ECD7F71F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4B98D-249B-4B92-8953-44DDEDB7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Closeout流程的实际输出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2CEA-96CE-48FC-9129-9FF4B8EE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F49E7-68B7-48AA-B2C2-04D445C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本地程序已读取任务要求与CSV，完成数值复算、证据对应，并生成材料核对Word。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B2497-BDE7-4FD0-990D-66C7271B29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6efb62c8c4ded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9324B-868C-4395-BF00-EC0777CC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本次实际生成的Word第1页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244FE-C5CC-40CF-B466-A94646E0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任务要求与原始CSV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21276-391B-4352-87AA-62DA11D4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复算数字并逐项对应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65582-4D1A-4C79-A9D9-5853C672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Word、证据表与问题清单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9A13E-C30F-45D6-B40A-421141C3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2项材料已核，1项待补。状态仍为“需要核对”。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63515-3EAF-494A-A2F0-433C6323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真实执行为本节文件程序，无外部模型调用；未表示云端Closeout功能已经运行。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CB57F-CC80-4E05-9D9B-444DBD2A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来源：实际本地复算与文件记录，无模型调用；自编教学任务书，非基金任务书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5ED05-BE04-40CB-9EB5-E4512375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2111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7A0A8-F6D5-4F1C-8548-1AB6148A98F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3347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567D8-5ADF-446F-AA88-2055D752049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725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191FE-6F7F-4966-A324-CDCC17ECE22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B0DF6-4E36-4A03-A28F-88438704489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4191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1351C-BA4F-4B1C-8781-5A655B2D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  项目执行与结题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0C53-BB56-4CEF-B135-EB405EC2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提交、复核与版本一致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8B1FD-C8B6-4496-B6D4-29A053E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A362C-4500-4F78-992D-070917A2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研究者核对科学内容，单位核对报送材料，提交和归档应保留同一个确认版本。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7C451-5147-4585-AB33-4733E3F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负责人核对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279DD-8855-49E2-808C-2548036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单位线上审核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75635-5666-44A6-8A71-EBC8EF2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基金委审核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5D136-364A-40FF-A4A4-9C52AF8F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下载最终PDF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E9F2F-5C27-45EA-9BCE-CB51B404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147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签字与归档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B2D2C-312A-4F46-B591-5C077488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正式报送时，电子版、最终PDF及签字材料应保持版本一致。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8E4DC-ECAE-45EB-880E-481FAD79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具体步骤和时间以适用通知及单位要求为准。AI整理文件不等于负责人确认或正式签核。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9D6B3-8E87-48BF-927E-E54F063A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本例只完成材料核对演示，未正式报送、未代签；下一节为科研汇报与成果传播。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F8CF5-05BE-44E5-8615-FCBD4CC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来源：NSFC 2026通告，二、五部分；实际本地复算与文件记录，无模型调用；HaDEA 2025原始课件 pp.97–98/102/104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64FE2-9BA0-432B-897F-4B6E1A37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90252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2026-10-18T13:12:56.4450000Z</dcterms:created>
  <dcterms:modified xsi:type="dcterms:W3CDTF">2026-10-18T13:12:56.4450000Z</dcterms:modified>
</coreProperties>
</file>